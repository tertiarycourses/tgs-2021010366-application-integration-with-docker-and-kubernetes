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397" r:id="rId147"/>
    <p:sldId id="267" r:id="rId14"/>
    <p:sldId id="268" r:id="rId15"/>
    <p:sldId id="398" r:id="rId148"/>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99" r:id="rId149"/>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40" Type="http://schemas.openxmlformats.org/officeDocument/2006/relationships/slide" Target="slides/slide138.xml"/><Relationship Id="rId141" Type="http://schemas.openxmlformats.org/officeDocument/2006/relationships/slide" Target="slides/slide139.xml"/><Relationship Id="rId142" Type="http://schemas.openxmlformats.org/officeDocument/2006/relationships/slide" Target="slides/slide140.xml"/><Relationship Id="rId143" Type="http://schemas.openxmlformats.org/officeDocument/2006/relationships/slide" Target="slides/slide141.xml"/><Relationship Id="rId144" Type="http://schemas.openxmlformats.org/officeDocument/2006/relationships/presProps" Target="presProps.xml"/><Relationship Id="rId145" Type="http://schemas.openxmlformats.org/officeDocument/2006/relationships/viewProps" Target="viewProps.xml"/><Relationship Id="rId146" Type="http://schemas.openxmlformats.org/officeDocument/2006/relationships/tableStyles" Target="tableStyles.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8686800" y="-1554479"/>
            <a:ext cx="4206240" cy="4206240"/>
          </a:xfrm>
          <a:prstGeom prst="ellipse">
            <a:avLst/>
          </a:prstGeom>
          <a:solidFill>
            <a:srgbClr val="2496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875520" y="2743200"/>
            <a:ext cx="3108960" cy="3108960"/>
          </a:xfrm>
          <a:prstGeom prst="ellipse">
            <a:avLst/>
          </a:prstGeom>
          <a:solidFill>
            <a:srgbClr val="2496E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371600"/>
            <a:ext cx="9144000" cy="320040"/>
          </a:xfrm>
          <a:prstGeom prst="rect">
            <a:avLst/>
          </a:prstGeom>
          <a:noFill/>
        </p:spPr>
        <p:txBody>
          <a:bodyPr wrap="square">
            <a:spAutoFit/>
          </a:bodyPr>
          <a:lstStyle/>
          <a:p>
            <a:pPr algn="l">
              <a:buNone/>
            </a:pPr>
            <a:r>
              <a:rPr sz="1400" b="1" i="0">
                <a:solidFill>
                  <a:srgbClr val="2496ED"/>
                </a:solidFill>
                <a:latin typeface="Calibri" panose="020F0502020204030204"/>
              </a:rPr>
              <a:t>WSQ COURSE  .  TGS-2021010366</a:t>
            </a:r>
            <a:endParaRPr sz="1400" b="1" i="0">
              <a:solidFill>
                <a:srgbClr val="2496ED"/>
              </a:solidFill>
              <a:latin typeface="Calibri" panose="020F0502020204030204"/>
            </a:endParaRPr>
          </a:p>
        </p:txBody>
      </p:sp>
      <p:sp>
        <p:nvSpPr>
          <p:cNvPr id="5" name="TextBox 4"/>
          <p:cNvSpPr txBox="1"/>
          <p:nvPr/>
        </p:nvSpPr>
        <p:spPr>
          <a:xfrm>
            <a:off x="777240" y="1828800"/>
            <a:ext cx="10241280" cy="777240"/>
          </a:xfrm>
          <a:prstGeom prst="rect">
            <a:avLst/>
          </a:prstGeom>
          <a:noFill/>
        </p:spPr>
        <p:txBody>
          <a:bodyPr wrap="square">
            <a:spAutoFit/>
          </a:bodyPr>
          <a:lstStyle/>
          <a:p>
            <a:pPr algn="l">
              <a:buNone/>
            </a:pPr>
            <a:r>
              <a:rPr sz="5000" b="1" i="0">
                <a:solidFill>
                  <a:srgbClr val="FFFFFF"/>
                </a:solidFill>
                <a:latin typeface="Cambria" panose="02040503050406030204"/>
              </a:rPr>
              <a:t>Application Integration with</a:t>
            </a:r>
            <a:endParaRPr sz="5000" b="1" i="0">
              <a:solidFill>
                <a:srgbClr val="FFFFFF"/>
              </a:solidFill>
              <a:latin typeface="Cambria" panose="02040503050406030204"/>
            </a:endParaRPr>
          </a:p>
        </p:txBody>
      </p:sp>
      <p:sp>
        <p:nvSpPr>
          <p:cNvPr id="6" name="TextBox 5"/>
          <p:cNvSpPr txBox="1"/>
          <p:nvPr/>
        </p:nvSpPr>
        <p:spPr>
          <a:xfrm>
            <a:off x="777240" y="2606040"/>
            <a:ext cx="10241280" cy="777240"/>
          </a:xfrm>
          <a:prstGeom prst="rect">
            <a:avLst/>
          </a:prstGeom>
          <a:noFill/>
        </p:spPr>
        <p:txBody>
          <a:bodyPr wrap="square">
            <a:spAutoFit/>
          </a:bodyPr>
          <a:lstStyle/>
          <a:p>
            <a:pPr algn="l">
              <a:buNone/>
            </a:pPr>
            <a:r>
              <a:rPr sz="5000" b="1" i="0">
                <a:solidFill>
                  <a:srgbClr val="FFFFFF"/>
                </a:solidFill>
                <a:latin typeface="Cambria" panose="02040503050406030204"/>
              </a:rPr>
              <a:t>Docker and Kubernetes</a:t>
            </a:r>
            <a:endParaRPr sz="5000" b="1" i="0">
              <a:solidFill>
                <a:srgbClr val="FFFFFF"/>
              </a:solidFill>
              <a:latin typeface="Cambria" panose="02040503050406030204"/>
            </a:endParaRPr>
          </a:p>
        </p:txBody>
      </p:sp>
      <p:sp>
        <p:nvSpPr>
          <p:cNvPr id="7" name="TextBox 6"/>
          <p:cNvSpPr txBox="1"/>
          <p:nvPr/>
        </p:nvSpPr>
        <p:spPr>
          <a:xfrm>
            <a:off x="822960" y="3566160"/>
            <a:ext cx="10058400" cy="365760"/>
          </a:xfrm>
          <a:prstGeom prst="rect">
            <a:avLst/>
          </a:prstGeom>
          <a:noFill/>
        </p:spPr>
        <p:txBody>
          <a:bodyPr wrap="square">
            <a:spAutoFit/>
          </a:bodyPr>
          <a:lstStyle/>
          <a:p>
            <a:pPr algn="l">
              <a:buNone/>
            </a:pPr>
            <a:r>
              <a:rPr sz="1800" b="0" i="0">
                <a:solidFill>
                  <a:srgbClr val="94A3B8"/>
                </a:solidFill>
                <a:latin typeface="Calibri" panose="020F0502020204030204"/>
              </a:rPr>
              <a:t>2-Day Course  |  Day 1: Docker  |  Day 2: Kubernetes</a:t>
            </a:r>
            <a:endParaRPr sz="1800" b="0" i="0">
              <a:solidFill>
                <a:srgbClr val="94A3B8"/>
              </a:solidFill>
              <a:latin typeface="Calibri" panose="020F0502020204030204"/>
            </a:endParaRPr>
          </a:p>
        </p:txBody>
      </p:sp>
      <p:sp>
        <p:nvSpPr>
          <p:cNvPr id="8" name="TextBox 7"/>
          <p:cNvSpPr txBox="1"/>
          <p:nvPr/>
        </p:nvSpPr>
        <p:spPr>
          <a:xfrm>
            <a:off x="822960" y="5212080"/>
            <a:ext cx="10058400" cy="320040"/>
          </a:xfrm>
          <a:prstGeom prst="rect">
            <a:avLst/>
          </a:prstGeom>
          <a:noFill/>
        </p:spPr>
        <p:txBody>
          <a:bodyPr wrap="square">
            <a:spAutoFit/>
          </a:bodyPr>
          <a:lstStyle/>
          <a:p>
            <a:pPr algn="l">
              <a:buNone/>
            </a:pPr>
            <a:r>
              <a:rPr sz="1500" b="1" i="0">
                <a:solidFill>
                  <a:srgbClr val="FFFFFF"/>
                </a:solidFill>
                <a:latin typeface="Calibri" panose="020F0502020204030204"/>
              </a:rPr>
              <a:t>Tertiary Infotech Pte. Ltd.</a:t>
            </a:r>
            <a:endParaRPr sz="1500" b="1" i="0">
              <a:solidFill>
                <a:srgbClr val="FFFFFF"/>
              </a:solidFill>
              <a:latin typeface="Calibri" panose="020F0502020204030204"/>
            </a:endParaRPr>
          </a:p>
        </p:txBody>
      </p:sp>
      <p:sp>
        <p:nvSpPr>
          <p:cNvPr id="9" name="TextBox 8"/>
          <p:cNvSpPr txBox="1"/>
          <p:nvPr/>
        </p:nvSpPr>
        <p:spPr>
          <a:xfrm>
            <a:off x="822960" y="5532120"/>
            <a:ext cx="10058400" cy="274320"/>
          </a:xfrm>
          <a:prstGeom prst="rect">
            <a:avLst/>
          </a:prstGeom>
          <a:noFill/>
        </p:spPr>
        <p:txBody>
          <a:bodyPr wrap="square">
            <a:spAutoFit/>
          </a:bodyPr>
          <a:lstStyle/>
          <a:p>
            <a:pPr algn="l">
              <a:buNone/>
            </a:pPr>
            <a:r>
              <a:rPr sz="1300" b="0" i="0">
                <a:solidFill>
                  <a:srgbClr val="64748B"/>
                </a:solidFill>
                <a:latin typeface="Calibri" panose="020F0502020204030204"/>
              </a:rPr>
              <a:t>UEN: 201200696W</a:t>
            </a:r>
            <a:endParaRPr sz="1300" b="0" i="0">
              <a:solidFill>
                <a:srgbClr val="64748B"/>
              </a:solidFill>
              <a:latin typeface="Calibri" panose="020F0502020204030204"/>
            </a:endParaRPr>
          </a:p>
        </p:txBody>
      </p:sp>
      <p:sp>
        <p:nvSpPr>
          <p:cNvPr id="10" name="TextBox 9"/>
          <p:cNvSpPr txBox="1"/>
          <p:nvPr/>
        </p:nvSpPr>
        <p:spPr>
          <a:xfrm>
            <a:off x="822960" y="6016752"/>
            <a:ext cx="10515600" cy="274320"/>
          </a:xfrm>
          <a:prstGeom prst="rect">
            <a:avLst/>
          </a:prstGeom>
          <a:noFill/>
        </p:spPr>
        <p:txBody>
          <a:bodyPr wrap="square">
            <a:spAutoFit/>
          </a:bodyPr>
          <a:lstStyle/>
          <a:p>
            <a:pPr algn="l">
              <a:buNone/>
            </a:pPr>
            <a:r>
              <a:rPr sz="1200" b="0" i="0">
                <a:solidFill>
                  <a:srgbClr val="64748B"/>
                </a:solidFill>
                <a:latin typeface="Calibri" panose="020F0502020204030204"/>
              </a:rPr>
              <a:t>www.tertiarycourses.com.sg   |   enquiry@tertiaryinfotech.com   |   +65 6100 0613</a:t>
            </a:r>
            <a:endParaRPr sz="1200" b="0" i="0">
              <a:solidFill>
                <a:srgbClr val="64748B"/>
              </a:solidFill>
              <a:latin typeface="Calibri" panose="020F0502020204030204"/>
            </a:endParaRPr>
          </a:p>
        </p:txBody>
      </p:sp>
      <p:sp>
        <p:nvSpPr>
          <p:cNvPr id="11" name="TextBox 10"/>
          <p:cNvSpPr txBox="1"/>
          <p:nvPr/>
        </p:nvSpPr>
        <p:spPr>
          <a:xfrm>
            <a:off x="9994392" y="1371600"/>
            <a:ext cx="1645920" cy="274320"/>
          </a:xfrm>
          <a:prstGeom prst="rect">
            <a:avLst/>
          </a:prstGeom>
          <a:noFill/>
        </p:spPr>
        <p:txBody>
          <a:bodyPr wrap="square">
            <a:spAutoFit/>
          </a:bodyPr>
          <a:lstStyle/>
          <a:p>
            <a:pPr algn="l">
              <a:buNone/>
            </a:pPr>
            <a:r>
              <a:rPr sz="1200" b="0" i="0">
                <a:solidFill>
                  <a:srgbClr val="64748B"/>
                </a:solidFill>
                <a:latin typeface="Calibri" panose="020F0502020204030204"/>
              </a:rPr>
              <a:t>Version 3.0</a:t>
            </a:r>
            <a:endParaRPr sz="1200" b="0" i="0">
              <a:solidFill>
                <a:srgbClr val="64748B"/>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2496ED"/>
                </a:solidFill>
                <a:latin typeface="Calibri" panose="020F0502020204030204"/>
              </a:rPr>
              <a:t>HOUSEKEEPING</a:t>
            </a:r>
            <a:endParaRPr sz="1200" b="1" i="0">
              <a:solidFill>
                <a:srgbClr val="2496ED"/>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Before We Start</a:t>
            </a:r>
            <a:endParaRPr sz="3000" b="1" i="0">
              <a:solidFill>
                <a:srgbClr val="0F172A"/>
              </a:solidFill>
              <a:latin typeface="Cambria" panose="02040503050406030204"/>
            </a:endParaRPr>
          </a:p>
        </p:txBody>
      </p:sp>
      <p:sp>
        <p:nvSpPr>
          <p:cNvPr id="4" name="Rectangle 3"/>
          <p:cNvSpPr/>
          <p:nvPr/>
        </p:nvSpPr>
        <p:spPr>
          <a:xfrm>
            <a:off x="502920" y="1691640"/>
            <a:ext cx="3657600" cy="4663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847088"/>
            <a:ext cx="3383280" cy="411480"/>
          </a:xfrm>
          <a:prstGeom prst="rect">
            <a:avLst/>
          </a:prstGeom>
          <a:noFill/>
        </p:spPr>
        <p:txBody>
          <a:bodyPr wrap="square">
            <a:spAutoFit/>
          </a:bodyPr>
          <a:lstStyle/>
          <a:p>
            <a:pPr algn="l">
              <a:buNone/>
            </a:pPr>
            <a:r>
              <a:rPr sz="1700" b="1" i="0">
                <a:solidFill>
                  <a:srgbClr val="2496ED"/>
                </a:solidFill>
                <a:latin typeface="Cambria" panose="02040503050406030204"/>
              </a:rPr>
              <a:t>Digital Attendance</a:t>
            </a:r>
            <a:endParaRPr sz="1700" b="1" i="0">
              <a:solidFill>
                <a:srgbClr val="2496ED"/>
              </a:solidFill>
              <a:latin typeface="Cambria" panose="02040503050406030204"/>
            </a:endParaRPr>
          </a:p>
        </p:txBody>
      </p:sp>
      <p:sp>
        <p:nvSpPr>
          <p:cNvPr id="6" name="TextBox 5"/>
          <p:cNvSpPr txBox="1"/>
          <p:nvPr/>
        </p:nvSpPr>
        <p:spPr>
          <a:xfrm>
            <a:off x="685800" y="2359152"/>
            <a:ext cx="3364992" cy="3657600"/>
          </a:xfrm>
          <a:prstGeom prst="rect">
            <a:avLst/>
          </a:prstGeom>
          <a:noFill/>
        </p:spPr>
        <p:txBody>
          <a:bodyPr wrap="square">
            <a:spAutoFit/>
          </a:bodyPr>
          <a:lstStyle/>
          <a:p>
            <a:pPr algn="l">
              <a:buNone/>
            </a:pPr>
            <a:r>
              <a:rPr sz="1200" b="0" i="0">
                <a:solidFill>
                  <a:srgbClr val="94A3B8"/>
                </a:solidFill>
                <a:latin typeface="Calibri" panose="020F0502020204030204"/>
              </a:rPr>
              <a:t>Scan the QR code at the front to mark attendance.
AM (9am) + PM (2pm) sign-in every session.
Minimum 75% attendance required for SSG funding.
Missing attendance = forfeited subsidy — you pay full course fee.
URL:  attendance.ssg.gov.sg
Course Code:  TGS-2021010366</a:t>
            </a:r>
            <a:endParaRPr sz="1200" b="0" i="0">
              <a:solidFill>
                <a:srgbClr val="94A3B8"/>
              </a:solidFill>
              <a:latin typeface="Calibri" panose="020F0502020204030204"/>
            </a:endParaRPr>
          </a:p>
        </p:txBody>
      </p:sp>
      <p:sp>
        <p:nvSpPr>
          <p:cNvPr id="7" name="Rectangle 6"/>
          <p:cNvSpPr/>
          <p:nvPr/>
        </p:nvSpPr>
        <p:spPr>
          <a:xfrm>
            <a:off x="4389120" y="1691640"/>
            <a:ext cx="3657600" cy="4663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72000" y="1847088"/>
            <a:ext cx="3383280" cy="411480"/>
          </a:xfrm>
          <a:prstGeom prst="rect">
            <a:avLst/>
          </a:prstGeom>
          <a:noFill/>
        </p:spPr>
        <p:txBody>
          <a:bodyPr wrap="square">
            <a:spAutoFit/>
          </a:bodyPr>
          <a:lstStyle/>
          <a:p>
            <a:pPr algn="l">
              <a:buNone/>
            </a:pPr>
            <a:r>
              <a:rPr sz="1700" b="1" i="0">
                <a:solidFill>
                  <a:srgbClr val="2496ED"/>
                </a:solidFill>
                <a:latin typeface="Cambria" panose="02040503050406030204"/>
              </a:rPr>
              <a:t>Ground Rules</a:t>
            </a:r>
            <a:endParaRPr sz="1700" b="1" i="0">
              <a:solidFill>
                <a:srgbClr val="2496ED"/>
              </a:solidFill>
              <a:latin typeface="Cambria" panose="02040503050406030204"/>
            </a:endParaRPr>
          </a:p>
        </p:txBody>
      </p:sp>
      <p:sp>
        <p:nvSpPr>
          <p:cNvPr id="9" name="TextBox 8"/>
          <p:cNvSpPr txBox="1"/>
          <p:nvPr/>
        </p:nvSpPr>
        <p:spPr>
          <a:xfrm>
            <a:off x="4572000" y="2359152"/>
            <a:ext cx="3364992" cy="3657600"/>
          </a:xfrm>
          <a:prstGeom prst="rect">
            <a:avLst/>
          </a:prstGeom>
          <a:noFill/>
        </p:spPr>
        <p:txBody>
          <a:bodyPr wrap="square">
            <a:spAutoFit/>
          </a:bodyPr>
          <a:lstStyle/>
          <a:p>
            <a:pPr algn="l">
              <a:buNone/>
            </a:pPr>
            <a:r>
              <a:rPr sz="1200" b="0" i="0">
                <a:solidFill>
                  <a:srgbClr val="94A3B8"/>
                </a:solidFill>
                <a:latin typeface="Calibri" panose="020F0502020204030204"/>
              </a:rPr>
              <a:t>Phones on silent mode during sessions.
Questions welcome at any time — no such thing as a bad question.
Breaks: 15 min AM · 1 hr lunch · 15 min PM.
Camera on during activities, labs, and assessments.
KillerCoda terminal only — close unrelated browser tabs.</a:t>
            </a:r>
            <a:endParaRPr sz="1200" b="0" i="0">
              <a:solidFill>
                <a:srgbClr val="94A3B8"/>
              </a:solidFill>
              <a:latin typeface="Calibri" panose="020F0502020204030204"/>
            </a:endParaRPr>
          </a:p>
        </p:txBody>
      </p:sp>
      <p:sp>
        <p:nvSpPr>
          <p:cNvPr id="10" name="Rectangle 9"/>
          <p:cNvSpPr/>
          <p:nvPr/>
        </p:nvSpPr>
        <p:spPr>
          <a:xfrm>
            <a:off x="8275320" y="1691640"/>
            <a:ext cx="3657600" cy="4663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58200" y="1847088"/>
            <a:ext cx="3383280" cy="411480"/>
          </a:xfrm>
          <a:prstGeom prst="rect">
            <a:avLst/>
          </a:prstGeom>
          <a:noFill/>
        </p:spPr>
        <p:txBody>
          <a:bodyPr wrap="square">
            <a:spAutoFit/>
          </a:bodyPr>
          <a:lstStyle/>
          <a:p>
            <a:pPr algn="l">
              <a:buNone/>
            </a:pPr>
            <a:r>
              <a:rPr sz="1700" b="1" i="0">
                <a:solidFill>
                  <a:srgbClr val="2496ED"/>
                </a:solidFill>
                <a:latin typeface="Cambria" panose="02040503050406030204"/>
              </a:rPr>
              <a:t>LMS Access</a:t>
            </a:r>
            <a:endParaRPr sz="1700" b="1" i="0">
              <a:solidFill>
                <a:srgbClr val="2496ED"/>
              </a:solidFill>
              <a:latin typeface="Cambria" panose="02040503050406030204"/>
            </a:endParaRPr>
          </a:p>
        </p:txBody>
      </p:sp>
      <p:sp>
        <p:nvSpPr>
          <p:cNvPr id="12" name="TextBox 11"/>
          <p:cNvSpPr txBox="1"/>
          <p:nvPr/>
        </p:nvSpPr>
        <p:spPr>
          <a:xfrm>
            <a:off x="8458200" y="2359152"/>
            <a:ext cx="3364992" cy="3657600"/>
          </a:xfrm>
          <a:prstGeom prst="rect">
            <a:avLst/>
          </a:prstGeom>
          <a:noFill/>
        </p:spPr>
        <p:txBody>
          <a:bodyPr wrap="square">
            <a:spAutoFit/>
          </a:bodyPr>
          <a:lstStyle/>
          <a:p>
            <a:pPr algn="l">
              <a:buNone/>
            </a:pPr>
            <a:r>
              <a:rPr sz="1200" b="0" i="0">
                <a:solidFill>
                  <a:srgbClr val="94A3B8"/>
                </a:solidFill>
                <a:latin typeface="Calibri" panose="020F0502020204030204"/>
              </a:rPr>
              <a:t>Courseware &amp; Assessment:
https://lms.tertiaryinfotech.com
Hands-on Labs (KillerCoda):
https://killercoda.com/tertiary-labs
GitHub Lab Files:
https://github.com/tertiarycourses
Login credentials on the whiteboard.</a:t>
            </a:r>
            <a:endParaRPr sz="1200" b="0" i="0">
              <a:solidFill>
                <a:srgbClr val="94A3B8"/>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a:t>
            </a:r>
            <a:endParaRPr sz="900" b="0" i="0">
              <a:solidFill>
                <a:srgbClr val="718596"/>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2496ED"/>
                </a:solidFill>
                <a:latin typeface="Calibri" panose="020F0502020204030204"/>
              </a:rPr>
              <a:t>INTRODUCTION</a:t>
            </a:r>
            <a:endParaRPr sz="1200" b="1" i="0">
              <a:solidFill>
                <a:srgbClr val="2496ED"/>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About the Trainer</a:t>
            </a:r>
            <a:endParaRPr sz="3000" b="1" i="0">
              <a:solidFill>
                <a:srgbClr val="0F172A"/>
              </a:solidFill>
              <a:latin typeface="Cambria" panose="02040503050406030204"/>
            </a:endParaRPr>
          </a:p>
        </p:txBody>
      </p:sp>
      <p:sp>
        <p:nvSpPr>
          <p:cNvPr id="4" name="Rectangle 3"/>
          <p:cNvSpPr/>
          <p:nvPr/>
        </p:nvSpPr>
        <p:spPr>
          <a:xfrm>
            <a:off x="548640" y="1737360"/>
            <a:ext cx="3291840" cy="4389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606040"/>
            <a:ext cx="3200400" cy="502920"/>
          </a:xfrm>
          <a:prstGeom prst="rect">
            <a:avLst/>
          </a:prstGeom>
          <a:noFill/>
        </p:spPr>
        <p:txBody>
          <a:bodyPr wrap="square">
            <a:spAutoFit/>
          </a:bodyPr>
          <a:lstStyle/>
          <a:p>
            <a:pPr algn="l">
              <a:buNone/>
            </a:pPr>
            <a:r>
              <a:rPr sz="2200" b="1" i="0">
                <a:solidFill>
                  <a:srgbClr val="FFFFFF"/>
                </a:solidFill>
                <a:latin typeface="Cambria" panose="02040503050406030204"/>
              </a:rPr>
              <a:t>Mohan Pothula</a:t>
            </a:r>
            <a:endParaRPr sz="2200" b="1" i="0">
              <a:solidFill>
                <a:srgbClr val="FFFFFF"/>
              </a:solidFill>
              <a:latin typeface="Cambria" panose="02040503050406030204"/>
            </a:endParaRPr>
          </a:p>
        </p:txBody>
      </p:sp>
      <p:sp>
        <p:nvSpPr>
          <p:cNvPr id="6" name="TextBox 5"/>
          <p:cNvSpPr txBox="1"/>
          <p:nvPr/>
        </p:nvSpPr>
        <p:spPr>
          <a:xfrm>
            <a:off x="640080" y="3127248"/>
            <a:ext cx="3200400" cy="320040"/>
          </a:xfrm>
          <a:prstGeom prst="rect">
            <a:avLst/>
          </a:prstGeom>
          <a:noFill/>
        </p:spPr>
        <p:txBody>
          <a:bodyPr wrap="square">
            <a:spAutoFit/>
          </a:bodyPr>
          <a:lstStyle/>
          <a:p>
            <a:pPr algn="l">
              <a:buNone/>
            </a:pPr>
            <a:r>
              <a:rPr sz="1200" b="0" i="0">
                <a:solidFill>
                  <a:srgbClr val="2496ED"/>
                </a:solidFill>
                <a:latin typeface="Calibri" panose="020F0502020204030204"/>
              </a:rPr>
              <a:t>Enterprise AI &amp; DevOps Trainer</a:t>
            </a:r>
            <a:endParaRPr sz="1200" b="0" i="0">
              <a:solidFill>
                <a:srgbClr val="2496ED"/>
              </a:solidFill>
              <a:latin typeface="Calibri" panose="020F0502020204030204"/>
            </a:endParaRPr>
          </a:p>
        </p:txBody>
      </p:sp>
      <p:sp>
        <p:nvSpPr>
          <p:cNvPr id="7" name="TextBox 6"/>
          <p:cNvSpPr txBox="1"/>
          <p:nvPr/>
        </p:nvSpPr>
        <p:spPr>
          <a:xfrm>
            <a:off x="640080" y="3493008"/>
            <a:ext cx="3200400" cy="320040"/>
          </a:xfrm>
          <a:prstGeom prst="rect">
            <a:avLst/>
          </a:prstGeom>
          <a:noFill/>
        </p:spPr>
        <p:txBody>
          <a:bodyPr wrap="square">
            <a:spAutoFit/>
          </a:bodyPr>
          <a:lstStyle/>
          <a:p>
            <a:pPr algn="l">
              <a:buNone/>
            </a:pPr>
            <a:r>
              <a:rPr sz="1100" b="0" i="0">
                <a:solidFill>
                  <a:srgbClr val="94A3B8"/>
                </a:solidFill>
                <a:latin typeface="Calibri" panose="020F0502020204030204"/>
              </a:rPr>
              <a:t>DBS Bank  •  SingTel  •  Mediacorp  •  SPH Media</a:t>
            </a:r>
            <a:endParaRPr sz="1100" b="0" i="0">
              <a:solidFill>
                <a:srgbClr val="94A3B8"/>
              </a:solidFill>
              <a:latin typeface="Calibri" panose="020F0502020204030204"/>
            </a:endParaRPr>
          </a:p>
        </p:txBody>
      </p:sp>
      <p:sp>
        <p:nvSpPr>
          <p:cNvPr id="8" name="TextBox 7"/>
          <p:cNvSpPr txBox="1"/>
          <p:nvPr/>
        </p:nvSpPr>
        <p:spPr>
          <a:xfrm>
            <a:off x="640080" y="3858768"/>
            <a:ext cx="3200400" cy="274320"/>
          </a:xfrm>
          <a:prstGeom prst="rect">
            <a:avLst/>
          </a:prstGeom>
          <a:noFill/>
        </p:spPr>
        <p:txBody>
          <a:bodyPr wrap="square">
            <a:spAutoFit/>
          </a:bodyPr>
          <a:lstStyle/>
          <a:p>
            <a:pPr algn="l">
              <a:buNone/>
            </a:pPr>
            <a:r>
              <a:rPr sz="1100" b="0" i="1">
                <a:solidFill>
                  <a:srgbClr val="2496ED"/>
                </a:solidFill>
                <a:latin typeface="Calibri" panose="020F0502020204030204"/>
              </a:rPr>
              <a:t>linkedin.com/in/mohanpothula</a:t>
            </a:r>
            <a:endParaRPr sz="1100" b="0" i="1">
              <a:solidFill>
                <a:srgbClr val="2496ED"/>
              </a:solidFill>
              <a:latin typeface="Calibri" panose="020F0502020204030204"/>
            </a:endParaRPr>
          </a:p>
        </p:txBody>
      </p:sp>
      <p:sp>
        <p:nvSpPr>
          <p:cNvPr id="9" name="TextBox 8"/>
          <p:cNvSpPr txBox="1"/>
          <p:nvPr/>
        </p:nvSpPr>
        <p:spPr>
          <a:xfrm>
            <a:off x="640080" y="4169663"/>
            <a:ext cx="3200400" cy="274320"/>
          </a:xfrm>
          <a:prstGeom prst="rect">
            <a:avLst/>
          </a:prstGeom>
          <a:noFill/>
        </p:spPr>
        <p:txBody>
          <a:bodyPr wrap="square">
            <a:spAutoFit/>
          </a:bodyPr>
          <a:lstStyle/>
          <a:p>
            <a:pPr algn="l">
              <a:buNone/>
            </a:pPr>
            <a:r>
              <a:rPr sz="1100" b="0" i="0">
                <a:solidFill>
                  <a:srgbClr val="94A3B8"/>
                </a:solidFill>
                <a:latin typeface="Calibri" panose="020F0502020204030204"/>
              </a:rPr>
              <a:t>mohanpothula@gmail.com</a:t>
            </a:r>
            <a:endParaRPr sz="1100" b="0" i="0">
              <a:solidFill>
                <a:srgbClr val="94A3B8"/>
              </a:solidFill>
              <a:latin typeface="Calibri" panose="020F0502020204030204"/>
            </a:endParaRPr>
          </a:p>
        </p:txBody>
      </p:sp>
      <p:sp>
        <p:nvSpPr>
          <p:cNvPr id="10" name="TextBox 9"/>
          <p:cNvSpPr txBox="1"/>
          <p:nvPr/>
        </p:nvSpPr>
        <p:spPr>
          <a:xfrm>
            <a:off x="4206240" y="1828800"/>
            <a:ext cx="2011680" cy="274320"/>
          </a:xfrm>
          <a:prstGeom prst="rect">
            <a:avLst/>
          </a:prstGeom>
          <a:noFill/>
        </p:spPr>
        <p:txBody>
          <a:bodyPr wrap="square">
            <a:spAutoFit/>
          </a:bodyPr>
          <a:lstStyle/>
          <a:p>
            <a:pPr algn="l">
              <a:buNone/>
            </a:pPr>
            <a:r>
              <a:rPr sz="1200" b="1" i="0">
                <a:solidFill>
                  <a:srgbClr val="0F172A"/>
                </a:solidFill>
                <a:latin typeface="Calibri" panose="020F0502020204030204"/>
              </a:rPr>
              <a:t>Experience:</a:t>
            </a:r>
            <a:endParaRPr sz="1200" b="1" i="0">
              <a:solidFill>
                <a:srgbClr val="0F172A"/>
              </a:solidFill>
              <a:latin typeface="Calibri" panose="020F0502020204030204"/>
            </a:endParaRPr>
          </a:p>
        </p:txBody>
      </p:sp>
      <p:sp>
        <p:nvSpPr>
          <p:cNvPr id="11" name="TextBox 10"/>
          <p:cNvSpPr txBox="1"/>
          <p:nvPr/>
        </p:nvSpPr>
        <p:spPr>
          <a:xfrm>
            <a:off x="4206240" y="2084832"/>
            <a:ext cx="7498079" cy="1170432"/>
          </a:xfrm>
          <a:prstGeom prst="rect">
            <a:avLst/>
          </a:prstGeom>
          <a:noFill/>
        </p:spPr>
        <p:txBody>
          <a:bodyPr wrap="square">
            <a:spAutoFit/>
          </a:bodyPr>
          <a:lstStyle/>
          <a:p>
            <a:pPr algn="l">
              <a:buNone/>
            </a:pPr>
            <a:r>
              <a:rPr sz="1200" b="0" i="0">
                <a:solidFill>
                  <a:srgbClr val="0F172A"/>
                </a:solidFill>
                <a:latin typeface="Calibri" panose="020F0502020204030204"/>
              </a:rPr>
              <a:t>20+ years of hands-on enterprise experience across DBS Bank, SingTel, Mediacorp, and SPH Media. Brings real production knowledge into the classroom — students learn from someone who has actually deployed 800+ ML models, managed 10,000-node Hadoop clusters, architected RAG systems on AWS Bedrock, and built Agentic AI pilots with OpenClaw and Hermes Agents.</a:t>
            </a:r>
            <a:endParaRPr sz="1200" b="0" i="0">
              <a:solidFill>
                <a:srgbClr val="0F172A"/>
              </a:solidFill>
              <a:latin typeface="Calibri" panose="020F0502020204030204"/>
            </a:endParaRPr>
          </a:p>
        </p:txBody>
      </p:sp>
      <p:sp>
        <p:nvSpPr>
          <p:cNvPr id="12" name="TextBox 11"/>
          <p:cNvSpPr txBox="1"/>
          <p:nvPr/>
        </p:nvSpPr>
        <p:spPr>
          <a:xfrm>
            <a:off x="4206240" y="3401568"/>
            <a:ext cx="2011680" cy="274320"/>
          </a:xfrm>
          <a:prstGeom prst="rect">
            <a:avLst/>
          </a:prstGeom>
          <a:noFill/>
        </p:spPr>
        <p:txBody>
          <a:bodyPr wrap="square">
            <a:spAutoFit/>
          </a:bodyPr>
          <a:lstStyle/>
          <a:p>
            <a:pPr algn="l">
              <a:buNone/>
            </a:pPr>
            <a:r>
              <a:rPr sz="1200" b="1" i="0">
                <a:solidFill>
                  <a:srgbClr val="0F172A"/>
                </a:solidFill>
                <a:latin typeface="Calibri" panose="020F0502020204030204"/>
              </a:rPr>
              <a:t>Specialisation:</a:t>
            </a:r>
            <a:endParaRPr sz="1200" b="1" i="0">
              <a:solidFill>
                <a:srgbClr val="0F172A"/>
              </a:solidFill>
              <a:latin typeface="Calibri" panose="020F0502020204030204"/>
            </a:endParaRPr>
          </a:p>
        </p:txBody>
      </p:sp>
      <p:sp>
        <p:nvSpPr>
          <p:cNvPr id="13" name="TextBox 12"/>
          <p:cNvSpPr txBox="1"/>
          <p:nvPr/>
        </p:nvSpPr>
        <p:spPr>
          <a:xfrm>
            <a:off x="4206240" y="3657600"/>
            <a:ext cx="7498079" cy="877824"/>
          </a:xfrm>
          <a:prstGeom prst="rect">
            <a:avLst/>
          </a:prstGeom>
          <a:noFill/>
        </p:spPr>
        <p:txBody>
          <a:bodyPr wrap="square">
            <a:spAutoFit/>
          </a:bodyPr>
          <a:lstStyle/>
          <a:p>
            <a:pPr algn="l">
              <a:buNone/>
            </a:pPr>
            <a:r>
              <a:rPr sz="1200" b="0" i="0">
                <a:solidFill>
                  <a:srgbClr val="0F172A"/>
                </a:solidFill>
                <a:latin typeface="Calibri" panose="020F0502020204030204"/>
              </a:rPr>
              <a:t>Bridging the gap between foundational concepts and real-world enterprise application. Training programmes tailored for engineers, architects, and business-technology professionals.</a:t>
            </a:r>
            <a:endParaRPr sz="1200" b="0" i="0">
              <a:solidFill>
                <a:srgbClr val="0F172A"/>
              </a:solidFill>
              <a:latin typeface="Calibri" panose="020F0502020204030204"/>
            </a:endParaRPr>
          </a:p>
        </p:txBody>
      </p:sp>
      <p:sp>
        <p:nvSpPr>
          <p:cNvPr id="14" name="TextBox 13"/>
          <p:cNvSpPr txBox="1"/>
          <p:nvPr/>
        </p:nvSpPr>
        <p:spPr>
          <a:xfrm>
            <a:off x="4206240" y="4681728"/>
            <a:ext cx="2011680" cy="274320"/>
          </a:xfrm>
          <a:prstGeom prst="rect">
            <a:avLst/>
          </a:prstGeom>
          <a:noFill/>
        </p:spPr>
        <p:txBody>
          <a:bodyPr wrap="square">
            <a:spAutoFit/>
          </a:bodyPr>
          <a:lstStyle/>
          <a:p>
            <a:pPr algn="l">
              <a:buNone/>
            </a:pPr>
            <a:r>
              <a:rPr sz="1200" b="1" i="0">
                <a:solidFill>
                  <a:srgbClr val="0F172A"/>
                </a:solidFill>
                <a:latin typeface="Calibri" panose="020F0502020204030204"/>
              </a:rPr>
              <a:t>Expertise:</a:t>
            </a:r>
            <a:endParaRPr sz="1200" b="1" i="0">
              <a:solidFill>
                <a:srgbClr val="0F172A"/>
              </a:solidFill>
              <a:latin typeface="Calibri" panose="020F0502020204030204"/>
            </a:endParaRPr>
          </a:p>
        </p:txBody>
      </p:sp>
      <p:sp>
        <p:nvSpPr>
          <p:cNvPr id="15" name="TextBox 14"/>
          <p:cNvSpPr txBox="1"/>
          <p:nvPr/>
        </p:nvSpPr>
        <p:spPr>
          <a:xfrm>
            <a:off x="4206240" y="4937760"/>
            <a:ext cx="7498079" cy="292608"/>
          </a:xfrm>
          <a:prstGeom prst="rect">
            <a:avLst/>
          </a:prstGeom>
          <a:noFill/>
        </p:spPr>
        <p:txBody>
          <a:bodyPr wrap="square">
            <a:spAutoFit/>
          </a:bodyPr>
          <a:lstStyle/>
          <a:p>
            <a:pPr algn="l">
              <a:buNone/>
            </a:pPr>
            <a:r>
              <a:rPr sz="1200" b="0" i="0">
                <a:solidFill>
                  <a:srgbClr val="0F172A"/>
                </a:solidFill>
                <a:latin typeface="Calibri" panose="020F0502020204030204"/>
              </a:rPr>
              <a:t>Docker  •  Kubernetes  •  DevOps / CI-CD  •  Cloud (AWS)  •  ML Platforms  •  Agentic AI</a:t>
            </a:r>
            <a:endParaRPr sz="1200" b="0" i="0">
              <a:solidFill>
                <a:srgbClr val="0F172A"/>
              </a:solidFill>
              <a:latin typeface="Calibri" panose="020F0502020204030204"/>
            </a:endParaRPr>
          </a:p>
        </p:txBody>
      </p:sp>
      <p:sp>
        <p:nvSpPr>
          <p:cNvPr id="16" name="TextBox 15"/>
          <p:cNvSpPr txBox="1"/>
          <p:nvPr/>
        </p:nvSpPr>
        <p:spPr>
          <a:xfrm>
            <a:off x="4206240" y="5376672"/>
            <a:ext cx="2011680" cy="274320"/>
          </a:xfrm>
          <a:prstGeom prst="rect">
            <a:avLst/>
          </a:prstGeom>
          <a:noFill/>
        </p:spPr>
        <p:txBody>
          <a:bodyPr wrap="square">
            <a:spAutoFit/>
          </a:bodyPr>
          <a:lstStyle/>
          <a:p>
            <a:pPr algn="l">
              <a:buNone/>
            </a:pPr>
            <a:r>
              <a:rPr sz="1200" b="1" i="0">
                <a:solidFill>
                  <a:srgbClr val="0F172A"/>
                </a:solidFill>
                <a:latin typeface="Calibri" panose="020F0502020204030204"/>
              </a:rPr>
              <a:t>Certifications:</a:t>
            </a:r>
            <a:endParaRPr sz="1200" b="1" i="0">
              <a:solidFill>
                <a:srgbClr val="0F172A"/>
              </a:solidFill>
              <a:latin typeface="Calibri" panose="020F0502020204030204"/>
            </a:endParaRPr>
          </a:p>
        </p:txBody>
      </p:sp>
      <p:sp>
        <p:nvSpPr>
          <p:cNvPr id="17" name="TextBox 16"/>
          <p:cNvSpPr txBox="1"/>
          <p:nvPr/>
        </p:nvSpPr>
        <p:spPr>
          <a:xfrm>
            <a:off x="4206240" y="5632704"/>
            <a:ext cx="7498079" cy="585216"/>
          </a:xfrm>
          <a:prstGeom prst="rect">
            <a:avLst/>
          </a:prstGeom>
          <a:noFill/>
        </p:spPr>
        <p:txBody>
          <a:bodyPr wrap="square">
            <a:spAutoFit/>
          </a:bodyPr>
          <a:lstStyle/>
          <a:p>
            <a:pPr algn="l">
              <a:buNone/>
            </a:pPr>
            <a:r>
              <a:rPr sz="1200" b="0" i="0">
                <a:solidFill>
                  <a:srgbClr val="0F172A"/>
                </a:solidFill>
                <a:latin typeface="Calibri" panose="020F0502020204030204"/>
              </a:rPr>
              <a:t>Certified Kubernetes Administrator (CKA)  •  Docker Certified Associate (DCA)  •  AWS Solutions Architect</a:t>
            </a:r>
            <a:endParaRPr sz="1200" b="0" i="0">
              <a:solidFill>
                <a:srgbClr val="0F172A"/>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a:t>
            </a:r>
            <a:endParaRPr sz="900" b="0" i="0">
              <a:solidFill>
                <a:srgbClr val="718596"/>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ROADMAP</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Day 1 — Course Outline</a:t>
            </a:r>
            <a:endParaRPr sz="2600" b="1" i="0">
              <a:solidFill>
                <a:srgbClr val="FFFFFF"/>
              </a:solidFill>
              <a:latin typeface="Cambria" panose="02040503050406030204"/>
            </a:endParaRPr>
          </a:p>
        </p:txBody>
      </p:sp>
      <p:sp>
        <p:nvSpPr>
          <p:cNvPr id="7" name="TextBox 6"/>
          <p:cNvSpPr txBox="1"/>
          <p:nvPr/>
        </p:nvSpPr>
        <p:spPr>
          <a:xfrm>
            <a:off x="640080" y="1783080"/>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1.  What is Docker? — VMs vs Containers</a:t>
            </a:r>
            <a:endParaRPr sz="1500" b="0" i="0">
              <a:solidFill>
                <a:srgbClr val="0F172A"/>
              </a:solidFill>
              <a:latin typeface="Calibri" panose="020F0502020204030204"/>
            </a:endParaRPr>
          </a:p>
        </p:txBody>
      </p:sp>
      <p:sp>
        <p:nvSpPr>
          <p:cNvPr id="8" name="TextBox 7"/>
          <p:cNvSpPr txBox="1"/>
          <p:nvPr/>
        </p:nvSpPr>
        <p:spPr>
          <a:xfrm>
            <a:off x="640080" y="2441448"/>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2.  Docker Architecture &amp; Core Concepts</a:t>
            </a:r>
            <a:endParaRPr sz="1500" b="0" i="0">
              <a:solidFill>
                <a:srgbClr val="0F172A"/>
              </a:solidFill>
              <a:latin typeface="Calibri" panose="020F0502020204030204"/>
            </a:endParaRPr>
          </a:p>
        </p:txBody>
      </p:sp>
      <p:sp>
        <p:nvSpPr>
          <p:cNvPr id="9" name="TextBox 8"/>
          <p:cNvSpPr txBox="1"/>
          <p:nvPr/>
        </p:nvSpPr>
        <p:spPr>
          <a:xfrm>
            <a:off x="640080" y="3099815"/>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3.  Running &amp; Managing Containers</a:t>
            </a:r>
            <a:endParaRPr sz="1500" b="0" i="0">
              <a:solidFill>
                <a:srgbClr val="0F172A"/>
              </a:solidFill>
              <a:latin typeface="Calibri" panose="020F0502020204030204"/>
            </a:endParaRPr>
          </a:p>
        </p:txBody>
      </p:sp>
      <p:sp>
        <p:nvSpPr>
          <p:cNvPr id="10" name="TextBox 9"/>
          <p:cNvSpPr txBox="1"/>
          <p:nvPr/>
        </p:nvSpPr>
        <p:spPr>
          <a:xfrm>
            <a:off x="640080" y="3758184"/>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4.  Building Images with Dockerfile</a:t>
            </a:r>
            <a:endParaRPr sz="1500" b="0" i="0">
              <a:solidFill>
                <a:srgbClr val="0F172A"/>
              </a:solidFill>
              <a:latin typeface="Calibri" panose="020F0502020204030204"/>
            </a:endParaRPr>
          </a:p>
        </p:txBody>
      </p:sp>
      <p:sp>
        <p:nvSpPr>
          <p:cNvPr id="11" name="TextBox 10"/>
          <p:cNvSpPr txBox="1"/>
          <p:nvPr/>
        </p:nvSpPr>
        <p:spPr>
          <a:xfrm>
            <a:off x="640080" y="4416552"/>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5.  Docker Storage — Volumes &amp; Bind Mounts</a:t>
            </a:r>
            <a:endParaRPr sz="1500" b="0" i="0">
              <a:solidFill>
                <a:srgbClr val="0F172A"/>
              </a:solidFill>
              <a:latin typeface="Calibri" panose="020F0502020204030204"/>
            </a:endParaRPr>
          </a:p>
        </p:txBody>
      </p:sp>
      <p:sp>
        <p:nvSpPr>
          <p:cNvPr id="12" name="TextBox 11"/>
          <p:cNvSpPr txBox="1"/>
          <p:nvPr/>
        </p:nvSpPr>
        <p:spPr>
          <a:xfrm>
            <a:off x="6309360" y="1783080"/>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6.  Docker Networking &amp; Port Mapping</a:t>
            </a:r>
            <a:endParaRPr sz="1500" b="0" i="0">
              <a:solidFill>
                <a:srgbClr val="0F172A"/>
              </a:solidFill>
              <a:latin typeface="Calibri" panose="020F0502020204030204"/>
            </a:endParaRPr>
          </a:p>
        </p:txBody>
      </p:sp>
      <p:sp>
        <p:nvSpPr>
          <p:cNvPr id="13" name="TextBox 12"/>
          <p:cNvSpPr txBox="1"/>
          <p:nvPr/>
        </p:nvSpPr>
        <p:spPr>
          <a:xfrm>
            <a:off x="6309360" y="2441448"/>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7.  Configuration — Environment Variables</a:t>
            </a:r>
            <a:endParaRPr sz="1500" b="0" i="0">
              <a:solidFill>
                <a:srgbClr val="0F172A"/>
              </a:solidFill>
              <a:latin typeface="Calibri" panose="020F0502020204030204"/>
            </a:endParaRPr>
          </a:p>
        </p:txBody>
      </p:sp>
      <p:sp>
        <p:nvSpPr>
          <p:cNvPr id="14" name="TextBox 13"/>
          <p:cNvSpPr txBox="1"/>
          <p:nvPr/>
        </p:nvSpPr>
        <p:spPr>
          <a:xfrm>
            <a:off x="6309360" y="3099815"/>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8.  Docker Hub (Reference)</a:t>
            </a:r>
            <a:endParaRPr sz="1500" b="0" i="0">
              <a:solidFill>
                <a:srgbClr val="0F172A"/>
              </a:solidFill>
              <a:latin typeface="Calibri" panose="020F0502020204030204"/>
            </a:endParaRPr>
          </a:p>
        </p:txBody>
      </p:sp>
      <p:sp>
        <p:nvSpPr>
          <p:cNvPr id="15" name="TextBox 14"/>
          <p:cNvSpPr txBox="1"/>
          <p:nvPr/>
        </p:nvSpPr>
        <p:spPr>
          <a:xfrm>
            <a:off x="6309360" y="3758184"/>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9.  Docker Compose — Multi-Service Apps</a:t>
            </a:r>
            <a:endParaRPr sz="1500" b="0" i="0">
              <a:solidFill>
                <a:srgbClr val="0F172A"/>
              </a:solidFill>
              <a:latin typeface="Calibri" panose="020F0502020204030204"/>
            </a:endParaRPr>
          </a:p>
        </p:txBody>
      </p:sp>
      <p:sp>
        <p:nvSpPr>
          <p:cNvPr id="16" name="TextBox 15"/>
          <p:cNvSpPr txBox="1"/>
          <p:nvPr/>
        </p:nvSpPr>
        <p:spPr>
          <a:xfrm>
            <a:off x="6309360" y="4416552"/>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10. Knowledge Checks</a:t>
            </a:r>
            <a:endParaRPr sz="1500" b="0" i="0">
              <a:solidFill>
                <a:srgbClr val="0F172A"/>
              </a:solidFill>
              <a:latin typeface="Calibri" panose="020F0502020204030204"/>
            </a:endParaRPr>
          </a:p>
        </p:txBody>
      </p:sp>
      <p:sp>
        <p:nvSpPr>
          <p:cNvPr id="17" name="Rectangle 16"/>
          <p:cNvSpPr/>
          <p:nvPr/>
        </p:nvSpPr>
        <p:spPr>
          <a:xfrm>
            <a:off x="201168" y="5888736"/>
            <a:ext cx="11777472" cy="475488"/>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5760" y="5952744"/>
            <a:ext cx="11448288" cy="347472"/>
          </a:xfrm>
          <a:prstGeom prst="rect">
            <a:avLst/>
          </a:prstGeom>
          <a:noFill/>
        </p:spPr>
        <p:txBody>
          <a:bodyPr wrap="square">
            <a:spAutoFit/>
          </a:bodyPr>
          <a:lstStyle/>
          <a:p>
            <a:pPr algn="ctr">
              <a:buNone/>
            </a:pPr>
            <a:r>
              <a:rPr sz="1200" b="1" i="0">
                <a:solidFill>
                  <a:srgbClr val="FFFFFF"/>
                </a:solidFill>
                <a:latin typeface="Calibri" panose="020F0502020204030204"/>
              </a:rPr>
              <a:t>Day 1: 12 Labs + 2 Knowledge Checks  |  Day 2: 7 Labs + 2 Knowledge Checks  |  Hands-on via KillerCoda browser environment</a:t>
            </a:r>
            <a:endParaRPr sz="1200" b="1" i="0">
              <a:solidFill>
                <a:srgbClr val="FFFFFF"/>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a:t>
            </a:r>
            <a:endParaRPr sz="900" b="0" i="0">
              <a:solidFill>
                <a:srgbClr val="718596"/>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1</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What is Docker?</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Containers, images, and why they matter</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VMs vs Containers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How Docker works</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Images &amp; Layers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Docker Hub &amp; Registry</a:t>
            </a:r>
            <a:endParaRPr sz="1800" b="0" i="0">
              <a:solidFill>
                <a:srgbClr val="CBD5E1"/>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a:t>
            </a:r>
            <a:endParaRPr sz="900" b="0" i="0">
              <a:solidFill>
                <a:srgbClr val="718596"/>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The Problem: 'It Works on My Machine'</a:t>
            </a:r>
            <a:endParaRPr sz="2600" b="1" i="0">
              <a:solidFill>
                <a:srgbClr val="FFFFFF"/>
              </a:solidFill>
              <a:latin typeface="Cambria" panose="02040503050406030204"/>
            </a:endParaRPr>
          </a:p>
        </p:txBody>
      </p:sp>
      <p:sp>
        <p:nvSpPr>
          <p:cNvPr id="7" name="TextBox 6"/>
          <p:cNvSpPr txBox="1"/>
          <p:nvPr/>
        </p:nvSpPr>
        <p:spPr>
          <a:xfrm>
            <a:off x="640080" y="1572768"/>
            <a:ext cx="10972800" cy="829945"/>
          </a:xfrm>
          <a:prstGeom prst="rect">
            <a:avLst/>
          </a:prstGeom>
          <a:noFill/>
        </p:spPr>
        <p:txBody>
          <a:bodyPr wrap="square">
            <a:spAutoFit/>
          </a:bodyPr>
          <a:lstStyle/>
          <a:p>
            <a:pPr algn="l">
              <a:buNone/>
            </a:pPr>
            <a:r>
              <a:rPr sz="1600" b="0" i="0">
                <a:solidFill>
                  <a:srgbClr val="0F172A"/>
                </a:solidFill>
                <a:latin typeface="Calibri" panose="020F0502020204030204"/>
              </a:rPr>
              <a:t>Docker is a software platform that allows you to build, test, and deploy applications quickly. It packages software into standardised units called containers that have everything the software needs to run, including libraries, system tools, code, and runtime.   </a:t>
            </a:r>
            <a:endParaRPr sz="1600" b="0" i="0">
              <a:solidFill>
                <a:srgbClr val="0F172A"/>
              </a:solidFill>
              <a:latin typeface="Calibri" panose="020F0502020204030204"/>
            </a:endParaRPr>
          </a:p>
          <a:p>
            <a:pPr algn="l">
              <a:buNone/>
            </a:pPr>
            <a:r>
              <a:rPr lang="en-SG" sz="1600" b="0" i="0">
                <a:solidFill>
                  <a:srgbClr val="0F172A"/>
                </a:solidFill>
                <a:latin typeface="Calibri" panose="020F0502020204030204"/>
              </a:rPr>
              <a:t>source-&gt;(</a:t>
            </a:r>
            <a:r>
              <a:rPr lang="en-US" altLang="en-US" sz="1600" b="0" i="0">
                <a:solidFill>
                  <a:srgbClr val="0F172A"/>
                </a:solidFill>
                <a:latin typeface="Calibri" panose="020F0502020204030204"/>
              </a:rPr>
              <a:t>https://aws.amazon.com/docker/</a:t>
            </a:r>
            <a:r>
              <a:rPr lang="en-SG" altLang="en-US" sz="1600" b="0" i="0">
                <a:solidFill>
                  <a:srgbClr val="0F172A"/>
                </a:solidFill>
                <a:latin typeface="Calibri" panose="020F0502020204030204"/>
              </a:rPr>
              <a:t>)</a:t>
            </a:r>
            <a:endParaRPr lang="en-SG" altLang="en-US" sz="1600" b="0" i="0">
              <a:solidFill>
                <a:srgbClr val="0F172A"/>
              </a:solidFill>
              <a:latin typeface="Calibri" panose="020F0502020204030204"/>
            </a:endParaRPr>
          </a:p>
        </p:txBody>
      </p:sp>
      <p:sp>
        <p:nvSpPr>
          <p:cNvPr id="8" name="TextBox 7"/>
          <p:cNvSpPr txBox="1"/>
          <p:nvPr/>
        </p:nvSpPr>
        <p:spPr>
          <a:xfrm>
            <a:off x="640080" y="2258441"/>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Common environment mismatch problems: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Works on developer laptop, breaks on the test server</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Different Python / Node / Java versions installed</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Missing environment variables or config files</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Dependency conflicts between projects</a:t>
            </a:r>
            <a:endParaRPr sz="1600" b="0" i="0">
              <a:solidFill>
                <a:srgbClr val="0F172A"/>
              </a:solidFill>
              <a:latin typeface="Calibri" panose="020F0502020204030204"/>
            </a:endParaRPr>
          </a:p>
        </p:txBody>
      </p:sp>
      <p:sp>
        <p:nvSpPr>
          <p:cNvPr id="13" name="TextBox 12"/>
          <p:cNvSpPr txBox="1"/>
          <p:nvPr/>
        </p:nvSpPr>
        <p:spPr>
          <a:xfrm>
            <a:off x="640080" y="416966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Docker solves this by packaging the app AND its environment into one portable, standardised container that runs identically everywhere.</a:t>
            </a:r>
            <a:endParaRPr sz="14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a:t>
            </a:r>
            <a:endParaRPr sz="900" b="0" i="0">
              <a:solidFill>
                <a:srgbClr val="718596"/>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Virtual Machines vs Containers</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53593"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Virtual Machines</a:t>
            </a:r>
            <a:endParaRPr sz="1800" b="1" i="0">
              <a:solidFill>
                <a:srgbClr val="0F172A"/>
              </a:solidFill>
              <a:latin typeface="Cambria" panose="02040503050406030204"/>
            </a:endParaRPr>
          </a:p>
        </p:txBody>
      </p:sp>
      <p:sp>
        <p:nvSpPr>
          <p:cNvPr id="9" name="TextBox 8"/>
          <p:cNvSpPr txBox="1"/>
          <p:nvPr/>
        </p:nvSpPr>
        <p:spPr>
          <a:xfrm>
            <a:off x="553593"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Full OS kernel per VM</a:t>
            </a:r>
            <a:endParaRPr sz="1600" b="0" i="0">
              <a:solidFill>
                <a:srgbClr val="0F172A"/>
              </a:solidFill>
              <a:latin typeface="Calibri" panose="020F0502020204030204"/>
            </a:endParaRPr>
          </a:p>
        </p:txBody>
      </p:sp>
      <p:sp>
        <p:nvSpPr>
          <p:cNvPr id="10" name="TextBox 9"/>
          <p:cNvSpPr txBox="1"/>
          <p:nvPr/>
        </p:nvSpPr>
        <p:spPr>
          <a:xfrm>
            <a:off x="553593"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Boot time: seconds to minutes</a:t>
            </a:r>
            <a:endParaRPr sz="1600" b="0" i="0">
              <a:solidFill>
                <a:srgbClr val="0F172A"/>
              </a:solidFill>
              <a:latin typeface="Calibri" panose="020F0502020204030204"/>
            </a:endParaRPr>
          </a:p>
        </p:txBody>
      </p:sp>
      <p:sp>
        <p:nvSpPr>
          <p:cNvPr id="11" name="TextBox 10"/>
          <p:cNvSpPr txBox="1"/>
          <p:nvPr/>
        </p:nvSpPr>
        <p:spPr>
          <a:xfrm>
            <a:off x="553593"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Size: gigabytes</a:t>
            </a:r>
            <a:endParaRPr sz="1600" b="0" i="0">
              <a:solidFill>
                <a:srgbClr val="0F172A"/>
              </a:solidFill>
              <a:latin typeface="Calibri" panose="020F0502020204030204"/>
            </a:endParaRPr>
          </a:p>
        </p:txBody>
      </p:sp>
      <p:sp>
        <p:nvSpPr>
          <p:cNvPr id="12" name="TextBox 11"/>
          <p:cNvSpPr txBox="1"/>
          <p:nvPr/>
        </p:nvSpPr>
        <p:spPr>
          <a:xfrm>
            <a:off x="553593"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Hypervisor overhead</a:t>
            </a:r>
            <a:endParaRPr sz="1600" b="0" i="0">
              <a:solidFill>
                <a:srgbClr val="0F172A"/>
              </a:solidFill>
              <a:latin typeface="Calibri" panose="020F0502020204030204"/>
            </a:endParaRPr>
          </a:p>
        </p:txBody>
      </p:sp>
      <p:sp>
        <p:nvSpPr>
          <p:cNvPr id="13" name="TextBox 12"/>
          <p:cNvSpPr txBox="1"/>
          <p:nvPr/>
        </p:nvSpPr>
        <p:spPr>
          <a:xfrm>
            <a:off x="553593"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Strong hardware-level isolation</a:t>
            </a:r>
            <a:endParaRPr sz="1600" b="0" i="0">
              <a:solidFill>
                <a:srgbClr val="0F172A"/>
              </a:solidFill>
              <a:latin typeface="Calibri" panose="020F0502020204030204"/>
            </a:endParaRPr>
          </a:p>
        </p:txBody>
      </p:sp>
      <p:sp>
        <p:nvSpPr>
          <p:cNvPr id="14" name="TextBox 13"/>
          <p:cNvSpPr txBox="1"/>
          <p:nvPr/>
        </p:nvSpPr>
        <p:spPr>
          <a:xfrm>
            <a:off x="525018"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Examples: VMware, VirtualBox, AWS EC2</a:t>
            </a:r>
            <a:endParaRPr sz="1200" b="0" i="0">
              <a:solidFill>
                <a:srgbClr val="64748B"/>
              </a:solidFill>
              <a:latin typeface="Calibri" panose="020F0502020204030204"/>
            </a:endParaRPr>
          </a:p>
        </p:txBody>
      </p:sp>
      <p:sp>
        <p:nvSpPr>
          <p:cNvPr id="15" name="TextBox 14"/>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Containers</a:t>
            </a:r>
            <a:endParaRPr sz="1800" b="1" i="0">
              <a:solidFill>
                <a:srgbClr val="0F172A"/>
              </a:solidFill>
              <a:latin typeface="Cambria" panose="02040503050406030204"/>
            </a:endParaRPr>
          </a:p>
        </p:txBody>
      </p:sp>
      <p:sp>
        <p:nvSpPr>
          <p:cNvPr id="16" name="TextBox 15"/>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Share the host OS kernel</a:t>
            </a:r>
            <a:endParaRPr sz="1600" b="0" i="0">
              <a:solidFill>
                <a:srgbClr val="0F172A"/>
              </a:solidFill>
              <a:latin typeface="Calibri" panose="020F0502020204030204"/>
            </a:endParaRPr>
          </a:p>
        </p:txBody>
      </p:sp>
      <p:sp>
        <p:nvSpPr>
          <p:cNvPr id="17" name="TextBox 16"/>
          <p:cNvSpPr txBox="1"/>
          <p:nvPr/>
        </p:nvSpPr>
        <p:spPr>
          <a:xfrm>
            <a:off x="6309360"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Start time: milliseconds</a:t>
            </a:r>
            <a:endParaRPr sz="1600" b="0" i="0">
              <a:solidFill>
                <a:srgbClr val="0F172A"/>
              </a:solidFill>
              <a:latin typeface="Calibri" panose="020F0502020204030204"/>
            </a:endParaRPr>
          </a:p>
        </p:txBody>
      </p:sp>
      <p:sp>
        <p:nvSpPr>
          <p:cNvPr id="18" name="TextBox 17"/>
          <p:cNvSpPr txBox="1"/>
          <p:nvPr/>
        </p:nvSpPr>
        <p:spPr>
          <a:xfrm>
            <a:off x="6309360"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Size: megabytes</a:t>
            </a:r>
            <a:endParaRPr sz="1600" b="0" i="0">
              <a:solidFill>
                <a:srgbClr val="0F172A"/>
              </a:solidFill>
              <a:latin typeface="Calibri" panose="020F0502020204030204"/>
            </a:endParaRPr>
          </a:p>
        </p:txBody>
      </p:sp>
      <p:sp>
        <p:nvSpPr>
          <p:cNvPr id="19" name="TextBox 18"/>
          <p:cNvSpPr txBox="1"/>
          <p:nvPr/>
        </p:nvSpPr>
        <p:spPr>
          <a:xfrm>
            <a:off x="6309360"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Minimal overhead</a:t>
            </a:r>
            <a:endParaRPr sz="1600" b="0" i="0">
              <a:solidFill>
                <a:srgbClr val="0F172A"/>
              </a:solidFill>
              <a:latin typeface="Calibri" panose="020F0502020204030204"/>
            </a:endParaRPr>
          </a:p>
        </p:txBody>
      </p:sp>
      <p:sp>
        <p:nvSpPr>
          <p:cNvPr id="20" name="TextBox 19"/>
          <p:cNvSpPr txBox="1"/>
          <p:nvPr/>
        </p:nvSpPr>
        <p:spPr>
          <a:xfrm>
            <a:off x="6309360"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Process-level isolation</a:t>
            </a:r>
            <a:endParaRPr sz="1600" b="0" i="0">
              <a:solidFill>
                <a:srgbClr val="0F172A"/>
              </a:solidFill>
              <a:latin typeface="Calibri" panose="020F0502020204030204"/>
            </a:endParaRPr>
          </a:p>
        </p:txBody>
      </p:sp>
      <p:sp>
        <p:nvSpPr>
          <p:cNvPr id="21" name="TextBox 20"/>
          <p:cNvSpPr txBox="1"/>
          <p:nvPr/>
        </p:nvSpPr>
        <p:spPr>
          <a:xfrm>
            <a:off x="6309360"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Examples: Docker, Podman, containerd</a:t>
            </a:r>
            <a:endParaRPr sz="1200" b="0" i="0">
              <a:solidFill>
                <a:srgbClr val="64748B"/>
              </a:solidFill>
              <a:latin typeface="Calibri" panose="020F05020202040302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a:t>
            </a:r>
            <a:endParaRPr sz="900" b="0" i="0">
              <a:solidFill>
                <a:srgbClr val="718596"/>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VM vs Container Architecture</a:t>
            </a:r>
            <a:endParaRPr sz="2600" b="1" i="0">
              <a:solidFill>
                <a:srgbClr val="FFFFFF"/>
              </a:solidFill>
              <a:latin typeface="Cambria" panose="02040503050406030204"/>
            </a:endParaRPr>
          </a:p>
        </p:txBody>
      </p:sp>
      <p:sp>
        <p:nvSpPr>
          <p:cNvPr id="7" name="Rectangle 6"/>
          <p:cNvSpPr/>
          <p:nvPr/>
        </p:nvSpPr>
        <p:spPr>
          <a:xfrm>
            <a:off x="548640" y="1737360"/>
            <a:ext cx="5394960" cy="393192"/>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764792"/>
            <a:ext cx="5394960" cy="338328"/>
          </a:xfrm>
          <a:prstGeom prst="rect">
            <a:avLst/>
          </a:prstGeom>
          <a:noFill/>
        </p:spPr>
        <p:txBody>
          <a:bodyPr wrap="square">
            <a:spAutoFit/>
          </a:bodyPr>
          <a:lstStyle/>
          <a:p>
            <a:pPr algn="ctr">
              <a:buNone/>
            </a:pPr>
            <a:r>
              <a:rPr sz="1400" b="1" i="0">
                <a:solidFill>
                  <a:srgbClr val="0F172A"/>
                </a:solidFill>
                <a:latin typeface="Cambria" panose="02040503050406030204"/>
              </a:rPr>
              <a:t>Virtual Machine Model</a:t>
            </a:r>
            <a:endParaRPr sz="1400" b="1" i="0">
              <a:solidFill>
                <a:srgbClr val="0F172A"/>
              </a:solidFill>
              <a:latin typeface="Cambria" panose="02040503050406030204"/>
            </a:endParaRPr>
          </a:p>
        </p:txBody>
      </p:sp>
      <p:sp>
        <p:nvSpPr>
          <p:cNvPr id="9" name="Rectangle 8"/>
          <p:cNvSpPr/>
          <p:nvPr/>
        </p:nvSpPr>
        <p:spPr>
          <a:xfrm>
            <a:off x="6217920" y="1737360"/>
            <a:ext cx="5394960" cy="393192"/>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1764792"/>
            <a:ext cx="5394960" cy="338328"/>
          </a:xfrm>
          <a:prstGeom prst="rect">
            <a:avLst/>
          </a:prstGeom>
          <a:noFill/>
        </p:spPr>
        <p:txBody>
          <a:bodyPr wrap="square">
            <a:spAutoFit/>
          </a:bodyPr>
          <a:lstStyle/>
          <a:p>
            <a:pPr algn="ctr">
              <a:buNone/>
            </a:pPr>
            <a:r>
              <a:rPr sz="1400" b="1" i="0">
                <a:solidFill>
                  <a:srgbClr val="0F172A"/>
                </a:solidFill>
                <a:latin typeface="Cambria" panose="02040503050406030204"/>
              </a:rPr>
              <a:t>Container Model</a:t>
            </a:r>
            <a:endParaRPr sz="1400" b="1" i="0">
              <a:solidFill>
                <a:srgbClr val="0F172A"/>
              </a:solidFill>
              <a:latin typeface="Cambria" panose="02040503050406030204"/>
            </a:endParaRPr>
          </a:p>
        </p:txBody>
      </p:sp>
      <p:sp>
        <p:nvSpPr>
          <p:cNvPr id="11" name="Rectangle 10"/>
          <p:cNvSpPr/>
          <p:nvPr/>
        </p:nvSpPr>
        <p:spPr>
          <a:xfrm>
            <a:off x="6035040" y="1737360"/>
            <a:ext cx="36576" cy="45720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15000" y="3749039"/>
            <a:ext cx="685800" cy="384048"/>
          </a:xfrm>
          <a:prstGeom prst="rect">
            <a:avLst/>
          </a:prstGeom>
          <a:noFill/>
        </p:spPr>
        <p:txBody>
          <a:bodyPr wrap="square">
            <a:spAutoFit/>
          </a:bodyPr>
          <a:lstStyle/>
          <a:p>
            <a:pPr algn="ctr">
              <a:buNone/>
            </a:pPr>
            <a:r>
              <a:rPr sz="1800" b="1" i="0">
                <a:solidFill>
                  <a:srgbClr val="2496ED"/>
                </a:solidFill>
                <a:latin typeface="Cambria" panose="02040503050406030204"/>
              </a:rPr>
              <a:t>vs</a:t>
            </a:r>
            <a:endParaRPr sz="1800" b="1" i="0">
              <a:solidFill>
                <a:srgbClr val="2496ED"/>
              </a:solidFill>
              <a:latin typeface="Cambria" panose="02040503050406030204"/>
            </a:endParaRPr>
          </a:p>
        </p:txBody>
      </p:sp>
      <p:sp>
        <p:nvSpPr>
          <p:cNvPr id="13" name="Rectangle 12"/>
          <p:cNvSpPr/>
          <p:nvPr/>
        </p:nvSpPr>
        <p:spPr>
          <a:xfrm>
            <a:off x="594360"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1</a:t>
            </a:r>
            <a:endParaRPr sz="1200" b="1" i="0">
              <a:solidFill>
                <a:srgbClr val="0F172A"/>
              </a:solidFill>
              <a:latin typeface="Calibri" panose="020F0502020204030204"/>
            </a:endParaRPr>
          </a:p>
        </p:txBody>
      </p:sp>
      <p:sp>
        <p:nvSpPr>
          <p:cNvPr id="15" name="Rectangle 14"/>
          <p:cNvSpPr/>
          <p:nvPr/>
        </p:nvSpPr>
        <p:spPr>
          <a:xfrm>
            <a:off x="594360" y="2834640"/>
            <a:ext cx="1572768"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880360"/>
            <a:ext cx="1481328" cy="365760"/>
          </a:xfrm>
          <a:prstGeom prst="rect">
            <a:avLst/>
          </a:prstGeom>
          <a:noFill/>
        </p:spPr>
        <p:txBody>
          <a:bodyPr wrap="square">
            <a:spAutoFit/>
          </a:bodyPr>
          <a:lstStyle/>
          <a:p>
            <a:pPr algn="ctr">
              <a:buNone/>
            </a:pPr>
            <a:r>
              <a:rPr sz="1100" b="0" i="0">
                <a:solidFill>
                  <a:srgbClr val="FFFFFF"/>
                </a:solidFill>
                <a:latin typeface="Calibri" panose="020F0502020204030204"/>
              </a:rPr>
              <a:t>Guest OS</a:t>
            </a:r>
            <a:endParaRPr sz="1100" b="0" i="0">
              <a:solidFill>
                <a:srgbClr val="FFFFFF"/>
              </a:solidFill>
              <a:latin typeface="Calibri" panose="020F0502020204030204"/>
            </a:endParaRPr>
          </a:p>
        </p:txBody>
      </p:sp>
      <p:sp>
        <p:nvSpPr>
          <p:cNvPr id="17" name="Rectangle 16"/>
          <p:cNvSpPr/>
          <p:nvPr/>
        </p:nvSpPr>
        <p:spPr>
          <a:xfrm>
            <a:off x="2212848"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258568"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2</a:t>
            </a:r>
            <a:endParaRPr sz="1200" b="1" i="0">
              <a:solidFill>
                <a:srgbClr val="0F172A"/>
              </a:solidFill>
              <a:latin typeface="Calibri" panose="020F0502020204030204"/>
            </a:endParaRPr>
          </a:p>
        </p:txBody>
      </p:sp>
      <p:sp>
        <p:nvSpPr>
          <p:cNvPr id="19" name="Rectangle 18"/>
          <p:cNvSpPr/>
          <p:nvPr/>
        </p:nvSpPr>
        <p:spPr>
          <a:xfrm>
            <a:off x="2212848" y="2834640"/>
            <a:ext cx="1572768"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258568" y="2880360"/>
            <a:ext cx="1481328" cy="365760"/>
          </a:xfrm>
          <a:prstGeom prst="rect">
            <a:avLst/>
          </a:prstGeom>
          <a:noFill/>
        </p:spPr>
        <p:txBody>
          <a:bodyPr wrap="square">
            <a:spAutoFit/>
          </a:bodyPr>
          <a:lstStyle/>
          <a:p>
            <a:pPr algn="ctr">
              <a:buNone/>
            </a:pPr>
            <a:r>
              <a:rPr sz="1100" b="0" i="0">
                <a:solidFill>
                  <a:srgbClr val="FFFFFF"/>
                </a:solidFill>
                <a:latin typeface="Calibri" panose="020F0502020204030204"/>
              </a:rPr>
              <a:t>Guest OS</a:t>
            </a:r>
            <a:endParaRPr sz="1100" b="0" i="0">
              <a:solidFill>
                <a:srgbClr val="FFFFFF"/>
              </a:solidFill>
              <a:latin typeface="Calibri" panose="020F0502020204030204"/>
            </a:endParaRPr>
          </a:p>
        </p:txBody>
      </p:sp>
      <p:sp>
        <p:nvSpPr>
          <p:cNvPr id="21" name="Rectangle 20"/>
          <p:cNvSpPr/>
          <p:nvPr/>
        </p:nvSpPr>
        <p:spPr>
          <a:xfrm>
            <a:off x="3831336"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77056"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3</a:t>
            </a:r>
            <a:endParaRPr sz="1200" b="1" i="0">
              <a:solidFill>
                <a:srgbClr val="0F172A"/>
              </a:solidFill>
              <a:latin typeface="Calibri" panose="020F0502020204030204"/>
            </a:endParaRPr>
          </a:p>
        </p:txBody>
      </p:sp>
      <p:sp>
        <p:nvSpPr>
          <p:cNvPr id="23" name="Rectangle 22"/>
          <p:cNvSpPr/>
          <p:nvPr/>
        </p:nvSpPr>
        <p:spPr>
          <a:xfrm>
            <a:off x="3831336" y="2834640"/>
            <a:ext cx="1572768"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77056" y="2880360"/>
            <a:ext cx="1481328" cy="365760"/>
          </a:xfrm>
          <a:prstGeom prst="rect">
            <a:avLst/>
          </a:prstGeom>
          <a:noFill/>
        </p:spPr>
        <p:txBody>
          <a:bodyPr wrap="square">
            <a:spAutoFit/>
          </a:bodyPr>
          <a:lstStyle/>
          <a:p>
            <a:pPr algn="ctr">
              <a:buNone/>
            </a:pPr>
            <a:r>
              <a:rPr sz="1100" b="0" i="0">
                <a:solidFill>
                  <a:srgbClr val="FFFFFF"/>
                </a:solidFill>
                <a:latin typeface="Calibri" panose="020F0502020204030204"/>
              </a:rPr>
              <a:t>Guest OS</a:t>
            </a:r>
            <a:endParaRPr sz="1100" b="0" i="0">
              <a:solidFill>
                <a:srgbClr val="FFFFFF"/>
              </a:solidFill>
              <a:latin typeface="Calibri" panose="020F0502020204030204"/>
            </a:endParaRPr>
          </a:p>
        </p:txBody>
      </p:sp>
      <p:sp>
        <p:nvSpPr>
          <p:cNvPr id="25" name="Rectangle 24"/>
          <p:cNvSpPr/>
          <p:nvPr/>
        </p:nvSpPr>
        <p:spPr>
          <a:xfrm>
            <a:off x="594360" y="3401568"/>
            <a:ext cx="5276088" cy="493776"/>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94360" y="3447288"/>
            <a:ext cx="5276088" cy="365760"/>
          </a:xfrm>
          <a:prstGeom prst="rect">
            <a:avLst/>
          </a:prstGeom>
          <a:noFill/>
        </p:spPr>
        <p:txBody>
          <a:bodyPr wrap="square">
            <a:spAutoFit/>
          </a:bodyPr>
          <a:lstStyle/>
          <a:p>
            <a:pPr algn="ctr">
              <a:buNone/>
            </a:pPr>
            <a:r>
              <a:rPr sz="1300" b="1" i="0">
                <a:solidFill>
                  <a:srgbClr val="FFFFFF"/>
                </a:solidFill>
                <a:latin typeface="Calibri" panose="020F0502020204030204"/>
              </a:rPr>
              <a:t>Hypervisor</a:t>
            </a:r>
            <a:endParaRPr sz="1300" b="1" i="0">
              <a:solidFill>
                <a:srgbClr val="FFFFFF"/>
              </a:solidFill>
              <a:latin typeface="Calibri" panose="020F0502020204030204"/>
            </a:endParaRPr>
          </a:p>
        </p:txBody>
      </p:sp>
      <p:sp>
        <p:nvSpPr>
          <p:cNvPr id="27" name="Rectangle 26"/>
          <p:cNvSpPr/>
          <p:nvPr/>
        </p:nvSpPr>
        <p:spPr>
          <a:xfrm>
            <a:off x="594360" y="3968496"/>
            <a:ext cx="5276088" cy="475488"/>
          </a:xfrm>
          <a:prstGeom prst="rect">
            <a:avLst/>
          </a:prstGeom>
          <a:solidFill>
            <a:srgbClr val="3D3C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60" y="4014215"/>
            <a:ext cx="5276088" cy="347472"/>
          </a:xfrm>
          <a:prstGeom prst="rect">
            <a:avLst/>
          </a:prstGeom>
          <a:noFill/>
        </p:spPr>
        <p:txBody>
          <a:bodyPr wrap="square">
            <a:spAutoFit/>
          </a:bodyPr>
          <a:lstStyle/>
          <a:p>
            <a:pPr algn="ctr">
              <a:buNone/>
            </a:pPr>
            <a:r>
              <a:rPr sz="1200" b="1" i="0">
                <a:solidFill>
                  <a:srgbClr val="FFFFFF"/>
                </a:solidFill>
                <a:latin typeface="Calibri" panose="020F0502020204030204"/>
              </a:rPr>
              <a:t>Hardware</a:t>
            </a:r>
            <a:endParaRPr sz="1200" b="1" i="0">
              <a:solidFill>
                <a:srgbClr val="FFFFFF"/>
              </a:solidFill>
              <a:latin typeface="Calibri" panose="020F0502020204030204"/>
            </a:endParaRPr>
          </a:p>
        </p:txBody>
      </p:sp>
      <p:sp>
        <p:nvSpPr>
          <p:cNvPr id="29" name="TextBox 28"/>
          <p:cNvSpPr txBox="1"/>
          <p:nvPr/>
        </p:nvSpPr>
        <p:spPr>
          <a:xfrm>
            <a:off x="594360" y="4572000"/>
            <a:ext cx="5276088" cy="329184"/>
          </a:xfrm>
          <a:prstGeom prst="rect">
            <a:avLst/>
          </a:prstGeom>
          <a:noFill/>
        </p:spPr>
        <p:txBody>
          <a:bodyPr wrap="square">
            <a:spAutoFit/>
          </a:bodyPr>
          <a:lstStyle/>
          <a:p>
            <a:pPr algn="l">
              <a:buNone/>
            </a:pPr>
            <a:r>
              <a:rPr sz="1100" b="0" i="1">
                <a:solidFill>
                  <a:srgbClr val="64748B"/>
                </a:solidFill>
                <a:latin typeface="Calibri" panose="020F0502020204030204"/>
              </a:rPr>
              <a:t>Each VM carries a full Guest OS — heavier, slower to start</a:t>
            </a:r>
            <a:endParaRPr sz="1100" b="0" i="1">
              <a:solidFill>
                <a:srgbClr val="64748B"/>
              </a:solidFill>
              <a:latin typeface="Calibri" panose="020F0502020204030204"/>
            </a:endParaRPr>
          </a:p>
        </p:txBody>
      </p:sp>
      <p:sp>
        <p:nvSpPr>
          <p:cNvPr id="30" name="Rectangle 29"/>
          <p:cNvSpPr/>
          <p:nvPr/>
        </p:nvSpPr>
        <p:spPr>
          <a:xfrm>
            <a:off x="6291072"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36792"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1</a:t>
            </a:r>
            <a:endParaRPr sz="1200" b="1" i="0">
              <a:solidFill>
                <a:srgbClr val="0F172A"/>
              </a:solidFill>
              <a:latin typeface="Calibri" panose="020F0502020204030204"/>
            </a:endParaRPr>
          </a:p>
        </p:txBody>
      </p:sp>
      <p:sp>
        <p:nvSpPr>
          <p:cNvPr id="32" name="Rectangle 31"/>
          <p:cNvSpPr/>
          <p:nvPr/>
        </p:nvSpPr>
        <p:spPr>
          <a:xfrm>
            <a:off x="7909560"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955280"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2</a:t>
            </a:r>
            <a:endParaRPr sz="1200" b="1" i="0">
              <a:solidFill>
                <a:srgbClr val="0F172A"/>
              </a:solidFill>
              <a:latin typeface="Calibri" panose="020F0502020204030204"/>
            </a:endParaRPr>
          </a:p>
        </p:txBody>
      </p:sp>
      <p:sp>
        <p:nvSpPr>
          <p:cNvPr id="34" name="Rectangle 33"/>
          <p:cNvSpPr/>
          <p:nvPr/>
        </p:nvSpPr>
        <p:spPr>
          <a:xfrm>
            <a:off x="9528048" y="2286000"/>
            <a:ext cx="1572768" cy="493776"/>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573768" y="2331720"/>
            <a:ext cx="1481328" cy="365760"/>
          </a:xfrm>
          <a:prstGeom prst="rect">
            <a:avLst/>
          </a:prstGeom>
          <a:noFill/>
        </p:spPr>
        <p:txBody>
          <a:bodyPr wrap="square">
            <a:spAutoFit/>
          </a:bodyPr>
          <a:lstStyle/>
          <a:p>
            <a:pPr algn="ctr">
              <a:buNone/>
            </a:pPr>
            <a:r>
              <a:rPr sz="1200" b="1" i="0">
                <a:solidFill>
                  <a:srgbClr val="0F172A"/>
                </a:solidFill>
                <a:latin typeface="Calibri" panose="020F0502020204030204"/>
              </a:rPr>
              <a:t>App 3</a:t>
            </a:r>
            <a:endParaRPr sz="1200" b="1" i="0">
              <a:solidFill>
                <a:srgbClr val="0F172A"/>
              </a:solidFill>
              <a:latin typeface="Calibri" panose="020F0502020204030204"/>
            </a:endParaRPr>
          </a:p>
        </p:txBody>
      </p:sp>
      <p:sp>
        <p:nvSpPr>
          <p:cNvPr id="36" name="Rectangle 35"/>
          <p:cNvSpPr/>
          <p:nvPr/>
        </p:nvSpPr>
        <p:spPr>
          <a:xfrm>
            <a:off x="6291072" y="2834640"/>
            <a:ext cx="5276088" cy="493776"/>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291072" y="2880360"/>
            <a:ext cx="5276088" cy="365760"/>
          </a:xfrm>
          <a:prstGeom prst="rect">
            <a:avLst/>
          </a:prstGeom>
          <a:noFill/>
        </p:spPr>
        <p:txBody>
          <a:bodyPr wrap="square">
            <a:spAutoFit/>
          </a:bodyPr>
          <a:lstStyle/>
          <a:p>
            <a:pPr algn="ctr">
              <a:buNone/>
            </a:pPr>
            <a:r>
              <a:rPr sz="1300" b="1" i="0">
                <a:solidFill>
                  <a:srgbClr val="FFFFFF"/>
                </a:solidFill>
                <a:latin typeface="Calibri" panose="020F0502020204030204"/>
              </a:rPr>
              <a:t>Docker Engine</a:t>
            </a:r>
            <a:endParaRPr sz="1300" b="1" i="0">
              <a:solidFill>
                <a:srgbClr val="FFFFFF"/>
              </a:solidFill>
              <a:latin typeface="Calibri" panose="020F0502020204030204"/>
            </a:endParaRPr>
          </a:p>
        </p:txBody>
      </p:sp>
      <p:sp>
        <p:nvSpPr>
          <p:cNvPr id="38" name="Rectangle 37"/>
          <p:cNvSpPr/>
          <p:nvPr/>
        </p:nvSpPr>
        <p:spPr>
          <a:xfrm>
            <a:off x="6291072" y="3401568"/>
            <a:ext cx="5276088"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91072" y="3447288"/>
            <a:ext cx="5276088" cy="365760"/>
          </a:xfrm>
          <a:prstGeom prst="rect">
            <a:avLst/>
          </a:prstGeom>
          <a:noFill/>
        </p:spPr>
        <p:txBody>
          <a:bodyPr wrap="square">
            <a:spAutoFit/>
          </a:bodyPr>
          <a:lstStyle/>
          <a:p>
            <a:pPr algn="ctr">
              <a:buNone/>
            </a:pPr>
            <a:r>
              <a:rPr sz="1200" b="1" i="0">
                <a:solidFill>
                  <a:srgbClr val="FFFFFF"/>
                </a:solidFill>
                <a:latin typeface="Calibri" panose="020F0502020204030204"/>
              </a:rPr>
              <a:t>Host OS</a:t>
            </a:r>
            <a:endParaRPr sz="1200" b="1" i="0">
              <a:solidFill>
                <a:srgbClr val="FFFFFF"/>
              </a:solidFill>
              <a:latin typeface="Calibri" panose="020F0502020204030204"/>
            </a:endParaRPr>
          </a:p>
        </p:txBody>
      </p:sp>
      <p:sp>
        <p:nvSpPr>
          <p:cNvPr id="40" name="Rectangle 39"/>
          <p:cNvSpPr/>
          <p:nvPr/>
        </p:nvSpPr>
        <p:spPr>
          <a:xfrm>
            <a:off x="6291072" y="3968496"/>
            <a:ext cx="5276088" cy="475488"/>
          </a:xfrm>
          <a:prstGeom prst="rect">
            <a:avLst/>
          </a:prstGeom>
          <a:solidFill>
            <a:srgbClr val="3D3C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91072" y="4014215"/>
            <a:ext cx="5276088" cy="347472"/>
          </a:xfrm>
          <a:prstGeom prst="rect">
            <a:avLst/>
          </a:prstGeom>
          <a:noFill/>
        </p:spPr>
        <p:txBody>
          <a:bodyPr wrap="square">
            <a:spAutoFit/>
          </a:bodyPr>
          <a:lstStyle/>
          <a:p>
            <a:pPr algn="ctr">
              <a:buNone/>
            </a:pPr>
            <a:r>
              <a:rPr sz="1200" b="1" i="0">
                <a:solidFill>
                  <a:srgbClr val="FFFFFF"/>
                </a:solidFill>
                <a:latin typeface="Calibri" panose="020F0502020204030204"/>
              </a:rPr>
              <a:t>Hardware</a:t>
            </a:r>
            <a:endParaRPr sz="1200" b="1" i="0">
              <a:solidFill>
                <a:srgbClr val="FFFFFF"/>
              </a:solidFill>
              <a:latin typeface="Calibri" panose="020F0502020204030204"/>
            </a:endParaRPr>
          </a:p>
        </p:txBody>
      </p:sp>
      <p:sp>
        <p:nvSpPr>
          <p:cNvPr id="42" name="TextBox 41"/>
          <p:cNvSpPr txBox="1"/>
          <p:nvPr/>
        </p:nvSpPr>
        <p:spPr>
          <a:xfrm>
            <a:off x="6291072" y="4572000"/>
            <a:ext cx="5276088" cy="329184"/>
          </a:xfrm>
          <a:prstGeom prst="rect">
            <a:avLst/>
          </a:prstGeom>
          <a:noFill/>
        </p:spPr>
        <p:txBody>
          <a:bodyPr wrap="square">
            <a:spAutoFit/>
          </a:bodyPr>
          <a:lstStyle/>
          <a:p>
            <a:pPr algn="l">
              <a:buNone/>
            </a:pPr>
            <a:r>
              <a:rPr sz="1100" b="0" i="1">
                <a:solidFill>
                  <a:srgbClr val="64748B"/>
                </a:solidFill>
                <a:latin typeface="Calibri" panose="020F0502020204030204"/>
              </a:rPr>
              <a:t>Containers share the Host OS kernel — lightweight, fast to start</a:t>
            </a:r>
            <a:endParaRPr sz="1100" b="0" i="1">
              <a:solidFill>
                <a:srgbClr val="64748B"/>
              </a:solidFill>
              <a:latin typeface="Calibri" panose="020F0502020204030204"/>
            </a:endParaRPr>
          </a:p>
        </p:txBody>
      </p:sp>
      <p:sp>
        <p:nvSpPr>
          <p:cNvPr id="43" name="TextBox 4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44" name="TextBox 4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45" name="TextBox 4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a:t>
            </a:r>
            <a:endParaRPr sz="900" b="0" i="0">
              <a:solidFill>
                <a:srgbClr val="718596"/>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Docker Architecture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Docker Client</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The CLI you use. Sends commands (docker run, docker build) to the daemon.</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Docker Daemon  (dockerd)</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Runs on the host. Manages images, containers, networks, and volumes.</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Docker Registry</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Central image store. Docker Hub is the default public registry.</a:t>
            </a:r>
            <a:endParaRPr sz="1600" b="0" i="0">
              <a:solidFill>
                <a:srgbClr val="0F172A"/>
              </a:solidFill>
              <a:latin typeface="Calibri" panose="020F0502020204030204"/>
            </a:endParaRPr>
          </a:p>
        </p:txBody>
      </p:sp>
      <p:sp>
        <p:nvSpPr>
          <p:cNvPr id="13" name="TextBox 12"/>
          <p:cNvSpPr txBox="1"/>
          <p:nvPr/>
        </p:nvSpPr>
        <p:spPr>
          <a:xfrm>
            <a:off x="640080" y="437083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Flow:  docker pull -&gt; Registry -&gt; Daemon  |  docker run -&gt; Daemon creates container</a:t>
            </a:r>
            <a:endParaRPr sz="14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a:t>
            </a:r>
            <a:endParaRPr sz="900" b="0" i="0">
              <a:solidFill>
                <a:srgbClr val="718596"/>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ARCHITECTURE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Docker Engine: Client → Daemon → Registry</a:t>
            </a:r>
            <a:endParaRPr sz="2600" b="1" i="0">
              <a:solidFill>
                <a:srgbClr val="FFFFFF"/>
              </a:solidFill>
              <a:latin typeface="Cambria" panose="02040503050406030204"/>
            </a:endParaRPr>
          </a:p>
        </p:txBody>
      </p:sp>
      <p:sp>
        <p:nvSpPr>
          <p:cNvPr id="7" name="Rectangle 6"/>
          <p:cNvSpPr/>
          <p:nvPr/>
        </p:nvSpPr>
        <p:spPr>
          <a:xfrm>
            <a:off x="548640" y="1920240"/>
            <a:ext cx="2926080" cy="2651760"/>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956816"/>
            <a:ext cx="2834640" cy="365760"/>
          </a:xfrm>
          <a:prstGeom prst="rect">
            <a:avLst/>
          </a:prstGeom>
          <a:noFill/>
        </p:spPr>
        <p:txBody>
          <a:bodyPr wrap="square">
            <a:spAutoFit/>
          </a:bodyPr>
          <a:lstStyle/>
          <a:p>
            <a:pPr algn="ctr">
              <a:buNone/>
            </a:pPr>
            <a:r>
              <a:rPr sz="1400" b="1" i="0">
                <a:solidFill>
                  <a:srgbClr val="0F172A"/>
                </a:solidFill>
                <a:latin typeface="Cambria" panose="02040503050406030204"/>
              </a:rPr>
              <a:t>Docker Client</a:t>
            </a:r>
            <a:endParaRPr sz="1400" b="1" i="0">
              <a:solidFill>
                <a:srgbClr val="0F172A"/>
              </a:solidFill>
              <a:latin typeface="Cambria" panose="02040503050406030204"/>
            </a:endParaRPr>
          </a:p>
        </p:txBody>
      </p:sp>
      <p:sp>
        <p:nvSpPr>
          <p:cNvPr id="9" name="TextBox 8"/>
          <p:cNvSpPr txBox="1"/>
          <p:nvPr/>
        </p:nvSpPr>
        <p:spPr>
          <a:xfrm>
            <a:off x="822960" y="2450592"/>
            <a:ext cx="2468880" cy="310896"/>
          </a:xfrm>
          <a:prstGeom prst="rect">
            <a:avLst/>
          </a:prstGeom>
          <a:noFill/>
        </p:spPr>
        <p:txBody>
          <a:bodyPr wrap="square">
            <a:spAutoFit/>
          </a:bodyPr>
          <a:lstStyle/>
          <a:p>
            <a:pPr algn="l">
              <a:buNone/>
            </a:pPr>
            <a:r>
              <a:rPr sz="1000" b="0" i="0">
                <a:solidFill>
                  <a:srgbClr val="0F172A"/>
                </a:solidFill>
                <a:latin typeface="Courier New" panose="02070309020205020404"/>
              </a:rPr>
              <a:t>docker run</a:t>
            </a:r>
            <a:endParaRPr sz="1000" b="0" i="0">
              <a:solidFill>
                <a:srgbClr val="0F172A"/>
              </a:solidFill>
              <a:latin typeface="Courier New" panose="02070309020205020404"/>
            </a:endParaRPr>
          </a:p>
        </p:txBody>
      </p:sp>
      <p:sp>
        <p:nvSpPr>
          <p:cNvPr id="10" name="TextBox 9"/>
          <p:cNvSpPr txBox="1"/>
          <p:nvPr/>
        </p:nvSpPr>
        <p:spPr>
          <a:xfrm>
            <a:off x="822960" y="2798064"/>
            <a:ext cx="2468880" cy="310896"/>
          </a:xfrm>
          <a:prstGeom prst="rect">
            <a:avLst/>
          </a:prstGeom>
          <a:noFill/>
        </p:spPr>
        <p:txBody>
          <a:bodyPr wrap="square">
            <a:spAutoFit/>
          </a:bodyPr>
          <a:lstStyle/>
          <a:p>
            <a:pPr algn="l">
              <a:buNone/>
            </a:pPr>
            <a:r>
              <a:rPr sz="1000" b="0" i="0">
                <a:solidFill>
                  <a:srgbClr val="0F172A"/>
                </a:solidFill>
                <a:latin typeface="Courier New" panose="02070309020205020404"/>
              </a:rPr>
              <a:t>docker build</a:t>
            </a:r>
            <a:endParaRPr sz="1000" b="0" i="0">
              <a:solidFill>
                <a:srgbClr val="0F172A"/>
              </a:solidFill>
              <a:latin typeface="Courier New" panose="02070309020205020404"/>
            </a:endParaRPr>
          </a:p>
        </p:txBody>
      </p:sp>
      <p:sp>
        <p:nvSpPr>
          <p:cNvPr id="11" name="TextBox 10"/>
          <p:cNvSpPr txBox="1"/>
          <p:nvPr/>
        </p:nvSpPr>
        <p:spPr>
          <a:xfrm>
            <a:off x="822960" y="3145536"/>
            <a:ext cx="2468880" cy="310896"/>
          </a:xfrm>
          <a:prstGeom prst="rect">
            <a:avLst/>
          </a:prstGeom>
          <a:noFill/>
        </p:spPr>
        <p:txBody>
          <a:bodyPr wrap="square">
            <a:spAutoFit/>
          </a:bodyPr>
          <a:lstStyle/>
          <a:p>
            <a:pPr algn="l">
              <a:buNone/>
            </a:pPr>
            <a:r>
              <a:rPr sz="1000" b="0" i="0">
                <a:solidFill>
                  <a:srgbClr val="0F172A"/>
                </a:solidFill>
                <a:latin typeface="Courier New" panose="02070309020205020404"/>
              </a:rPr>
              <a:t>docker pull</a:t>
            </a:r>
            <a:endParaRPr sz="1000" b="0" i="0">
              <a:solidFill>
                <a:srgbClr val="0F172A"/>
              </a:solidFill>
              <a:latin typeface="Courier New" panose="02070309020205020404"/>
            </a:endParaRPr>
          </a:p>
        </p:txBody>
      </p:sp>
      <p:sp>
        <p:nvSpPr>
          <p:cNvPr id="12" name="TextBox 11"/>
          <p:cNvSpPr txBox="1"/>
          <p:nvPr/>
        </p:nvSpPr>
        <p:spPr>
          <a:xfrm>
            <a:off x="822960" y="3493008"/>
            <a:ext cx="2468880" cy="310896"/>
          </a:xfrm>
          <a:prstGeom prst="rect">
            <a:avLst/>
          </a:prstGeom>
          <a:noFill/>
        </p:spPr>
        <p:txBody>
          <a:bodyPr wrap="square">
            <a:spAutoFit/>
          </a:bodyPr>
          <a:lstStyle/>
          <a:p>
            <a:pPr algn="l">
              <a:buNone/>
            </a:pPr>
            <a:r>
              <a:rPr sz="1000" b="0" i="0">
                <a:solidFill>
                  <a:srgbClr val="0F172A"/>
                </a:solidFill>
                <a:latin typeface="Courier New" panose="02070309020205020404"/>
              </a:rPr>
              <a:t>docker push</a:t>
            </a:r>
            <a:endParaRPr sz="1000" b="0" i="0">
              <a:solidFill>
                <a:srgbClr val="0F172A"/>
              </a:solidFill>
              <a:latin typeface="Courier New" panose="02070309020205020404"/>
            </a:endParaRPr>
          </a:p>
        </p:txBody>
      </p:sp>
      <p:sp>
        <p:nvSpPr>
          <p:cNvPr id="13" name="TextBox 12"/>
          <p:cNvSpPr txBox="1"/>
          <p:nvPr/>
        </p:nvSpPr>
        <p:spPr>
          <a:xfrm>
            <a:off x="822960" y="3840480"/>
            <a:ext cx="2468880" cy="310896"/>
          </a:xfrm>
          <a:prstGeom prst="rect">
            <a:avLst/>
          </a:prstGeom>
          <a:noFill/>
        </p:spPr>
        <p:txBody>
          <a:bodyPr wrap="square">
            <a:spAutoFit/>
          </a:bodyPr>
          <a:lstStyle/>
          <a:p>
            <a:pPr algn="l">
              <a:buNone/>
            </a:pPr>
            <a:r>
              <a:rPr sz="1000" b="0" i="0">
                <a:solidFill>
                  <a:srgbClr val="0F172A"/>
                </a:solidFill>
                <a:latin typeface="Courier New" panose="02070309020205020404"/>
              </a:rPr>
              <a:t>docker ps</a:t>
            </a:r>
            <a:endParaRPr sz="1000" b="0" i="0">
              <a:solidFill>
                <a:srgbClr val="0F172A"/>
              </a:solidFill>
              <a:latin typeface="Courier New" panose="02070309020205020404"/>
            </a:endParaRPr>
          </a:p>
        </p:txBody>
      </p:sp>
      <p:sp>
        <p:nvSpPr>
          <p:cNvPr id="14" name="TextBox 13"/>
          <p:cNvSpPr txBox="1"/>
          <p:nvPr/>
        </p:nvSpPr>
        <p:spPr>
          <a:xfrm>
            <a:off x="3547872" y="3035808"/>
            <a:ext cx="585216" cy="402336"/>
          </a:xfrm>
          <a:prstGeom prst="rect">
            <a:avLst/>
          </a:prstGeom>
          <a:noFill/>
        </p:spPr>
        <p:txBody>
          <a:bodyPr wrap="square">
            <a:spAutoFit/>
          </a:bodyPr>
          <a:lstStyle/>
          <a:p>
            <a:pPr algn="ctr">
              <a:buNone/>
            </a:pPr>
            <a:r>
              <a:rPr sz="2800" b="1" i="0">
                <a:solidFill>
                  <a:srgbClr val="2496ED"/>
                </a:solidFill>
                <a:latin typeface="Calibri" panose="020F0502020204030204"/>
              </a:rPr>
              <a:t>→</a:t>
            </a:r>
            <a:endParaRPr sz="2800" b="1" i="0">
              <a:solidFill>
                <a:srgbClr val="2496ED"/>
              </a:solidFill>
              <a:latin typeface="Calibri" panose="020F0502020204030204"/>
            </a:endParaRPr>
          </a:p>
        </p:txBody>
      </p:sp>
      <p:sp>
        <p:nvSpPr>
          <p:cNvPr id="15" name="TextBox 14"/>
          <p:cNvSpPr txBox="1"/>
          <p:nvPr/>
        </p:nvSpPr>
        <p:spPr>
          <a:xfrm>
            <a:off x="3474720" y="3474720"/>
            <a:ext cx="731520" cy="256032"/>
          </a:xfrm>
          <a:prstGeom prst="rect">
            <a:avLst/>
          </a:prstGeom>
          <a:noFill/>
        </p:spPr>
        <p:txBody>
          <a:bodyPr wrap="square">
            <a:spAutoFit/>
          </a:bodyPr>
          <a:lstStyle/>
          <a:p>
            <a:pPr algn="ctr">
              <a:buNone/>
            </a:pPr>
            <a:r>
              <a:rPr sz="900" b="0" i="0">
                <a:solidFill>
                  <a:srgbClr val="64748B"/>
                </a:solidFill>
                <a:latin typeface="Calibri" panose="020F0502020204030204"/>
              </a:rPr>
              <a:t>REST API</a:t>
            </a:r>
            <a:endParaRPr sz="900" b="0" i="0">
              <a:solidFill>
                <a:srgbClr val="64748B"/>
              </a:solidFill>
              <a:latin typeface="Calibri" panose="020F0502020204030204"/>
            </a:endParaRPr>
          </a:p>
        </p:txBody>
      </p:sp>
      <p:sp>
        <p:nvSpPr>
          <p:cNvPr id="16" name="Rectangle 15"/>
          <p:cNvSpPr/>
          <p:nvPr/>
        </p:nvSpPr>
        <p:spPr>
          <a:xfrm>
            <a:off x="4206240" y="1719072"/>
            <a:ext cx="3749039" cy="3383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251960" y="1755648"/>
            <a:ext cx="3657600" cy="365760"/>
          </a:xfrm>
          <a:prstGeom prst="rect">
            <a:avLst/>
          </a:prstGeom>
          <a:noFill/>
        </p:spPr>
        <p:txBody>
          <a:bodyPr wrap="square">
            <a:spAutoFit/>
          </a:bodyPr>
          <a:lstStyle/>
          <a:p>
            <a:pPr algn="ctr">
              <a:buNone/>
            </a:pPr>
            <a:r>
              <a:rPr sz="1300" b="1" i="0">
                <a:solidFill>
                  <a:srgbClr val="2496ED"/>
                </a:solidFill>
                <a:latin typeface="Cambria" panose="02040503050406030204"/>
              </a:rPr>
              <a:t>Docker Daemon  (dockerd)</a:t>
            </a:r>
            <a:endParaRPr sz="1300" b="1" i="0">
              <a:solidFill>
                <a:srgbClr val="2496ED"/>
              </a:solidFill>
              <a:latin typeface="Cambria" panose="02040503050406030204"/>
            </a:endParaRPr>
          </a:p>
        </p:txBody>
      </p:sp>
      <p:sp>
        <p:nvSpPr>
          <p:cNvPr id="18" name="Rectangle 17"/>
          <p:cNvSpPr/>
          <p:nvPr/>
        </p:nvSpPr>
        <p:spPr>
          <a:xfrm>
            <a:off x="4343400" y="2249424"/>
            <a:ext cx="1673352" cy="86868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89120" y="2505456"/>
            <a:ext cx="1581912" cy="347472"/>
          </a:xfrm>
          <a:prstGeom prst="rect">
            <a:avLst/>
          </a:prstGeom>
          <a:noFill/>
        </p:spPr>
        <p:txBody>
          <a:bodyPr wrap="square">
            <a:spAutoFit/>
          </a:bodyPr>
          <a:lstStyle/>
          <a:p>
            <a:pPr algn="ctr">
              <a:buNone/>
            </a:pPr>
            <a:r>
              <a:rPr sz="1200" b="1" i="0">
                <a:solidFill>
                  <a:srgbClr val="FFFFFF"/>
                </a:solidFill>
                <a:latin typeface="Calibri" panose="020F0502020204030204"/>
              </a:rPr>
              <a:t>Images</a:t>
            </a:r>
            <a:endParaRPr sz="1200" b="1" i="0">
              <a:solidFill>
                <a:srgbClr val="FFFFFF"/>
              </a:solidFill>
              <a:latin typeface="Calibri" panose="020F0502020204030204"/>
            </a:endParaRPr>
          </a:p>
        </p:txBody>
      </p:sp>
      <p:sp>
        <p:nvSpPr>
          <p:cNvPr id="20" name="Rectangle 19"/>
          <p:cNvSpPr/>
          <p:nvPr/>
        </p:nvSpPr>
        <p:spPr>
          <a:xfrm>
            <a:off x="6153912" y="2249424"/>
            <a:ext cx="1673352" cy="86868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99632" y="2505456"/>
            <a:ext cx="1581912" cy="347472"/>
          </a:xfrm>
          <a:prstGeom prst="rect">
            <a:avLst/>
          </a:prstGeom>
          <a:noFill/>
        </p:spPr>
        <p:txBody>
          <a:bodyPr wrap="square">
            <a:spAutoFit/>
          </a:bodyPr>
          <a:lstStyle/>
          <a:p>
            <a:pPr algn="ctr">
              <a:buNone/>
            </a:pPr>
            <a:r>
              <a:rPr sz="1200" b="1" i="0">
                <a:solidFill>
                  <a:srgbClr val="FFFFFF"/>
                </a:solidFill>
                <a:latin typeface="Calibri" panose="020F0502020204030204"/>
              </a:rPr>
              <a:t>Containers</a:t>
            </a:r>
            <a:endParaRPr sz="1200" b="1" i="0">
              <a:solidFill>
                <a:srgbClr val="FFFFFF"/>
              </a:solidFill>
              <a:latin typeface="Calibri" panose="020F0502020204030204"/>
            </a:endParaRPr>
          </a:p>
        </p:txBody>
      </p:sp>
      <p:sp>
        <p:nvSpPr>
          <p:cNvPr id="22" name="Rectangle 21"/>
          <p:cNvSpPr/>
          <p:nvPr/>
        </p:nvSpPr>
        <p:spPr>
          <a:xfrm>
            <a:off x="4343400" y="3328415"/>
            <a:ext cx="1673352" cy="868680"/>
          </a:xfrm>
          <a:prstGeom prst="rect">
            <a:avLst/>
          </a:prstGeom>
          <a:solidFill>
            <a:srgbClr val="7B54A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89120" y="3584448"/>
            <a:ext cx="1581912" cy="347472"/>
          </a:xfrm>
          <a:prstGeom prst="rect">
            <a:avLst/>
          </a:prstGeom>
          <a:noFill/>
        </p:spPr>
        <p:txBody>
          <a:bodyPr wrap="square">
            <a:spAutoFit/>
          </a:bodyPr>
          <a:lstStyle/>
          <a:p>
            <a:pPr algn="ctr">
              <a:buNone/>
            </a:pPr>
            <a:r>
              <a:rPr sz="1200" b="1" i="0">
                <a:solidFill>
                  <a:srgbClr val="FFFFFF"/>
                </a:solidFill>
                <a:latin typeface="Calibri" panose="020F0502020204030204"/>
              </a:rPr>
              <a:t>Volumes</a:t>
            </a:r>
            <a:endParaRPr sz="1200" b="1" i="0">
              <a:solidFill>
                <a:srgbClr val="FFFFFF"/>
              </a:solidFill>
              <a:latin typeface="Calibri" panose="020F0502020204030204"/>
            </a:endParaRPr>
          </a:p>
        </p:txBody>
      </p:sp>
      <p:sp>
        <p:nvSpPr>
          <p:cNvPr id="24" name="Rectangle 23"/>
          <p:cNvSpPr/>
          <p:nvPr/>
        </p:nvSpPr>
        <p:spPr>
          <a:xfrm>
            <a:off x="6153912" y="3328415"/>
            <a:ext cx="1673352" cy="868680"/>
          </a:xfrm>
          <a:prstGeom prst="rect">
            <a:avLst/>
          </a:prstGeom>
          <a:solidFill>
            <a:srgbClr val="C055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199632" y="3584448"/>
            <a:ext cx="1581912" cy="347472"/>
          </a:xfrm>
          <a:prstGeom prst="rect">
            <a:avLst/>
          </a:prstGeom>
          <a:noFill/>
        </p:spPr>
        <p:txBody>
          <a:bodyPr wrap="square">
            <a:spAutoFit/>
          </a:bodyPr>
          <a:lstStyle/>
          <a:p>
            <a:pPr algn="ctr">
              <a:buNone/>
            </a:pPr>
            <a:r>
              <a:rPr sz="1200" b="1" i="0">
                <a:solidFill>
                  <a:srgbClr val="FFFFFF"/>
                </a:solidFill>
                <a:latin typeface="Calibri" panose="020F0502020204030204"/>
              </a:rPr>
              <a:t>Networks</a:t>
            </a:r>
            <a:endParaRPr sz="1200" b="1" i="0">
              <a:solidFill>
                <a:srgbClr val="FFFFFF"/>
              </a:solidFill>
              <a:latin typeface="Calibri" panose="020F0502020204030204"/>
            </a:endParaRPr>
          </a:p>
        </p:txBody>
      </p:sp>
      <p:sp>
        <p:nvSpPr>
          <p:cNvPr id="26" name="TextBox 25"/>
          <p:cNvSpPr txBox="1"/>
          <p:nvPr/>
        </p:nvSpPr>
        <p:spPr>
          <a:xfrm>
            <a:off x="8028431" y="3035808"/>
            <a:ext cx="585216" cy="402336"/>
          </a:xfrm>
          <a:prstGeom prst="rect">
            <a:avLst/>
          </a:prstGeom>
          <a:noFill/>
        </p:spPr>
        <p:txBody>
          <a:bodyPr wrap="square">
            <a:spAutoFit/>
          </a:bodyPr>
          <a:lstStyle/>
          <a:p>
            <a:pPr algn="ctr">
              <a:buNone/>
            </a:pPr>
            <a:r>
              <a:rPr sz="2800" b="1" i="0">
                <a:solidFill>
                  <a:srgbClr val="2496ED"/>
                </a:solidFill>
                <a:latin typeface="Calibri" panose="020F0502020204030204"/>
              </a:rPr>
              <a:t>→</a:t>
            </a:r>
            <a:endParaRPr sz="2800" b="1" i="0">
              <a:solidFill>
                <a:srgbClr val="2496ED"/>
              </a:solidFill>
              <a:latin typeface="Calibri" panose="020F0502020204030204"/>
            </a:endParaRPr>
          </a:p>
        </p:txBody>
      </p:sp>
      <p:sp>
        <p:nvSpPr>
          <p:cNvPr id="27" name="Rectangle 26"/>
          <p:cNvSpPr/>
          <p:nvPr/>
        </p:nvSpPr>
        <p:spPr>
          <a:xfrm>
            <a:off x="8686800" y="1920240"/>
            <a:ext cx="2926080" cy="2651760"/>
          </a:xfrm>
          <a:prstGeom prst="rect">
            <a:avLst/>
          </a:prstGeom>
          <a:solidFill>
            <a:srgbClr val="DAEAF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32520" y="1956816"/>
            <a:ext cx="2834640" cy="365760"/>
          </a:xfrm>
          <a:prstGeom prst="rect">
            <a:avLst/>
          </a:prstGeom>
          <a:noFill/>
        </p:spPr>
        <p:txBody>
          <a:bodyPr wrap="square">
            <a:spAutoFit/>
          </a:bodyPr>
          <a:lstStyle/>
          <a:p>
            <a:pPr algn="ctr">
              <a:buNone/>
            </a:pPr>
            <a:r>
              <a:rPr sz="1400" b="1" i="0">
                <a:solidFill>
                  <a:srgbClr val="0F172A"/>
                </a:solidFill>
                <a:latin typeface="Cambria" panose="02040503050406030204"/>
              </a:rPr>
              <a:t>Registry</a:t>
            </a:r>
            <a:endParaRPr sz="1400" b="1" i="0">
              <a:solidFill>
                <a:srgbClr val="0F172A"/>
              </a:solidFill>
              <a:latin typeface="Cambria" panose="02040503050406030204"/>
            </a:endParaRPr>
          </a:p>
        </p:txBody>
      </p:sp>
      <p:sp>
        <p:nvSpPr>
          <p:cNvPr id="29" name="TextBox 28"/>
          <p:cNvSpPr txBox="1"/>
          <p:nvPr/>
        </p:nvSpPr>
        <p:spPr>
          <a:xfrm>
            <a:off x="8887968" y="2450592"/>
            <a:ext cx="2560320" cy="347472"/>
          </a:xfrm>
          <a:prstGeom prst="rect">
            <a:avLst/>
          </a:prstGeom>
          <a:noFill/>
        </p:spPr>
        <p:txBody>
          <a:bodyPr wrap="square">
            <a:spAutoFit/>
          </a:bodyPr>
          <a:lstStyle/>
          <a:p>
            <a:pPr algn="l">
              <a:buNone/>
            </a:pPr>
            <a:r>
              <a:rPr sz="1100" b="0" i="0">
                <a:solidFill>
                  <a:srgbClr val="0F172A"/>
                </a:solidFill>
                <a:latin typeface="Calibri" panose="020F0502020204030204"/>
              </a:rPr>
              <a:t>Docker Hub (public)</a:t>
            </a:r>
            <a:endParaRPr sz="1100" b="0" i="0">
              <a:solidFill>
                <a:srgbClr val="0F172A"/>
              </a:solidFill>
              <a:latin typeface="Calibri" panose="020F0502020204030204"/>
            </a:endParaRPr>
          </a:p>
        </p:txBody>
      </p:sp>
      <p:sp>
        <p:nvSpPr>
          <p:cNvPr id="30" name="TextBox 29"/>
          <p:cNvSpPr txBox="1"/>
          <p:nvPr/>
        </p:nvSpPr>
        <p:spPr>
          <a:xfrm>
            <a:off x="8887968" y="2843784"/>
            <a:ext cx="2560320" cy="347472"/>
          </a:xfrm>
          <a:prstGeom prst="rect">
            <a:avLst/>
          </a:prstGeom>
          <a:noFill/>
        </p:spPr>
        <p:txBody>
          <a:bodyPr wrap="square">
            <a:spAutoFit/>
          </a:bodyPr>
          <a:lstStyle/>
          <a:p>
            <a:pPr algn="l">
              <a:buNone/>
            </a:pPr>
            <a:r>
              <a:rPr sz="1100" b="0" i="0">
                <a:solidFill>
                  <a:srgbClr val="0F172A"/>
                </a:solidFill>
                <a:latin typeface="Calibri" panose="020F0502020204030204"/>
              </a:rPr>
              <a:t>AWS ECR</a:t>
            </a:r>
            <a:endParaRPr sz="1100" b="0" i="0">
              <a:solidFill>
                <a:srgbClr val="0F172A"/>
              </a:solidFill>
              <a:latin typeface="Calibri" panose="020F0502020204030204"/>
            </a:endParaRPr>
          </a:p>
        </p:txBody>
      </p:sp>
      <p:sp>
        <p:nvSpPr>
          <p:cNvPr id="31" name="TextBox 30"/>
          <p:cNvSpPr txBox="1"/>
          <p:nvPr/>
        </p:nvSpPr>
        <p:spPr>
          <a:xfrm>
            <a:off x="8887968" y="3236976"/>
            <a:ext cx="2560320" cy="347472"/>
          </a:xfrm>
          <a:prstGeom prst="rect">
            <a:avLst/>
          </a:prstGeom>
          <a:noFill/>
        </p:spPr>
        <p:txBody>
          <a:bodyPr wrap="square">
            <a:spAutoFit/>
          </a:bodyPr>
          <a:lstStyle/>
          <a:p>
            <a:pPr algn="l">
              <a:buNone/>
            </a:pPr>
            <a:r>
              <a:rPr sz="1100" b="0" i="0">
                <a:solidFill>
                  <a:srgbClr val="0F172A"/>
                </a:solidFill>
                <a:latin typeface="Calibri" panose="020F0502020204030204"/>
              </a:rPr>
              <a:t>Azure ACR</a:t>
            </a:r>
            <a:endParaRPr sz="1100" b="0" i="0">
              <a:solidFill>
                <a:srgbClr val="0F172A"/>
              </a:solidFill>
              <a:latin typeface="Calibri" panose="020F0502020204030204"/>
            </a:endParaRPr>
          </a:p>
        </p:txBody>
      </p:sp>
      <p:sp>
        <p:nvSpPr>
          <p:cNvPr id="32" name="TextBox 31"/>
          <p:cNvSpPr txBox="1"/>
          <p:nvPr/>
        </p:nvSpPr>
        <p:spPr>
          <a:xfrm>
            <a:off x="8887968" y="3630168"/>
            <a:ext cx="2560320" cy="347472"/>
          </a:xfrm>
          <a:prstGeom prst="rect">
            <a:avLst/>
          </a:prstGeom>
          <a:noFill/>
        </p:spPr>
        <p:txBody>
          <a:bodyPr wrap="square">
            <a:spAutoFit/>
          </a:bodyPr>
          <a:lstStyle/>
          <a:p>
            <a:pPr algn="l">
              <a:buNone/>
            </a:pPr>
            <a:r>
              <a:rPr sz="1100" b="0" i="0">
                <a:solidFill>
                  <a:srgbClr val="0F172A"/>
                </a:solidFill>
                <a:latin typeface="Calibri" panose="020F0502020204030204"/>
              </a:rPr>
              <a:t>Private registry</a:t>
            </a:r>
            <a:endParaRPr sz="1100" b="0" i="0">
              <a:solidFill>
                <a:srgbClr val="0F172A"/>
              </a:solidFill>
              <a:latin typeface="Calibri" panose="020F0502020204030204"/>
            </a:endParaRPr>
          </a:p>
        </p:txBody>
      </p:sp>
      <p:sp>
        <p:nvSpPr>
          <p:cNvPr id="33" name="TextBox 32"/>
          <p:cNvSpPr txBox="1"/>
          <p:nvPr/>
        </p:nvSpPr>
        <p:spPr>
          <a:xfrm>
            <a:off x="548640" y="5230368"/>
            <a:ext cx="11064240" cy="329184"/>
          </a:xfrm>
          <a:prstGeom prst="rect">
            <a:avLst/>
          </a:prstGeom>
          <a:noFill/>
        </p:spPr>
        <p:txBody>
          <a:bodyPr wrap="square">
            <a:spAutoFit/>
          </a:bodyPr>
          <a:lstStyle/>
          <a:p>
            <a:pPr algn="l">
              <a:buNone/>
            </a:pPr>
            <a:r>
              <a:rPr sz="1100" b="0" i="1">
                <a:solidFill>
                  <a:srgbClr val="64748B"/>
                </a:solidFill>
                <a:latin typeface="Calibri" panose="020F0502020204030204"/>
              </a:rPr>
              <a:t>Flow:  docker run  →  Client sends REST call to Daemon  →  Daemon pulls image from Registry  →  Creates &amp; starts Container</a:t>
            </a:r>
            <a:endParaRPr sz="1100" b="0" i="1">
              <a:solidFill>
                <a:srgbClr val="64748B"/>
              </a:solidFill>
              <a:latin typeface="Calibri" panose="020F0502020204030204"/>
            </a:endParaRPr>
          </a:p>
        </p:txBody>
      </p:sp>
      <p:sp>
        <p:nvSpPr>
          <p:cNvPr id="34" name="TextBox 3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5" name="TextBox 3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6" name="TextBox 3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a:t>
            </a:r>
            <a:endParaRPr sz="900" b="0" i="0">
              <a:solidFill>
                <a:srgbClr val="718596"/>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Core Concepts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Image</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standardised package that includes all of the files, binaries, libraries, and configurations to run a container.  Immutable — changes require a new image.   (docs.docker.com)</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Container</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An isolated process for each of your app's components — self-contained, isolated, independent, and portable.   (docs.docker.com)</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Volume</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Persistent data stores for containers, created and managed by Docker. Data survives container removal.   (docs.docker.com/engine/storage/volumes)</a:t>
            </a:r>
            <a:endParaRPr sz="1600" b="0" i="0">
              <a:solidFill>
                <a:srgbClr val="0F172A"/>
              </a:solidFill>
              <a:latin typeface="Calibri" panose="020F0502020204030204"/>
            </a:endParaRPr>
          </a:p>
        </p:txBody>
      </p:sp>
      <p:sp>
        <p:nvSpPr>
          <p:cNvPr id="13" name="TextBox 12"/>
          <p:cNvSpPr txBox="1"/>
          <p:nvPr/>
        </p:nvSpPr>
        <p:spPr>
          <a:xfrm>
            <a:off x="640080" y="43708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Network</a:t>
            </a:r>
            <a:endParaRPr sz="1600" b="1" i="0">
              <a:solidFill>
                <a:srgbClr val="0F172A"/>
              </a:solidFill>
              <a:latin typeface="Calibri" panose="020F0502020204030204"/>
            </a:endParaRPr>
          </a:p>
        </p:txBody>
      </p:sp>
      <p:sp>
        <p:nvSpPr>
          <p:cNvPr id="14" name="TextBox 13"/>
          <p:cNvSpPr txBox="1"/>
          <p:nvPr/>
        </p:nvSpPr>
        <p:spPr>
          <a:xfrm>
            <a:off x="640080" y="4736592"/>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Virtual network connecting containers. Custom bridge networks provide automatic DNS — containers reach each other by name, not IP.</a:t>
            </a:r>
            <a:endParaRPr sz="1600" b="0" i="0">
              <a:solidFill>
                <a:srgbClr val="0F172A"/>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a:t>
            </a:r>
            <a:endParaRPr sz="900" b="0" i="0">
              <a:solidFill>
                <a:srgbClr val="718596"/>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2</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Running Your First Containers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1 &amp; 2 — Docker Fundamentals</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 Run your first container</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2: Explore a container</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3: Build a custom image</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4: Flask web app</a:t>
            </a:r>
            <a:endParaRPr sz="1800" b="0" i="0">
              <a:solidFill>
                <a:srgbClr val="CBD5E1"/>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a:t>
            </a:r>
            <a:endParaRPr sz="900" b="0" i="0">
              <a:solidFill>
                <a:srgbClr val="718596"/>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FUNDAMENTALS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Docker Container?</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Containers are isolated processes for each of your app's components. Each component runs in its own isolated environment, completely separate from everything else on the machine.   (docs.docker.com)</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Four key properties (docs.docker.com):</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Self-contained  — has everything required to function without host dependencies</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Isolated        — runs separately; minimal impact on host and other containers</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Independent     — managed individually; removing one doesn't affect others</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Portable        — runs consistently across dev machines, data centres, and cloud</a:t>
            </a:r>
            <a:endParaRPr sz="1600" b="0"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Container lifecycle:</a:t>
            </a:r>
            <a:endParaRPr sz="1600" b="1" i="0">
              <a:solidFill>
                <a:srgbClr val="0F172A"/>
              </a:solidFill>
              <a:latin typeface="Calibri" panose="020F0502020204030204"/>
            </a:endParaRPr>
          </a:p>
        </p:txBody>
      </p:sp>
      <p:sp>
        <p:nvSpPr>
          <p:cNvPr id="14" name="Rectangle 13"/>
          <p:cNvSpPr/>
          <p:nvPr/>
        </p:nvSpPr>
        <p:spPr>
          <a:xfrm>
            <a:off x="566928" y="4489704"/>
            <a:ext cx="11119104" cy="9692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4535424"/>
            <a:ext cx="10972800" cy="969264"/>
          </a:xfrm>
          <a:prstGeom prst="rect">
            <a:avLst/>
          </a:prstGeom>
          <a:noFill/>
        </p:spPr>
        <p:txBody>
          <a:bodyPr wrap="square">
            <a:spAutoFit/>
          </a:bodyPr>
          <a:lstStyle/>
          <a:p>
            <a:pPr algn="l">
              <a:buNone/>
            </a:pPr>
            <a:r>
              <a:rPr sz="900" b="0" i="0">
                <a:solidFill>
                  <a:srgbClr val="0F172A"/>
                </a:solidFill>
                <a:latin typeface="Courier New" panose="02070309020205020404"/>
              </a:rPr>
              <a:t>docker run   # create + start
docker stop  # graceful shutdown
docker start # restart a stopped container
docker rm    # delete the container (not the image)</a:t>
            </a:r>
            <a:endParaRPr sz="900" b="0" i="0">
              <a:solidFill>
                <a:srgbClr val="0F172A"/>
              </a:solidFill>
              <a:latin typeface="Courier New" panose="02070309020205020404"/>
            </a:endParaRPr>
          </a:p>
        </p:txBody>
      </p:sp>
      <p:sp>
        <p:nvSpPr>
          <p:cNvPr id="16" name="TextBox 15"/>
          <p:cNvSpPr txBox="1"/>
          <p:nvPr/>
        </p:nvSpPr>
        <p:spPr>
          <a:xfrm>
            <a:off x="640080" y="579729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Image = read-only blueprint.  Container = running instance with a thin writable layer on top.</a:t>
            </a:r>
            <a:endParaRPr sz="1400" b="0" i="1">
              <a:solidFill>
                <a:srgbClr val="2496ED"/>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a:t>
            </a:r>
            <a:endParaRPr sz="900" b="0" i="0">
              <a:solidFill>
                <a:srgbClr val="718596"/>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 FUNDAMENTALS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Docker Images &amp; the Registry</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container image is a standardised package that includes all of the files, binaries, libraries, and configurations to run a container.   (docs.docker.com)</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Images are composed of layers — each layer represents a set of filesystem changes: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Base OS layer  -&gt;  runtime layer  -&gt;  dependencies  -&gt;  app code</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Unchanged layers are reused from cache — fast rebuilds, reduced bandwidth.</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Image naming:  name:tag</a:t>
            </a:r>
            <a:endParaRPr sz="1600" b="1" i="0">
              <a:solidFill>
                <a:srgbClr val="0F172A"/>
              </a:solidFill>
              <a:latin typeface="Calibri" panose="020F0502020204030204"/>
            </a:endParaRPr>
          </a:p>
        </p:txBody>
      </p:sp>
      <p:sp>
        <p:nvSpPr>
          <p:cNvPr id="12" name="Rectangle 11"/>
          <p:cNvSpPr/>
          <p:nvPr/>
        </p:nvSpPr>
        <p:spPr>
          <a:xfrm>
            <a:off x="566928" y="3758184"/>
            <a:ext cx="11119104" cy="7635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803904"/>
            <a:ext cx="10972800" cy="763524"/>
          </a:xfrm>
          <a:prstGeom prst="rect">
            <a:avLst/>
          </a:prstGeom>
          <a:noFill/>
        </p:spPr>
        <p:txBody>
          <a:bodyPr wrap="square">
            <a:spAutoFit/>
          </a:bodyPr>
          <a:lstStyle/>
          <a:p>
            <a:pPr algn="l">
              <a:buNone/>
            </a:pPr>
            <a:r>
              <a:rPr sz="900" b="0" i="0">
                <a:solidFill>
                  <a:srgbClr val="0F172A"/>
                </a:solidFill>
                <a:latin typeface="Courier New" panose="02070309020205020404"/>
              </a:rPr>
              <a:t>nginx:latest        # official Nginx, latest tag
python:3.11-slim   # slim Python 3.11 image
myapp:v1.0         # your own custom image</a:t>
            </a:r>
            <a:endParaRPr sz="900" b="0" i="0">
              <a:solidFill>
                <a:srgbClr val="0F172A"/>
              </a:solidFill>
              <a:latin typeface="Courier New" panose="02070309020205020404"/>
            </a:endParaRPr>
          </a:p>
        </p:txBody>
      </p:sp>
      <p:sp>
        <p:nvSpPr>
          <p:cNvPr id="14" name="TextBox 13"/>
          <p:cNvSpPr txBox="1"/>
          <p:nvPr/>
        </p:nvSpPr>
        <p:spPr>
          <a:xfrm>
            <a:off x="640080" y="486003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Registry — centralised location for storing and sharing container images:</a:t>
            </a:r>
            <a:endParaRPr sz="1600" b="1" i="0">
              <a:solidFill>
                <a:srgbClr val="0F172A"/>
              </a:solidFill>
              <a:latin typeface="Calibri" panose="020F0502020204030204"/>
            </a:endParaRPr>
          </a:p>
        </p:txBody>
      </p:sp>
      <p:sp>
        <p:nvSpPr>
          <p:cNvPr id="15" name="TextBox 14"/>
          <p:cNvSpPr txBox="1"/>
          <p:nvPr/>
        </p:nvSpPr>
        <p:spPr>
          <a:xfrm>
            <a:off x="640080" y="52257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Docker Hub (hub.docker.com) = default public registry, 100,000+ images</a:t>
            </a:r>
            <a:endParaRPr sz="1600" b="0" i="0">
              <a:solidFill>
                <a:srgbClr val="0F172A"/>
              </a:solidFill>
              <a:latin typeface="Calibri" panose="020F0502020204030204"/>
            </a:endParaRPr>
          </a:p>
        </p:txBody>
      </p:sp>
      <p:sp>
        <p:nvSpPr>
          <p:cNvPr id="16" name="TextBox 15"/>
          <p:cNvSpPr txBox="1"/>
          <p:nvPr/>
        </p:nvSpPr>
        <p:spPr>
          <a:xfrm>
            <a:off x="640080" y="55915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docker pull  downloads an image | docker push  uploads your image</a:t>
            </a:r>
            <a:endParaRPr sz="1600" b="0" i="0">
              <a:solidFill>
                <a:srgbClr val="0F172A"/>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14</a:t>
            </a:r>
            <a:endParaRPr sz="900" b="0" i="0">
              <a:solidFill>
                <a:srgbClr val="718596"/>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Run Your First Container</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https://killercoda.com/tertiary-labs/course/killercoda/day1-01-docker-fundamentals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15</a:t>
            </a:r>
            <a:endParaRPr sz="900" b="0" i="0">
              <a:solidFill>
                <a:srgbClr val="718596"/>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 — DOCKER FUNDAMENTALS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Run Your First Container</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an interactive Ubuntu container:</a:t>
            </a:r>
            <a:endParaRPr sz="1600" b="1" i="0">
              <a:solidFill>
                <a:srgbClr val="0F172A"/>
              </a:solidFill>
              <a:latin typeface="Calibri" panose="020F0502020204030204"/>
            </a:endParaRPr>
          </a:p>
        </p:txBody>
      </p:sp>
      <p:sp>
        <p:nvSpPr>
          <p:cNvPr id="8" name="Rectangle 7"/>
          <p:cNvSpPr/>
          <p:nvPr/>
        </p:nvSpPr>
        <p:spPr>
          <a:xfrm>
            <a:off x="566928" y="1892808"/>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run -it ubuntu:latest</a:t>
            </a:r>
            <a:endParaRPr sz="900" b="0" i="0">
              <a:solidFill>
                <a:srgbClr val="FFFFFF"/>
              </a:solidFill>
              <a:latin typeface="Courier New" panose="02070309020205020404"/>
            </a:endParaRPr>
          </a:p>
        </p:txBody>
      </p:sp>
      <p:sp>
        <p:nvSpPr>
          <p:cNvPr id="12" name="TextBox 11"/>
          <p:cNvSpPr txBox="1"/>
          <p:nvPr/>
        </p:nvSpPr>
        <p:spPr>
          <a:xfrm>
            <a:off x="640080" y="2382012"/>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Inside the container:</a:t>
            </a:r>
            <a:endParaRPr sz="1600" b="0" i="0">
              <a:solidFill>
                <a:srgbClr val="0F172A"/>
              </a:solidFill>
              <a:latin typeface="Calibri" panose="020F0502020204030204"/>
            </a:endParaRPr>
          </a:p>
        </p:txBody>
      </p:sp>
      <p:sp>
        <p:nvSpPr>
          <p:cNvPr id="13" name="Rectangle 12"/>
          <p:cNvSpPr/>
          <p:nvPr/>
        </p:nvSpPr>
        <p:spPr>
          <a:xfrm>
            <a:off x="566928" y="270205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270205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72948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274777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cat /etc/hosts
exit</a:t>
            </a:r>
            <a:endParaRPr sz="900" b="0" i="0">
              <a:solidFill>
                <a:srgbClr val="FFFFFF"/>
              </a:solidFill>
              <a:latin typeface="Courier New" panose="02070309020205020404"/>
            </a:endParaRPr>
          </a:p>
        </p:txBody>
      </p:sp>
      <p:sp>
        <p:nvSpPr>
          <p:cNvPr id="17" name="TextBox 16"/>
          <p:cNvSpPr txBox="1"/>
          <p:nvPr/>
        </p:nvSpPr>
        <p:spPr>
          <a:xfrm>
            <a:off x="640080" y="33969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Check container status on the host:</a:t>
            </a:r>
            <a:endParaRPr sz="1600" b="1" i="0">
              <a:solidFill>
                <a:srgbClr val="0F172A"/>
              </a:solidFill>
              <a:latin typeface="Calibri" panose="020F0502020204030204"/>
            </a:endParaRPr>
          </a:p>
        </p:txBody>
      </p:sp>
      <p:sp>
        <p:nvSpPr>
          <p:cNvPr id="18" name="Rectangle 17"/>
          <p:cNvSpPr/>
          <p:nvPr/>
        </p:nvSpPr>
        <p:spPr>
          <a:xfrm>
            <a:off x="566928" y="371703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371703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74446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376275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ps             # only running containers
docker ps -a          # all containers including stopped
docker ps -a | grep ubuntu</a:t>
            </a:r>
            <a:endParaRPr sz="900" b="0" i="0">
              <a:solidFill>
                <a:srgbClr val="FFFFFF"/>
              </a:solidFill>
              <a:latin typeface="Courier New" panose="02070309020205020404"/>
            </a:endParaRPr>
          </a:p>
        </p:txBody>
      </p:sp>
      <p:sp>
        <p:nvSpPr>
          <p:cNvPr id="22" name="TextBox 21"/>
          <p:cNvSpPr txBox="1"/>
          <p:nvPr/>
        </p:nvSpPr>
        <p:spPr>
          <a:xfrm>
            <a:off x="640080" y="4818888"/>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Key concept: -it = interactive terminal. exit stops but does NOT delete the container.</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16</a:t>
            </a:r>
            <a:endParaRPr sz="900" b="0" i="0">
              <a:solidFill>
                <a:srgbClr val="718596"/>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2</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Nginx + docker cp</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https://killercoda.com/tertiary-labs/course/killercoda/day1-01-docker-fundamentals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17</a:t>
            </a:r>
            <a:endParaRPr sz="900" b="0" i="0">
              <a:solidFill>
                <a:srgbClr val="718596"/>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2 — DOCKER FUNDAMENTALS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Run Nginx and Copy a File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Nginx in the background (detached):</a:t>
            </a:r>
            <a:endParaRPr sz="1600" b="1" i="0">
              <a:solidFill>
                <a:srgbClr val="0F172A"/>
              </a:solidFill>
              <a:latin typeface="Calibri" panose="020F0502020204030204"/>
            </a:endParaRPr>
          </a:p>
        </p:txBody>
      </p:sp>
      <p:sp>
        <p:nvSpPr>
          <p:cNvPr id="8" name="Rectangle 7"/>
          <p:cNvSpPr/>
          <p:nvPr/>
        </p:nvSpPr>
        <p:spPr>
          <a:xfrm>
            <a:off x="566928" y="189280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 run -d --name my-nginx nginx:latest
docker ps</a:t>
            </a:r>
            <a:endParaRPr sz="900" b="0" i="0">
              <a:solidFill>
                <a:srgbClr val="FFFFFF"/>
              </a:solidFill>
              <a:latin typeface="Courier New" panose="02070309020205020404"/>
            </a:endParaRPr>
          </a:p>
        </p:txBody>
      </p:sp>
      <p:sp>
        <p:nvSpPr>
          <p:cNvPr id="12" name="TextBox 11"/>
          <p:cNvSpPr txBox="1"/>
          <p:nvPr/>
        </p:nvSpPr>
        <p:spPr>
          <a:xfrm>
            <a:off x="640080" y="25877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Copy a file from container to host:</a:t>
            </a:r>
            <a:endParaRPr sz="1600" b="1" i="0">
              <a:solidFill>
                <a:srgbClr val="0F172A"/>
              </a:solidFill>
              <a:latin typeface="Calibri" panose="020F0502020204030204"/>
            </a:endParaRPr>
          </a:p>
        </p:txBody>
      </p:sp>
      <p:sp>
        <p:nvSpPr>
          <p:cNvPr id="13" name="Rectangle 12"/>
          <p:cNvSpPr/>
          <p:nvPr/>
        </p:nvSpPr>
        <p:spPr>
          <a:xfrm>
            <a:off x="566928" y="290779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290779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93522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295351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 cp my-nginx:/usr/share/nginx/html/index.html ./index.html
cat index.html</a:t>
            </a:r>
            <a:endParaRPr sz="900" b="0" i="0">
              <a:solidFill>
                <a:srgbClr val="FFFFFF"/>
              </a:solidFill>
              <a:latin typeface="Courier New" panose="02070309020205020404"/>
            </a:endParaRPr>
          </a:p>
        </p:txBody>
      </p:sp>
      <p:sp>
        <p:nvSpPr>
          <p:cNvPr id="17" name="TextBox 16"/>
          <p:cNvSpPr txBox="1"/>
          <p:nvPr/>
        </p:nvSpPr>
        <p:spPr>
          <a:xfrm>
            <a:off x="640080" y="360273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Inspect logs then clean up:</a:t>
            </a:r>
            <a:endParaRPr sz="1600" b="1" i="0">
              <a:solidFill>
                <a:srgbClr val="0F172A"/>
              </a:solidFill>
              <a:latin typeface="Calibri" panose="020F0502020204030204"/>
            </a:endParaRPr>
          </a:p>
        </p:txBody>
      </p:sp>
      <p:sp>
        <p:nvSpPr>
          <p:cNvPr id="18" name="Rectangle 17"/>
          <p:cNvSpPr/>
          <p:nvPr/>
        </p:nvSpPr>
        <p:spPr>
          <a:xfrm>
            <a:off x="566928" y="392277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392277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95020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396849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logs my-nginx
docker stop my-nginx
docker rm my-nginx</a:t>
            </a:r>
            <a:endParaRPr sz="900" b="0" i="0">
              <a:solidFill>
                <a:srgbClr val="FFFFFF"/>
              </a:solidFill>
              <a:latin typeface="Courier New" panose="02070309020205020404"/>
            </a:endParaRPr>
          </a:p>
        </p:txBody>
      </p:sp>
      <p:sp>
        <p:nvSpPr>
          <p:cNvPr id="22" name="TextBox 21"/>
          <p:cNvSpPr txBox="1"/>
          <p:nvPr/>
        </p:nvSpPr>
        <p:spPr>
          <a:xfrm>
            <a:off x="640080" y="5024628"/>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Key concept: docker cp works host -&gt; container and container -&gt; host. Container need not be running.</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18</a:t>
            </a:r>
            <a:endParaRPr sz="900" b="0" i="0">
              <a:solidFill>
                <a:srgbClr val="718596"/>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3</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Building Images with Dockerfile</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3 &amp; 4 — Custom images and Flask app</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Dockerfile instructions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Image layers &amp; cache</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CMD vs ENTRYPOINT</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3: Custom image</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4: Flask web app</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19</a:t>
            </a:r>
            <a:endParaRPr sz="900" b="0" i="0">
              <a:solidFill>
                <a:srgbClr val="718596"/>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DOCKERFILE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Dockerfile?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Dockerfile is a text document containing instructions that Docker uses to automatically construct images — all the commands a user could call on the command line to assemble an image.   (docs.docker.com/reference/dockerfile)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Key instructions: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FROM      initiates a build stage and sets the base image (must come first)</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WORKDIR   sets working directory for RUN, CMD, COPY, ADD instructions that follow</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COPY      transfers files from the build context into the image filesystem</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RUN       executes commands during build, committing results as a new layer</a:t>
            </a:r>
            <a:endParaRPr sz="1600" b="0" i="0">
              <a:solidFill>
                <a:srgbClr val="0F172A"/>
              </a:solidFill>
              <a:latin typeface="Calibri" panose="020F0502020204030204"/>
            </a:endParaRPr>
          </a:p>
        </p:txBody>
      </p:sp>
      <p:sp>
        <p:nvSpPr>
          <p:cNvPr id="13" name="TextBox 12"/>
          <p:cNvSpPr txBox="1"/>
          <p:nvPr/>
        </p:nvSpPr>
        <p:spPr>
          <a:xfrm>
            <a:off x="640080" y="39684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EXPOSE    documents which port the containerised app listens on (does NOT publish)</a:t>
            </a:r>
            <a:endParaRPr sz="1600" b="0" i="0">
              <a:solidFill>
                <a:srgbClr val="0F172A"/>
              </a:solidFill>
              <a:latin typeface="Calibri" panose="020F0502020204030204"/>
            </a:endParaRPr>
          </a:p>
        </p:txBody>
      </p:sp>
      <p:sp>
        <p:nvSpPr>
          <p:cNvPr id="14" name="TextBox 13"/>
          <p:cNvSpPr txBox="1"/>
          <p:nvPr/>
        </p:nvSpPr>
        <p:spPr>
          <a:xfrm>
            <a:off x="640080" y="43342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ENV       sets environment variables that persist into the final container</a:t>
            </a:r>
            <a:endParaRPr sz="1600" b="0" i="0">
              <a:solidFill>
                <a:srgbClr val="0F172A"/>
              </a:solidFill>
              <a:latin typeface="Calibri" panose="020F0502020204030204"/>
            </a:endParaRPr>
          </a:p>
        </p:txBody>
      </p:sp>
      <p:sp>
        <p:nvSpPr>
          <p:cNvPr id="15" name="TextBox 14"/>
          <p:cNvSpPr txBox="1"/>
          <p:nvPr/>
        </p:nvSpPr>
        <p:spPr>
          <a:xfrm>
            <a:off x="640080" y="47000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CMD       specifies the default command executed when a container starts</a:t>
            </a:r>
            <a:endParaRPr sz="1600" b="0" i="0">
              <a:solidFill>
                <a:srgbClr val="0F172A"/>
              </a:solidFill>
              <a:latin typeface="Calibri" panose="020F0502020204030204"/>
            </a:endParaRPr>
          </a:p>
        </p:txBody>
      </p:sp>
      <p:sp>
        <p:nvSpPr>
          <p:cNvPr id="16" name="TextBox 15"/>
          <p:cNvSpPr txBox="1"/>
          <p:nvPr/>
        </p:nvSpPr>
        <p:spPr>
          <a:xfrm>
            <a:off x="640080" y="526694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Each instruction creates a cached layer — only changed layers rebuild.</a:t>
            </a:r>
            <a:endParaRPr sz="1400" b="0" i="1">
              <a:solidFill>
                <a:srgbClr val="2496ED"/>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20</a:t>
            </a:r>
            <a:endParaRPr sz="900" b="0" i="0">
              <a:solidFill>
                <a:srgbClr val="718596"/>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DOCKERFILE — LAYERS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Image Layers &amp; Build Cache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Each layer in an image contains a set of filesystem changes — additions, deletions, or modifications. Layers are reused between images, reducing build time, storage, and bandwidth.   (docs.docker.com/get-started/docker-concepts/building-images)</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Cache rule: if a layer is unchanged -&gt; reused from cache.</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If any layer changes -&gt; all subsequent layers are rebuilt from scratch.</a:t>
            </a:r>
            <a:endParaRPr sz="1600" b="1" i="0">
              <a:solidFill>
                <a:srgbClr val="0F172A"/>
              </a:solidFill>
              <a:latin typeface="Calibri" panose="020F0502020204030204"/>
            </a:endParaRPr>
          </a:p>
        </p:txBody>
      </p:sp>
      <p:sp>
        <p:nvSpPr>
          <p:cNvPr id="10" name="TextBox 9"/>
          <p:cNvSpPr txBox="1"/>
          <p:nvPr/>
        </p:nvSpPr>
        <p:spPr>
          <a:xfrm>
            <a:off x="640080" y="307238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Best practice — order instructions for fast rebuilds:</a:t>
            </a:r>
            <a:endParaRPr sz="1600" b="1" i="0">
              <a:solidFill>
                <a:srgbClr val="0F172A"/>
              </a:solidFill>
              <a:latin typeface="Calibri" panose="020F0502020204030204"/>
            </a:endParaRPr>
          </a:p>
        </p:txBody>
      </p:sp>
      <p:sp>
        <p:nvSpPr>
          <p:cNvPr id="11" name="Rectangle 10"/>
          <p:cNvSpPr/>
          <p:nvPr/>
        </p:nvSpPr>
        <p:spPr>
          <a:xfrm>
            <a:off x="566928" y="3392424"/>
            <a:ext cx="11119104" cy="11750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438144"/>
            <a:ext cx="10972800" cy="1175004"/>
          </a:xfrm>
          <a:prstGeom prst="rect">
            <a:avLst/>
          </a:prstGeom>
          <a:noFill/>
        </p:spPr>
        <p:txBody>
          <a:bodyPr wrap="square">
            <a:spAutoFit/>
          </a:bodyPr>
          <a:lstStyle/>
          <a:p>
            <a:pPr algn="l">
              <a:buNone/>
            </a:pPr>
            <a:r>
              <a:rPr sz="900" b="0" i="0">
                <a:solidFill>
                  <a:srgbClr val="0F172A"/>
                </a:solidFill>
                <a:latin typeface="Courier New" panose="02070309020205020404"/>
              </a:rPr>
              <a:t>FROM python:3.11-slim
WORKDIR /app
COPY requirements.txt .   # changes rarely
RUN pip install -r requirements.txt
COPY . .                  # source code changes often</a:t>
            </a:r>
            <a:endParaRPr sz="900" b="0" i="0">
              <a:solidFill>
                <a:srgbClr val="0F172A"/>
              </a:solidFill>
              <a:latin typeface="Courier New" panose="02070309020205020404"/>
            </a:endParaRPr>
          </a:p>
        </p:txBody>
      </p:sp>
      <p:sp>
        <p:nvSpPr>
          <p:cNvPr id="13" name="TextBox 12"/>
          <p:cNvSpPr txBox="1"/>
          <p:nvPr/>
        </p:nvSpPr>
        <p:spPr>
          <a:xfrm>
            <a:off x="640080" y="490575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Put stable instructions first. Frequently-changing files (source code) go last.</a:t>
            </a:r>
            <a:endParaRPr sz="14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21</a:t>
            </a:r>
            <a:endParaRPr sz="900" b="0" i="0">
              <a:solidFill>
                <a:srgbClr val="718596"/>
              </a:solidFill>
              <a:latin typeface="Calibri" panose="020F0502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DOCKERFILE — LAYERS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How Docker Image Layers Stack</a:t>
            </a:r>
            <a:endParaRPr sz="2600" b="1" i="0">
              <a:solidFill>
                <a:srgbClr val="FFFFFF"/>
              </a:solidFill>
              <a:latin typeface="Cambria" panose="02040503050406030204"/>
            </a:endParaRPr>
          </a:p>
        </p:txBody>
      </p:sp>
      <p:sp>
        <p:nvSpPr>
          <p:cNvPr id="7" name="Rectangle 6"/>
          <p:cNvSpPr/>
          <p:nvPr/>
        </p:nvSpPr>
        <p:spPr>
          <a:xfrm>
            <a:off x="640080" y="5303520"/>
            <a:ext cx="6858000" cy="475488"/>
          </a:xfrm>
          <a:prstGeom prst="rect">
            <a:avLst/>
          </a:prstGeom>
          <a:solidFill>
            <a:srgbClr val="3D3C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385816"/>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CMD ["python", "app.py"]</a:t>
            </a:r>
            <a:endParaRPr sz="900" b="0" i="0">
              <a:solidFill>
                <a:srgbClr val="FFFFFF"/>
              </a:solidFill>
              <a:latin typeface="Courier New" panose="02070309020205020404"/>
            </a:endParaRPr>
          </a:p>
        </p:txBody>
      </p:sp>
      <p:sp>
        <p:nvSpPr>
          <p:cNvPr id="9" name="TextBox 8"/>
          <p:cNvSpPr txBox="1"/>
          <p:nvPr/>
        </p:nvSpPr>
        <p:spPr>
          <a:xfrm>
            <a:off x="4754880" y="5394959"/>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Runtime command</a:t>
            </a:r>
            <a:endParaRPr sz="1000" b="0" i="1">
              <a:solidFill>
                <a:srgbClr val="FFFFFF"/>
              </a:solidFill>
              <a:latin typeface="Calibri" panose="020F0502020204030204"/>
            </a:endParaRPr>
          </a:p>
        </p:txBody>
      </p:sp>
      <p:sp>
        <p:nvSpPr>
          <p:cNvPr id="10" name="Rectangle 9"/>
          <p:cNvSpPr/>
          <p:nvPr/>
        </p:nvSpPr>
        <p:spPr>
          <a:xfrm>
            <a:off x="640080" y="4782312"/>
            <a:ext cx="6858000" cy="475488"/>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864607"/>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COPY . .</a:t>
            </a:r>
            <a:endParaRPr sz="900" b="0" i="0">
              <a:solidFill>
                <a:srgbClr val="FFFFFF"/>
              </a:solidFill>
              <a:latin typeface="Courier New" panose="02070309020205020404"/>
            </a:endParaRPr>
          </a:p>
        </p:txBody>
      </p:sp>
      <p:sp>
        <p:nvSpPr>
          <p:cNvPr id="12" name="TextBox 11"/>
          <p:cNvSpPr txBox="1"/>
          <p:nvPr/>
        </p:nvSpPr>
        <p:spPr>
          <a:xfrm>
            <a:off x="4754880" y="4873751"/>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Source code (changes often)</a:t>
            </a:r>
            <a:endParaRPr sz="1000" b="0" i="1">
              <a:solidFill>
                <a:srgbClr val="FFFFFF"/>
              </a:solidFill>
              <a:latin typeface="Calibri" panose="020F0502020204030204"/>
            </a:endParaRPr>
          </a:p>
        </p:txBody>
      </p:sp>
      <p:sp>
        <p:nvSpPr>
          <p:cNvPr id="13" name="Rectangle 12"/>
          <p:cNvSpPr/>
          <p:nvPr/>
        </p:nvSpPr>
        <p:spPr>
          <a:xfrm>
            <a:off x="640080" y="4261104"/>
            <a:ext cx="6858000" cy="475488"/>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343400"/>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RUN pip install -r requirements.txt</a:t>
            </a:r>
            <a:endParaRPr sz="900" b="0" i="0">
              <a:solidFill>
                <a:srgbClr val="FFFFFF"/>
              </a:solidFill>
              <a:latin typeface="Courier New" panose="02070309020205020404"/>
            </a:endParaRPr>
          </a:p>
        </p:txBody>
      </p:sp>
      <p:sp>
        <p:nvSpPr>
          <p:cNvPr id="15" name="TextBox 14"/>
          <p:cNvSpPr txBox="1"/>
          <p:nvPr/>
        </p:nvSpPr>
        <p:spPr>
          <a:xfrm>
            <a:off x="4754880" y="4352544"/>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Dependencies installed</a:t>
            </a:r>
            <a:endParaRPr sz="1000" b="0" i="1">
              <a:solidFill>
                <a:srgbClr val="FFFFFF"/>
              </a:solidFill>
              <a:latin typeface="Calibri" panose="020F0502020204030204"/>
            </a:endParaRPr>
          </a:p>
        </p:txBody>
      </p:sp>
      <p:sp>
        <p:nvSpPr>
          <p:cNvPr id="16" name="Rectangle 15"/>
          <p:cNvSpPr/>
          <p:nvPr/>
        </p:nvSpPr>
        <p:spPr>
          <a:xfrm>
            <a:off x="640080" y="3739896"/>
            <a:ext cx="6858000" cy="47548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822191"/>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COPY requirements.txt .</a:t>
            </a:r>
            <a:endParaRPr sz="900" b="0" i="0">
              <a:solidFill>
                <a:srgbClr val="FFFFFF"/>
              </a:solidFill>
              <a:latin typeface="Courier New" panose="02070309020205020404"/>
            </a:endParaRPr>
          </a:p>
        </p:txBody>
      </p:sp>
      <p:sp>
        <p:nvSpPr>
          <p:cNvPr id="18" name="TextBox 17"/>
          <p:cNvSpPr txBox="1"/>
          <p:nvPr/>
        </p:nvSpPr>
        <p:spPr>
          <a:xfrm>
            <a:off x="4754880" y="3831335"/>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Dep list (rarely changes)</a:t>
            </a:r>
            <a:endParaRPr sz="1000" b="0" i="1">
              <a:solidFill>
                <a:srgbClr val="FFFFFF"/>
              </a:solidFill>
              <a:latin typeface="Calibri" panose="020F0502020204030204"/>
            </a:endParaRPr>
          </a:p>
        </p:txBody>
      </p:sp>
      <p:sp>
        <p:nvSpPr>
          <p:cNvPr id="19" name="Rectangle 18"/>
          <p:cNvSpPr/>
          <p:nvPr/>
        </p:nvSpPr>
        <p:spPr>
          <a:xfrm>
            <a:off x="640080" y="3218687"/>
            <a:ext cx="6858000"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3300983"/>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WORKDIR /app</a:t>
            </a:r>
            <a:endParaRPr sz="900" b="0" i="0">
              <a:solidFill>
                <a:srgbClr val="FFFFFF"/>
              </a:solidFill>
              <a:latin typeface="Courier New" panose="02070309020205020404"/>
            </a:endParaRPr>
          </a:p>
        </p:txBody>
      </p:sp>
      <p:sp>
        <p:nvSpPr>
          <p:cNvPr id="21" name="TextBox 20"/>
          <p:cNvSpPr txBox="1"/>
          <p:nvPr/>
        </p:nvSpPr>
        <p:spPr>
          <a:xfrm>
            <a:off x="4754880" y="3310127"/>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Working directory</a:t>
            </a:r>
            <a:endParaRPr sz="1000" b="0" i="1">
              <a:solidFill>
                <a:srgbClr val="FFFFFF"/>
              </a:solidFill>
              <a:latin typeface="Calibri" panose="020F0502020204030204"/>
            </a:endParaRPr>
          </a:p>
        </p:txBody>
      </p:sp>
      <p:sp>
        <p:nvSpPr>
          <p:cNvPr id="22" name="Rectangle 21"/>
          <p:cNvSpPr/>
          <p:nvPr/>
        </p:nvSpPr>
        <p:spPr>
          <a:xfrm>
            <a:off x="640080" y="2697479"/>
            <a:ext cx="6858000" cy="47548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240" y="2779775"/>
            <a:ext cx="3840480" cy="310896"/>
          </a:xfrm>
          <a:prstGeom prst="rect">
            <a:avLst/>
          </a:prstGeom>
          <a:noFill/>
        </p:spPr>
        <p:txBody>
          <a:bodyPr wrap="square">
            <a:spAutoFit/>
          </a:bodyPr>
          <a:lstStyle/>
          <a:p>
            <a:pPr algn="l">
              <a:buNone/>
            </a:pPr>
            <a:r>
              <a:rPr sz="900" b="0" i="0">
                <a:solidFill>
                  <a:srgbClr val="FFFFFF"/>
                </a:solidFill>
                <a:latin typeface="Courier New" panose="02070309020205020404"/>
              </a:rPr>
              <a:t>FROM python:3.11-slim</a:t>
            </a:r>
            <a:endParaRPr sz="900" b="0" i="0">
              <a:solidFill>
                <a:srgbClr val="FFFFFF"/>
              </a:solidFill>
              <a:latin typeface="Courier New" panose="02070309020205020404"/>
            </a:endParaRPr>
          </a:p>
        </p:txBody>
      </p:sp>
      <p:sp>
        <p:nvSpPr>
          <p:cNvPr id="24" name="TextBox 23"/>
          <p:cNvSpPr txBox="1"/>
          <p:nvPr/>
        </p:nvSpPr>
        <p:spPr>
          <a:xfrm>
            <a:off x="4754880" y="2788919"/>
            <a:ext cx="2651760" cy="274320"/>
          </a:xfrm>
          <a:prstGeom prst="rect">
            <a:avLst/>
          </a:prstGeom>
          <a:noFill/>
        </p:spPr>
        <p:txBody>
          <a:bodyPr wrap="square">
            <a:spAutoFit/>
          </a:bodyPr>
          <a:lstStyle/>
          <a:p>
            <a:pPr algn="l">
              <a:buNone/>
            </a:pPr>
            <a:r>
              <a:rPr sz="1000" b="0" i="1">
                <a:solidFill>
                  <a:srgbClr val="FFFFFF"/>
                </a:solidFill>
                <a:latin typeface="Calibri" panose="020F0502020204030204"/>
              </a:rPr>
              <a:t>Base image — cached layer</a:t>
            </a:r>
            <a:endParaRPr sz="1000" b="0" i="1">
              <a:solidFill>
                <a:srgbClr val="FFFFFF"/>
              </a:solidFill>
              <a:latin typeface="Calibri" panose="020F0502020204030204"/>
            </a:endParaRPr>
          </a:p>
        </p:txBody>
      </p:sp>
      <p:sp>
        <p:nvSpPr>
          <p:cNvPr id="25" name="TextBox 24"/>
          <p:cNvSpPr txBox="1"/>
          <p:nvPr/>
        </p:nvSpPr>
        <p:spPr>
          <a:xfrm>
            <a:off x="7772400" y="3291840"/>
            <a:ext cx="1645920" cy="310896"/>
          </a:xfrm>
          <a:prstGeom prst="rect">
            <a:avLst/>
          </a:prstGeom>
          <a:noFill/>
        </p:spPr>
        <p:txBody>
          <a:bodyPr wrap="square">
            <a:spAutoFit/>
          </a:bodyPr>
          <a:lstStyle/>
          <a:p>
            <a:pPr algn="l">
              <a:buNone/>
            </a:pPr>
            <a:r>
              <a:rPr sz="1100" b="1" i="0">
                <a:solidFill>
                  <a:srgbClr val="2496ED"/>
                </a:solidFill>
                <a:latin typeface="Calibri" panose="020F0502020204030204"/>
              </a:rPr>
              <a:t>Build  ↑  (bottom to top)</a:t>
            </a:r>
            <a:endParaRPr sz="1100" b="1" i="0">
              <a:solidFill>
                <a:srgbClr val="2496ED"/>
              </a:solidFill>
              <a:latin typeface="Calibri" panose="020F0502020204030204"/>
            </a:endParaRPr>
          </a:p>
        </p:txBody>
      </p:sp>
      <p:sp>
        <p:nvSpPr>
          <p:cNvPr id="26" name="Rectangle 25"/>
          <p:cNvSpPr/>
          <p:nvPr/>
        </p:nvSpPr>
        <p:spPr>
          <a:xfrm>
            <a:off x="7772400" y="1737360"/>
            <a:ext cx="3931920" cy="3054096"/>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09560" y="1828800"/>
            <a:ext cx="3657600" cy="329184"/>
          </a:xfrm>
          <a:prstGeom prst="rect">
            <a:avLst/>
          </a:prstGeom>
          <a:noFill/>
        </p:spPr>
        <p:txBody>
          <a:bodyPr wrap="square">
            <a:spAutoFit/>
          </a:bodyPr>
          <a:lstStyle/>
          <a:p>
            <a:pPr algn="l">
              <a:buNone/>
            </a:pPr>
            <a:r>
              <a:rPr sz="1400" b="1" i="0">
                <a:solidFill>
                  <a:srgbClr val="0F172A"/>
                </a:solidFill>
                <a:latin typeface="Cambria" panose="02040503050406030204"/>
              </a:rPr>
              <a:t>Build Cache Rules</a:t>
            </a:r>
            <a:endParaRPr sz="1400" b="1" i="0">
              <a:solidFill>
                <a:srgbClr val="0F172A"/>
              </a:solidFill>
              <a:latin typeface="Cambria" panose="02040503050406030204"/>
            </a:endParaRPr>
          </a:p>
        </p:txBody>
      </p:sp>
      <p:sp>
        <p:nvSpPr>
          <p:cNvPr id="28" name="TextBox 27"/>
          <p:cNvSpPr txBox="1"/>
          <p:nvPr/>
        </p:nvSpPr>
        <p:spPr>
          <a:xfrm>
            <a:off x="7936992" y="2249424"/>
            <a:ext cx="3657600" cy="329184"/>
          </a:xfrm>
          <a:prstGeom prst="rect">
            <a:avLst/>
          </a:prstGeom>
          <a:noFill/>
        </p:spPr>
        <p:txBody>
          <a:bodyPr wrap="square">
            <a:spAutoFit/>
          </a:bodyPr>
          <a:lstStyle/>
          <a:p>
            <a:pPr algn="l">
              <a:buNone/>
            </a:pPr>
            <a:r>
              <a:rPr sz="1100" b="0" i="0">
                <a:solidFill>
                  <a:srgbClr val="0F172A"/>
                </a:solidFill>
                <a:latin typeface="Calibri" panose="020F0502020204030204"/>
              </a:rPr>
              <a:t>Each instruction = one image layer</a:t>
            </a:r>
            <a:endParaRPr sz="1100" b="0" i="0">
              <a:solidFill>
                <a:srgbClr val="0F172A"/>
              </a:solidFill>
              <a:latin typeface="Calibri" panose="020F0502020204030204"/>
            </a:endParaRPr>
          </a:p>
        </p:txBody>
      </p:sp>
      <p:sp>
        <p:nvSpPr>
          <p:cNvPr id="29" name="TextBox 28"/>
          <p:cNvSpPr txBox="1"/>
          <p:nvPr/>
        </p:nvSpPr>
        <p:spPr>
          <a:xfrm>
            <a:off x="7936992" y="2633472"/>
            <a:ext cx="3657600" cy="329184"/>
          </a:xfrm>
          <a:prstGeom prst="rect">
            <a:avLst/>
          </a:prstGeom>
          <a:noFill/>
        </p:spPr>
        <p:txBody>
          <a:bodyPr wrap="square">
            <a:spAutoFit/>
          </a:bodyPr>
          <a:lstStyle/>
          <a:p>
            <a:pPr algn="l">
              <a:buNone/>
            </a:pPr>
            <a:r>
              <a:rPr sz="1100" b="0" i="0">
                <a:solidFill>
                  <a:srgbClr val="0F172A"/>
                </a:solidFill>
                <a:latin typeface="Calibri" panose="020F0502020204030204"/>
              </a:rPr>
              <a:t>Unchanged layer → reused from cache</a:t>
            </a:r>
            <a:endParaRPr sz="1100" b="0" i="0">
              <a:solidFill>
                <a:srgbClr val="0F172A"/>
              </a:solidFill>
              <a:latin typeface="Calibri" panose="020F0502020204030204"/>
            </a:endParaRPr>
          </a:p>
        </p:txBody>
      </p:sp>
      <p:sp>
        <p:nvSpPr>
          <p:cNvPr id="30" name="TextBox 29"/>
          <p:cNvSpPr txBox="1"/>
          <p:nvPr/>
        </p:nvSpPr>
        <p:spPr>
          <a:xfrm>
            <a:off x="7936992" y="3017520"/>
            <a:ext cx="3657600" cy="329184"/>
          </a:xfrm>
          <a:prstGeom prst="rect">
            <a:avLst/>
          </a:prstGeom>
          <a:noFill/>
        </p:spPr>
        <p:txBody>
          <a:bodyPr wrap="square">
            <a:spAutoFit/>
          </a:bodyPr>
          <a:lstStyle/>
          <a:p>
            <a:pPr algn="l">
              <a:buNone/>
            </a:pPr>
            <a:r>
              <a:rPr sz="1100" b="0" i="0">
                <a:solidFill>
                  <a:srgbClr val="0F172A"/>
                </a:solidFill>
                <a:latin typeface="Calibri" panose="020F0502020204030204"/>
              </a:rPr>
              <a:t>Changed layer → all above it rebuild</a:t>
            </a:r>
            <a:endParaRPr sz="1100" b="0" i="0">
              <a:solidFill>
                <a:srgbClr val="0F172A"/>
              </a:solidFill>
              <a:latin typeface="Calibri" panose="020F0502020204030204"/>
            </a:endParaRPr>
          </a:p>
        </p:txBody>
      </p:sp>
      <p:sp>
        <p:nvSpPr>
          <p:cNvPr id="31" name="TextBox 30"/>
          <p:cNvSpPr txBox="1"/>
          <p:nvPr/>
        </p:nvSpPr>
        <p:spPr>
          <a:xfrm>
            <a:off x="7936992" y="3401568"/>
            <a:ext cx="3657600" cy="329184"/>
          </a:xfrm>
          <a:prstGeom prst="rect">
            <a:avLst/>
          </a:prstGeom>
          <a:noFill/>
        </p:spPr>
        <p:txBody>
          <a:bodyPr wrap="square">
            <a:spAutoFit/>
          </a:bodyPr>
          <a:lstStyle/>
          <a:p>
            <a:pPr algn="l">
              <a:buNone/>
            </a:pPr>
            <a:r>
              <a:rPr sz="1100" b="0" i="0">
                <a:solidFill>
                  <a:srgbClr val="0F172A"/>
                </a:solidFill>
                <a:latin typeface="Calibri" panose="020F0502020204030204"/>
              </a:rPr>
              <a:t>Put stable steps first (FROM, deps)</a:t>
            </a:r>
            <a:endParaRPr sz="1100" b="0" i="0">
              <a:solidFill>
                <a:srgbClr val="0F172A"/>
              </a:solidFill>
              <a:latin typeface="Calibri" panose="020F0502020204030204"/>
            </a:endParaRPr>
          </a:p>
        </p:txBody>
      </p:sp>
      <p:sp>
        <p:nvSpPr>
          <p:cNvPr id="32" name="TextBox 31"/>
          <p:cNvSpPr txBox="1"/>
          <p:nvPr/>
        </p:nvSpPr>
        <p:spPr>
          <a:xfrm>
            <a:off x="7936992" y="3785615"/>
            <a:ext cx="3657600" cy="329184"/>
          </a:xfrm>
          <a:prstGeom prst="rect">
            <a:avLst/>
          </a:prstGeom>
          <a:noFill/>
        </p:spPr>
        <p:txBody>
          <a:bodyPr wrap="square">
            <a:spAutoFit/>
          </a:bodyPr>
          <a:lstStyle/>
          <a:p>
            <a:pPr algn="l">
              <a:buNone/>
            </a:pPr>
            <a:r>
              <a:rPr sz="1100" b="0" i="0">
                <a:solidFill>
                  <a:srgbClr val="0F172A"/>
                </a:solidFill>
                <a:latin typeface="Calibri" panose="020F0502020204030204"/>
              </a:rPr>
              <a:t>Put changing files last (COPY . .)</a:t>
            </a:r>
            <a:endParaRPr sz="1100" b="0" i="0">
              <a:solidFill>
                <a:srgbClr val="0F172A"/>
              </a:solidFill>
              <a:latin typeface="Calibri" panose="020F0502020204030204"/>
            </a:endParaRPr>
          </a:p>
        </p:txBody>
      </p:sp>
      <p:sp>
        <p:nvSpPr>
          <p:cNvPr id="33" name="TextBox 3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4" name="TextBox 3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5" name="TextBox 3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22</a:t>
            </a:r>
            <a:endParaRPr sz="900" b="0" i="0">
              <a:solidFill>
                <a:srgbClr val="718596"/>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DOCKERFILE — INSTRUCTIONS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CMD vs ENTRYPOINT</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2643"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CMD</a:t>
            </a:r>
            <a:endParaRPr sz="1800" b="1" i="0">
              <a:solidFill>
                <a:srgbClr val="0F172A"/>
              </a:solidFill>
              <a:latin typeface="Cambria" panose="02040503050406030204"/>
            </a:endParaRPr>
          </a:p>
        </p:txBody>
      </p:sp>
      <p:sp>
        <p:nvSpPr>
          <p:cNvPr id="9" name="TextBox 8"/>
          <p:cNvSpPr txBox="1"/>
          <p:nvPr/>
        </p:nvSpPr>
        <p:spPr>
          <a:xfrm>
            <a:off x="572643"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Default command — can be overridden at runtime.</a:t>
            </a:r>
            <a:endParaRPr sz="1600" b="0" i="0">
              <a:solidFill>
                <a:srgbClr val="0F172A"/>
              </a:solidFill>
              <a:latin typeface="Calibri" panose="020F0502020204030204"/>
            </a:endParaRPr>
          </a:p>
        </p:txBody>
      </p:sp>
      <p:sp>
        <p:nvSpPr>
          <p:cNvPr id="10" name="Rectangle 9"/>
          <p:cNvSpPr/>
          <p:nvPr/>
        </p:nvSpPr>
        <p:spPr>
          <a:xfrm>
            <a:off x="128016" y="2532888"/>
            <a:ext cx="544982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2643" y="2578608"/>
            <a:ext cx="5303520" cy="352044"/>
          </a:xfrm>
          <a:prstGeom prst="rect">
            <a:avLst/>
          </a:prstGeom>
          <a:noFill/>
        </p:spPr>
        <p:txBody>
          <a:bodyPr wrap="square">
            <a:spAutoFit/>
          </a:bodyPr>
          <a:lstStyle/>
          <a:p>
            <a:pPr algn="l">
              <a:buNone/>
            </a:pPr>
            <a:r>
              <a:rPr sz="900" b="0" i="0">
                <a:solidFill>
                  <a:srgbClr val="0F172A"/>
                </a:solidFill>
                <a:latin typeface="Courier New" panose="02070309020205020404"/>
              </a:rPr>
              <a:t>CMD ["python", "app.py"]</a:t>
            </a:r>
            <a:endParaRPr sz="900" b="0" i="0">
              <a:solidFill>
                <a:srgbClr val="0F172A"/>
              </a:solidFill>
              <a:latin typeface="Courier New" panose="02070309020205020404"/>
            </a:endParaRPr>
          </a:p>
        </p:txBody>
      </p:sp>
      <p:sp>
        <p:nvSpPr>
          <p:cNvPr id="12" name="TextBox 11"/>
          <p:cNvSpPr txBox="1"/>
          <p:nvPr/>
        </p:nvSpPr>
        <p:spPr>
          <a:xfrm>
            <a:off x="515493" y="32232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Override at runtime:</a:t>
            </a:r>
            <a:endParaRPr sz="1600" b="0" i="0">
              <a:solidFill>
                <a:srgbClr val="0F172A"/>
              </a:solidFill>
              <a:latin typeface="Calibri" panose="020F0502020204030204"/>
            </a:endParaRPr>
          </a:p>
        </p:txBody>
      </p:sp>
      <p:sp>
        <p:nvSpPr>
          <p:cNvPr id="13" name="Rectangle 12"/>
          <p:cNvSpPr/>
          <p:nvPr/>
        </p:nvSpPr>
        <p:spPr>
          <a:xfrm>
            <a:off x="128016" y="3543300"/>
            <a:ext cx="544982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5493" y="3589020"/>
            <a:ext cx="5303520" cy="352044"/>
          </a:xfrm>
          <a:prstGeom prst="rect">
            <a:avLst/>
          </a:prstGeom>
          <a:noFill/>
        </p:spPr>
        <p:txBody>
          <a:bodyPr wrap="square">
            <a:spAutoFit/>
          </a:bodyPr>
          <a:lstStyle/>
          <a:p>
            <a:pPr algn="l">
              <a:buNone/>
            </a:pPr>
            <a:r>
              <a:rPr sz="900" b="0" i="0">
                <a:solidFill>
                  <a:srgbClr val="0F172A"/>
                </a:solidFill>
                <a:latin typeface="Courier New" panose="02070309020205020404"/>
              </a:rPr>
              <a:t>docker run myimage bash</a:t>
            </a:r>
            <a:endParaRPr sz="900" b="0" i="0">
              <a:solidFill>
                <a:srgbClr val="0F172A"/>
              </a:solidFill>
              <a:latin typeface="Courier New" panose="02070309020205020404"/>
            </a:endParaRPr>
          </a:p>
        </p:txBody>
      </p:sp>
      <p:sp>
        <p:nvSpPr>
          <p:cNvPr id="15" name="TextBox 14"/>
          <p:cNvSpPr txBox="1"/>
          <p:nvPr/>
        </p:nvSpPr>
        <p:spPr>
          <a:xfrm>
            <a:off x="515493" y="4233672"/>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Use when: you want a replaceable default.</a:t>
            </a:r>
            <a:endParaRPr sz="1200" b="0" i="0">
              <a:solidFill>
                <a:srgbClr val="64748B"/>
              </a:solidFill>
              <a:latin typeface="Calibri" panose="020F0502020204030204"/>
            </a:endParaRPr>
          </a:p>
        </p:txBody>
      </p:sp>
      <p:sp>
        <p:nvSpPr>
          <p:cNvPr id="16" name="TextBox 15"/>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ENTRYPOINT</a:t>
            </a:r>
            <a:endParaRPr sz="1800" b="1" i="0">
              <a:solidFill>
                <a:srgbClr val="0F172A"/>
              </a:solidFill>
              <a:latin typeface="Cambria" panose="02040503050406030204"/>
            </a:endParaRPr>
          </a:p>
        </p:txBody>
      </p:sp>
      <p:sp>
        <p:nvSpPr>
          <p:cNvPr id="17" name="TextBox 16"/>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Fixed executable — CMD or runtime args become its arguments.</a:t>
            </a:r>
            <a:endParaRPr sz="1600" b="0" i="0">
              <a:solidFill>
                <a:srgbClr val="0F172A"/>
              </a:solidFill>
              <a:latin typeface="Calibri" panose="020F0502020204030204"/>
            </a:endParaRPr>
          </a:p>
        </p:txBody>
      </p:sp>
      <p:sp>
        <p:nvSpPr>
          <p:cNvPr id="18" name="Rectangle 17"/>
          <p:cNvSpPr/>
          <p:nvPr/>
        </p:nvSpPr>
        <p:spPr>
          <a:xfrm>
            <a:off x="6236208" y="2532888"/>
            <a:ext cx="544982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09360" y="2578608"/>
            <a:ext cx="5303520" cy="557784"/>
          </a:xfrm>
          <a:prstGeom prst="rect">
            <a:avLst/>
          </a:prstGeom>
          <a:noFill/>
        </p:spPr>
        <p:txBody>
          <a:bodyPr wrap="square">
            <a:spAutoFit/>
          </a:bodyPr>
          <a:lstStyle/>
          <a:p>
            <a:pPr algn="l">
              <a:buNone/>
            </a:pPr>
            <a:r>
              <a:rPr sz="900" b="0" i="0">
                <a:solidFill>
                  <a:srgbClr val="0F172A"/>
                </a:solidFill>
                <a:latin typeface="Courier New" panose="02070309020205020404"/>
              </a:rPr>
              <a:t>ENTRYPOINT ["python"]
CMD ["app.py"]</a:t>
            </a:r>
            <a:endParaRPr sz="900" b="0" i="0">
              <a:solidFill>
                <a:srgbClr val="0F172A"/>
              </a:solidFill>
              <a:latin typeface="Courier New" panose="02070309020205020404"/>
            </a:endParaRPr>
          </a:p>
        </p:txBody>
      </p:sp>
      <p:sp>
        <p:nvSpPr>
          <p:cNvPr id="20" name="TextBox 19"/>
          <p:cNvSpPr txBox="1"/>
          <p:nvPr/>
        </p:nvSpPr>
        <p:spPr>
          <a:xfrm>
            <a:off x="6309360" y="34290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Result: python app.py</a:t>
            </a:r>
            <a:endParaRPr sz="1600" b="0" i="0">
              <a:solidFill>
                <a:srgbClr val="0F172A"/>
              </a:solidFill>
              <a:latin typeface="Calibri" panose="020F0502020204030204"/>
            </a:endParaRPr>
          </a:p>
        </p:txBody>
      </p:sp>
      <p:sp>
        <p:nvSpPr>
          <p:cNvPr id="21" name="TextBox 20"/>
          <p:cNvSpPr txBox="1"/>
          <p:nvPr/>
        </p:nvSpPr>
        <p:spPr>
          <a:xfrm>
            <a:off x="6309360" y="399592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Use when: the container IS a command (e.g. a CLI tool).</a:t>
            </a:r>
            <a:endParaRPr sz="1200" b="0" i="0">
              <a:solidFill>
                <a:srgbClr val="64748B"/>
              </a:solidFill>
              <a:latin typeface="Calibri" panose="020F05020202040302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23</a:t>
            </a:r>
            <a:endParaRPr sz="900" b="0" i="0">
              <a:solidFill>
                <a:srgbClr val="718596"/>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3</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Build a Python Image</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https://killercoda.com/tertiary-labs/course/killercoda/day1-01-docker-fundamentals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24</a:t>
            </a:r>
            <a:endParaRPr sz="900" b="0" i="0">
              <a:solidFill>
                <a:srgbClr val="718596"/>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3 — DOCKERFILE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Build a Python Image — Dockerfile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main.py</a:t>
            </a:r>
            <a:endParaRPr sz="1600" b="1" i="0">
              <a:solidFill>
                <a:srgbClr val="0F172A"/>
              </a:solidFill>
              <a:latin typeface="Calibri" panose="020F0502020204030204"/>
            </a:endParaRPr>
          </a:p>
        </p:txBody>
      </p:sp>
      <p:sp>
        <p:nvSpPr>
          <p:cNvPr id="8" name="Rectangle 7"/>
          <p:cNvSpPr/>
          <p:nvPr/>
        </p:nvSpPr>
        <p:spPr>
          <a:xfrm>
            <a:off x="566928" y="1892808"/>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print("Hello from inside Docker!")</a:t>
            </a:r>
            <a:endParaRPr sz="900" b="0" i="0">
              <a:solidFill>
                <a:srgbClr val="FFFFFF"/>
              </a:solidFill>
              <a:latin typeface="Courier New" panose="02070309020205020404"/>
            </a:endParaRPr>
          </a:p>
        </p:txBody>
      </p:sp>
      <p:sp>
        <p:nvSpPr>
          <p:cNvPr id="12" name="TextBox 11"/>
          <p:cNvSpPr txBox="1"/>
          <p:nvPr/>
        </p:nvSpPr>
        <p:spPr>
          <a:xfrm>
            <a:off x="640080" y="258318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Dockerfile</a:t>
            </a:r>
            <a:endParaRPr sz="1600" b="1" i="0">
              <a:solidFill>
                <a:srgbClr val="0F172A"/>
              </a:solidFill>
              <a:latin typeface="Calibri" panose="020F0502020204030204"/>
            </a:endParaRPr>
          </a:p>
        </p:txBody>
      </p:sp>
      <p:sp>
        <p:nvSpPr>
          <p:cNvPr id="13" name="Rectangle 12"/>
          <p:cNvSpPr/>
          <p:nvPr/>
        </p:nvSpPr>
        <p:spPr>
          <a:xfrm>
            <a:off x="566928" y="2903220"/>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2903220"/>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930652"/>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2948940"/>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FROM python:3.11-slim
WORKDIR /app
COPY main.py .
CMD ["python", "main.py"]</a:t>
            </a:r>
            <a:endParaRPr sz="900" b="0" i="0">
              <a:solidFill>
                <a:srgbClr val="FFFFFF"/>
              </a:solidFill>
              <a:latin typeface="Courier New" panose="02070309020205020404"/>
            </a:endParaRPr>
          </a:p>
        </p:txBody>
      </p:sp>
      <p:sp>
        <p:nvSpPr>
          <p:cNvPr id="17" name="TextBox 16"/>
          <p:cNvSpPr txBox="1"/>
          <p:nvPr/>
        </p:nvSpPr>
        <p:spPr>
          <a:xfrm>
            <a:off x="640080" y="421081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Each line is a cached image layer. Run docker build to compile into an image.</a:t>
            </a:r>
            <a:endParaRPr sz="1400" b="0" i="1">
              <a:solidFill>
                <a:srgbClr val="2496ED"/>
              </a:solidFill>
              <a:latin typeface="Calibri" panose="020F0502020204030204"/>
            </a:endParaRPr>
          </a:p>
        </p:txBody>
      </p:sp>
      <p:sp>
        <p:nvSpPr>
          <p:cNvPr id="18" name="TextBox 17"/>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25</a:t>
            </a:r>
            <a:endParaRPr sz="900" b="0" i="0">
              <a:solidFill>
                <a:srgbClr val="718596"/>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3 — DOCKERFILE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Build a Python Image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the project folder and files (on KillerCoda):</a:t>
            </a:r>
            <a:endParaRPr sz="1600" b="1" i="0">
              <a:solidFill>
                <a:srgbClr val="0F172A"/>
              </a:solidFill>
              <a:latin typeface="Calibri" panose="020F0502020204030204"/>
            </a:endParaRPr>
          </a:p>
        </p:txBody>
      </p:sp>
      <p:sp>
        <p:nvSpPr>
          <p:cNvPr id="8" name="Rectangle 7"/>
          <p:cNvSpPr/>
          <p:nvPr/>
        </p:nvSpPr>
        <p:spPr>
          <a:xfrm>
            <a:off x="566928" y="189280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mkdir lab3 &amp;&amp; cd lab3
# Create main.py and Dockerfile (see previous slide)</a:t>
            </a:r>
            <a:endParaRPr sz="900" b="0" i="0">
              <a:solidFill>
                <a:srgbClr val="FFFFFF"/>
              </a:solidFill>
              <a:latin typeface="Courier New" panose="02070309020205020404"/>
            </a:endParaRPr>
          </a:p>
        </p:txBody>
      </p:sp>
      <p:sp>
        <p:nvSpPr>
          <p:cNvPr id="12" name="TextBox 11"/>
          <p:cNvSpPr txBox="1"/>
          <p:nvPr/>
        </p:nvSpPr>
        <p:spPr>
          <a:xfrm>
            <a:off x="640080" y="25877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Build the image:</a:t>
            </a:r>
            <a:endParaRPr sz="1600" b="1" i="0">
              <a:solidFill>
                <a:srgbClr val="0F172A"/>
              </a:solidFill>
              <a:latin typeface="Calibri" panose="020F0502020204030204"/>
            </a:endParaRPr>
          </a:p>
        </p:txBody>
      </p:sp>
      <p:sp>
        <p:nvSpPr>
          <p:cNvPr id="13" name="Rectangle 12"/>
          <p:cNvSpPr/>
          <p:nvPr/>
        </p:nvSpPr>
        <p:spPr>
          <a:xfrm>
            <a:off x="566928" y="2907792"/>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2907792"/>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935224"/>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2953512"/>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build -t lab3 .</a:t>
            </a:r>
            <a:endParaRPr sz="900" b="0" i="0">
              <a:solidFill>
                <a:srgbClr val="FFFFFF"/>
              </a:solidFill>
              <a:latin typeface="Courier New" panose="02070309020205020404"/>
            </a:endParaRPr>
          </a:p>
        </p:txBody>
      </p:sp>
      <p:sp>
        <p:nvSpPr>
          <p:cNvPr id="17" name="TextBox 16"/>
          <p:cNvSpPr txBox="1"/>
          <p:nvPr/>
        </p:nvSpPr>
        <p:spPr>
          <a:xfrm>
            <a:off x="640080" y="33969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the container:</a:t>
            </a:r>
            <a:endParaRPr sz="1600" b="1" i="0">
              <a:solidFill>
                <a:srgbClr val="0F172A"/>
              </a:solidFill>
              <a:latin typeface="Calibri" panose="020F0502020204030204"/>
            </a:endParaRPr>
          </a:p>
        </p:txBody>
      </p:sp>
      <p:sp>
        <p:nvSpPr>
          <p:cNvPr id="18" name="Rectangle 17"/>
          <p:cNvSpPr/>
          <p:nvPr/>
        </p:nvSpPr>
        <p:spPr>
          <a:xfrm>
            <a:off x="566928" y="3717036"/>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3717036"/>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744468"/>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3762756"/>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run lab3</a:t>
            </a:r>
            <a:endParaRPr sz="900" b="0" i="0">
              <a:solidFill>
                <a:srgbClr val="FFFFFF"/>
              </a:solidFill>
              <a:latin typeface="Courier New" panose="02070309020205020404"/>
            </a:endParaRPr>
          </a:p>
        </p:txBody>
      </p:sp>
      <p:sp>
        <p:nvSpPr>
          <p:cNvPr id="22" name="TextBox 21"/>
          <p:cNvSpPr txBox="1"/>
          <p:nvPr/>
        </p:nvSpPr>
        <p:spPr>
          <a:xfrm>
            <a:off x="640080" y="420624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Verify:</a:t>
            </a:r>
            <a:endParaRPr sz="1600" b="1" i="0">
              <a:solidFill>
                <a:srgbClr val="0F172A"/>
              </a:solidFill>
              <a:latin typeface="Calibri" panose="020F0502020204030204"/>
            </a:endParaRPr>
          </a:p>
        </p:txBody>
      </p:sp>
      <p:sp>
        <p:nvSpPr>
          <p:cNvPr id="23" name="Rectangle 22"/>
          <p:cNvSpPr/>
          <p:nvPr/>
        </p:nvSpPr>
        <p:spPr>
          <a:xfrm>
            <a:off x="566928" y="4526280"/>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4526280"/>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4553712"/>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6" name="TextBox 25"/>
          <p:cNvSpPr txBox="1"/>
          <p:nvPr/>
        </p:nvSpPr>
        <p:spPr>
          <a:xfrm>
            <a:off x="841248" y="4572000"/>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images | grep lab3
docker ps -a | grep lab3
cd ..</a:t>
            </a:r>
            <a:endParaRPr sz="900" b="0" i="0">
              <a:solidFill>
                <a:srgbClr val="FFFFFF"/>
              </a:solidFill>
              <a:latin typeface="Courier New" panose="02070309020205020404"/>
            </a:endParaRPr>
          </a:p>
        </p:txBody>
      </p:sp>
      <p:sp>
        <p:nvSpPr>
          <p:cNvPr id="27" name="TextBox 26"/>
          <p:cNvSpPr txBox="1"/>
          <p:nvPr/>
        </p:nvSpPr>
        <p:spPr>
          <a:xfrm>
            <a:off x="640080" y="562813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Expected output:  Hello from inside Docker!</a:t>
            </a:r>
            <a:endParaRPr sz="1400" b="0" i="1">
              <a:solidFill>
                <a:srgbClr val="2496ED"/>
              </a:solidFill>
              <a:latin typeface="Calibri" panose="020F0502020204030204"/>
            </a:endParaRPr>
          </a:p>
        </p:txBody>
      </p:sp>
      <p:sp>
        <p:nvSpPr>
          <p:cNvPr id="28" name="TextBox 27"/>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29" name="TextBox 2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0" name="TextBox 2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1" name="TextBox 3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26</a:t>
            </a:r>
            <a:endParaRPr sz="900" b="0" i="0">
              <a:solidFill>
                <a:srgbClr val="718596"/>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4</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Flask App in Docker</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https://killercoda.com/tertiary-labs/course/killercoda/day1-01-docker-fundamentals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27</a:t>
            </a:r>
            <a:endParaRPr sz="900" b="0" i="0">
              <a:solidFill>
                <a:srgbClr val="718596"/>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4 — DOCKERFILE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Flask App in Docker — Files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app.py</a:t>
            </a:r>
            <a:endParaRPr sz="1600" b="1" i="0">
              <a:solidFill>
                <a:srgbClr val="0F172A"/>
              </a:solidFill>
              <a:latin typeface="Calibri" panose="020F0502020204030204"/>
            </a:endParaRPr>
          </a:p>
        </p:txBody>
      </p:sp>
      <p:sp>
        <p:nvSpPr>
          <p:cNvPr id="8" name="Rectangle 7"/>
          <p:cNvSpPr/>
          <p:nvPr/>
        </p:nvSpPr>
        <p:spPr>
          <a:xfrm>
            <a:off x="566928" y="1892808"/>
            <a:ext cx="11119104" cy="15864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5864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5864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586484"/>
          </a:xfrm>
          <a:prstGeom prst="rect">
            <a:avLst/>
          </a:prstGeom>
          <a:noFill/>
        </p:spPr>
        <p:txBody>
          <a:bodyPr wrap="square">
            <a:spAutoFit/>
          </a:bodyPr>
          <a:lstStyle/>
          <a:p>
            <a:pPr algn="l">
              <a:buNone/>
            </a:pPr>
            <a:r>
              <a:rPr sz="900" b="0" i="0">
                <a:solidFill>
                  <a:srgbClr val="FFFFFF"/>
                </a:solidFill>
                <a:latin typeface="Courier New" panose="02070309020205020404"/>
              </a:rPr>
              <a:t>from flask import Flask
app = Flask(__name__)
@app.route("/")
def home():
    return "&lt;h1&gt;Hello from Flask in Docker!&lt;/h1&gt;"
if __name__ == "__main__":
    app.run(host="0.0.0.0", port=5000)</a:t>
            </a:r>
            <a:endParaRPr sz="900" b="0" i="0">
              <a:solidFill>
                <a:srgbClr val="FFFFFF"/>
              </a:solidFill>
              <a:latin typeface="Courier New" panose="02070309020205020404"/>
            </a:endParaRPr>
          </a:p>
        </p:txBody>
      </p:sp>
      <p:sp>
        <p:nvSpPr>
          <p:cNvPr id="12" name="TextBox 11"/>
          <p:cNvSpPr txBox="1"/>
          <p:nvPr/>
        </p:nvSpPr>
        <p:spPr>
          <a:xfrm>
            <a:off x="640080" y="38176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requirements.txt</a:t>
            </a:r>
            <a:endParaRPr sz="1600" b="1" i="0">
              <a:solidFill>
                <a:srgbClr val="0F172A"/>
              </a:solidFill>
              <a:latin typeface="Calibri" panose="020F0502020204030204"/>
            </a:endParaRPr>
          </a:p>
        </p:txBody>
      </p:sp>
      <p:sp>
        <p:nvSpPr>
          <p:cNvPr id="13" name="Rectangle 12"/>
          <p:cNvSpPr/>
          <p:nvPr/>
        </p:nvSpPr>
        <p:spPr>
          <a:xfrm>
            <a:off x="566928" y="4137660"/>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137660"/>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165092"/>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4183380"/>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flask</a:t>
            </a:r>
            <a:endParaRPr sz="900" b="0" i="0">
              <a:solidFill>
                <a:srgbClr val="FFFFFF"/>
              </a:solidFill>
              <a:latin typeface="Courier New" panose="02070309020205020404"/>
            </a:endParaRPr>
          </a:p>
        </p:txBody>
      </p:sp>
      <p:sp>
        <p:nvSpPr>
          <p:cNvPr id="17" name="TextBox 16"/>
          <p:cNvSpPr txBox="1"/>
          <p:nvPr/>
        </p:nvSpPr>
        <p:spPr>
          <a:xfrm>
            <a:off x="640080" y="48280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Dockerfile</a:t>
            </a:r>
            <a:endParaRPr sz="1600" b="1" i="0">
              <a:solidFill>
                <a:srgbClr val="0F172A"/>
              </a:solidFill>
              <a:latin typeface="Calibri" panose="020F0502020204030204"/>
            </a:endParaRPr>
          </a:p>
        </p:txBody>
      </p:sp>
      <p:sp>
        <p:nvSpPr>
          <p:cNvPr id="18" name="Rectangle 17"/>
          <p:cNvSpPr/>
          <p:nvPr/>
        </p:nvSpPr>
        <p:spPr>
          <a:xfrm>
            <a:off x="566928" y="5148072"/>
            <a:ext cx="11119104" cy="65836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148072"/>
            <a:ext cx="256032" cy="658368"/>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175504"/>
            <a:ext cx="256032" cy="658368"/>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5193792"/>
            <a:ext cx="10771632" cy="658368"/>
          </a:xfrm>
          <a:prstGeom prst="rect">
            <a:avLst/>
          </a:prstGeom>
          <a:noFill/>
        </p:spPr>
        <p:txBody>
          <a:bodyPr wrap="square">
            <a:spAutoFit/>
          </a:bodyPr>
          <a:lstStyle/>
          <a:p>
            <a:pPr algn="l">
              <a:buNone/>
            </a:pPr>
            <a:r>
              <a:rPr sz="900" b="0" i="0">
                <a:solidFill>
                  <a:srgbClr val="FFFFFF"/>
                </a:solidFill>
                <a:latin typeface="Courier New" panose="02070309020205020404"/>
              </a:rPr>
              <a:t>FROM python:3.11-slim
WORKDIR /app
COPY requirements.txt .
RUN pip install -r requirements.txt
COPY . .
EXPOSE 5000
CMD ["python", "app.py"]</a:t>
            </a:r>
            <a:endParaRPr sz="900" b="0" i="0">
              <a:solidFill>
                <a:srgbClr val="FFFFFF"/>
              </a:solidFill>
              <a:latin typeface="Courier New" panose="02070309020205020404"/>
            </a:endParaRPr>
          </a:p>
        </p:txBody>
      </p:sp>
      <p:sp>
        <p:nvSpPr>
          <p:cNvPr id="22" name="TextBox 21"/>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23" name="TextBox 2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4" name="TextBox 2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5" name="TextBox 2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28</a:t>
            </a:r>
            <a:endParaRPr sz="900" b="0" i="0">
              <a:solidFill>
                <a:srgbClr val="718596"/>
              </a:solidFill>
              <a:latin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4 — DOCKERFILE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Flask App in Docker — Commands</a:t>
            </a:r>
            <a:endParaRPr sz="2600" b="1" i="0">
              <a:solidFill>
                <a:srgbClr val="FFFFFF"/>
              </a:solidFill>
              <a:latin typeface="Cambria" panose="02040503050406030204"/>
            </a:endParaRPr>
          </a:p>
        </p:txBody>
      </p:sp>
      <p:sp>
        <p:nvSpPr>
          <p:cNvPr id="7" name="Rectangle 6"/>
          <p:cNvSpPr/>
          <p:nvPr/>
        </p:nvSpPr>
        <p:spPr>
          <a:xfrm>
            <a:off x="566928" y="152704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52704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0" name="TextBox 9"/>
          <p:cNvSpPr txBox="1"/>
          <p:nvPr/>
        </p:nvSpPr>
        <p:spPr>
          <a:xfrm>
            <a:off x="841248" y="157276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mkdir lab4 &amp;&amp; cd lab4
# Create app.py, requirements.txt, Dockerfile (see previous slide)</a:t>
            </a:r>
            <a:endParaRPr sz="900" b="0" i="0">
              <a:solidFill>
                <a:srgbClr val="FFFFFF"/>
              </a:solidFill>
              <a:latin typeface="Courier New" panose="02070309020205020404"/>
            </a:endParaRPr>
          </a:p>
        </p:txBody>
      </p:sp>
      <p:sp>
        <p:nvSpPr>
          <p:cNvPr id="11" name="TextBox 10"/>
          <p:cNvSpPr txBox="1"/>
          <p:nvPr/>
        </p:nvSpPr>
        <p:spPr>
          <a:xfrm>
            <a:off x="640080" y="22219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Build and run:</a:t>
            </a:r>
            <a:endParaRPr sz="1600" b="1" i="0">
              <a:solidFill>
                <a:srgbClr val="0F172A"/>
              </a:solidFill>
              <a:latin typeface="Calibri" panose="020F0502020204030204"/>
            </a:endParaRPr>
          </a:p>
        </p:txBody>
      </p:sp>
      <p:sp>
        <p:nvSpPr>
          <p:cNvPr id="12" name="Rectangle 11"/>
          <p:cNvSpPr/>
          <p:nvPr/>
        </p:nvSpPr>
        <p:spPr>
          <a:xfrm>
            <a:off x="566928" y="254203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54203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56946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5" name="TextBox 14"/>
          <p:cNvSpPr txBox="1"/>
          <p:nvPr/>
        </p:nvSpPr>
        <p:spPr>
          <a:xfrm>
            <a:off x="841248" y="258775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 build -t lab4 .
docker run -d -p 5001:5000 --name flask-app lab4</a:t>
            </a:r>
            <a:endParaRPr sz="900" b="0" i="0">
              <a:solidFill>
                <a:srgbClr val="FFFFFF"/>
              </a:solidFill>
              <a:latin typeface="Courier New" panose="02070309020205020404"/>
            </a:endParaRPr>
          </a:p>
        </p:txBody>
      </p:sp>
      <p:sp>
        <p:nvSpPr>
          <p:cNvPr id="16" name="TextBox 15"/>
          <p:cNvSpPr txBox="1"/>
          <p:nvPr/>
        </p:nvSpPr>
        <p:spPr>
          <a:xfrm>
            <a:off x="640080" y="32369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Test the app:</a:t>
            </a:r>
            <a:endParaRPr sz="1600" b="1" i="0">
              <a:solidFill>
                <a:srgbClr val="0F172A"/>
              </a:solidFill>
              <a:latin typeface="Calibri" panose="020F0502020204030204"/>
            </a:endParaRPr>
          </a:p>
        </p:txBody>
      </p:sp>
      <p:sp>
        <p:nvSpPr>
          <p:cNvPr id="17" name="Rectangle 16"/>
          <p:cNvSpPr/>
          <p:nvPr/>
        </p:nvSpPr>
        <p:spPr>
          <a:xfrm>
            <a:off x="566928" y="3557016"/>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3557016"/>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3584448"/>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0" name="TextBox 19"/>
          <p:cNvSpPr txBox="1"/>
          <p:nvPr/>
        </p:nvSpPr>
        <p:spPr>
          <a:xfrm>
            <a:off x="841248" y="3602736"/>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curl http://localhost:5001</a:t>
            </a:r>
            <a:endParaRPr sz="900" b="0" i="0">
              <a:solidFill>
                <a:srgbClr val="FFFFFF"/>
              </a:solidFill>
              <a:latin typeface="Courier New" panose="02070309020205020404"/>
            </a:endParaRPr>
          </a:p>
        </p:txBody>
      </p:sp>
      <p:sp>
        <p:nvSpPr>
          <p:cNvPr id="21" name="TextBox 20"/>
          <p:cNvSpPr txBox="1"/>
          <p:nvPr/>
        </p:nvSpPr>
        <p:spPr>
          <a:xfrm>
            <a:off x="640080" y="40462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22" name="Rectangle 21"/>
          <p:cNvSpPr/>
          <p:nvPr/>
        </p:nvSpPr>
        <p:spPr>
          <a:xfrm>
            <a:off x="566928" y="4366260"/>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4366260"/>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6928" y="4393692"/>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5" name="TextBox 24"/>
          <p:cNvSpPr txBox="1"/>
          <p:nvPr/>
        </p:nvSpPr>
        <p:spPr>
          <a:xfrm>
            <a:off x="841248" y="4411980"/>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stop flask-app &amp;&amp; docker rm flask-app &amp;&amp; cd ..</a:t>
            </a:r>
            <a:endParaRPr sz="900" b="0" i="0">
              <a:solidFill>
                <a:srgbClr val="FFFFFF"/>
              </a:solidFill>
              <a:latin typeface="Courier New" panose="02070309020205020404"/>
            </a:endParaRPr>
          </a:p>
        </p:txBody>
      </p:sp>
      <p:sp>
        <p:nvSpPr>
          <p:cNvPr id="26" name="TextBox 25"/>
          <p:cNvSpPr txBox="1"/>
          <p:nvPr/>
        </p:nvSpPr>
        <p:spPr>
          <a:xfrm>
            <a:off x="640080" y="505663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Key concept: EXPOSE 5000 documents the port. -p 5001:5000 maps host -&gt; container.</a:t>
            </a:r>
            <a:endParaRPr sz="1400" b="0" i="1">
              <a:solidFill>
                <a:srgbClr val="2496ED"/>
              </a:solidFill>
              <a:latin typeface="Calibri" panose="020F0502020204030204"/>
            </a:endParaRPr>
          </a:p>
        </p:txBody>
      </p:sp>
      <p:sp>
        <p:nvSpPr>
          <p:cNvPr id="27" name="TextBox 2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https://killercoda.com/tertiary-labs/course/killercoda/day1-01-docker-fundamentals</a:t>
            </a:r>
            <a:endParaRPr sz="1100" b="0" i="1">
              <a:solidFill>
                <a:srgbClr val="2496ED"/>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29</a:t>
            </a:r>
            <a:endParaRPr sz="900" b="0" i="0">
              <a:solidFill>
                <a:srgbClr val="718596"/>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4</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Docker Storage</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 5 — Named volumes and bind mounts</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Why volumes?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Named volumes</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Bind mounts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5a: Named volume</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5b: Bind mount</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30</a:t>
            </a:r>
            <a:endParaRPr sz="900" b="0" i="0">
              <a:solidFill>
                <a:srgbClr val="718596"/>
              </a:solidFill>
              <a:latin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Why Do We Need Volumes?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By default, all data written inside a container lives in its writable layer. When the container is removed, that data is gone.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Docker provides two persistence mechanisms   (docs.docker.com/engine/storage):</a:t>
            </a:r>
            <a:endParaRPr sz="1600" b="1" i="0">
              <a:solidFill>
                <a:srgbClr val="0F172A"/>
              </a:solidFill>
              <a:latin typeface="Calibri" panose="020F0502020204030204"/>
            </a:endParaRPr>
          </a:p>
        </p:txBody>
      </p:sp>
      <p:sp>
        <p:nvSpPr>
          <p:cNvPr id="9" name="TextBox 8"/>
          <p:cNvSpPr txBox="1"/>
          <p:nvPr/>
        </p:nvSpPr>
        <p:spPr>
          <a:xfrm>
            <a:off x="640080" y="2505456"/>
            <a:ext cx="10972800" cy="583565"/>
          </a:xfrm>
          <a:prstGeom prst="rect">
            <a:avLst/>
          </a:prstGeom>
          <a:noFill/>
        </p:spPr>
        <p:txBody>
          <a:bodyPr wrap="square">
            <a:spAutoFit/>
          </a:bodyPr>
          <a:lstStyle/>
          <a:p>
            <a:pPr algn="l">
              <a:buNone/>
            </a:pPr>
            <a:r>
              <a:rPr sz="1600" b="0" i="0">
                <a:solidFill>
                  <a:srgbClr val="0F172A"/>
                </a:solidFill>
                <a:latin typeface="Calibri" panose="020F0502020204030204"/>
              </a:rPr>
              <a:t>  Named Volumes  — persistent data stores completely managed by Docker; isolated from the host filesystem; easier to back up </a:t>
            </a:r>
            <a:r>
              <a:rPr lang="en-SG" sz="1600" b="0" i="0">
                <a:solidFill>
                  <a:srgbClr val="0F172A"/>
                </a:solidFill>
                <a:latin typeface="Calibri" panose="020F0502020204030204"/>
              </a:rPr>
              <a:t>  </a:t>
            </a:r>
            <a:endParaRPr lang="en-SG" sz="1600" b="0" i="0">
              <a:solidFill>
                <a:srgbClr val="0F172A"/>
              </a:solidFill>
              <a:latin typeface="Calibri" panose="020F0502020204030204"/>
            </a:endParaRPr>
          </a:p>
          <a:p>
            <a:pPr algn="l">
              <a:buNone/>
            </a:pPr>
            <a:r>
              <a:rPr lang="en-SG" sz="1600" b="0" i="0">
                <a:solidFill>
                  <a:srgbClr val="0F172A"/>
                </a:solidFill>
                <a:latin typeface="Calibri" panose="020F0502020204030204"/>
              </a:rPr>
              <a:t>  </a:t>
            </a:r>
            <a:r>
              <a:rPr sz="1600" b="0" i="0">
                <a:solidFill>
                  <a:srgbClr val="0F172A"/>
                </a:solidFill>
                <a:latin typeface="Calibri" panose="020F0502020204030204"/>
              </a:rPr>
              <a:t>and migrate</a:t>
            </a:r>
            <a:endParaRPr sz="1600" b="0" i="0">
              <a:solidFill>
                <a:srgbClr val="0F172A"/>
              </a:solidFill>
              <a:latin typeface="Calibri" panose="020F0502020204030204"/>
            </a:endParaRPr>
          </a:p>
        </p:txBody>
      </p:sp>
      <p:sp>
        <p:nvSpPr>
          <p:cNvPr id="10" name="TextBox 9"/>
          <p:cNvSpPr txBox="1"/>
          <p:nvPr/>
        </p:nvSpPr>
        <p:spPr>
          <a:xfrm>
            <a:off x="563880" y="29728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Bind Mounts    — you specify the exact host path; instant two-way file sync; dependent on the host's directory structure and OS</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When to use each:</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Volumes:      databases, persistent app data, production workloads</a:t>
            </a:r>
            <a:endParaRPr sz="1600" b="0"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Bind mounts:  live code sync and hot-reload during development</a:t>
            </a:r>
            <a:endParaRPr sz="1600" b="0" i="0">
              <a:solidFill>
                <a:srgbClr val="0F172A"/>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31</a:t>
            </a:r>
            <a:endParaRPr sz="900" b="0" i="0">
              <a:solidFill>
                <a:srgbClr val="718596"/>
              </a:solidFill>
              <a:latin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5a</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Named Volumes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https://killercoda.com/tertiary-labs/course/killercoda/day1-02-docker-storage</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32</a:t>
            </a:r>
            <a:endParaRPr sz="900" b="0" i="0">
              <a:solidFill>
                <a:srgbClr val="718596"/>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5a — DOCKER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Named Volumes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and inspect a volume:</a:t>
            </a:r>
            <a:endParaRPr sz="1600" b="1" i="0">
              <a:solidFill>
                <a:srgbClr val="0F172A"/>
              </a:solidFill>
              <a:latin typeface="Calibri" panose="020F0502020204030204"/>
            </a:endParaRPr>
          </a:p>
        </p:txBody>
      </p:sp>
      <p:sp>
        <p:nvSpPr>
          <p:cNvPr id="8" name="Rectangle 7"/>
          <p:cNvSpPr/>
          <p:nvPr/>
        </p:nvSpPr>
        <p:spPr>
          <a:xfrm>
            <a:off x="566928" y="1892808"/>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volume create my-data
docker volume ls
docker volume inspect my-data</a:t>
            </a:r>
            <a:endParaRPr sz="900" b="0" i="0">
              <a:solidFill>
                <a:srgbClr val="FFFFFF"/>
              </a:solidFill>
              <a:latin typeface="Courier New" panose="02070309020205020404"/>
            </a:endParaRPr>
          </a:p>
        </p:txBody>
      </p:sp>
      <p:sp>
        <p:nvSpPr>
          <p:cNvPr id="12" name="TextBox 11"/>
          <p:cNvSpPr txBox="1"/>
          <p:nvPr/>
        </p:nvSpPr>
        <p:spPr>
          <a:xfrm>
            <a:off x="640080" y="27934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Write data with container app1:</a:t>
            </a:r>
            <a:endParaRPr sz="1600" b="1" i="0">
              <a:solidFill>
                <a:srgbClr val="0F172A"/>
              </a:solidFill>
              <a:latin typeface="Calibri" panose="020F0502020204030204"/>
            </a:endParaRPr>
          </a:p>
        </p:txBody>
      </p:sp>
      <p:sp>
        <p:nvSpPr>
          <p:cNvPr id="13" name="Rectangle 12"/>
          <p:cNvSpPr/>
          <p:nvPr/>
        </p:nvSpPr>
        <p:spPr>
          <a:xfrm>
            <a:off x="566928" y="3113532"/>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113532"/>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140964"/>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159252"/>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run -d --name app1 -v my-data:/data alpine sleep 3600
docker exec app1 sh -c "echo 'hello from app1' &gt; /data/test.txt"
docker exec app1 cat /data/test.txt</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Remove app1 then read data with app2 (volume persists!):</a:t>
            </a:r>
            <a:endParaRPr sz="1600" b="1" i="0">
              <a:solidFill>
                <a:srgbClr val="0F172A"/>
              </a:solidFill>
              <a:latin typeface="Calibri" panose="020F0502020204030204"/>
            </a:endParaRPr>
          </a:p>
        </p:txBody>
      </p:sp>
      <p:sp>
        <p:nvSpPr>
          <p:cNvPr id="18" name="Rectangle 17"/>
          <p:cNvSpPr/>
          <p:nvPr/>
        </p:nvSpPr>
        <p:spPr>
          <a:xfrm>
            <a:off x="566928" y="433425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stop app1 &amp;&amp; docker rm app1
docker run -d --name app2 -v my-data:/data alpine sleep 3600
docker exec app2 cat /data/test.txt</a:t>
            </a:r>
            <a:endParaRPr sz="900" b="0" i="0">
              <a:solidFill>
                <a:srgbClr val="FFFFFF"/>
              </a:solidFill>
              <a:latin typeface="Courier New" panose="02070309020205020404"/>
            </a:endParaRPr>
          </a:p>
        </p:txBody>
      </p:sp>
      <p:sp>
        <p:nvSpPr>
          <p:cNvPr id="22" name="TextBox 21"/>
          <p:cNvSpPr txBox="1"/>
          <p:nvPr/>
        </p:nvSpPr>
        <p:spPr>
          <a:xfrm>
            <a:off x="640080" y="523494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https://killercoda.com/tertiary-labs/course/killercoda/day1-02-docker-storage</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33</a:t>
            </a:r>
            <a:endParaRPr sz="900" b="0" i="0">
              <a:solidFill>
                <a:srgbClr val="718596"/>
              </a:solidFill>
              <a:latin typeface="Calibri" panose="020F050202020403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STORAGE — SUMMARY</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Named Volumes vs Bind Mounts</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82168"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Named Volume</a:t>
            </a:r>
            <a:endParaRPr sz="1800" b="1" i="0">
              <a:solidFill>
                <a:srgbClr val="0F172A"/>
              </a:solidFill>
              <a:latin typeface="Cambria" panose="02040503050406030204"/>
            </a:endParaRPr>
          </a:p>
        </p:txBody>
      </p:sp>
      <p:sp>
        <p:nvSpPr>
          <p:cNvPr id="9" name="TextBox 8"/>
          <p:cNvSpPr txBox="1"/>
          <p:nvPr/>
        </p:nvSpPr>
        <p:spPr>
          <a:xfrm>
            <a:off x="582168"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Managed by Docker</a:t>
            </a:r>
            <a:endParaRPr sz="1600" b="0" i="0">
              <a:solidFill>
                <a:srgbClr val="0F172A"/>
              </a:solidFill>
              <a:latin typeface="Calibri" panose="020F0502020204030204"/>
            </a:endParaRPr>
          </a:p>
        </p:txBody>
      </p:sp>
      <p:sp>
        <p:nvSpPr>
          <p:cNvPr id="10" name="TextBox 9"/>
          <p:cNvSpPr txBox="1"/>
          <p:nvPr/>
        </p:nvSpPr>
        <p:spPr>
          <a:xfrm>
            <a:off x="582168"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Stored in /var/lib/docker/volumes</a:t>
            </a:r>
            <a:endParaRPr sz="1600" b="0" i="0">
              <a:solidFill>
                <a:srgbClr val="0F172A"/>
              </a:solidFill>
              <a:latin typeface="Calibri" panose="020F0502020204030204"/>
            </a:endParaRPr>
          </a:p>
        </p:txBody>
      </p:sp>
      <p:sp>
        <p:nvSpPr>
          <p:cNvPr id="11" name="TextBox 10"/>
          <p:cNvSpPr txBox="1"/>
          <p:nvPr/>
        </p:nvSpPr>
        <p:spPr>
          <a:xfrm>
            <a:off x="582168"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Portable across hosts (with plugins)</a:t>
            </a:r>
            <a:endParaRPr sz="1600" b="0" i="0">
              <a:solidFill>
                <a:srgbClr val="0F172A"/>
              </a:solidFill>
              <a:latin typeface="Calibri" panose="020F0502020204030204"/>
            </a:endParaRPr>
          </a:p>
        </p:txBody>
      </p:sp>
      <p:sp>
        <p:nvSpPr>
          <p:cNvPr id="12" name="TextBox 11"/>
          <p:cNvSpPr txBox="1"/>
          <p:nvPr/>
        </p:nvSpPr>
        <p:spPr>
          <a:xfrm>
            <a:off x="582168"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Best for: production data, databases</a:t>
            </a:r>
            <a:endParaRPr sz="1600" b="0" i="0">
              <a:solidFill>
                <a:srgbClr val="0F172A"/>
              </a:solidFill>
              <a:latin typeface="Calibri" panose="020F0502020204030204"/>
            </a:endParaRPr>
          </a:p>
        </p:txBody>
      </p:sp>
      <p:sp>
        <p:nvSpPr>
          <p:cNvPr id="13" name="Rectangle 12"/>
          <p:cNvSpPr/>
          <p:nvPr/>
        </p:nvSpPr>
        <p:spPr>
          <a:xfrm>
            <a:off x="128016" y="3630168"/>
            <a:ext cx="544982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82168" y="3675888"/>
            <a:ext cx="5303520" cy="352044"/>
          </a:xfrm>
          <a:prstGeom prst="rect">
            <a:avLst/>
          </a:prstGeom>
          <a:noFill/>
        </p:spPr>
        <p:txBody>
          <a:bodyPr wrap="square">
            <a:spAutoFit/>
          </a:bodyPr>
          <a:lstStyle/>
          <a:p>
            <a:pPr algn="l">
              <a:buNone/>
            </a:pPr>
            <a:r>
              <a:rPr sz="900" b="0" i="0">
                <a:solidFill>
                  <a:srgbClr val="0F172A"/>
                </a:solidFill>
                <a:latin typeface="Courier New" panose="02070309020205020404"/>
              </a:rPr>
              <a:t>-v my-vol:/app/data</a:t>
            </a:r>
            <a:endParaRPr sz="900" b="0" i="0">
              <a:solidFill>
                <a:srgbClr val="0F172A"/>
              </a:solidFill>
              <a:latin typeface="Courier New" panose="02070309020205020404"/>
            </a:endParaRPr>
          </a:p>
        </p:txBody>
      </p:sp>
      <p:sp>
        <p:nvSpPr>
          <p:cNvPr id="15" name="TextBox 14"/>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Bind Mount</a:t>
            </a:r>
            <a:endParaRPr sz="1800" b="1" i="0">
              <a:solidFill>
                <a:srgbClr val="0F172A"/>
              </a:solidFill>
              <a:latin typeface="Cambria" panose="02040503050406030204"/>
            </a:endParaRPr>
          </a:p>
        </p:txBody>
      </p:sp>
      <p:sp>
        <p:nvSpPr>
          <p:cNvPr id="16" name="TextBox 15"/>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You specify the exact host path</a:t>
            </a:r>
            <a:endParaRPr sz="1600" b="0" i="0">
              <a:solidFill>
                <a:srgbClr val="0F172A"/>
              </a:solidFill>
              <a:latin typeface="Calibri" panose="020F0502020204030204"/>
            </a:endParaRPr>
          </a:p>
        </p:txBody>
      </p:sp>
      <p:sp>
        <p:nvSpPr>
          <p:cNvPr id="17" name="TextBox 16"/>
          <p:cNvSpPr txBox="1"/>
          <p:nvPr/>
        </p:nvSpPr>
        <p:spPr>
          <a:xfrm>
            <a:off x="6309360"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Host filesystem is the source</a:t>
            </a:r>
            <a:endParaRPr sz="1600" b="0" i="0">
              <a:solidFill>
                <a:srgbClr val="0F172A"/>
              </a:solidFill>
              <a:latin typeface="Calibri" panose="020F0502020204030204"/>
            </a:endParaRPr>
          </a:p>
        </p:txBody>
      </p:sp>
      <p:sp>
        <p:nvSpPr>
          <p:cNvPr id="18" name="TextBox 17"/>
          <p:cNvSpPr txBox="1"/>
          <p:nvPr/>
        </p:nvSpPr>
        <p:spPr>
          <a:xfrm>
            <a:off x="6309360"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Instant two-way file sync</a:t>
            </a:r>
            <a:endParaRPr sz="1600" b="0" i="0">
              <a:solidFill>
                <a:srgbClr val="0F172A"/>
              </a:solidFill>
              <a:latin typeface="Calibri" panose="020F0502020204030204"/>
            </a:endParaRPr>
          </a:p>
        </p:txBody>
      </p:sp>
      <p:sp>
        <p:nvSpPr>
          <p:cNvPr id="19" name="TextBox 18"/>
          <p:cNvSpPr txBox="1"/>
          <p:nvPr/>
        </p:nvSpPr>
        <p:spPr>
          <a:xfrm>
            <a:off x="6309360"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Best for: dev, live code reload</a:t>
            </a:r>
            <a:endParaRPr sz="1600" b="0" i="0">
              <a:solidFill>
                <a:srgbClr val="0F172A"/>
              </a:solidFill>
              <a:latin typeface="Calibri" panose="020F0502020204030204"/>
            </a:endParaRPr>
          </a:p>
        </p:txBody>
      </p:sp>
      <p:sp>
        <p:nvSpPr>
          <p:cNvPr id="20" name="Rectangle 19"/>
          <p:cNvSpPr/>
          <p:nvPr/>
        </p:nvSpPr>
        <p:spPr>
          <a:xfrm>
            <a:off x="6236208" y="3630168"/>
            <a:ext cx="544982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3675888"/>
            <a:ext cx="5303520" cy="352044"/>
          </a:xfrm>
          <a:prstGeom prst="rect">
            <a:avLst/>
          </a:prstGeom>
          <a:noFill/>
        </p:spPr>
        <p:txBody>
          <a:bodyPr wrap="square">
            <a:spAutoFit/>
          </a:bodyPr>
          <a:lstStyle/>
          <a:p>
            <a:pPr algn="l">
              <a:buNone/>
            </a:pPr>
            <a:r>
              <a:rPr sz="900" b="0" i="0">
                <a:solidFill>
                  <a:srgbClr val="0F172A"/>
                </a:solidFill>
                <a:latin typeface="Courier New" panose="02070309020205020404"/>
              </a:rPr>
              <a:t>-v $(pwd)/src:/app/src</a:t>
            </a:r>
            <a:endParaRPr sz="900" b="0" i="0">
              <a:solidFill>
                <a:srgbClr val="0F172A"/>
              </a:solidFill>
              <a:latin typeface="Courier New" panose="020703090202050204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34</a:t>
            </a:r>
            <a:endParaRPr sz="900" b="0" i="0">
              <a:solidFill>
                <a:srgbClr val="718596"/>
              </a:solidFill>
              <a:latin typeface="Calibri" panose="020F050202020403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Named Volume vs Bind Mount — Visual</a:t>
            </a:r>
            <a:endParaRPr sz="2600" b="1" i="0">
              <a:solidFill>
                <a:srgbClr val="FFFFFF"/>
              </a:solidFill>
              <a:latin typeface="Cambria" panose="02040503050406030204"/>
            </a:endParaRPr>
          </a:p>
        </p:txBody>
      </p:sp>
      <p:sp>
        <p:nvSpPr>
          <p:cNvPr id="7" name="TextBox 6"/>
          <p:cNvSpPr txBox="1"/>
          <p:nvPr/>
        </p:nvSpPr>
        <p:spPr>
          <a:xfrm>
            <a:off x="594360" y="1737360"/>
            <a:ext cx="5394960" cy="347472"/>
          </a:xfrm>
          <a:prstGeom prst="rect">
            <a:avLst/>
          </a:prstGeom>
          <a:noFill/>
        </p:spPr>
        <p:txBody>
          <a:bodyPr wrap="square">
            <a:spAutoFit/>
          </a:bodyPr>
          <a:lstStyle/>
          <a:p>
            <a:pPr algn="ctr">
              <a:buNone/>
            </a:pPr>
            <a:r>
              <a:rPr sz="1600" b="1" i="0">
                <a:solidFill>
                  <a:srgbClr val="0F172A"/>
                </a:solidFill>
                <a:latin typeface="Cambria" panose="02040503050406030204"/>
              </a:rPr>
              <a:t>Named Volume</a:t>
            </a:r>
            <a:endParaRPr sz="1600" b="1" i="0">
              <a:solidFill>
                <a:srgbClr val="0F172A"/>
              </a:solidFill>
              <a:latin typeface="Cambria" panose="02040503050406030204"/>
            </a:endParaRPr>
          </a:p>
        </p:txBody>
      </p:sp>
      <p:sp>
        <p:nvSpPr>
          <p:cNvPr id="8" name="Rectangle 7"/>
          <p:cNvSpPr/>
          <p:nvPr/>
        </p:nvSpPr>
        <p:spPr>
          <a:xfrm>
            <a:off x="594360" y="2176272"/>
            <a:ext cx="5394960" cy="9144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2221992"/>
            <a:ext cx="5303520" cy="329184"/>
          </a:xfrm>
          <a:prstGeom prst="rect">
            <a:avLst/>
          </a:prstGeom>
          <a:noFill/>
        </p:spPr>
        <p:txBody>
          <a:bodyPr wrap="square">
            <a:spAutoFit/>
          </a:bodyPr>
          <a:lstStyle/>
          <a:p>
            <a:pPr algn="ctr">
              <a:buNone/>
            </a:pPr>
            <a:r>
              <a:rPr sz="1200" b="1" i="0">
                <a:solidFill>
                  <a:srgbClr val="FFFFFF"/>
                </a:solidFill>
                <a:latin typeface="Calibri" panose="020F0502020204030204"/>
              </a:rPr>
              <a:t>Docker Engine</a:t>
            </a:r>
            <a:endParaRPr sz="1200" b="1" i="0">
              <a:solidFill>
                <a:srgbClr val="FFFFFF"/>
              </a:solidFill>
              <a:latin typeface="Calibri" panose="020F0502020204030204"/>
            </a:endParaRPr>
          </a:p>
        </p:txBody>
      </p:sp>
      <p:sp>
        <p:nvSpPr>
          <p:cNvPr id="10" name="TextBox 9"/>
          <p:cNvSpPr txBox="1"/>
          <p:nvPr/>
        </p:nvSpPr>
        <p:spPr>
          <a:xfrm>
            <a:off x="640080" y="2560320"/>
            <a:ext cx="5303520" cy="329184"/>
          </a:xfrm>
          <a:prstGeom prst="rect">
            <a:avLst/>
          </a:prstGeom>
          <a:noFill/>
        </p:spPr>
        <p:txBody>
          <a:bodyPr wrap="square">
            <a:spAutoFit/>
          </a:bodyPr>
          <a:lstStyle/>
          <a:p>
            <a:pPr algn="ctr">
              <a:buNone/>
            </a:pPr>
            <a:r>
              <a:rPr sz="900" b="0" i="0">
                <a:solidFill>
                  <a:srgbClr val="94A3B8"/>
                </a:solidFill>
                <a:latin typeface="Courier New" panose="02070309020205020404"/>
              </a:rPr>
              <a:t>/var/lib/docker/volumes/my-vol</a:t>
            </a:r>
            <a:endParaRPr sz="900" b="0" i="0">
              <a:solidFill>
                <a:srgbClr val="94A3B8"/>
              </a:solidFill>
              <a:latin typeface="Courier New" panose="02070309020205020404"/>
            </a:endParaRPr>
          </a:p>
        </p:txBody>
      </p:sp>
      <p:sp>
        <p:nvSpPr>
          <p:cNvPr id="11" name="TextBox 10"/>
          <p:cNvSpPr txBox="1"/>
          <p:nvPr/>
        </p:nvSpPr>
        <p:spPr>
          <a:xfrm>
            <a:off x="914400" y="3154680"/>
            <a:ext cx="4572000" cy="329184"/>
          </a:xfrm>
          <a:prstGeom prst="rect">
            <a:avLst/>
          </a:prstGeom>
          <a:noFill/>
        </p:spPr>
        <p:txBody>
          <a:bodyPr wrap="square">
            <a:spAutoFit/>
          </a:bodyPr>
          <a:lstStyle/>
          <a:p>
            <a:pPr algn="ctr">
              <a:buNone/>
            </a:pPr>
            <a:r>
              <a:rPr sz="1200" b="0" i="0">
                <a:solidFill>
                  <a:srgbClr val="2496ED"/>
                </a:solidFill>
                <a:latin typeface="Calibri" panose="020F0502020204030204"/>
              </a:rPr>
              <a:t>↕  mount    -v my-vol:/data</a:t>
            </a:r>
            <a:endParaRPr sz="1200" b="0" i="0">
              <a:solidFill>
                <a:srgbClr val="2496ED"/>
              </a:solidFill>
              <a:latin typeface="Calibri" panose="020F0502020204030204"/>
            </a:endParaRPr>
          </a:p>
        </p:txBody>
      </p:sp>
      <p:sp>
        <p:nvSpPr>
          <p:cNvPr id="12" name="Rectangle 11"/>
          <p:cNvSpPr/>
          <p:nvPr/>
        </p:nvSpPr>
        <p:spPr>
          <a:xfrm>
            <a:off x="594360" y="3566160"/>
            <a:ext cx="539496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840480"/>
            <a:ext cx="5303520" cy="292608"/>
          </a:xfrm>
          <a:prstGeom prst="rect">
            <a:avLst/>
          </a:prstGeom>
          <a:noFill/>
        </p:spPr>
        <p:txBody>
          <a:bodyPr wrap="square">
            <a:spAutoFit/>
          </a:bodyPr>
          <a:lstStyle/>
          <a:p>
            <a:pPr algn="ctr">
              <a:buNone/>
            </a:pPr>
            <a:r>
              <a:rPr sz="1200" b="1" i="0">
                <a:solidFill>
                  <a:srgbClr val="FFFFFF"/>
                </a:solidFill>
                <a:latin typeface="Calibri" panose="020F0502020204030204"/>
              </a:rPr>
              <a:t>Container  —  reads/writes /data</a:t>
            </a:r>
            <a:endParaRPr sz="1200" b="1" i="0">
              <a:solidFill>
                <a:srgbClr val="FFFFFF"/>
              </a:solidFill>
              <a:latin typeface="Calibri" panose="020F0502020204030204"/>
            </a:endParaRPr>
          </a:p>
        </p:txBody>
      </p:sp>
      <p:sp>
        <p:nvSpPr>
          <p:cNvPr id="14" name="TextBox 13"/>
          <p:cNvSpPr txBox="1"/>
          <p:nvPr/>
        </p:nvSpPr>
        <p:spPr>
          <a:xfrm>
            <a:off x="640080" y="4498848"/>
            <a:ext cx="5303520" cy="292608"/>
          </a:xfrm>
          <a:prstGeom prst="rect">
            <a:avLst/>
          </a:prstGeom>
          <a:noFill/>
        </p:spPr>
        <p:txBody>
          <a:bodyPr wrap="square">
            <a:spAutoFit/>
          </a:bodyPr>
          <a:lstStyle/>
          <a:p>
            <a:pPr algn="l">
              <a:buNone/>
            </a:pPr>
            <a:r>
              <a:rPr sz="1100" b="0" i="1">
                <a:solidFill>
                  <a:srgbClr val="64748B"/>
                </a:solidFill>
                <a:latin typeface="Calibri" panose="020F0502020204030204"/>
              </a:rPr>
              <a:t>Data persists after docker rm</a:t>
            </a:r>
            <a:endParaRPr sz="1100" b="0" i="1">
              <a:solidFill>
                <a:srgbClr val="64748B"/>
              </a:solidFill>
              <a:latin typeface="Calibri" panose="020F0502020204030204"/>
            </a:endParaRPr>
          </a:p>
        </p:txBody>
      </p:sp>
      <p:sp>
        <p:nvSpPr>
          <p:cNvPr id="15" name="TextBox 14"/>
          <p:cNvSpPr txBox="1"/>
          <p:nvPr/>
        </p:nvSpPr>
        <p:spPr>
          <a:xfrm>
            <a:off x="640080" y="4809744"/>
            <a:ext cx="5303520" cy="292608"/>
          </a:xfrm>
          <a:prstGeom prst="rect">
            <a:avLst/>
          </a:prstGeom>
          <a:noFill/>
        </p:spPr>
        <p:txBody>
          <a:bodyPr wrap="square">
            <a:spAutoFit/>
          </a:bodyPr>
          <a:lstStyle/>
          <a:p>
            <a:pPr algn="l">
              <a:buNone/>
            </a:pPr>
            <a:r>
              <a:rPr sz="1100" b="0" i="0">
                <a:solidFill>
                  <a:srgbClr val="0F172A"/>
                </a:solidFill>
                <a:latin typeface="Calibri" panose="020F0502020204030204"/>
              </a:rPr>
              <a:t>Best for: databases, persistent app data</a:t>
            </a:r>
            <a:endParaRPr sz="1100" b="0" i="0">
              <a:solidFill>
                <a:srgbClr val="0F172A"/>
              </a:solidFill>
              <a:latin typeface="Calibri" panose="020F0502020204030204"/>
            </a:endParaRPr>
          </a:p>
        </p:txBody>
      </p:sp>
      <p:sp>
        <p:nvSpPr>
          <p:cNvPr id="16" name="Rectangle 15"/>
          <p:cNvSpPr/>
          <p:nvPr/>
        </p:nvSpPr>
        <p:spPr>
          <a:xfrm>
            <a:off x="6035040" y="1737360"/>
            <a:ext cx="36576" cy="34747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05856" y="3246120"/>
            <a:ext cx="694944" cy="384048"/>
          </a:xfrm>
          <a:prstGeom prst="rect">
            <a:avLst/>
          </a:prstGeom>
          <a:noFill/>
        </p:spPr>
        <p:txBody>
          <a:bodyPr wrap="square">
            <a:spAutoFit/>
          </a:bodyPr>
          <a:lstStyle/>
          <a:p>
            <a:pPr algn="ctr">
              <a:buNone/>
            </a:pPr>
            <a:r>
              <a:rPr sz="1800" b="1" i="0">
                <a:solidFill>
                  <a:srgbClr val="2496ED"/>
                </a:solidFill>
                <a:latin typeface="Cambria" panose="02040503050406030204"/>
              </a:rPr>
              <a:t>vs</a:t>
            </a:r>
            <a:endParaRPr sz="1800" b="1" i="0">
              <a:solidFill>
                <a:srgbClr val="2496ED"/>
              </a:solidFill>
              <a:latin typeface="Cambria" panose="02040503050406030204"/>
            </a:endParaRPr>
          </a:p>
        </p:txBody>
      </p:sp>
      <p:sp>
        <p:nvSpPr>
          <p:cNvPr id="18" name="TextBox 17"/>
          <p:cNvSpPr txBox="1"/>
          <p:nvPr/>
        </p:nvSpPr>
        <p:spPr>
          <a:xfrm>
            <a:off x="6263640" y="1737360"/>
            <a:ext cx="5394960" cy="347472"/>
          </a:xfrm>
          <a:prstGeom prst="rect">
            <a:avLst/>
          </a:prstGeom>
          <a:noFill/>
        </p:spPr>
        <p:txBody>
          <a:bodyPr wrap="square">
            <a:spAutoFit/>
          </a:bodyPr>
          <a:lstStyle/>
          <a:p>
            <a:pPr algn="ctr">
              <a:buNone/>
            </a:pPr>
            <a:r>
              <a:rPr sz="1600" b="1" i="0">
                <a:solidFill>
                  <a:srgbClr val="0F172A"/>
                </a:solidFill>
                <a:latin typeface="Cambria" panose="02040503050406030204"/>
              </a:rPr>
              <a:t>Bind Mount</a:t>
            </a:r>
            <a:endParaRPr sz="1600" b="1" i="0">
              <a:solidFill>
                <a:srgbClr val="0F172A"/>
              </a:solidFill>
              <a:latin typeface="Cambria" panose="02040503050406030204"/>
            </a:endParaRPr>
          </a:p>
        </p:txBody>
      </p:sp>
      <p:sp>
        <p:nvSpPr>
          <p:cNvPr id="19" name="Rectangle 18"/>
          <p:cNvSpPr/>
          <p:nvPr/>
        </p:nvSpPr>
        <p:spPr>
          <a:xfrm>
            <a:off x="6263640" y="2176272"/>
            <a:ext cx="5394960" cy="914400"/>
          </a:xfrm>
          <a:prstGeom prst="rect">
            <a:avLst/>
          </a:prstGeom>
          <a:solidFill>
            <a:srgbClr val="3D3C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09360" y="2221992"/>
            <a:ext cx="5303520" cy="329184"/>
          </a:xfrm>
          <a:prstGeom prst="rect">
            <a:avLst/>
          </a:prstGeom>
          <a:noFill/>
        </p:spPr>
        <p:txBody>
          <a:bodyPr wrap="square">
            <a:spAutoFit/>
          </a:bodyPr>
          <a:lstStyle/>
          <a:p>
            <a:pPr algn="ctr">
              <a:buNone/>
            </a:pPr>
            <a:r>
              <a:rPr sz="1200" b="1" i="0">
                <a:solidFill>
                  <a:srgbClr val="FFFFFF"/>
                </a:solidFill>
                <a:latin typeface="Calibri" panose="020F0502020204030204"/>
              </a:rPr>
              <a:t>Host OS</a:t>
            </a:r>
            <a:endParaRPr sz="1200" b="1" i="0">
              <a:solidFill>
                <a:srgbClr val="FFFFFF"/>
              </a:solidFill>
              <a:latin typeface="Calibri" panose="020F0502020204030204"/>
            </a:endParaRPr>
          </a:p>
        </p:txBody>
      </p:sp>
      <p:sp>
        <p:nvSpPr>
          <p:cNvPr id="21" name="TextBox 20"/>
          <p:cNvSpPr txBox="1"/>
          <p:nvPr/>
        </p:nvSpPr>
        <p:spPr>
          <a:xfrm>
            <a:off x="6309360" y="2560320"/>
            <a:ext cx="5303520" cy="329184"/>
          </a:xfrm>
          <a:prstGeom prst="rect">
            <a:avLst/>
          </a:prstGeom>
          <a:noFill/>
        </p:spPr>
        <p:txBody>
          <a:bodyPr wrap="square">
            <a:spAutoFit/>
          </a:bodyPr>
          <a:lstStyle/>
          <a:p>
            <a:pPr algn="ctr">
              <a:buNone/>
            </a:pPr>
            <a:r>
              <a:rPr sz="900" b="0" i="0">
                <a:solidFill>
                  <a:srgbClr val="94A3B8"/>
                </a:solidFill>
                <a:latin typeface="Courier New" panose="02070309020205020404"/>
              </a:rPr>
              <a:t>$(pwd)/src  — you control this path</a:t>
            </a:r>
            <a:endParaRPr sz="900" b="0" i="0">
              <a:solidFill>
                <a:srgbClr val="94A3B8"/>
              </a:solidFill>
              <a:latin typeface="Courier New" panose="02070309020205020404"/>
            </a:endParaRPr>
          </a:p>
        </p:txBody>
      </p:sp>
      <p:sp>
        <p:nvSpPr>
          <p:cNvPr id="22" name="TextBox 21"/>
          <p:cNvSpPr txBox="1"/>
          <p:nvPr/>
        </p:nvSpPr>
        <p:spPr>
          <a:xfrm>
            <a:off x="6309360" y="3154680"/>
            <a:ext cx="5212080" cy="329184"/>
          </a:xfrm>
          <a:prstGeom prst="rect">
            <a:avLst/>
          </a:prstGeom>
          <a:noFill/>
        </p:spPr>
        <p:txBody>
          <a:bodyPr wrap="square">
            <a:spAutoFit/>
          </a:bodyPr>
          <a:lstStyle/>
          <a:p>
            <a:pPr algn="ctr">
              <a:buNone/>
            </a:pPr>
            <a:r>
              <a:rPr sz="1200" b="0" i="0">
                <a:solidFill>
                  <a:srgbClr val="2496ED"/>
                </a:solidFill>
                <a:latin typeface="Calibri" panose="020F0502020204030204"/>
              </a:rPr>
              <a:t>↕  instant sync    -v $(pwd)/src:/app/src</a:t>
            </a:r>
            <a:endParaRPr sz="1200" b="0" i="0">
              <a:solidFill>
                <a:srgbClr val="2496ED"/>
              </a:solidFill>
              <a:latin typeface="Calibri" panose="020F0502020204030204"/>
            </a:endParaRPr>
          </a:p>
        </p:txBody>
      </p:sp>
      <p:sp>
        <p:nvSpPr>
          <p:cNvPr id="23" name="Rectangle 22"/>
          <p:cNvSpPr/>
          <p:nvPr/>
        </p:nvSpPr>
        <p:spPr>
          <a:xfrm>
            <a:off x="6263640" y="3566160"/>
            <a:ext cx="539496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09360" y="3840480"/>
            <a:ext cx="5303520" cy="292608"/>
          </a:xfrm>
          <a:prstGeom prst="rect">
            <a:avLst/>
          </a:prstGeom>
          <a:noFill/>
        </p:spPr>
        <p:txBody>
          <a:bodyPr wrap="square">
            <a:spAutoFit/>
          </a:bodyPr>
          <a:lstStyle/>
          <a:p>
            <a:pPr algn="ctr">
              <a:buNone/>
            </a:pPr>
            <a:r>
              <a:rPr sz="1200" b="1" i="0">
                <a:solidFill>
                  <a:srgbClr val="FFFFFF"/>
                </a:solidFill>
                <a:latin typeface="Calibri" panose="020F0502020204030204"/>
              </a:rPr>
              <a:t>Container  —  reads/writes /app/src</a:t>
            </a:r>
            <a:endParaRPr sz="1200" b="1" i="0">
              <a:solidFill>
                <a:srgbClr val="FFFFFF"/>
              </a:solidFill>
              <a:latin typeface="Calibri" panose="020F0502020204030204"/>
            </a:endParaRPr>
          </a:p>
        </p:txBody>
      </p:sp>
      <p:sp>
        <p:nvSpPr>
          <p:cNvPr id="25" name="TextBox 24"/>
          <p:cNvSpPr txBox="1"/>
          <p:nvPr/>
        </p:nvSpPr>
        <p:spPr>
          <a:xfrm>
            <a:off x="6309360" y="4498848"/>
            <a:ext cx="5303520" cy="292608"/>
          </a:xfrm>
          <a:prstGeom prst="rect">
            <a:avLst/>
          </a:prstGeom>
          <a:noFill/>
        </p:spPr>
        <p:txBody>
          <a:bodyPr wrap="square">
            <a:spAutoFit/>
          </a:bodyPr>
          <a:lstStyle/>
          <a:p>
            <a:pPr algn="l">
              <a:buNone/>
            </a:pPr>
            <a:r>
              <a:rPr sz="1100" b="0" i="1">
                <a:solidFill>
                  <a:srgbClr val="64748B"/>
                </a:solidFill>
                <a:latin typeface="Calibri" panose="020F0502020204030204"/>
              </a:rPr>
              <a:t>Changes visible immediately — both directions</a:t>
            </a:r>
            <a:endParaRPr sz="1100" b="0" i="1">
              <a:solidFill>
                <a:srgbClr val="64748B"/>
              </a:solidFill>
              <a:latin typeface="Calibri" panose="020F0502020204030204"/>
            </a:endParaRPr>
          </a:p>
        </p:txBody>
      </p:sp>
      <p:sp>
        <p:nvSpPr>
          <p:cNvPr id="26" name="TextBox 25"/>
          <p:cNvSpPr txBox="1"/>
          <p:nvPr/>
        </p:nvSpPr>
        <p:spPr>
          <a:xfrm>
            <a:off x="6309360" y="4809744"/>
            <a:ext cx="5303520" cy="292608"/>
          </a:xfrm>
          <a:prstGeom prst="rect">
            <a:avLst/>
          </a:prstGeom>
          <a:noFill/>
        </p:spPr>
        <p:txBody>
          <a:bodyPr wrap="square">
            <a:spAutoFit/>
          </a:bodyPr>
          <a:lstStyle/>
          <a:p>
            <a:pPr algn="l">
              <a:buNone/>
            </a:pPr>
            <a:r>
              <a:rPr sz="1100" b="0" i="0">
                <a:solidFill>
                  <a:srgbClr val="0F172A"/>
                </a:solidFill>
                <a:latin typeface="Calibri" panose="020F0502020204030204"/>
              </a:rPr>
              <a:t>Best for: live code reload, development</a:t>
            </a:r>
            <a:endParaRPr sz="1100" b="0" i="0">
              <a:solidFill>
                <a:srgbClr val="0F172A"/>
              </a:solidFill>
              <a:latin typeface="Calibri" panose="020F0502020204030204"/>
            </a:endParaRPr>
          </a:p>
        </p:txBody>
      </p:sp>
      <p:sp>
        <p:nvSpPr>
          <p:cNvPr id="27" name="TextBox 2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8" name="TextBox 2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9" name="TextBox 2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35</a:t>
            </a:r>
            <a:endParaRPr sz="900" b="0" i="0">
              <a:solidFill>
                <a:srgbClr val="718596"/>
              </a:solidFill>
              <a:latin typeface="Calibri" panose="020F050202020403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5b</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Bind Mounts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https://killercoda.com/tertiary-labs/course/killercoda/day1-02-docker-storage</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36</a:t>
            </a:r>
            <a:endParaRPr sz="900" b="0" i="0">
              <a:solidFill>
                <a:srgbClr val="718596"/>
              </a:solidFill>
              <a:latin typeface="Calibri" panose="020F0502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5b — DOCKER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Bind Mounts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a host file and read it inside a container:</a:t>
            </a:r>
            <a:endParaRPr sz="1600" b="1" i="0">
              <a:solidFill>
                <a:srgbClr val="0F172A"/>
              </a:solidFill>
              <a:latin typeface="Calibri" panose="020F0502020204030204"/>
            </a:endParaRPr>
          </a:p>
        </p:txBody>
      </p:sp>
      <p:sp>
        <p:nvSpPr>
          <p:cNvPr id="8" name="Rectangle 7"/>
          <p:cNvSpPr/>
          <p:nvPr/>
        </p:nvSpPr>
        <p:spPr>
          <a:xfrm>
            <a:off x="566928" y="1892808"/>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mkdir -p myfiles
echo "hello from host" &gt; myfiles/note.txt
docker run --rm -v $(pwd)/myfiles:/data alpine cat /data/note.txt</a:t>
            </a:r>
            <a:endParaRPr sz="900" b="0" i="0">
              <a:solidFill>
                <a:srgbClr val="FFFFFF"/>
              </a:solidFill>
              <a:latin typeface="Courier New" panose="02070309020205020404"/>
            </a:endParaRPr>
          </a:p>
        </p:txBody>
      </p:sp>
      <p:sp>
        <p:nvSpPr>
          <p:cNvPr id="12" name="TextBox 11"/>
          <p:cNvSpPr txBox="1"/>
          <p:nvPr/>
        </p:nvSpPr>
        <p:spPr>
          <a:xfrm>
            <a:off x="640080" y="27934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Write from inside the container back to the host:</a:t>
            </a:r>
            <a:endParaRPr sz="1600" b="1" i="0">
              <a:solidFill>
                <a:srgbClr val="0F172A"/>
              </a:solidFill>
              <a:latin typeface="Calibri" panose="020F0502020204030204"/>
            </a:endParaRPr>
          </a:p>
        </p:txBody>
      </p:sp>
      <p:sp>
        <p:nvSpPr>
          <p:cNvPr id="13" name="Rectangle 12"/>
          <p:cNvSpPr/>
          <p:nvPr/>
        </p:nvSpPr>
        <p:spPr>
          <a:xfrm>
            <a:off x="566928" y="3113532"/>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113532"/>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140964"/>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159252"/>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docker run --rm -v $(pwd)/myfiles:/data alpine \
  sh -c "echo 'hello from container' &gt; /data/reply.txt"
cat myfiles/reply.txt
rm -rf myfiles</a:t>
            </a:r>
            <a:endParaRPr sz="900" b="0" i="0">
              <a:solidFill>
                <a:srgbClr val="FFFFFF"/>
              </a:solidFill>
              <a:latin typeface="Courier New" panose="02070309020205020404"/>
            </a:endParaRPr>
          </a:p>
        </p:txBody>
      </p:sp>
      <p:sp>
        <p:nvSpPr>
          <p:cNvPr id="17" name="TextBox 16"/>
          <p:cNvSpPr txBox="1"/>
          <p:nvPr/>
        </p:nvSpPr>
        <p:spPr>
          <a:xfrm>
            <a:off x="640080" y="442112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Changes in either direction are instant — no copy step needed.</a:t>
            </a:r>
            <a:endParaRPr sz="1400" b="0" i="1">
              <a:solidFill>
                <a:srgbClr val="2496ED"/>
              </a:solidFill>
              <a:latin typeface="Calibri" panose="020F0502020204030204"/>
            </a:endParaRPr>
          </a:p>
        </p:txBody>
      </p:sp>
      <p:sp>
        <p:nvSpPr>
          <p:cNvPr id="18" name="TextBox 17"/>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https://killercoda.com/tertiary-labs/course/killercoda/day1-02-docker-storage</a:t>
            </a:r>
            <a:endParaRPr sz="1100" b="0" i="1">
              <a:solidFill>
                <a:srgbClr val="2496ED"/>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37</a:t>
            </a:r>
            <a:endParaRPr sz="900" b="0" i="0">
              <a:solidFill>
                <a:srgbClr val="718596"/>
              </a:solidFill>
              <a:latin typeface="Calibri" panose="020F050202020403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5</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Docker Networking</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6 &amp; 7 — Custom networks and port mapping</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Network drivers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Custom bridge networks</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Container DNS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Port mapping</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6: Custom network</a:t>
            </a:r>
            <a:endParaRPr sz="1800" b="0" i="0">
              <a:solidFill>
                <a:srgbClr val="CBD5E1"/>
              </a:solidFill>
              <a:latin typeface="Calibri" panose="020F0502020204030204"/>
            </a:endParaRPr>
          </a:p>
        </p:txBody>
      </p:sp>
      <p:sp>
        <p:nvSpPr>
          <p:cNvPr id="21" name="Rectangle 20"/>
          <p:cNvSpPr/>
          <p:nvPr/>
        </p:nvSpPr>
        <p:spPr>
          <a:xfrm>
            <a:off x="8778240" y="4846320"/>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778240" y="493776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6</a:t>
            </a:r>
            <a:endParaRPr sz="1800" b="1" i="0">
              <a:solidFill>
                <a:srgbClr val="2496ED"/>
              </a:solidFill>
              <a:latin typeface="Cambria" panose="02040503050406030204"/>
            </a:endParaRPr>
          </a:p>
        </p:txBody>
      </p:sp>
      <p:sp>
        <p:nvSpPr>
          <p:cNvPr id="23" name="TextBox 22"/>
          <p:cNvSpPr txBox="1"/>
          <p:nvPr/>
        </p:nvSpPr>
        <p:spPr>
          <a:xfrm>
            <a:off x="9281160" y="493776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7: Port mapping</a:t>
            </a:r>
            <a:endParaRPr sz="1800" b="0" i="0">
              <a:solidFill>
                <a:srgbClr val="CBD5E1"/>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38</a:t>
            </a:r>
            <a:endParaRPr sz="900" b="0" i="0">
              <a:solidFill>
                <a:srgbClr val="718596"/>
              </a:solidFill>
              <a:latin typeface="Calibri" panose="020F0502020204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NETWORKING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Networking Concepts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Default networks:</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bridge  — default for standalone containers (no inter-container DNS)</a:t>
            </a:r>
            <a:endParaRPr sz="1600" b="0" i="0">
              <a:solidFill>
                <a:srgbClr val="0F172A"/>
              </a:solidFill>
              <a:latin typeface="Calibri" panose="020F0502020204030204"/>
            </a:endParaRPr>
          </a:p>
        </p:txBody>
      </p:sp>
      <p:sp>
        <p:nvSpPr>
          <p:cNvPr id="9" name="TextBox 8"/>
          <p:cNvSpPr txBox="1"/>
          <p:nvPr/>
        </p:nvSpPr>
        <p:spPr>
          <a:xfrm>
            <a:off x="640080" y="23042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host    — container shares the host network stack (Linux only)</a:t>
            </a:r>
            <a:endParaRPr sz="1600" b="0" i="0">
              <a:solidFill>
                <a:srgbClr val="0F172A"/>
              </a:solidFill>
              <a:latin typeface="Calibri" panose="020F0502020204030204"/>
            </a:endParaRPr>
          </a:p>
        </p:txBody>
      </p:sp>
      <p:sp>
        <p:nvSpPr>
          <p:cNvPr id="10" name="TextBox 9"/>
          <p:cNvSpPr txBox="1"/>
          <p:nvPr/>
        </p:nvSpPr>
        <p:spPr>
          <a:xfrm>
            <a:off x="640080" y="26700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none    — no networking</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Custom bridge network (recommended):</a:t>
            </a:r>
            <a:endParaRPr sz="1600" b="1"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Containers on the same custom network reach each other by container name</a:t>
            </a:r>
            <a:endParaRPr sz="1600" b="0" i="0">
              <a:solidFill>
                <a:srgbClr val="0F172A"/>
              </a:solidFill>
              <a:latin typeface="Calibri" panose="020F0502020204030204"/>
            </a:endParaRPr>
          </a:p>
        </p:txBody>
      </p:sp>
      <p:sp>
        <p:nvSpPr>
          <p:cNvPr id="13" name="TextBox 12"/>
          <p:cNvSpPr txBox="1"/>
          <p:nvPr/>
        </p:nvSpPr>
        <p:spPr>
          <a:xfrm>
            <a:off x="640080" y="39684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Docker provides automatic DNS — no hardcoded IP addresses needed</a:t>
            </a:r>
            <a:endParaRPr sz="1600" b="0" i="0">
              <a:solidFill>
                <a:srgbClr val="0F172A"/>
              </a:solidFill>
              <a:latin typeface="Calibri" panose="020F0502020204030204"/>
            </a:endParaRPr>
          </a:p>
        </p:txBody>
      </p:sp>
      <p:sp>
        <p:nvSpPr>
          <p:cNvPr id="14" name="TextBox 13"/>
          <p:cNvSpPr txBox="1"/>
          <p:nvPr/>
        </p:nvSpPr>
        <p:spPr>
          <a:xfrm>
            <a:off x="640080" y="43342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Isolated from containers on other networks</a:t>
            </a:r>
            <a:endParaRPr sz="1600" b="0" i="0">
              <a:solidFill>
                <a:srgbClr val="0F172A"/>
              </a:solidFill>
              <a:latin typeface="Calibri" panose="020F0502020204030204"/>
            </a:endParaRPr>
          </a:p>
        </p:txBody>
      </p:sp>
      <p:sp>
        <p:nvSpPr>
          <p:cNvPr id="15" name="Rectangle 14"/>
          <p:cNvSpPr/>
          <p:nvPr/>
        </p:nvSpPr>
        <p:spPr>
          <a:xfrm>
            <a:off x="566928" y="4855464"/>
            <a:ext cx="11119104" cy="7635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4901184"/>
            <a:ext cx="10972800" cy="763524"/>
          </a:xfrm>
          <a:prstGeom prst="rect">
            <a:avLst/>
          </a:prstGeom>
          <a:noFill/>
        </p:spPr>
        <p:txBody>
          <a:bodyPr wrap="square">
            <a:spAutoFit/>
          </a:bodyPr>
          <a:lstStyle/>
          <a:p>
            <a:pPr algn="l">
              <a:buNone/>
            </a:pPr>
            <a:r>
              <a:rPr sz="900" b="0" i="0">
                <a:solidFill>
                  <a:srgbClr val="0F172A"/>
                </a:solidFill>
                <a:latin typeface="Courier New" panose="02070309020205020404"/>
              </a:rPr>
              <a:t>docker network ls
docker network create my-net
docker network inspect my-net</a:t>
            </a:r>
            <a:endParaRPr sz="900" b="0" i="0">
              <a:solidFill>
                <a:srgbClr val="0F172A"/>
              </a:solidFill>
              <a:latin typeface="Courier New" panose="020703090202050204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39</a:t>
            </a:r>
            <a:endParaRPr sz="900" b="0" i="0">
              <a:solidFill>
                <a:srgbClr val="718596"/>
              </a:solidFill>
              <a:latin typeface="Calibri" panose="020F0502020204030204"/>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NETWORKING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Default Bridge vs Custom Bridge Network</a:t>
            </a:r>
            <a:endParaRPr sz="2600" b="1" i="0">
              <a:solidFill>
                <a:srgbClr val="FFFFFF"/>
              </a:solidFill>
              <a:latin typeface="Cambria" panose="02040503050406030204"/>
            </a:endParaRPr>
          </a:p>
        </p:txBody>
      </p:sp>
      <p:sp>
        <p:nvSpPr>
          <p:cNvPr id="7" name="Rectangle 6"/>
          <p:cNvSpPr/>
          <p:nvPr/>
        </p:nvSpPr>
        <p:spPr>
          <a:xfrm>
            <a:off x="548640" y="1737360"/>
            <a:ext cx="5394960" cy="39319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764792"/>
            <a:ext cx="5303520" cy="329184"/>
          </a:xfrm>
          <a:prstGeom prst="rect">
            <a:avLst/>
          </a:prstGeom>
          <a:noFill/>
        </p:spPr>
        <p:txBody>
          <a:bodyPr wrap="square">
            <a:spAutoFit/>
          </a:bodyPr>
          <a:lstStyle/>
          <a:p>
            <a:pPr algn="ctr">
              <a:buNone/>
            </a:pPr>
            <a:r>
              <a:rPr sz="1300" b="1" i="0">
                <a:solidFill>
                  <a:srgbClr val="0F172A"/>
                </a:solidFill>
                <a:latin typeface="Cambria" panose="02040503050406030204"/>
              </a:rPr>
              <a:t>Default Bridge  (docker0)</a:t>
            </a:r>
            <a:endParaRPr sz="1300" b="1" i="0">
              <a:solidFill>
                <a:srgbClr val="0F172A"/>
              </a:solidFill>
              <a:latin typeface="Cambria" panose="02040503050406030204"/>
            </a:endParaRPr>
          </a:p>
        </p:txBody>
      </p:sp>
      <p:sp>
        <p:nvSpPr>
          <p:cNvPr id="9" name="Rectangle 8"/>
          <p:cNvSpPr/>
          <p:nvPr/>
        </p:nvSpPr>
        <p:spPr>
          <a:xfrm>
            <a:off x="731520" y="2249424"/>
            <a:ext cx="2377440" cy="1005840"/>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2304288"/>
            <a:ext cx="2286000" cy="292608"/>
          </a:xfrm>
          <a:prstGeom prst="rect">
            <a:avLst/>
          </a:prstGeom>
          <a:noFill/>
        </p:spPr>
        <p:txBody>
          <a:bodyPr wrap="square">
            <a:spAutoFit/>
          </a:bodyPr>
          <a:lstStyle/>
          <a:p>
            <a:pPr algn="ctr">
              <a:buNone/>
            </a:pPr>
            <a:r>
              <a:rPr sz="1100" b="1" i="0">
                <a:solidFill>
                  <a:srgbClr val="FFFFFF"/>
                </a:solidFill>
                <a:latin typeface="Calibri" panose="020F0502020204030204"/>
              </a:rPr>
              <a:t>container-a</a:t>
            </a:r>
            <a:endParaRPr sz="1100" b="1" i="0">
              <a:solidFill>
                <a:srgbClr val="FFFFFF"/>
              </a:solidFill>
              <a:latin typeface="Calibri" panose="020F0502020204030204"/>
            </a:endParaRPr>
          </a:p>
        </p:txBody>
      </p:sp>
      <p:sp>
        <p:nvSpPr>
          <p:cNvPr id="11" name="TextBox 10"/>
          <p:cNvSpPr txBox="1"/>
          <p:nvPr/>
        </p:nvSpPr>
        <p:spPr>
          <a:xfrm>
            <a:off x="777240" y="2615184"/>
            <a:ext cx="2286000" cy="256032"/>
          </a:xfrm>
          <a:prstGeom prst="rect">
            <a:avLst/>
          </a:prstGeom>
          <a:noFill/>
        </p:spPr>
        <p:txBody>
          <a:bodyPr wrap="square">
            <a:spAutoFit/>
          </a:bodyPr>
          <a:lstStyle/>
          <a:p>
            <a:pPr algn="ctr">
              <a:buNone/>
            </a:pPr>
            <a:r>
              <a:rPr sz="900" b="0" i="0">
                <a:solidFill>
                  <a:srgbClr val="94A3B8"/>
                </a:solidFill>
                <a:latin typeface="Courier New" panose="02070309020205020404"/>
              </a:rPr>
              <a:t>172.17.0.2</a:t>
            </a:r>
            <a:endParaRPr sz="900" b="0" i="0">
              <a:solidFill>
                <a:srgbClr val="94A3B8"/>
              </a:solidFill>
              <a:latin typeface="Courier New" panose="02070309020205020404"/>
            </a:endParaRPr>
          </a:p>
        </p:txBody>
      </p:sp>
      <p:sp>
        <p:nvSpPr>
          <p:cNvPr id="12" name="Rectangle 11"/>
          <p:cNvSpPr/>
          <p:nvPr/>
        </p:nvSpPr>
        <p:spPr>
          <a:xfrm>
            <a:off x="3429000" y="2249424"/>
            <a:ext cx="2377440" cy="1005840"/>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4720" y="2304288"/>
            <a:ext cx="2286000" cy="292608"/>
          </a:xfrm>
          <a:prstGeom prst="rect">
            <a:avLst/>
          </a:prstGeom>
          <a:noFill/>
        </p:spPr>
        <p:txBody>
          <a:bodyPr wrap="square">
            <a:spAutoFit/>
          </a:bodyPr>
          <a:lstStyle/>
          <a:p>
            <a:pPr algn="ctr">
              <a:buNone/>
            </a:pPr>
            <a:r>
              <a:rPr sz="1100" b="1" i="0">
                <a:solidFill>
                  <a:srgbClr val="FFFFFF"/>
                </a:solidFill>
                <a:latin typeface="Calibri" panose="020F0502020204030204"/>
              </a:rPr>
              <a:t>container-b</a:t>
            </a:r>
            <a:endParaRPr sz="1100" b="1" i="0">
              <a:solidFill>
                <a:srgbClr val="FFFFFF"/>
              </a:solidFill>
              <a:latin typeface="Calibri" panose="020F0502020204030204"/>
            </a:endParaRPr>
          </a:p>
        </p:txBody>
      </p:sp>
      <p:sp>
        <p:nvSpPr>
          <p:cNvPr id="14" name="TextBox 13"/>
          <p:cNvSpPr txBox="1"/>
          <p:nvPr/>
        </p:nvSpPr>
        <p:spPr>
          <a:xfrm>
            <a:off x="3474720" y="2615184"/>
            <a:ext cx="2286000" cy="256032"/>
          </a:xfrm>
          <a:prstGeom prst="rect">
            <a:avLst/>
          </a:prstGeom>
          <a:noFill/>
        </p:spPr>
        <p:txBody>
          <a:bodyPr wrap="square">
            <a:spAutoFit/>
          </a:bodyPr>
          <a:lstStyle/>
          <a:p>
            <a:pPr algn="ctr">
              <a:buNone/>
            </a:pPr>
            <a:r>
              <a:rPr sz="900" b="0" i="0">
                <a:solidFill>
                  <a:srgbClr val="94A3B8"/>
                </a:solidFill>
                <a:latin typeface="Courier New" panose="02070309020205020404"/>
              </a:rPr>
              <a:t>172.17.0.3</a:t>
            </a:r>
            <a:endParaRPr sz="900" b="0" i="0">
              <a:solidFill>
                <a:srgbClr val="94A3B8"/>
              </a:solidFill>
              <a:latin typeface="Courier New" panose="02070309020205020404"/>
            </a:endParaRPr>
          </a:p>
        </p:txBody>
      </p:sp>
      <p:sp>
        <p:nvSpPr>
          <p:cNvPr id="15" name="Rectangle 14"/>
          <p:cNvSpPr/>
          <p:nvPr/>
        </p:nvSpPr>
        <p:spPr>
          <a:xfrm>
            <a:off x="731520" y="3346704"/>
            <a:ext cx="5120640"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383280"/>
            <a:ext cx="5120640" cy="256032"/>
          </a:xfrm>
          <a:prstGeom prst="rect">
            <a:avLst/>
          </a:prstGeom>
          <a:noFill/>
        </p:spPr>
        <p:txBody>
          <a:bodyPr wrap="square">
            <a:spAutoFit/>
          </a:bodyPr>
          <a:lstStyle/>
          <a:p>
            <a:pPr algn="ctr">
              <a:buNone/>
            </a:pPr>
            <a:r>
              <a:rPr sz="1100" b="0" i="0">
                <a:solidFill>
                  <a:srgbClr val="FFFFFF"/>
                </a:solidFill>
                <a:latin typeface="Calibri" panose="020F0502020204030204"/>
              </a:rPr>
              <a:t>docker0 bridge  (172.17.0.0/16)</a:t>
            </a:r>
            <a:endParaRPr sz="1100" b="0" i="0">
              <a:solidFill>
                <a:srgbClr val="FFFFFF"/>
              </a:solidFill>
              <a:latin typeface="Calibri" panose="020F0502020204030204"/>
            </a:endParaRPr>
          </a:p>
        </p:txBody>
      </p:sp>
      <p:sp>
        <p:nvSpPr>
          <p:cNvPr id="17" name="TextBox 16"/>
          <p:cNvSpPr txBox="1"/>
          <p:nvPr/>
        </p:nvSpPr>
        <p:spPr>
          <a:xfrm>
            <a:off x="594360" y="3822191"/>
            <a:ext cx="5303520" cy="292608"/>
          </a:xfrm>
          <a:prstGeom prst="rect">
            <a:avLst/>
          </a:prstGeom>
          <a:noFill/>
        </p:spPr>
        <p:txBody>
          <a:bodyPr wrap="square">
            <a:spAutoFit/>
          </a:bodyPr>
          <a:lstStyle/>
          <a:p>
            <a:pPr algn="l">
              <a:buNone/>
            </a:pPr>
            <a:r>
              <a:rPr sz="1100" b="0" i="1">
                <a:solidFill>
                  <a:srgbClr val="CC4444"/>
                </a:solidFill>
                <a:latin typeface="Calibri" panose="020F0502020204030204"/>
              </a:rPr>
              <a:t>✘ No DNS — containers must use IP addresses</a:t>
            </a:r>
            <a:endParaRPr sz="1100" b="0" i="1">
              <a:solidFill>
                <a:srgbClr val="CC4444"/>
              </a:solidFill>
              <a:latin typeface="Calibri" panose="020F0502020204030204"/>
            </a:endParaRPr>
          </a:p>
        </p:txBody>
      </p:sp>
      <p:sp>
        <p:nvSpPr>
          <p:cNvPr id="18" name="TextBox 17"/>
          <p:cNvSpPr txBox="1"/>
          <p:nvPr/>
        </p:nvSpPr>
        <p:spPr>
          <a:xfrm>
            <a:off x="594360" y="4133087"/>
            <a:ext cx="5303520" cy="292608"/>
          </a:xfrm>
          <a:prstGeom prst="rect">
            <a:avLst/>
          </a:prstGeom>
          <a:noFill/>
        </p:spPr>
        <p:txBody>
          <a:bodyPr wrap="square">
            <a:spAutoFit/>
          </a:bodyPr>
          <a:lstStyle/>
          <a:p>
            <a:pPr algn="l">
              <a:buNone/>
            </a:pPr>
            <a:r>
              <a:rPr sz="900" b="0" i="0">
                <a:solidFill>
                  <a:srgbClr val="0F172A"/>
                </a:solidFill>
                <a:latin typeface="Courier New" panose="02070309020205020404"/>
              </a:rPr>
              <a:t>ping 172.17.0.3  (hardcoded — breaks on restart!)</a:t>
            </a:r>
            <a:endParaRPr sz="900" b="0" i="0">
              <a:solidFill>
                <a:srgbClr val="0F172A"/>
              </a:solidFill>
              <a:latin typeface="Courier New" panose="02070309020205020404"/>
            </a:endParaRPr>
          </a:p>
        </p:txBody>
      </p:sp>
      <p:sp>
        <p:nvSpPr>
          <p:cNvPr id="19" name="TextBox 18"/>
          <p:cNvSpPr txBox="1"/>
          <p:nvPr/>
        </p:nvSpPr>
        <p:spPr>
          <a:xfrm>
            <a:off x="594360" y="4462272"/>
            <a:ext cx="5303520" cy="292608"/>
          </a:xfrm>
          <a:prstGeom prst="rect">
            <a:avLst/>
          </a:prstGeom>
          <a:noFill/>
        </p:spPr>
        <p:txBody>
          <a:bodyPr wrap="square">
            <a:spAutoFit/>
          </a:bodyPr>
          <a:lstStyle/>
          <a:p>
            <a:pPr algn="l">
              <a:buNone/>
            </a:pPr>
            <a:r>
              <a:rPr sz="1100" b="0" i="0">
                <a:solidFill>
                  <a:srgbClr val="64748B"/>
                </a:solidFill>
                <a:latin typeface="Calibri" panose="020F0502020204030204"/>
              </a:rPr>
              <a:t>IP changes every time container restarts</a:t>
            </a:r>
            <a:endParaRPr sz="1100" b="0" i="0">
              <a:solidFill>
                <a:srgbClr val="64748B"/>
              </a:solidFill>
              <a:latin typeface="Calibri" panose="020F0502020204030204"/>
            </a:endParaRPr>
          </a:p>
        </p:txBody>
      </p:sp>
      <p:sp>
        <p:nvSpPr>
          <p:cNvPr id="20" name="Rectangle 19"/>
          <p:cNvSpPr/>
          <p:nvPr/>
        </p:nvSpPr>
        <p:spPr>
          <a:xfrm>
            <a:off x="6035040" y="1737360"/>
            <a:ext cx="36576" cy="39319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05856" y="3474720"/>
            <a:ext cx="694944" cy="384048"/>
          </a:xfrm>
          <a:prstGeom prst="rect">
            <a:avLst/>
          </a:prstGeom>
          <a:noFill/>
        </p:spPr>
        <p:txBody>
          <a:bodyPr wrap="square">
            <a:spAutoFit/>
          </a:bodyPr>
          <a:lstStyle/>
          <a:p>
            <a:pPr algn="ctr">
              <a:buNone/>
            </a:pPr>
            <a:r>
              <a:rPr sz="1800" b="1" i="0">
                <a:solidFill>
                  <a:srgbClr val="2496ED"/>
                </a:solidFill>
                <a:latin typeface="Cambria" panose="02040503050406030204"/>
              </a:rPr>
              <a:t>vs</a:t>
            </a:r>
            <a:endParaRPr sz="1800" b="1" i="0">
              <a:solidFill>
                <a:srgbClr val="2496ED"/>
              </a:solidFill>
              <a:latin typeface="Cambria" panose="02040503050406030204"/>
            </a:endParaRPr>
          </a:p>
        </p:txBody>
      </p:sp>
      <p:sp>
        <p:nvSpPr>
          <p:cNvPr id="22" name="Rectangle 21"/>
          <p:cNvSpPr/>
          <p:nvPr/>
        </p:nvSpPr>
        <p:spPr>
          <a:xfrm>
            <a:off x="6236208" y="1737360"/>
            <a:ext cx="5394960" cy="3931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281928" y="1764792"/>
            <a:ext cx="5303520" cy="329184"/>
          </a:xfrm>
          <a:prstGeom prst="rect">
            <a:avLst/>
          </a:prstGeom>
          <a:noFill/>
        </p:spPr>
        <p:txBody>
          <a:bodyPr wrap="square">
            <a:spAutoFit/>
          </a:bodyPr>
          <a:lstStyle/>
          <a:p>
            <a:pPr algn="ctr">
              <a:buNone/>
            </a:pPr>
            <a:r>
              <a:rPr sz="1300" b="1" i="0">
                <a:solidFill>
                  <a:srgbClr val="0F172A"/>
                </a:solidFill>
                <a:latin typeface="Cambria" panose="02040503050406030204"/>
              </a:rPr>
              <a:t>Custom Bridge  (my-net)</a:t>
            </a:r>
            <a:endParaRPr sz="1300" b="1" i="0">
              <a:solidFill>
                <a:srgbClr val="0F172A"/>
              </a:solidFill>
              <a:latin typeface="Cambria" panose="02040503050406030204"/>
            </a:endParaRPr>
          </a:p>
        </p:txBody>
      </p:sp>
      <p:sp>
        <p:nvSpPr>
          <p:cNvPr id="24" name="Rectangle 23"/>
          <p:cNvSpPr/>
          <p:nvPr/>
        </p:nvSpPr>
        <p:spPr>
          <a:xfrm>
            <a:off x="6400800" y="2249424"/>
            <a:ext cx="2377440" cy="1005840"/>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46520" y="2304288"/>
            <a:ext cx="2286000" cy="292608"/>
          </a:xfrm>
          <a:prstGeom prst="rect">
            <a:avLst/>
          </a:prstGeom>
          <a:noFill/>
        </p:spPr>
        <p:txBody>
          <a:bodyPr wrap="square">
            <a:spAutoFit/>
          </a:bodyPr>
          <a:lstStyle/>
          <a:p>
            <a:pPr algn="ctr">
              <a:buNone/>
            </a:pPr>
            <a:r>
              <a:rPr sz="1100" b="1" i="0">
                <a:solidFill>
                  <a:srgbClr val="FFFFFF"/>
                </a:solidFill>
                <a:latin typeface="Calibri" panose="020F0502020204030204"/>
              </a:rPr>
              <a:t>app1</a:t>
            </a:r>
            <a:endParaRPr sz="1100" b="1" i="0">
              <a:solidFill>
                <a:srgbClr val="FFFFFF"/>
              </a:solidFill>
              <a:latin typeface="Calibri" panose="020F0502020204030204"/>
            </a:endParaRPr>
          </a:p>
        </p:txBody>
      </p:sp>
      <p:sp>
        <p:nvSpPr>
          <p:cNvPr id="26" name="TextBox 25"/>
          <p:cNvSpPr txBox="1"/>
          <p:nvPr/>
        </p:nvSpPr>
        <p:spPr>
          <a:xfrm>
            <a:off x="6446520" y="2615184"/>
            <a:ext cx="2286000" cy="256032"/>
          </a:xfrm>
          <a:prstGeom prst="rect">
            <a:avLst/>
          </a:prstGeom>
          <a:noFill/>
        </p:spPr>
        <p:txBody>
          <a:bodyPr wrap="square">
            <a:spAutoFit/>
          </a:bodyPr>
          <a:lstStyle/>
          <a:p>
            <a:pPr algn="ctr">
              <a:buNone/>
            </a:pPr>
            <a:r>
              <a:rPr sz="900" b="0" i="0">
                <a:solidFill>
                  <a:srgbClr val="94A3B8"/>
                </a:solidFill>
                <a:latin typeface="Courier New" panose="02070309020205020404"/>
              </a:rPr>
              <a:t>172.18.0.2</a:t>
            </a:r>
            <a:endParaRPr sz="900" b="0" i="0">
              <a:solidFill>
                <a:srgbClr val="94A3B8"/>
              </a:solidFill>
              <a:latin typeface="Courier New" panose="02070309020205020404"/>
            </a:endParaRPr>
          </a:p>
        </p:txBody>
      </p:sp>
      <p:sp>
        <p:nvSpPr>
          <p:cNvPr id="27" name="Rectangle 26"/>
          <p:cNvSpPr/>
          <p:nvPr/>
        </p:nvSpPr>
        <p:spPr>
          <a:xfrm>
            <a:off x="9098280" y="2249424"/>
            <a:ext cx="2377440" cy="1005840"/>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0" y="2304288"/>
            <a:ext cx="2286000" cy="292608"/>
          </a:xfrm>
          <a:prstGeom prst="rect">
            <a:avLst/>
          </a:prstGeom>
          <a:noFill/>
        </p:spPr>
        <p:txBody>
          <a:bodyPr wrap="square">
            <a:spAutoFit/>
          </a:bodyPr>
          <a:lstStyle/>
          <a:p>
            <a:pPr algn="ctr">
              <a:buNone/>
            </a:pPr>
            <a:r>
              <a:rPr sz="1100" b="1" i="0">
                <a:solidFill>
                  <a:srgbClr val="FFFFFF"/>
                </a:solidFill>
                <a:latin typeface="Calibri" panose="020F0502020204030204"/>
              </a:rPr>
              <a:t>app2</a:t>
            </a:r>
            <a:endParaRPr sz="1100" b="1" i="0">
              <a:solidFill>
                <a:srgbClr val="FFFFFF"/>
              </a:solidFill>
              <a:latin typeface="Calibri" panose="020F0502020204030204"/>
            </a:endParaRPr>
          </a:p>
        </p:txBody>
      </p:sp>
      <p:sp>
        <p:nvSpPr>
          <p:cNvPr id="29" name="TextBox 28"/>
          <p:cNvSpPr txBox="1"/>
          <p:nvPr/>
        </p:nvSpPr>
        <p:spPr>
          <a:xfrm>
            <a:off x="9144000" y="2615184"/>
            <a:ext cx="2286000" cy="256032"/>
          </a:xfrm>
          <a:prstGeom prst="rect">
            <a:avLst/>
          </a:prstGeom>
          <a:noFill/>
        </p:spPr>
        <p:txBody>
          <a:bodyPr wrap="square">
            <a:spAutoFit/>
          </a:bodyPr>
          <a:lstStyle/>
          <a:p>
            <a:pPr algn="ctr">
              <a:buNone/>
            </a:pPr>
            <a:r>
              <a:rPr sz="900" b="0" i="0">
                <a:solidFill>
                  <a:srgbClr val="94A3B8"/>
                </a:solidFill>
                <a:latin typeface="Courier New" panose="02070309020205020404"/>
              </a:rPr>
              <a:t>172.18.0.3</a:t>
            </a:r>
            <a:endParaRPr sz="900" b="0" i="0">
              <a:solidFill>
                <a:srgbClr val="94A3B8"/>
              </a:solidFill>
              <a:latin typeface="Courier New" panose="02070309020205020404"/>
            </a:endParaRPr>
          </a:p>
        </p:txBody>
      </p:sp>
      <p:sp>
        <p:nvSpPr>
          <p:cNvPr id="30" name="Rectangle 29"/>
          <p:cNvSpPr/>
          <p:nvPr/>
        </p:nvSpPr>
        <p:spPr>
          <a:xfrm>
            <a:off x="6400800" y="3346704"/>
            <a:ext cx="5120640" cy="36576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0" y="3383280"/>
            <a:ext cx="5120640" cy="256032"/>
          </a:xfrm>
          <a:prstGeom prst="rect">
            <a:avLst/>
          </a:prstGeom>
          <a:noFill/>
        </p:spPr>
        <p:txBody>
          <a:bodyPr wrap="square">
            <a:spAutoFit/>
          </a:bodyPr>
          <a:lstStyle/>
          <a:p>
            <a:pPr algn="ctr">
              <a:buNone/>
            </a:pPr>
            <a:r>
              <a:rPr sz="1100" b="0" i="0">
                <a:solidFill>
                  <a:srgbClr val="FFFFFF"/>
                </a:solidFill>
                <a:latin typeface="Calibri" panose="020F0502020204030204"/>
              </a:rPr>
              <a:t>my-net  —  Docker DNS auto-configured</a:t>
            </a:r>
            <a:endParaRPr sz="1100" b="0" i="0">
              <a:solidFill>
                <a:srgbClr val="FFFFFF"/>
              </a:solidFill>
              <a:latin typeface="Calibri" panose="020F0502020204030204"/>
            </a:endParaRPr>
          </a:p>
        </p:txBody>
      </p:sp>
      <p:sp>
        <p:nvSpPr>
          <p:cNvPr id="32" name="TextBox 31"/>
          <p:cNvSpPr txBox="1"/>
          <p:nvPr/>
        </p:nvSpPr>
        <p:spPr>
          <a:xfrm>
            <a:off x="6281928" y="3822191"/>
            <a:ext cx="5303520" cy="292608"/>
          </a:xfrm>
          <a:prstGeom prst="rect">
            <a:avLst/>
          </a:prstGeom>
          <a:noFill/>
        </p:spPr>
        <p:txBody>
          <a:bodyPr wrap="square">
            <a:spAutoFit/>
          </a:bodyPr>
          <a:lstStyle/>
          <a:p>
            <a:pPr algn="l">
              <a:buNone/>
            </a:pPr>
            <a:r>
              <a:rPr sz="1100" b="0" i="1">
                <a:solidFill>
                  <a:srgbClr val="107854"/>
                </a:solidFill>
                <a:latin typeface="Calibri" panose="020F0502020204030204"/>
              </a:rPr>
              <a:t>✓ DNS by container name — no IPs needed</a:t>
            </a:r>
            <a:endParaRPr sz="1100" b="0" i="1">
              <a:solidFill>
                <a:srgbClr val="107854"/>
              </a:solidFill>
              <a:latin typeface="Calibri" panose="020F0502020204030204"/>
            </a:endParaRPr>
          </a:p>
        </p:txBody>
      </p:sp>
      <p:sp>
        <p:nvSpPr>
          <p:cNvPr id="33" name="TextBox 32"/>
          <p:cNvSpPr txBox="1"/>
          <p:nvPr/>
        </p:nvSpPr>
        <p:spPr>
          <a:xfrm>
            <a:off x="6281928" y="4133087"/>
            <a:ext cx="5303520" cy="292608"/>
          </a:xfrm>
          <a:prstGeom prst="rect">
            <a:avLst/>
          </a:prstGeom>
          <a:noFill/>
        </p:spPr>
        <p:txBody>
          <a:bodyPr wrap="square">
            <a:spAutoFit/>
          </a:bodyPr>
          <a:lstStyle/>
          <a:p>
            <a:pPr algn="l">
              <a:buNone/>
            </a:pPr>
            <a:r>
              <a:rPr sz="900" b="0" i="0">
                <a:solidFill>
                  <a:srgbClr val="0F172A"/>
                </a:solidFill>
                <a:latin typeface="Courier New" panose="02070309020205020404"/>
              </a:rPr>
              <a:t>docker exec app1 ping app2  (works by name!)</a:t>
            </a:r>
            <a:endParaRPr sz="900" b="0" i="0">
              <a:solidFill>
                <a:srgbClr val="0F172A"/>
              </a:solidFill>
              <a:latin typeface="Courier New" panose="02070309020205020404"/>
            </a:endParaRPr>
          </a:p>
        </p:txBody>
      </p:sp>
      <p:sp>
        <p:nvSpPr>
          <p:cNvPr id="34" name="TextBox 33"/>
          <p:cNvSpPr txBox="1"/>
          <p:nvPr/>
        </p:nvSpPr>
        <p:spPr>
          <a:xfrm>
            <a:off x="6281928" y="4462272"/>
            <a:ext cx="5303520" cy="292608"/>
          </a:xfrm>
          <a:prstGeom prst="rect">
            <a:avLst/>
          </a:prstGeom>
          <a:noFill/>
        </p:spPr>
        <p:txBody>
          <a:bodyPr wrap="square">
            <a:spAutoFit/>
          </a:bodyPr>
          <a:lstStyle/>
          <a:p>
            <a:pPr algn="l">
              <a:buNone/>
            </a:pPr>
            <a:r>
              <a:rPr sz="1100" b="0" i="0">
                <a:solidFill>
                  <a:srgbClr val="64748B"/>
                </a:solidFill>
                <a:latin typeface="Calibri" panose="020F0502020204030204"/>
              </a:rPr>
              <a:t>Isolated from containers on other networks</a:t>
            </a:r>
            <a:endParaRPr sz="1100" b="0" i="0">
              <a:solidFill>
                <a:srgbClr val="64748B"/>
              </a:solidFill>
              <a:latin typeface="Calibri" panose="020F0502020204030204"/>
            </a:endParaRPr>
          </a:p>
        </p:txBody>
      </p:sp>
      <p:sp>
        <p:nvSpPr>
          <p:cNvPr id="35" name="TextBox 3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6" name="TextBox 3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7" name="TextBox 3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40</a:t>
            </a:r>
            <a:endParaRPr sz="900" b="0" i="0">
              <a:solidFill>
                <a:srgbClr val="718596"/>
              </a:solidFill>
              <a:latin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6</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Custom Networks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https://killercoda.com/tertiary-labs/course/killercoda/day1-03-docker-networking</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41</a:t>
            </a:r>
            <a:endParaRPr sz="900" b="0" i="0">
              <a:solidFill>
                <a:srgbClr val="718596"/>
              </a:solidFill>
              <a:latin typeface="Calibri" panose="020F0502020204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6 — NETWORKING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Custom Networks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a network and two containers:</a:t>
            </a:r>
            <a:endParaRPr sz="1600" b="1" i="0">
              <a:solidFill>
                <a:srgbClr val="0F172A"/>
              </a:solidFill>
              <a:latin typeface="Calibri" panose="020F0502020204030204"/>
            </a:endParaRPr>
          </a:p>
        </p:txBody>
      </p:sp>
      <p:sp>
        <p:nvSpPr>
          <p:cNvPr id="8" name="Rectangle 7"/>
          <p:cNvSpPr/>
          <p:nvPr/>
        </p:nvSpPr>
        <p:spPr>
          <a:xfrm>
            <a:off x="566928" y="1892808"/>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network create my-net
docker run -d --name app1 --network my-net busybox sleep 3600
docker run -d --name app2 --network my-net busybox sleep 3600</a:t>
            </a:r>
            <a:endParaRPr sz="900" b="0" i="0">
              <a:solidFill>
                <a:srgbClr val="FFFFFF"/>
              </a:solidFill>
              <a:latin typeface="Courier New" panose="02070309020205020404"/>
            </a:endParaRPr>
          </a:p>
        </p:txBody>
      </p:sp>
      <p:sp>
        <p:nvSpPr>
          <p:cNvPr id="12" name="TextBox 11"/>
          <p:cNvSpPr txBox="1"/>
          <p:nvPr/>
        </p:nvSpPr>
        <p:spPr>
          <a:xfrm>
            <a:off x="640080" y="27934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Ping by container name (no IP needed):</a:t>
            </a:r>
            <a:endParaRPr sz="1600" b="1" i="0">
              <a:solidFill>
                <a:srgbClr val="0F172A"/>
              </a:solidFill>
              <a:latin typeface="Calibri" panose="020F0502020204030204"/>
            </a:endParaRPr>
          </a:p>
        </p:txBody>
      </p:sp>
      <p:sp>
        <p:nvSpPr>
          <p:cNvPr id="13" name="Rectangle 12"/>
          <p:cNvSpPr/>
          <p:nvPr/>
        </p:nvSpPr>
        <p:spPr>
          <a:xfrm>
            <a:off x="566928" y="3113532"/>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113532"/>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140964"/>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159252"/>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exec app1 ping -c 3 app2</a:t>
            </a:r>
            <a:endParaRPr sz="900" b="0" i="0">
              <a:solidFill>
                <a:srgbClr val="FFFFFF"/>
              </a:solidFill>
              <a:latin typeface="Courier New" panose="02070309020205020404"/>
            </a:endParaRPr>
          </a:p>
        </p:txBody>
      </p:sp>
      <p:sp>
        <p:nvSpPr>
          <p:cNvPr id="17" name="TextBox 16"/>
          <p:cNvSpPr txBox="1"/>
          <p:nvPr/>
        </p:nvSpPr>
        <p:spPr>
          <a:xfrm>
            <a:off x="640080" y="360273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Disconnect / reconnect:</a:t>
            </a:r>
            <a:endParaRPr sz="1600" b="1" i="0">
              <a:solidFill>
                <a:srgbClr val="0F172A"/>
              </a:solidFill>
              <a:latin typeface="Calibri" panose="020F0502020204030204"/>
            </a:endParaRPr>
          </a:p>
        </p:txBody>
      </p:sp>
      <p:sp>
        <p:nvSpPr>
          <p:cNvPr id="18" name="Rectangle 17"/>
          <p:cNvSpPr/>
          <p:nvPr/>
        </p:nvSpPr>
        <p:spPr>
          <a:xfrm>
            <a:off x="566928" y="3922776"/>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3922776"/>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950208"/>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3968496"/>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docker network disconnect my-net app2
docker exec app1 ping -c 2 app2     # fails -- expected
docker network connect my-net app2
docker exec app1 ping -c 2 app2     # works again</a:t>
            </a:r>
            <a:endParaRPr sz="900" b="0" i="0">
              <a:solidFill>
                <a:srgbClr val="FFFFFF"/>
              </a:solidFill>
              <a:latin typeface="Courier New" panose="02070309020205020404"/>
            </a:endParaRPr>
          </a:p>
        </p:txBody>
      </p:sp>
      <p:sp>
        <p:nvSpPr>
          <p:cNvPr id="22" name="TextBox 21"/>
          <p:cNvSpPr txBox="1"/>
          <p:nvPr/>
        </p:nvSpPr>
        <p:spPr>
          <a:xfrm>
            <a:off x="640080" y="50292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23" name="Rectangle 22"/>
          <p:cNvSpPr/>
          <p:nvPr/>
        </p:nvSpPr>
        <p:spPr>
          <a:xfrm>
            <a:off x="566928" y="5349240"/>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5349240"/>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5376672"/>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6" name="TextBox 25"/>
          <p:cNvSpPr txBox="1"/>
          <p:nvPr/>
        </p:nvSpPr>
        <p:spPr>
          <a:xfrm>
            <a:off x="841248" y="5394960"/>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stop app1 app2 &amp;&amp; docker rm app1 app2 &amp;&amp; docker network rm my-net</a:t>
            </a:r>
            <a:endParaRPr sz="900" b="0" i="0">
              <a:solidFill>
                <a:srgbClr val="FFFFFF"/>
              </a:solidFill>
              <a:latin typeface="Courier New" panose="02070309020205020404"/>
            </a:endParaRPr>
          </a:p>
        </p:txBody>
      </p:sp>
      <p:sp>
        <p:nvSpPr>
          <p:cNvPr id="27" name="TextBox 26"/>
          <p:cNvSpPr txBox="1"/>
          <p:nvPr/>
        </p:nvSpPr>
        <p:spPr>
          <a:xfrm>
            <a:off x="640080" y="583844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Key concept: Custom bridge networks provide automatic DNS by container name.</a:t>
            </a:r>
            <a:endParaRPr sz="1400" b="0" i="1">
              <a:solidFill>
                <a:srgbClr val="2496ED"/>
              </a:solidFill>
              <a:latin typeface="Calibri" panose="020F0502020204030204"/>
            </a:endParaRPr>
          </a:p>
        </p:txBody>
      </p:sp>
      <p:sp>
        <p:nvSpPr>
          <p:cNvPr id="28" name="TextBox 27"/>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https://killercoda.com/tertiary-labs/course/killercoda/day1-03-docker-networking</a:t>
            </a:r>
            <a:endParaRPr sz="1100" b="0" i="1">
              <a:solidFill>
                <a:srgbClr val="2496ED"/>
              </a:solidFill>
              <a:latin typeface="Calibri" panose="020F0502020204030204"/>
            </a:endParaRPr>
          </a:p>
        </p:txBody>
      </p:sp>
      <p:sp>
        <p:nvSpPr>
          <p:cNvPr id="29" name="TextBox 2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0" name="TextBox 2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1" name="TextBox 3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42</a:t>
            </a:r>
            <a:endParaRPr sz="900" b="0" i="0">
              <a:solidFill>
                <a:srgbClr val="718596"/>
              </a:solidFill>
              <a:latin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NETWORKING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Port Mapping — Connecting Containers to the Host</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Containers run inside an isolated network namespace. By default, no traffic from the outside world can reach them. Port mapping punches a hole.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Syntax:  -p &lt;host_port&gt;:&lt;container_port&gt;</a:t>
            </a:r>
            <a:endParaRPr sz="1600" b="1" i="0">
              <a:solidFill>
                <a:srgbClr val="0F172A"/>
              </a:solidFill>
              <a:latin typeface="Calibri" panose="020F0502020204030204"/>
            </a:endParaRPr>
          </a:p>
        </p:txBody>
      </p:sp>
      <p:sp>
        <p:nvSpPr>
          <p:cNvPr id="9" name="Rectangle 8"/>
          <p:cNvSpPr/>
          <p:nvPr/>
        </p:nvSpPr>
        <p:spPr>
          <a:xfrm>
            <a:off x="566928" y="2459736"/>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docker run -p 8080:80 nginx     # host:8080 -&gt; container:80
docker run -p 5001:5000 myapp  # host:5001 -&gt; container:5000</a:t>
            </a:r>
            <a:endParaRPr sz="900" b="0" i="0">
              <a:solidFill>
                <a:srgbClr val="0F172A"/>
              </a:solidFill>
              <a:latin typeface="Courier New" panose="02070309020205020404"/>
            </a:endParaRPr>
          </a:p>
        </p:txBody>
      </p:sp>
      <p:sp>
        <p:nvSpPr>
          <p:cNvPr id="11" name="TextBox 10"/>
          <p:cNvSpPr txBox="1"/>
          <p:nvPr/>
        </p:nvSpPr>
        <p:spPr>
          <a:xfrm>
            <a:off x="640080" y="335584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EXPOSE vs -p:</a:t>
            </a:r>
            <a:endParaRPr sz="1600" b="1" i="0">
              <a:solidFill>
                <a:srgbClr val="0F172A"/>
              </a:solidFill>
              <a:latin typeface="Calibri" panose="020F0502020204030204"/>
            </a:endParaRPr>
          </a:p>
        </p:txBody>
      </p:sp>
      <p:sp>
        <p:nvSpPr>
          <p:cNvPr id="12" name="TextBox 11"/>
          <p:cNvSpPr txBox="1"/>
          <p:nvPr/>
        </p:nvSpPr>
        <p:spPr>
          <a:xfrm>
            <a:off x="640080" y="37216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EXPOSE 5000 in Dockerfile  — documents the port, does NOT publish it</a:t>
            </a:r>
            <a:endParaRPr sz="1600" b="0" i="0">
              <a:solidFill>
                <a:srgbClr val="0F172A"/>
              </a:solidFill>
              <a:latin typeface="Calibri" panose="020F0502020204030204"/>
            </a:endParaRPr>
          </a:p>
        </p:txBody>
      </p:sp>
      <p:sp>
        <p:nvSpPr>
          <p:cNvPr id="13" name="TextBox 12"/>
          <p:cNvSpPr txBox="1"/>
          <p:nvPr/>
        </p:nvSpPr>
        <p:spPr>
          <a:xfrm>
            <a:off x="640080" y="40873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 5001:5000 at runtime    — actually makes the port reachable</a:t>
            </a:r>
            <a:endParaRPr sz="1600" b="0" i="0">
              <a:solidFill>
                <a:srgbClr val="0F172A"/>
              </a:solidFill>
              <a:latin typeface="Calibri" panose="020F0502020204030204"/>
            </a:endParaRPr>
          </a:p>
        </p:txBody>
      </p:sp>
      <p:sp>
        <p:nvSpPr>
          <p:cNvPr id="14" name="TextBox 13"/>
          <p:cNvSpPr txBox="1"/>
          <p:nvPr/>
        </p:nvSpPr>
        <p:spPr>
          <a:xfrm>
            <a:off x="640080" y="46542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Shortcut flags:</a:t>
            </a:r>
            <a:endParaRPr sz="1600" b="1" i="0">
              <a:solidFill>
                <a:srgbClr val="0F172A"/>
              </a:solidFill>
              <a:latin typeface="Calibri" panose="020F0502020204030204"/>
            </a:endParaRPr>
          </a:p>
        </p:txBody>
      </p:sp>
      <p:sp>
        <p:nvSpPr>
          <p:cNvPr id="15" name="Rectangle 14"/>
          <p:cNvSpPr/>
          <p:nvPr/>
        </p:nvSpPr>
        <p:spPr>
          <a:xfrm>
            <a:off x="566928" y="4974336"/>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5020056"/>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docker run -P myapp       # -P maps ALL EXPOSE'd ports to random host ports
docker port myapp        # show current port mappings</a:t>
            </a:r>
            <a:endParaRPr sz="900" b="0" i="0">
              <a:solidFill>
                <a:srgbClr val="0F172A"/>
              </a:solidFill>
              <a:latin typeface="Courier New" panose="020703090202050204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43</a:t>
            </a:r>
            <a:endParaRPr sz="900" b="0" i="0">
              <a:solidFill>
                <a:srgbClr val="718596"/>
              </a:solidFill>
              <a:latin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7</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Port Mapping</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https://killercoda.com/tertiary-labs/course/killercoda/day1-03-docker-networking</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44</a:t>
            </a:r>
            <a:endParaRPr sz="900" b="0" i="0">
              <a:solidFill>
                <a:srgbClr val="718596"/>
              </a:solidFill>
              <a:latin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7 — NETWORKING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Port Mapping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Uses the Flask image built in Lab 4. Syntax: -p &lt;host&gt;:&lt;container&gt;</a:t>
            </a:r>
            <a:endParaRPr sz="1600" b="0"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two instances on different host ports:</a:t>
            </a:r>
            <a:endParaRPr sz="1600" b="1" i="0">
              <a:solidFill>
                <a:srgbClr val="0F172A"/>
              </a:solidFill>
              <a:latin typeface="Calibri" panose="020F0502020204030204"/>
            </a:endParaRPr>
          </a:p>
        </p:txBody>
      </p:sp>
      <p:sp>
        <p:nvSpPr>
          <p:cNvPr id="9" name="Rectangle 8"/>
          <p:cNvSpPr/>
          <p:nvPr/>
        </p:nvSpPr>
        <p:spPr>
          <a:xfrm>
            <a:off x="566928" y="225856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225856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228600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2" name="TextBox 11"/>
          <p:cNvSpPr txBox="1"/>
          <p:nvPr/>
        </p:nvSpPr>
        <p:spPr>
          <a:xfrm>
            <a:off x="841248" y="230428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docker run -d -p 5001:5000 --name web1 lab4
curl http://localhost:5001
docker run -d -p 5002:5000 --name web2 lab4
curl http://localhost:5002</a:t>
            </a:r>
            <a:endParaRPr sz="900" b="0" i="0">
              <a:solidFill>
                <a:srgbClr val="FFFFFF"/>
              </a:solidFill>
              <a:latin typeface="Courier New" panose="02070309020205020404"/>
            </a:endParaRPr>
          </a:p>
        </p:txBody>
      </p:sp>
      <p:sp>
        <p:nvSpPr>
          <p:cNvPr id="13" name="TextBox 12"/>
          <p:cNvSpPr txBox="1"/>
          <p:nvPr/>
        </p:nvSpPr>
        <p:spPr>
          <a:xfrm>
            <a:off x="640080" y="33649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View port mappings:</a:t>
            </a:r>
            <a:endParaRPr sz="1600" b="1" i="0">
              <a:solidFill>
                <a:srgbClr val="0F172A"/>
              </a:solidFill>
              <a:latin typeface="Calibri" panose="020F0502020204030204"/>
            </a:endParaRPr>
          </a:p>
        </p:txBody>
      </p:sp>
      <p:sp>
        <p:nvSpPr>
          <p:cNvPr id="14" name="Rectangle 13"/>
          <p:cNvSpPr/>
          <p:nvPr/>
        </p:nvSpPr>
        <p:spPr>
          <a:xfrm>
            <a:off x="566928" y="368503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68503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371246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7" name="TextBox 16"/>
          <p:cNvSpPr txBox="1"/>
          <p:nvPr/>
        </p:nvSpPr>
        <p:spPr>
          <a:xfrm>
            <a:off x="841248" y="373075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 port web1
docker port web2</a:t>
            </a:r>
            <a:endParaRPr sz="900" b="0" i="0">
              <a:solidFill>
                <a:srgbClr val="FFFFFF"/>
              </a:solidFill>
              <a:latin typeface="Courier New" panose="02070309020205020404"/>
            </a:endParaRPr>
          </a:p>
        </p:txBody>
      </p:sp>
      <p:sp>
        <p:nvSpPr>
          <p:cNvPr id="18" name="TextBox 17"/>
          <p:cNvSpPr txBox="1"/>
          <p:nvPr/>
        </p:nvSpPr>
        <p:spPr>
          <a:xfrm>
            <a:off x="640080" y="43799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Let Docker assign a random host port (-P):</a:t>
            </a:r>
            <a:endParaRPr sz="1600" b="1" i="0">
              <a:solidFill>
                <a:srgbClr val="0F172A"/>
              </a:solidFill>
              <a:latin typeface="Calibri" panose="020F0502020204030204"/>
            </a:endParaRPr>
          </a:p>
        </p:txBody>
      </p:sp>
      <p:sp>
        <p:nvSpPr>
          <p:cNvPr id="19" name="Rectangle 18"/>
          <p:cNvSpPr/>
          <p:nvPr/>
        </p:nvSpPr>
        <p:spPr>
          <a:xfrm>
            <a:off x="566928" y="470001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8" y="470001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66928" y="472744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2" name="TextBox 21"/>
          <p:cNvSpPr txBox="1"/>
          <p:nvPr/>
        </p:nvSpPr>
        <p:spPr>
          <a:xfrm>
            <a:off x="841248" y="474573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 run -d -P --name web3 lab4
docker port web3</a:t>
            </a:r>
            <a:endParaRPr sz="900" b="0" i="0">
              <a:solidFill>
                <a:srgbClr val="FFFFFF"/>
              </a:solidFill>
              <a:latin typeface="Courier New" panose="02070309020205020404"/>
            </a:endParaRPr>
          </a:p>
        </p:txBody>
      </p:sp>
      <p:sp>
        <p:nvSpPr>
          <p:cNvPr id="23" name="TextBox 22"/>
          <p:cNvSpPr txBox="1"/>
          <p:nvPr/>
        </p:nvSpPr>
        <p:spPr>
          <a:xfrm>
            <a:off x="640080" y="53949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24" name="TextBox 23"/>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https://killercoda.com/tertiary-labs/course/killercoda/day1-03-docker-networking</a:t>
            </a:r>
            <a:endParaRPr sz="1100" b="0" i="1">
              <a:solidFill>
                <a:srgbClr val="2496ED"/>
              </a:solidFill>
              <a:latin typeface="Calibri" panose="020F0502020204030204"/>
            </a:endParaRPr>
          </a:p>
        </p:txBody>
      </p:sp>
      <p:sp>
        <p:nvSpPr>
          <p:cNvPr id="25" name="TextBox 2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6" name="TextBox 2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7" name="TextBox 2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45</a:t>
            </a:r>
            <a:endParaRPr sz="900" b="0" i="0">
              <a:solidFill>
                <a:srgbClr val="718596"/>
              </a:solidFill>
              <a:latin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6</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Configuration with Environment Variables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 8 — Runtime config without rebuilding</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ENV in Dockerfile</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Runtime -e flag</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.env files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8: Environment config</a:t>
            </a:r>
            <a:endParaRPr sz="1800" b="0" i="0">
              <a:solidFill>
                <a:srgbClr val="CBD5E1"/>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46</a:t>
            </a:r>
            <a:endParaRPr sz="900" b="0" i="0">
              <a:solidFill>
                <a:srgbClr val="718596"/>
              </a:solidFill>
              <a:latin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CONFIGURATION</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Why Environment Variables?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Environment variables let you configure a container at runtime — no rebuild needed.</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Three ways to pass env vars: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1.  ENV in Dockerfile — bakes in defaults</a:t>
            </a:r>
            <a:endParaRPr sz="1600" b="0" i="0">
              <a:solidFill>
                <a:srgbClr val="0F172A"/>
              </a:solidFill>
              <a:latin typeface="Calibri" panose="020F0502020204030204"/>
            </a:endParaRPr>
          </a:p>
        </p:txBody>
      </p:sp>
      <p:sp>
        <p:nvSpPr>
          <p:cNvPr id="10" name="Rectangle 9"/>
          <p:cNvSpPr/>
          <p:nvPr/>
        </p:nvSpPr>
        <p:spPr>
          <a:xfrm>
            <a:off x="566928" y="2825496"/>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871216"/>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ENV MY_NAME=World</a:t>
            </a:r>
            <a:endParaRPr sz="900" b="0" i="0">
              <a:solidFill>
                <a:srgbClr val="0F172A"/>
              </a:solidFill>
              <a:latin typeface="Courier New" panose="02070309020205020404"/>
            </a:endParaRPr>
          </a:p>
        </p:txBody>
      </p:sp>
      <p:sp>
        <p:nvSpPr>
          <p:cNvPr id="12" name="TextBox 11"/>
          <p:cNvSpPr txBox="1"/>
          <p:nvPr/>
        </p:nvSpPr>
        <p:spPr>
          <a:xfrm>
            <a:off x="640080" y="3314700"/>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2.  -e flag at runtime — override per container</a:t>
            </a:r>
            <a:endParaRPr sz="1600" b="0" i="0">
              <a:solidFill>
                <a:srgbClr val="0F172A"/>
              </a:solidFill>
              <a:latin typeface="Calibri" panose="020F0502020204030204"/>
            </a:endParaRPr>
          </a:p>
        </p:txBody>
      </p:sp>
      <p:sp>
        <p:nvSpPr>
          <p:cNvPr id="13" name="Rectangle 12"/>
          <p:cNvSpPr/>
          <p:nvPr/>
        </p:nvSpPr>
        <p:spPr>
          <a:xfrm>
            <a:off x="566928" y="363474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68046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docker run -e MY_NAME=Alfred myimage</a:t>
            </a:r>
            <a:endParaRPr sz="900" b="0" i="0">
              <a:solidFill>
                <a:srgbClr val="0F172A"/>
              </a:solidFill>
              <a:latin typeface="Courier New" panose="02070309020205020404"/>
            </a:endParaRPr>
          </a:p>
        </p:txBody>
      </p:sp>
      <p:sp>
        <p:nvSpPr>
          <p:cNvPr id="15" name="TextBox 14"/>
          <p:cNvSpPr txBox="1"/>
          <p:nvPr/>
        </p:nvSpPr>
        <p:spPr>
          <a:xfrm>
            <a:off x="640080" y="412394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3.  --env-file — pass many vars from a file</a:t>
            </a:r>
            <a:endParaRPr sz="1600" b="0" i="0">
              <a:solidFill>
                <a:srgbClr val="0F172A"/>
              </a:solidFill>
              <a:latin typeface="Calibri" panose="020F0502020204030204"/>
            </a:endParaRPr>
          </a:p>
        </p:txBody>
      </p:sp>
      <p:sp>
        <p:nvSpPr>
          <p:cNvPr id="16" name="Rectangle 15"/>
          <p:cNvSpPr/>
          <p:nvPr/>
        </p:nvSpPr>
        <p:spPr>
          <a:xfrm>
            <a:off x="566928" y="4443984"/>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489704"/>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docker run --env-file .env myimage</a:t>
            </a:r>
            <a:endParaRPr sz="900" b="0" i="0">
              <a:solidFill>
                <a:srgbClr val="0F172A"/>
              </a:solidFill>
              <a:latin typeface="Courier New" panose="02070309020205020404"/>
            </a:endParaRPr>
          </a:p>
        </p:txBody>
      </p:sp>
      <p:sp>
        <p:nvSpPr>
          <p:cNvPr id="18" name="TextBox 17"/>
          <p:cNvSpPr txBox="1"/>
          <p:nvPr/>
        </p:nvSpPr>
        <p:spPr>
          <a:xfrm>
            <a:off x="640080" y="513435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Never hardcode secrets (passwords, API keys) in a Dockerfile.</a:t>
            </a:r>
            <a:endParaRPr sz="1400" b="0" i="1">
              <a:solidFill>
                <a:srgbClr val="2496ED"/>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47</a:t>
            </a:r>
            <a:endParaRPr sz="900" b="0" i="0">
              <a:solidFill>
                <a:srgbClr val="718596"/>
              </a:solidFill>
              <a:latin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8</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Environment Variables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https://killercoda.com/tertiary-labs/course/killercoda/day1-04-docker-config</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48</a:t>
            </a:r>
            <a:endParaRPr sz="900" b="0" i="0">
              <a:solidFill>
                <a:srgbClr val="718596"/>
              </a:solidFill>
              <a:latin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8 — CONFIGURATION</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Environment Variables — Files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main.py</a:t>
            </a:r>
            <a:endParaRPr sz="1600" b="1" i="0">
              <a:solidFill>
                <a:srgbClr val="0F172A"/>
              </a:solidFill>
              <a:latin typeface="Calibri" panose="020F0502020204030204"/>
            </a:endParaRPr>
          </a:p>
        </p:txBody>
      </p:sp>
      <p:sp>
        <p:nvSpPr>
          <p:cNvPr id="8" name="Rectangle 7"/>
          <p:cNvSpPr/>
          <p:nvPr/>
        </p:nvSpPr>
        <p:spPr>
          <a:xfrm>
            <a:off x="566928" y="189280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import os
name = os.environ.get("MY_NAME", "World")
env  = os.environ.get("MY_ENV",  "development")
print(f"Hello, {name}! Environment: {env}")</a:t>
            </a:r>
            <a:endParaRPr sz="900" b="0" i="0">
              <a:solidFill>
                <a:srgbClr val="FFFFFF"/>
              </a:solidFill>
              <a:latin typeface="Courier New" panose="02070309020205020404"/>
            </a:endParaRPr>
          </a:p>
        </p:txBody>
      </p:sp>
      <p:sp>
        <p:nvSpPr>
          <p:cNvPr id="12" name="TextBox 11"/>
          <p:cNvSpPr txBox="1"/>
          <p:nvPr/>
        </p:nvSpPr>
        <p:spPr>
          <a:xfrm>
            <a:off x="640080" y="32004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Dockerfile</a:t>
            </a:r>
            <a:endParaRPr sz="1600" b="1" i="0">
              <a:solidFill>
                <a:srgbClr val="0F172A"/>
              </a:solidFill>
              <a:latin typeface="Calibri" panose="020F0502020204030204"/>
            </a:endParaRPr>
          </a:p>
        </p:txBody>
      </p:sp>
      <p:sp>
        <p:nvSpPr>
          <p:cNvPr id="13" name="Rectangle 12"/>
          <p:cNvSpPr/>
          <p:nvPr/>
        </p:nvSpPr>
        <p:spPr>
          <a:xfrm>
            <a:off x="566928" y="3520440"/>
            <a:ext cx="11119104" cy="13807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20440"/>
            <a:ext cx="256032" cy="13807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547872"/>
            <a:ext cx="256032" cy="13807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566160"/>
            <a:ext cx="10771632" cy="1380744"/>
          </a:xfrm>
          <a:prstGeom prst="rect">
            <a:avLst/>
          </a:prstGeom>
          <a:noFill/>
        </p:spPr>
        <p:txBody>
          <a:bodyPr wrap="square">
            <a:spAutoFit/>
          </a:bodyPr>
          <a:lstStyle/>
          <a:p>
            <a:pPr algn="l">
              <a:buNone/>
            </a:pPr>
            <a:r>
              <a:rPr sz="900" b="0" i="0">
                <a:solidFill>
                  <a:srgbClr val="FFFFFF"/>
                </a:solidFill>
                <a:latin typeface="Courier New" panose="02070309020205020404"/>
              </a:rPr>
              <a:t>FROM python:3.11-slim
WORKDIR /app
ENV MY_NAME=World
ENV MY_ENV=development
COPY main.py .
CMD ["python", "main.py"]</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https://killercoda.com/tertiary-labs/course/killercoda/day1-04-docker-config</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49</a:t>
            </a:r>
            <a:endParaRPr sz="900" b="0" i="0">
              <a:solidFill>
                <a:srgbClr val="718596"/>
              </a:solidFill>
              <a:latin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8 — CONFIGURATION</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Environment Variables — Commands</a:t>
            </a:r>
            <a:endParaRPr sz="2600" b="1" i="0">
              <a:solidFill>
                <a:srgbClr val="FFFFFF"/>
              </a:solidFill>
              <a:latin typeface="Cambria" panose="02040503050406030204"/>
            </a:endParaRPr>
          </a:p>
        </p:txBody>
      </p:sp>
      <p:sp>
        <p:nvSpPr>
          <p:cNvPr id="7" name="Rectangle 6"/>
          <p:cNvSpPr/>
          <p:nvPr/>
        </p:nvSpPr>
        <p:spPr>
          <a:xfrm>
            <a:off x="566928" y="152704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52704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0" name="TextBox 9"/>
          <p:cNvSpPr txBox="1"/>
          <p:nvPr/>
        </p:nvSpPr>
        <p:spPr>
          <a:xfrm>
            <a:off x="841248" y="157276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mkdir lab8 &amp;&amp; cd lab8
# Create main.py and Dockerfile (see previous slide)</a:t>
            </a:r>
            <a:endParaRPr sz="900" b="0" i="0">
              <a:solidFill>
                <a:srgbClr val="FFFFFF"/>
              </a:solidFill>
              <a:latin typeface="Courier New" panose="02070309020205020404"/>
            </a:endParaRPr>
          </a:p>
        </p:txBody>
      </p:sp>
      <p:sp>
        <p:nvSpPr>
          <p:cNvPr id="11" name="TextBox 10"/>
          <p:cNvSpPr txBox="1"/>
          <p:nvPr/>
        </p:nvSpPr>
        <p:spPr>
          <a:xfrm>
            <a:off x="640080" y="22219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Build the image:</a:t>
            </a:r>
            <a:endParaRPr sz="1600" b="1" i="0">
              <a:solidFill>
                <a:srgbClr val="0F172A"/>
              </a:solidFill>
              <a:latin typeface="Calibri" panose="020F0502020204030204"/>
            </a:endParaRPr>
          </a:p>
        </p:txBody>
      </p:sp>
      <p:sp>
        <p:nvSpPr>
          <p:cNvPr id="12" name="Rectangle 11"/>
          <p:cNvSpPr/>
          <p:nvPr/>
        </p:nvSpPr>
        <p:spPr>
          <a:xfrm>
            <a:off x="566928" y="2542032"/>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542032"/>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569464"/>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5" name="TextBox 14"/>
          <p:cNvSpPr txBox="1"/>
          <p:nvPr/>
        </p:nvSpPr>
        <p:spPr>
          <a:xfrm>
            <a:off x="841248" y="2587752"/>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 build -t lab8 .</a:t>
            </a:r>
            <a:endParaRPr sz="900" b="0" i="0">
              <a:solidFill>
                <a:srgbClr val="FFFFFF"/>
              </a:solidFill>
              <a:latin typeface="Courier New" panose="02070309020205020404"/>
            </a:endParaRPr>
          </a:p>
        </p:txBody>
      </p:sp>
      <p:sp>
        <p:nvSpPr>
          <p:cNvPr id="16" name="TextBox 15"/>
          <p:cNvSpPr txBox="1"/>
          <p:nvPr/>
        </p:nvSpPr>
        <p:spPr>
          <a:xfrm>
            <a:off x="640080" y="303123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with different env var combinations:</a:t>
            </a:r>
            <a:endParaRPr sz="1600" b="1" i="0">
              <a:solidFill>
                <a:srgbClr val="0F172A"/>
              </a:solidFill>
              <a:latin typeface="Calibri" panose="020F0502020204030204"/>
            </a:endParaRPr>
          </a:p>
        </p:txBody>
      </p:sp>
      <p:sp>
        <p:nvSpPr>
          <p:cNvPr id="17" name="Rectangle 16"/>
          <p:cNvSpPr/>
          <p:nvPr/>
        </p:nvSpPr>
        <p:spPr>
          <a:xfrm>
            <a:off x="566928" y="335127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335127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337870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0" name="TextBox 19"/>
          <p:cNvSpPr txBox="1"/>
          <p:nvPr/>
        </p:nvSpPr>
        <p:spPr>
          <a:xfrm>
            <a:off x="841248" y="339699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 run lab8                                      # uses Dockerfile defaults
docker run -e MY_NAME=Alfred lab8                    # override name
docker run -e MY_NAME=Alfred -e MY_ENV=production lab8</a:t>
            </a:r>
            <a:endParaRPr sz="900" b="0" i="0">
              <a:solidFill>
                <a:srgbClr val="FFFFFF"/>
              </a:solidFill>
              <a:latin typeface="Courier New" panose="02070309020205020404"/>
            </a:endParaRPr>
          </a:p>
        </p:txBody>
      </p:sp>
      <p:sp>
        <p:nvSpPr>
          <p:cNvPr id="21" name="TextBox 20"/>
          <p:cNvSpPr txBox="1"/>
          <p:nvPr/>
        </p:nvSpPr>
        <p:spPr>
          <a:xfrm>
            <a:off x="640080" y="42519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Use an env file:</a:t>
            </a:r>
            <a:endParaRPr sz="1600" b="1" i="0">
              <a:solidFill>
                <a:srgbClr val="0F172A"/>
              </a:solidFill>
              <a:latin typeface="Calibri" panose="020F0502020204030204"/>
            </a:endParaRPr>
          </a:p>
        </p:txBody>
      </p:sp>
      <p:sp>
        <p:nvSpPr>
          <p:cNvPr id="22" name="Rectangle 21"/>
          <p:cNvSpPr/>
          <p:nvPr/>
        </p:nvSpPr>
        <p:spPr>
          <a:xfrm>
            <a:off x="566928" y="4572000"/>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4572000"/>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6928" y="4599432"/>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5" name="TextBox 24"/>
          <p:cNvSpPr txBox="1"/>
          <p:nvPr/>
        </p:nvSpPr>
        <p:spPr>
          <a:xfrm>
            <a:off x="841248" y="4617720"/>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echo "MY_NAME=Student\nMY_ENV=staging" &gt; .env
docker run --env-file .env lab8</a:t>
            </a:r>
            <a:endParaRPr sz="900" b="0" i="0">
              <a:solidFill>
                <a:srgbClr val="FFFFFF"/>
              </a:solidFill>
              <a:latin typeface="Courier New" panose="02070309020205020404"/>
            </a:endParaRPr>
          </a:p>
        </p:txBody>
      </p:sp>
      <p:sp>
        <p:nvSpPr>
          <p:cNvPr id="26" name="TextBox 25"/>
          <p:cNvSpPr txBox="1"/>
          <p:nvPr/>
        </p:nvSpPr>
        <p:spPr>
          <a:xfrm>
            <a:off x="640080" y="52669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View all environment variables inside the container:</a:t>
            </a:r>
            <a:endParaRPr sz="1600" b="1" i="0">
              <a:solidFill>
                <a:srgbClr val="0F172A"/>
              </a:solidFill>
              <a:latin typeface="Calibri" panose="020F0502020204030204"/>
            </a:endParaRPr>
          </a:p>
        </p:txBody>
      </p:sp>
      <p:sp>
        <p:nvSpPr>
          <p:cNvPr id="27" name="TextBox 2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https://killercoda.com/tertiary-labs/course/killercoda/day1-04-docker-config</a:t>
            </a:r>
            <a:endParaRPr sz="1100" b="0" i="1">
              <a:solidFill>
                <a:srgbClr val="2496ED"/>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50</a:t>
            </a:r>
            <a:endParaRPr sz="900" b="0" i="0">
              <a:solidFill>
                <a:srgbClr val="718596"/>
              </a:solidFill>
              <a:latin typeface="Calibri" panose="020F050202020403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HUB</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Sharing Images — Docker Hub</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registry is a centralised location for storing and sharing container images. Docker Hub is the default public registry — over 100,000 images including Docker Official Images and Verified Publishers.   (docs.docker.com)</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Registry vs Repository:</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Registry  = the overall system (e.g. Docker Hub, Amazon ECR, Azure ACR)</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Repository = a collection of related images within a registry (like a folder)</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Push workflow (Lab 9 — Reference Only):</a:t>
            </a:r>
            <a:endParaRPr sz="1600" b="1" i="0">
              <a:solidFill>
                <a:srgbClr val="0F172A"/>
              </a:solidFill>
              <a:latin typeface="Calibri" panose="020F0502020204030204"/>
            </a:endParaRPr>
          </a:p>
        </p:txBody>
      </p:sp>
      <p:sp>
        <p:nvSpPr>
          <p:cNvPr id="12" name="Rectangle 11"/>
          <p:cNvSpPr/>
          <p:nvPr/>
        </p:nvSpPr>
        <p:spPr>
          <a:xfrm>
            <a:off x="566928" y="3758184"/>
            <a:ext cx="11119104" cy="7635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803904"/>
            <a:ext cx="10972800" cy="763524"/>
          </a:xfrm>
          <a:prstGeom prst="rect">
            <a:avLst/>
          </a:prstGeom>
          <a:noFill/>
        </p:spPr>
        <p:txBody>
          <a:bodyPr wrap="square">
            <a:spAutoFit/>
          </a:bodyPr>
          <a:lstStyle/>
          <a:p>
            <a:pPr algn="l">
              <a:buNone/>
            </a:pPr>
            <a:r>
              <a:rPr sz="900" b="0" i="0">
                <a:solidFill>
                  <a:srgbClr val="0F172A"/>
                </a:solidFill>
                <a:latin typeface="Courier New" panose="02070309020205020404"/>
              </a:rPr>
              <a:t>docker login
docker tag lab4 &lt;username&gt;/lab4:v1
docker push &lt;username&gt;/lab4:v1</a:t>
            </a:r>
            <a:endParaRPr sz="900" b="0" i="0">
              <a:solidFill>
                <a:srgbClr val="0F172A"/>
              </a:solidFill>
              <a:latin typeface="Courier New" panose="02070309020205020404"/>
            </a:endParaRPr>
          </a:p>
        </p:txBody>
      </p:sp>
      <p:sp>
        <p:nvSpPr>
          <p:cNvPr id="14" name="TextBox 13"/>
          <p:cNvSpPr txBox="1"/>
          <p:nvPr/>
        </p:nvSpPr>
        <p:spPr>
          <a:xfrm>
            <a:off x="640080" y="46588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Pull from anywhere:</a:t>
            </a:r>
            <a:endParaRPr sz="1600" b="1" i="0">
              <a:solidFill>
                <a:srgbClr val="0F172A"/>
              </a:solidFill>
              <a:latin typeface="Calibri" panose="020F0502020204030204"/>
            </a:endParaRPr>
          </a:p>
        </p:txBody>
      </p:sp>
      <p:sp>
        <p:nvSpPr>
          <p:cNvPr id="15" name="Rectangle 14"/>
          <p:cNvSpPr/>
          <p:nvPr/>
        </p:nvSpPr>
        <p:spPr>
          <a:xfrm>
            <a:off x="566928" y="4978908"/>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5024628"/>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docker pull &lt;username&gt;/lab4:v1
docker run -p 5001:5000 &lt;username&gt;/lab4:v1</a:t>
            </a:r>
            <a:endParaRPr sz="900" b="0" i="0">
              <a:solidFill>
                <a:srgbClr val="0F172A"/>
              </a:solidFill>
              <a:latin typeface="Courier New" panose="020703090202050204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51</a:t>
            </a:r>
            <a:endParaRPr sz="900" b="0" i="0">
              <a:solidFill>
                <a:srgbClr val="718596"/>
              </a:solidFill>
              <a:latin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7ED"/>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KNOWLEDGE CHECK  1</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Quick Review — Docker Basics</a:t>
            </a:r>
            <a:endParaRPr sz="3000" b="1" i="0">
              <a:solidFill>
                <a:srgbClr val="0F172A"/>
              </a:solidFill>
              <a:latin typeface="Cambria" panose="02040503050406030204"/>
            </a:endParaRPr>
          </a:p>
        </p:txBody>
      </p:sp>
      <p:sp>
        <p:nvSpPr>
          <p:cNvPr id="4" name="TextBox 3"/>
          <p:cNvSpPr txBox="1"/>
          <p:nvPr/>
        </p:nvSpPr>
        <p:spPr>
          <a:xfrm>
            <a:off x="640080" y="16459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Q1.  What is the difference between a Docker image and a container?</a:t>
            </a:r>
            <a:endParaRPr sz="1600" b="1" i="0">
              <a:solidFill>
                <a:srgbClr val="0F172A"/>
              </a:solidFill>
              <a:latin typeface="Calibri" panose="020F0502020204030204"/>
            </a:endParaRPr>
          </a:p>
        </p:txBody>
      </p:sp>
      <p:sp>
        <p:nvSpPr>
          <p:cNvPr id="5" name="TextBox 4"/>
          <p:cNvSpPr txBox="1"/>
          <p:nvPr/>
        </p:nvSpPr>
        <p:spPr>
          <a:xfrm>
            <a:off x="640080" y="221284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Q2.  Which command shows ALL containers including stopped ones?</a:t>
            </a:r>
            <a:endParaRPr sz="1600" b="1" i="0">
              <a:solidFill>
                <a:srgbClr val="0F172A"/>
              </a:solidFill>
              <a:latin typeface="Calibri" panose="020F0502020204030204"/>
            </a:endParaRPr>
          </a:p>
        </p:txBody>
      </p:sp>
      <p:sp>
        <p:nvSpPr>
          <p:cNvPr id="6" name="Rectangle 5"/>
          <p:cNvSpPr/>
          <p:nvPr/>
        </p:nvSpPr>
        <p:spPr>
          <a:xfrm>
            <a:off x="566928" y="253288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257860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docker ps        B)  docker ps -a        C)  docker images        D)  docker ls -a</a:t>
            </a:r>
            <a:endParaRPr sz="900" b="0" i="0">
              <a:solidFill>
                <a:srgbClr val="0F172A"/>
              </a:solidFill>
              <a:latin typeface="Courier New" panose="02070309020205020404"/>
            </a:endParaRPr>
          </a:p>
        </p:txBody>
      </p:sp>
      <p:sp>
        <p:nvSpPr>
          <p:cNvPr id="8" name="TextBox 7"/>
          <p:cNvSpPr txBox="1"/>
          <p:nvPr/>
        </p:nvSpPr>
        <p:spPr>
          <a:xfrm>
            <a:off x="640080" y="32232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Q3.  Which Dockerfile instruction sets the default command when a container starts?</a:t>
            </a:r>
            <a:endParaRPr sz="1600" b="1" i="0">
              <a:solidFill>
                <a:srgbClr val="0F172A"/>
              </a:solidFill>
              <a:latin typeface="Calibri" panose="020F0502020204030204"/>
            </a:endParaRPr>
          </a:p>
        </p:txBody>
      </p:sp>
      <p:sp>
        <p:nvSpPr>
          <p:cNvPr id="9" name="TextBox 8"/>
          <p:cNvSpPr txBox="1"/>
          <p:nvPr/>
        </p:nvSpPr>
        <p:spPr>
          <a:xfrm>
            <a:off x="640080" y="37901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Q4.  True / False:  A named volume is deleted when you run docker rm.</a:t>
            </a:r>
            <a:endParaRPr sz="1600" b="1" i="0">
              <a:solidFill>
                <a:srgbClr val="0F172A"/>
              </a:solidFill>
              <a:latin typeface="Calibri" panose="020F0502020204030204"/>
            </a:endParaRPr>
          </a:p>
        </p:txBody>
      </p:sp>
      <p:sp>
        <p:nvSpPr>
          <p:cNvPr id="10" name="TextBox 9"/>
          <p:cNvSpPr txBox="1"/>
          <p:nvPr/>
        </p:nvSpPr>
        <p:spPr>
          <a:xfrm>
            <a:off x="640080" y="43571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Q5.  What flag maps host port 8080 to container port 3000?</a:t>
            </a:r>
            <a:endParaRPr sz="1600" b="1" i="0">
              <a:solidFill>
                <a:srgbClr val="0F172A"/>
              </a:solidFill>
              <a:latin typeface="Calibri" panose="020F0502020204030204"/>
            </a:endParaRPr>
          </a:p>
        </p:txBody>
      </p:sp>
      <p:sp>
        <p:nvSpPr>
          <p:cNvPr id="11" name="Rectangle 10"/>
          <p:cNvSpPr/>
          <p:nvPr/>
        </p:nvSpPr>
        <p:spPr>
          <a:xfrm>
            <a:off x="566928" y="4677156"/>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4722876"/>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-p 3000:8080        B)  -p 8080:3000        C)  -P 8080:3000        D)  --port 8080/3000</a:t>
            </a:r>
            <a:endParaRPr sz="900" b="0" i="0">
              <a:solidFill>
                <a:srgbClr val="0F172A"/>
              </a:solidFill>
              <a:latin typeface="Courier New" panose="020703090202050204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52</a:t>
            </a:r>
            <a:endParaRPr sz="900" b="0" i="0">
              <a:solidFill>
                <a:srgbClr val="718596"/>
              </a:solidFill>
              <a:latin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7</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Docker Compose</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10, 11 &amp; 12 — Multi-service apps</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Compose file structure</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Services &amp; networks</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10: First Compose app</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11: Multi-service</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12: Full-stack app</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53</a:t>
            </a:r>
            <a:endParaRPr sz="900" b="0" i="0">
              <a:solidFill>
                <a:srgbClr val="718596"/>
              </a:solidFill>
              <a:latin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Docker Compose?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Docker Compose is a tool for defining and running multi-container applications. With Compose, you can define all of your containers and their configurations in a single YAML file.   (docs.docker.com/compose)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Without Compose — run each step manually:</a:t>
            </a:r>
            <a:endParaRPr sz="1600" b="1" i="0">
              <a:solidFill>
                <a:srgbClr val="0F172A"/>
              </a:solidFill>
              <a:latin typeface="Calibri" panose="020F0502020204030204"/>
            </a:endParaRPr>
          </a:p>
        </p:txBody>
      </p:sp>
      <p:sp>
        <p:nvSpPr>
          <p:cNvPr id="9" name="Rectangle 8"/>
          <p:cNvSpPr/>
          <p:nvPr/>
        </p:nvSpPr>
        <p:spPr>
          <a:xfrm>
            <a:off x="566928" y="2459736"/>
            <a:ext cx="11119104" cy="7635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763524"/>
          </a:xfrm>
          <a:prstGeom prst="rect">
            <a:avLst/>
          </a:prstGeom>
          <a:noFill/>
        </p:spPr>
        <p:txBody>
          <a:bodyPr wrap="square">
            <a:spAutoFit/>
          </a:bodyPr>
          <a:lstStyle/>
          <a:p>
            <a:pPr algn="l">
              <a:buNone/>
            </a:pPr>
            <a:r>
              <a:rPr sz="900" b="0" i="0">
                <a:solidFill>
                  <a:srgbClr val="0F172A"/>
                </a:solidFill>
                <a:latin typeface="Courier New" panose="02070309020205020404"/>
              </a:rPr>
              <a:t>docker network create app-net
docker run -d --name redis --network app-net redis:7
docker run -d -p 5001:5000 --network app-net web</a:t>
            </a:r>
            <a:endParaRPr sz="900" b="0" i="0">
              <a:solidFill>
                <a:srgbClr val="0F172A"/>
              </a:solidFill>
              <a:latin typeface="Courier New" panose="02070309020205020404"/>
            </a:endParaRPr>
          </a:p>
        </p:txBody>
      </p:sp>
      <p:sp>
        <p:nvSpPr>
          <p:cNvPr id="11" name="TextBox 10"/>
          <p:cNvSpPr txBox="1"/>
          <p:nvPr/>
        </p:nvSpPr>
        <p:spPr>
          <a:xfrm>
            <a:off x="640080" y="35615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With Compose — single-command deployment (anyone who clones the repo can run):</a:t>
            </a:r>
            <a:endParaRPr sz="1600" b="1" i="0">
              <a:solidFill>
                <a:srgbClr val="0F172A"/>
              </a:solidFill>
              <a:latin typeface="Calibri" panose="020F0502020204030204"/>
            </a:endParaRPr>
          </a:p>
        </p:txBody>
      </p:sp>
      <p:sp>
        <p:nvSpPr>
          <p:cNvPr id="12" name="Rectangle 11"/>
          <p:cNvSpPr/>
          <p:nvPr/>
        </p:nvSpPr>
        <p:spPr>
          <a:xfrm>
            <a:off x="566928" y="388162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92734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docker-compose up -d</a:t>
            </a:r>
            <a:endParaRPr sz="900" b="0" i="0">
              <a:solidFill>
                <a:srgbClr val="0F172A"/>
              </a:solidFill>
              <a:latin typeface="Courier New" panose="02070309020205020404"/>
            </a:endParaRPr>
          </a:p>
        </p:txBody>
      </p:sp>
      <p:sp>
        <p:nvSpPr>
          <p:cNvPr id="14" name="TextBox 13"/>
          <p:cNvSpPr txBox="1"/>
          <p:nvPr/>
        </p:nvSpPr>
        <p:spPr>
          <a:xfrm>
            <a:off x="640080" y="4572000"/>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Compose operates declaratively — specify desired state; Compose applies changes intelligently. Handles networking, volumes, dependency order, and env vars.</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54</a:t>
            </a:r>
            <a:endParaRPr sz="900" b="0" i="0">
              <a:solidFill>
                <a:srgbClr val="718596"/>
              </a:solidFill>
              <a:latin typeface="Calibri" panose="020F05020202040302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Compose Multi-Service Architecture</a:t>
            </a:r>
            <a:endParaRPr sz="2600" b="1" i="0">
              <a:solidFill>
                <a:srgbClr val="FFFFFF"/>
              </a:solidFill>
              <a:latin typeface="Cambria" panose="02040503050406030204"/>
            </a:endParaRPr>
          </a:p>
        </p:txBody>
      </p:sp>
      <p:sp>
        <p:nvSpPr>
          <p:cNvPr id="7" name="Rectangle 6"/>
          <p:cNvSpPr/>
          <p:nvPr/>
        </p:nvSpPr>
        <p:spPr>
          <a:xfrm>
            <a:off x="502920" y="1737360"/>
            <a:ext cx="8229600" cy="34747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773936"/>
            <a:ext cx="8046720" cy="237744"/>
          </a:xfrm>
          <a:prstGeom prst="rect">
            <a:avLst/>
          </a:prstGeom>
          <a:noFill/>
        </p:spPr>
        <p:txBody>
          <a:bodyPr wrap="square">
            <a:spAutoFit/>
          </a:bodyPr>
          <a:lstStyle/>
          <a:p>
            <a:pPr algn="l">
              <a:buNone/>
            </a:pPr>
            <a:r>
              <a:rPr sz="900" b="1" i="0">
                <a:solidFill>
                  <a:srgbClr val="64748B"/>
                </a:solidFill>
                <a:latin typeface="Calibri" panose="020F0502020204030204"/>
              </a:rPr>
              <a:t>Compose Network  (app-net — created automatically)</a:t>
            </a:r>
            <a:endParaRPr sz="900" b="1" i="0">
              <a:solidFill>
                <a:srgbClr val="64748B"/>
              </a:solidFill>
              <a:latin typeface="Calibri" panose="020F0502020204030204"/>
            </a:endParaRPr>
          </a:p>
        </p:txBody>
      </p:sp>
      <p:sp>
        <p:nvSpPr>
          <p:cNvPr id="9" name="Rectangle 8"/>
          <p:cNvSpPr/>
          <p:nvPr/>
        </p:nvSpPr>
        <p:spPr>
          <a:xfrm>
            <a:off x="685800" y="2157984"/>
            <a:ext cx="2377440" cy="237744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2212848"/>
            <a:ext cx="2286000" cy="347472"/>
          </a:xfrm>
          <a:prstGeom prst="rect">
            <a:avLst/>
          </a:prstGeom>
          <a:noFill/>
        </p:spPr>
        <p:txBody>
          <a:bodyPr wrap="square">
            <a:spAutoFit/>
          </a:bodyPr>
          <a:lstStyle/>
          <a:p>
            <a:pPr algn="ctr">
              <a:buNone/>
            </a:pPr>
            <a:r>
              <a:rPr sz="1600" b="1" i="0">
                <a:solidFill>
                  <a:srgbClr val="FFFFFF"/>
                </a:solidFill>
                <a:latin typeface="Cambria" panose="02040503050406030204"/>
              </a:rPr>
              <a:t>web</a:t>
            </a:r>
            <a:endParaRPr sz="1600" b="1" i="0">
              <a:solidFill>
                <a:srgbClr val="FFFFFF"/>
              </a:solidFill>
              <a:latin typeface="Cambria" panose="02040503050406030204"/>
            </a:endParaRPr>
          </a:p>
        </p:txBody>
      </p:sp>
      <p:sp>
        <p:nvSpPr>
          <p:cNvPr id="11" name="TextBox 10"/>
          <p:cNvSpPr txBox="1"/>
          <p:nvPr/>
        </p:nvSpPr>
        <p:spPr>
          <a:xfrm>
            <a:off x="777240" y="2615184"/>
            <a:ext cx="2176272" cy="914400"/>
          </a:xfrm>
          <a:prstGeom prst="rect">
            <a:avLst/>
          </a:prstGeom>
          <a:noFill/>
        </p:spPr>
        <p:txBody>
          <a:bodyPr wrap="square">
            <a:spAutoFit/>
          </a:bodyPr>
          <a:lstStyle/>
          <a:p>
            <a:pPr algn="l">
              <a:buNone/>
            </a:pPr>
            <a:r>
              <a:rPr sz="800" b="0" i="0">
                <a:solidFill>
                  <a:srgbClr val="94A3B8"/>
                </a:solidFill>
                <a:latin typeface="Courier New" panose="02070309020205020404"/>
              </a:rPr>
              <a:t>build: .
ports: 3000:3000
depends_on:
  - db
  - redis</a:t>
            </a:r>
            <a:endParaRPr sz="800" b="0" i="0">
              <a:solidFill>
                <a:srgbClr val="94A3B8"/>
              </a:solidFill>
              <a:latin typeface="Courier New" panose="02070309020205020404"/>
            </a:endParaRPr>
          </a:p>
        </p:txBody>
      </p:sp>
      <p:sp>
        <p:nvSpPr>
          <p:cNvPr id="12" name="TextBox 11"/>
          <p:cNvSpPr txBox="1"/>
          <p:nvPr/>
        </p:nvSpPr>
        <p:spPr>
          <a:xfrm>
            <a:off x="3127248" y="2560320"/>
            <a:ext cx="502920" cy="384048"/>
          </a:xfrm>
          <a:prstGeom prst="rect">
            <a:avLst/>
          </a:prstGeom>
          <a:noFill/>
        </p:spPr>
        <p:txBody>
          <a:bodyPr wrap="square">
            <a:spAutoFit/>
          </a:bodyPr>
          <a:lstStyle/>
          <a:p>
            <a:pPr algn="ctr">
              <a:buNone/>
            </a:pPr>
            <a:r>
              <a:rPr sz="2600" b="1" i="0">
                <a:solidFill>
                  <a:srgbClr val="2496ED"/>
                </a:solidFill>
                <a:latin typeface="Calibri" panose="020F0502020204030204"/>
              </a:rPr>
              <a:t>→</a:t>
            </a:r>
            <a:endParaRPr sz="2600" b="1" i="0">
              <a:solidFill>
                <a:srgbClr val="2496ED"/>
              </a:solidFill>
              <a:latin typeface="Calibri" panose="020F0502020204030204"/>
            </a:endParaRPr>
          </a:p>
        </p:txBody>
      </p:sp>
      <p:sp>
        <p:nvSpPr>
          <p:cNvPr id="13" name="TextBox 12"/>
          <p:cNvSpPr txBox="1"/>
          <p:nvPr/>
        </p:nvSpPr>
        <p:spPr>
          <a:xfrm>
            <a:off x="3127248" y="3639312"/>
            <a:ext cx="502920" cy="384048"/>
          </a:xfrm>
          <a:prstGeom prst="rect">
            <a:avLst/>
          </a:prstGeom>
          <a:noFill/>
        </p:spPr>
        <p:txBody>
          <a:bodyPr wrap="square">
            <a:spAutoFit/>
          </a:bodyPr>
          <a:lstStyle/>
          <a:p>
            <a:pPr algn="ctr">
              <a:buNone/>
            </a:pPr>
            <a:r>
              <a:rPr sz="2600" b="1" i="0">
                <a:solidFill>
                  <a:srgbClr val="2496ED"/>
                </a:solidFill>
                <a:latin typeface="Calibri" panose="020F0502020204030204"/>
              </a:rPr>
              <a:t>→</a:t>
            </a:r>
            <a:endParaRPr sz="2600" b="1" i="0">
              <a:solidFill>
                <a:srgbClr val="2496ED"/>
              </a:solidFill>
              <a:latin typeface="Calibri" panose="020F0502020204030204"/>
            </a:endParaRPr>
          </a:p>
        </p:txBody>
      </p:sp>
      <p:sp>
        <p:nvSpPr>
          <p:cNvPr id="14" name="Rectangle 13"/>
          <p:cNvSpPr/>
          <p:nvPr/>
        </p:nvSpPr>
        <p:spPr>
          <a:xfrm>
            <a:off x="3703320" y="2157984"/>
            <a:ext cx="2377440" cy="1280160"/>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49039" y="2212848"/>
            <a:ext cx="2286000" cy="347472"/>
          </a:xfrm>
          <a:prstGeom prst="rect">
            <a:avLst/>
          </a:prstGeom>
          <a:noFill/>
        </p:spPr>
        <p:txBody>
          <a:bodyPr wrap="square">
            <a:spAutoFit/>
          </a:bodyPr>
          <a:lstStyle/>
          <a:p>
            <a:pPr algn="ctr">
              <a:buNone/>
            </a:pPr>
            <a:r>
              <a:rPr sz="1600" b="1" i="0">
                <a:solidFill>
                  <a:srgbClr val="FFFFFF"/>
                </a:solidFill>
                <a:latin typeface="Cambria" panose="02040503050406030204"/>
              </a:rPr>
              <a:t>redis</a:t>
            </a:r>
            <a:endParaRPr sz="1600" b="1" i="0">
              <a:solidFill>
                <a:srgbClr val="FFFFFF"/>
              </a:solidFill>
              <a:latin typeface="Cambria" panose="02040503050406030204"/>
            </a:endParaRPr>
          </a:p>
        </p:txBody>
      </p:sp>
      <p:sp>
        <p:nvSpPr>
          <p:cNvPr id="16" name="TextBox 15"/>
          <p:cNvSpPr txBox="1"/>
          <p:nvPr/>
        </p:nvSpPr>
        <p:spPr>
          <a:xfrm>
            <a:off x="3794760" y="2615184"/>
            <a:ext cx="2176272" cy="640080"/>
          </a:xfrm>
          <a:prstGeom prst="rect">
            <a:avLst/>
          </a:prstGeom>
          <a:noFill/>
        </p:spPr>
        <p:txBody>
          <a:bodyPr wrap="square">
            <a:spAutoFit/>
          </a:bodyPr>
          <a:lstStyle/>
          <a:p>
            <a:pPr algn="l">
              <a:buNone/>
            </a:pPr>
            <a:r>
              <a:rPr sz="800" b="0" i="0">
                <a:solidFill>
                  <a:srgbClr val="94A3B8"/>
                </a:solidFill>
                <a:latin typeface="Courier New" panose="02070309020205020404"/>
              </a:rPr>
              <a:t>image: redis:7-alpine
port: 6379</a:t>
            </a:r>
            <a:endParaRPr sz="800" b="0" i="0">
              <a:solidFill>
                <a:srgbClr val="94A3B8"/>
              </a:solidFill>
              <a:latin typeface="Courier New" panose="02070309020205020404"/>
            </a:endParaRPr>
          </a:p>
        </p:txBody>
      </p:sp>
      <p:sp>
        <p:nvSpPr>
          <p:cNvPr id="17" name="Rectangle 16"/>
          <p:cNvSpPr/>
          <p:nvPr/>
        </p:nvSpPr>
        <p:spPr>
          <a:xfrm>
            <a:off x="3703320" y="3566160"/>
            <a:ext cx="2377440" cy="1536192"/>
          </a:xfrm>
          <a:prstGeom prst="rect">
            <a:avLst/>
          </a:prstGeom>
          <a:solidFill>
            <a:srgbClr val="7B54A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749039" y="3621024"/>
            <a:ext cx="2286000" cy="347472"/>
          </a:xfrm>
          <a:prstGeom prst="rect">
            <a:avLst/>
          </a:prstGeom>
          <a:noFill/>
        </p:spPr>
        <p:txBody>
          <a:bodyPr wrap="square">
            <a:spAutoFit/>
          </a:bodyPr>
          <a:lstStyle/>
          <a:p>
            <a:pPr algn="ctr">
              <a:buNone/>
            </a:pPr>
            <a:r>
              <a:rPr sz="1400" b="1" i="0">
                <a:solidFill>
                  <a:srgbClr val="FFFFFF"/>
                </a:solidFill>
                <a:latin typeface="Cambria" panose="02040503050406030204"/>
              </a:rPr>
              <a:t>db  (postgres)</a:t>
            </a:r>
            <a:endParaRPr sz="1400" b="1" i="0">
              <a:solidFill>
                <a:srgbClr val="FFFFFF"/>
              </a:solidFill>
              <a:latin typeface="Cambria" panose="02040503050406030204"/>
            </a:endParaRPr>
          </a:p>
        </p:txBody>
      </p:sp>
      <p:sp>
        <p:nvSpPr>
          <p:cNvPr id="19" name="TextBox 18"/>
          <p:cNvSpPr txBox="1"/>
          <p:nvPr/>
        </p:nvSpPr>
        <p:spPr>
          <a:xfrm>
            <a:off x="3794760" y="4023360"/>
            <a:ext cx="2176272" cy="822960"/>
          </a:xfrm>
          <a:prstGeom prst="rect">
            <a:avLst/>
          </a:prstGeom>
          <a:noFill/>
        </p:spPr>
        <p:txBody>
          <a:bodyPr wrap="square">
            <a:spAutoFit/>
          </a:bodyPr>
          <a:lstStyle/>
          <a:p>
            <a:pPr algn="l">
              <a:buNone/>
            </a:pPr>
            <a:r>
              <a:rPr sz="800" b="0" i="0">
                <a:solidFill>
                  <a:srgbClr val="94A3B8"/>
                </a:solidFill>
                <a:latin typeface="Courier New" panose="02070309020205020404"/>
              </a:rPr>
              <a:t>image: postgres:16
volumes: pgdata:/var/lib
healthcheck: pg_isready</a:t>
            </a:r>
            <a:endParaRPr sz="800" b="0" i="0">
              <a:solidFill>
                <a:srgbClr val="94A3B8"/>
              </a:solidFill>
              <a:latin typeface="Courier New" panose="02070309020205020404"/>
            </a:endParaRPr>
          </a:p>
        </p:txBody>
      </p:sp>
      <p:sp>
        <p:nvSpPr>
          <p:cNvPr id="20" name="Rectangle 19"/>
          <p:cNvSpPr/>
          <p:nvPr/>
        </p:nvSpPr>
        <p:spPr>
          <a:xfrm>
            <a:off x="6309360" y="3566160"/>
            <a:ext cx="2286000" cy="1536192"/>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3621024"/>
            <a:ext cx="2194560" cy="347472"/>
          </a:xfrm>
          <a:prstGeom prst="rect">
            <a:avLst/>
          </a:prstGeom>
          <a:noFill/>
        </p:spPr>
        <p:txBody>
          <a:bodyPr wrap="square">
            <a:spAutoFit/>
          </a:bodyPr>
          <a:lstStyle/>
          <a:p>
            <a:pPr algn="ctr">
              <a:buNone/>
            </a:pPr>
            <a:r>
              <a:rPr sz="1300" b="1" i="0">
                <a:solidFill>
                  <a:srgbClr val="0F172A"/>
                </a:solidFill>
                <a:latin typeface="Cambria" panose="02040503050406030204"/>
              </a:rPr>
              <a:t>pgdata volume</a:t>
            </a:r>
            <a:endParaRPr sz="1300" b="1" i="0">
              <a:solidFill>
                <a:srgbClr val="0F172A"/>
              </a:solidFill>
              <a:latin typeface="Cambria" panose="02040503050406030204"/>
            </a:endParaRPr>
          </a:p>
        </p:txBody>
      </p:sp>
      <p:sp>
        <p:nvSpPr>
          <p:cNvPr id="22" name="TextBox 21"/>
          <p:cNvSpPr txBox="1"/>
          <p:nvPr/>
        </p:nvSpPr>
        <p:spPr>
          <a:xfrm>
            <a:off x="6355080" y="4023360"/>
            <a:ext cx="2194560" cy="640080"/>
          </a:xfrm>
          <a:prstGeom prst="rect">
            <a:avLst/>
          </a:prstGeom>
          <a:noFill/>
        </p:spPr>
        <p:txBody>
          <a:bodyPr wrap="square">
            <a:spAutoFit/>
          </a:bodyPr>
          <a:lstStyle/>
          <a:p>
            <a:pPr algn="l">
              <a:buNone/>
            </a:pPr>
            <a:r>
              <a:rPr sz="1100" b="0" i="0">
                <a:solidFill>
                  <a:srgbClr val="64748B"/>
                </a:solidFill>
                <a:latin typeface="Calibri" panose="020F0502020204030204"/>
              </a:rPr>
              <a:t>Managed by Docker
Persists after down</a:t>
            </a:r>
            <a:endParaRPr sz="1100" b="0" i="0">
              <a:solidFill>
                <a:srgbClr val="64748B"/>
              </a:solidFill>
              <a:latin typeface="Calibri" panose="020F0502020204030204"/>
            </a:endParaRPr>
          </a:p>
        </p:txBody>
      </p:sp>
      <p:sp>
        <p:nvSpPr>
          <p:cNvPr id="23" name="TextBox 22"/>
          <p:cNvSpPr txBox="1"/>
          <p:nvPr/>
        </p:nvSpPr>
        <p:spPr>
          <a:xfrm>
            <a:off x="6126480" y="4059936"/>
            <a:ext cx="365760" cy="384048"/>
          </a:xfrm>
          <a:prstGeom prst="rect">
            <a:avLst/>
          </a:prstGeom>
          <a:noFill/>
        </p:spPr>
        <p:txBody>
          <a:bodyPr wrap="square">
            <a:spAutoFit/>
          </a:bodyPr>
          <a:lstStyle/>
          <a:p>
            <a:pPr algn="ctr">
              <a:buNone/>
            </a:pPr>
            <a:r>
              <a:rPr sz="2200" b="1" i="0">
                <a:solidFill>
                  <a:srgbClr val="0F172A"/>
                </a:solidFill>
                <a:latin typeface="Calibri" panose="020F0502020204030204"/>
              </a:rPr>
              <a:t>↔</a:t>
            </a:r>
            <a:endParaRPr sz="2200" b="1" i="0">
              <a:solidFill>
                <a:srgbClr val="0F172A"/>
              </a:solidFill>
              <a:latin typeface="Calibri" panose="020F0502020204030204"/>
            </a:endParaRPr>
          </a:p>
        </p:txBody>
      </p:sp>
      <p:sp>
        <p:nvSpPr>
          <p:cNvPr id="24" name="Rectangle 23"/>
          <p:cNvSpPr/>
          <p:nvPr/>
        </p:nvSpPr>
        <p:spPr>
          <a:xfrm>
            <a:off x="8915400" y="2157984"/>
            <a:ext cx="2834640" cy="914400"/>
          </a:xfrm>
          <a:prstGeom prst="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961120" y="2212848"/>
            <a:ext cx="2743200" cy="292608"/>
          </a:xfrm>
          <a:prstGeom prst="rect">
            <a:avLst/>
          </a:prstGeom>
          <a:noFill/>
        </p:spPr>
        <p:txBody>
          <a:bodyPr wrap="square">
            <a:spAutoFit/>
          </a:bodyPr>
          <a:lstStyle/>
          <a:p>
            <a:pPr algn="ctr">
              <a:buNone/>
            </a:pPr>
            <a:r>
              <a:rPr sz="1200" b="1" i="0">
                <a:solidFill>
                  <a:srgbClr val="FFFFFF"/>
                </a:solidFill>
                <a:latin typeface="Calibri" panose="020F0502020204030204"/>
              </a:rPr>
              <a:t>External User</a:t>
            </a:r>
            <a:endParaRPr sz="1200" b="1" i="0">
              <a:solidFill>
                <a:srgbClr val="FFFFFF"/>
              </a:solidFill>
              <a:latin typeface="Calibri" panose="020F0502020204030204"/>
            </a:endParaRPr>
          </a:p>
        </p:txBody>
      </p:sp>
      <p:sp>
        <p:nvSpPr>
          <p:cNvPr id="26" name="TextBox 25"/>
          <p:cNvSpPr txBox="1"/>
          <p:nvPr/>
        </p:nvSpPr>
        <p:spPr>
          <a:xfrm>
            <a:off x="8961120" y="2542032"/>
            <a:ext cx="2743200" cy="256032"/>
          </a:xfrm>
          <a:prstGeom prst="rect">
            <a:avLst/>
          </a:prstGeom>
          <a:noFill/>
        </p:spPr>
        <p:txBody>
          <a:bodyPr wrap="square">
            <a:spAutoFit/>
          </a:bodyPr>
          <a:lstStyle/>
          <a:p>
            <a:pPr algn="ctr">
              <a:buNone/>
            </a:pPr>
            <a:r>
              <a:rPr sz="900" b="0" i="0">
                <a:solidFill>
                  <a:srgbClr val="94A3B8"/>
                </a:solidFill>
                <a:latin typeface="Courier New" panose="02070309020205020404"/>
              </a:rPr>
              <a:t>localhost:3000</a:t>
            </a:r>
            <a:endParaRPr sz="900" b="0" i="0">
              <a:solidFill>
                <a:srgbClr val="94A3B8"/>
              </a:solidFill>
              <a:latin typeface="Courier New" panose="02070309020205020404"/>
            </a:endParaRPr>
          </a:p>
        </p:txBody>
      </p:sp>
      <p:sp>
        <p:nvSpPr>
          <p:cNvPr id="27" name="TextBox 26"/>
          <p:cNvSpPr txBox="1"/>
          <p:nvPr/>
        </p:nvSpPr>
        <p:spPr>
          <a:xfrm>
            <a:off x="8595360" y="2468880"/>
            <a:ext cx="502920" cy="384048"/>
          </a:xfrm>
          <a:prstGeom prst="rect">
            <a:avLst/>
          </a:prstGeom>
          <a:noFill/>
        </p:spPr>
        <p:txBody>
          <a:bodyPr wrap="square">
            <a:spAutoFit/>
          </a:bodyPr>
          <a:lstStyle/>
          <a:p>
            <a:pPr algn="ctr">
              <a:buNone/>
            </a:pPr>
            <a:r>
              <a:rPr sz="2600" b="1" i="0">
                <a:solidFill>
                  <a:srgbClr val="2496ED"/>
                </a:solidFill>
                <a:latin typeface="Calibri" panose="020F0502020204030204"/>
              </a:rPr>
              <a:t>←</a:t>
            </a:r>
            <a:endParaRPr sz="2600" b="1" i="0">
              <a:solidFill>
                <a:srgbClr val="2496ED"/>
              </a:solidFill>
              <a:latin typeface="Calibri" panose="020F0502020204030204"/>
            </a:endParaRPr>
          </a:p>
        </p:txBody>
      </p:sp>
      <p:sp>
        <p:nvSpPr>
          <p:cNvPr id="28" name="TextBox 27"/>
          <p:cNvSpPr txBox="1"/>
          <p:nvPr/>
        </p:nvSpPr>
        <p:spPr>
          <a:xfrm>
            <a:off x="548640" y="5486400"/>
            <a:ext cx="11064240" cy="292608"/>
          </a:xfrm>
          <a:prstGeom prst="rect">
            <a:avLst/>
          </a:prstGeom>
          <a:noFill/>
        </p:spPr>
        <p:txBody>
          <a:bodyPr wrap="square">
            <a:spAutoFit/>
          </a:bodyPr>
          <a:lstStyle/>
          <a:p>
            <a:pPr algn="l">
              <a:buNone/>
            </a:pPr>
            <a:r>
              <a:rPr sz="1200" b="0" i="1">
                <a:solidFill>
                  <a:srgbClr val="64748B"/>
                </a:solidFill>
                <a:latin typeface="Calibri" panose="020F0502020204030204"/>
              </a:rPr>
              <a:t>All services started with one command:  docker-compose up -d</a:t>
            </a:r>
            <a:endParaRPr sz="1200" b="0" i="1">
              <a:solidFill>
                <a:srgbClr val="64748B"/>
              </a:solidFill>
              <a:latin typeface="Calibri" panose="020F0502020204030204"/>
            </a:endParaRPr>
          </a:p>
        </p:txBody>
      </p:sp>
      <p:sp>
        <p:nvSpPr>
          <p:cNvPr id="29" name="TextBox 2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0" name="TextBox 2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1" name="TextBox 3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55</a:t>
            </a:r>
            <a:endParaRPr sz="900" b="0" i="0">
              <a:solidFill>
                <a:srgbClr val="718596"/>
              </a:solidFill>
              <a:latin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docker-compose.yml Structure</a:t>
            </a:r>
            <a:endParaRPr sz="2600" b="1" i="0">
              <a:solidFill>
                <a:srgbClr val="FFFFFF"/>
              </a:solidFill>
              <a:latin typeface="Cambria" panose="02040503050406030204"/>
            </a:endParaRPr>
          </a:p>
        </p:txBody>
      </p:sp>
      <p:sp>
        <p:nvSpPr>
          <p:cNvPr id="7" name="Rectangle 6"/>
          <p:cNvSpPr/>
          <p:nvPr/>
        </p:nvSpPr>
        <p:spPr>
          <a:xfrm>
            <a:off x="566928" y="1527048"/>
            <a:ext cx="11119104" cy="32324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72768"/>
            <a:ext cx="10972800" cy="3232404"/>
          </a:xfrm>
          <a:prstGeom prst="rect">
            <a:avLst/>
          </a:prstGeom>
          <a:noFill/>
        </p:spPr>
        <p:txBody>
          <a:bodyPr wrap="square">
            <a:spAutoFit/>
          </a:bodyPr>
          <a:lstStyle/>
          <a:p>
            <a:pPr algn="l">
              <a:buNone/>
            </a:pPr>
            <a:r>
              <a:rPr sz="900" b="0" i="0">
                <a:solidFill>
                  <a:srgbClr val="0F172A"/>
                </a:solidFill>
                <a:latin typeface="Courier New" panose="02070309020205020404"/>
              </a:rPr>
              <a:t>services:
  web:
    build: .              # build from Dockerfile
    ports:
      - "5001:5000"     # host:container
    depends_on:
      - redis
    environment:
      - MY_ENV=production
  redis:
    image: redis:7-alpine # pull from Docker Hub
volumes:
  mydata:               # named volume declaration</a:t>
            </a:r>
            <a:endParaRPr sz="900" b="0" i="0">
              <a:solidFill>
                <a:srgbClr val="0F172A"/>
              </a:solidFill>
              <a:latin typeface="Courier New" panose="020703090202050204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56</a:t>
            </a:r>
            <a:endParaRPr sz="900" b="0" i="0">
              <a:solidFill>
                <a:srgbClr val="718596"/>
              </a:solidFill>
              <a:latin typeface="Calibri" panose="020F05020202040302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Key Compose Commands</a:t>
            </a:r>
            <a:endParaRPr sz="2600" b="1" i="0">
              <a:solidFill>
                <a:srgbClr val="FFFFFF"/>
              </a:solidFill>
              <a:latin typeface="Cambria" panose="02040503050406030204"/>
            </a:endParaRPr>
          </a:p>
        </p:txBody>
      </p:sp>
      <p:sp>
        <p:nvSpPr>
          <p:cNvPr id="7" name="Rectangle 6"/>
          <p:cNvSpPr/>
          <p:nvPr/>
        </p:nvSpPr>
        <p:spPr>
          <a:xfrm>
            <a:off x="566928" y="1527048"/>
            <a:ext cx="11119104" cy="17922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72768"/>
            <a:ext cx="10972800" cy="1792224"/>
          </a:xfrm>
          <a:prstGeom prst="rect">
            <a:avLst/>
          </a:prstGeom>
          <a:noFill/>
        </p:spPr>
        <p:txBody>
          <a:bodyPr wrap="square">
            <a:spAutoFit/>
          </a:bodyPr>
          <a:lstStyle/>
          <a:p>
            <a:pPr algn="l">
              <a:buNone/>
            </a:pPr>
            <a:r>
              <a:rPr sz="900" b="0" i="0">
                <a:solidFill>
                  <a:srgbClr val="0F172A"/>
                </a:solidFill>
                <a:latin typeface="Courier New" panose="02070309020205020404"/>
              </a:rPr>
              <a:t>docker-compose up -d       # start all services in background
docker-compose ps          # list service status
docker-compose logs        # view all service logs
docker-compose logs web    # logs for one service
docker-compose exec web sh # open shell in service
docker-compose stop        # stop without removing
docker-compose down        # stop and remove containers + networks
docker-compose down -v     # also remove volumes</a:t>
            </a:r>
            <a:endParaRPr sz="900" b="0" i="0">
              <a:solidFill>
                <a:srgbClr val="0F172A"/>
              </a:solidFill>
              <a:latin typeface="Courier New" panose="02070309020205020404"/>
            </a:endParaRPr>
          </a:p>
        </p:txBody>
      </p:sp>
      <p:sp>
        <p:nvSpPr>
          <p:cNvPr id="9" name="TextBox 8"/>
          <p:cNvSpPr txBox="1"/>
          <p:nvPr/>
        </p:nvSpPr>
        <p:spPr>
          <a:xfrm>
            <a:off x="640080" y="3657600"/>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docker-compose down removes the containers and networks created by up. Volumes remain unless -v.</a:t>
            </a:r>
            <a:endParaRPr sz="1400" b="0" i="1">
              <a:solidFill>
                <a:srgbClr val="2496ED"/>
              </a:solidFill>
              <a:latin typeface="Calibri" panose="020F0502020204030204"/>
            </a:endParaRPr>
          </a:p>
        </p:txBody>
      </p:sp>
      <p:sp>
        <p:nvSpPr>
          <p:cNvPr id="10" name="TextBox 9"/>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1" name="TextBox 10"/>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2" name="TextBox 11"/>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57</a:t>
            </a:r>
            <a:endParaRPr sz="900" b="0" i="0">
              <a:solidFill>
                <a:srgbClr val="718596"/>
              </a:solidFill>
              <a:latin typeface="Calibri" panose="020F050202020403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10</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Single Service Compose</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https://killercoda.com/tertiary-labs/course/killercoda/day1-05-docker-compose</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58</a:t>
            </a:r>
            <a:endParaRPr sz="900" b="0" i="0">
              <a:solidFill>
                <a:srgbClr val="718596"/>
              </a:solidFill>
              <a:latin typeface="Calibri" panose="020F050202020403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10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Single Service Compose — Files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app.py</a:t>
            </a:r>
            <a:endParaRPr sz="1600" b="1" i="0">
              <a:solidFill>
                <a:srgbClr val="0F172A"/>
              </a:solidFill>
              <a:latin typeface="Calibri" panose="020F0502020204030204"/>
            </a:endParaRPr>
          </a:p>
        </p:txBody>
      </p:sp>
      <p:sp>
        <p:nvSpPr>
          <p:cNvPr id="8" name="Rectangle 7"/>
          <p:cNvSpPr/>
          <p:nvPr/>
        </p:nvSpPr>
        <p:spPr>
          <a:xfrm>
            <a:off x="566928" y="1892808"/>
            <a:ext cx="11119104" cy="15864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5864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5864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586484"/>
          </a:xfrm>
          <a:prstGeom prst="rect">
            <a:avLst/>
          </a:prstGeom>
          <a:noFill/>
        </p:spPr>
        <p:txBody>
          <a:bodyPr wrap="square">
            <a:spAutoFit/>
          </a:bodyPr>
          <a:lstStyle/>
          <a:p>
            <a:pPr algn="l">
              <a:buNone/>
            </a:pPr>
            <a:r>
              <a:rPr sz="900" b="0" i="0">
                <a:solidFill>
                  <a:srgbClr val="FFFFFF"/>
                </a:solidFill>
                <a:latin typeface="Courier New" panose="02070309020205020404"/>
              </a:rPr>
              <a:t>from flask import Flask
app = Flask(__name__)
@app.route("/")
def home():
    return "&lt;h1&gt;Hello from Docker Compose!&lt;/h1&gt;"
if __name__ == "__main__":
    app.run(host="0.0.0.0", port=5000)</a:t>
            </a:r>
            <a:endParaRPr sz="900" b="0" i="0">
              <a:solidFill>
                <a:srgbClr val="FFFFFF"/>
              </a:solidFill>
              <a:latin typeface="Courier New" panose="02070309020205020404"/>
            </a:endParaRPr>
          </a:p>
        </p:txBody>
      </p:sp>
      <p:sp>
        <p:nvSpPr>
          <p:cNvPr id="12" name="TextBox 11"/>
          <p:cNvSpPr txBox="1"/>
          <p:nvPr/>
        </p:nvSpPr>
        <p:spPr>
          <a:xfrm>
            <a:off x="640080" y="38176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docker-compose.yml</a:t>
            </a:r>
            <a:endParaRPr sz="1600" b="1" i="0">
              <a:solidFill>
                <a:srgbClr val="0F172A"/>
              </a:solidFill>
              <a:latin typeface="Calibri" panose="020F0502020204030204"/>
            </a:endParaRPr>
          </a:p>
        </p:txBody>
      </p:sp>
      <p:sp>
        <p:nvSpPr>
          <p:cNvPr id="13" name="Rectangle 12"/>
          <p:cNvSpPr/>
          <p:nvPr/>
        </p:nvSpPr>
        <p:spPr>
          <a:xfrm>
            <a:off x="566928" y="4137660"/>
            <a:ext cx="11119104" cy="117500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137660"/>
            <a:ext cx="256032" cy="117500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165092"/>
            <a:ext cx="256032" cy="117500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4183380"/>
            <a:ext cx="10771632" cy="1175004"/>
          </a:xfrm>
          <a:prstGeom prst="rect">
            <a:avLst/>
          </a:prstGeom>
          <a:noFill/>
        </p:spPr>
        <p:txBody>
          <a:bodyPr wrap="square">
            <a:spAutoFit/>
          </a:bodyPr>
          <a:lstStyle/>
          <a:p>
            <a:pPr algn="l">
              <a:buNone/>
            </a:pPr>
            <a:r>
              <a:rPr sz="900" b="0" i="0">
                <a:solidFill>
                  <a:srgbClr val="FFFFFF"/>
                </a:solidFill>
                <a:latin typeface="Courier New" panose="02070309020205020404"/>
              </a:rPr>
              <a:t>services:
  web:
    build: .
    ports:
      - "5001:5000"</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59</a:t>
            </a:r>
            <a:endParaRPr sz="900" b="0" i="0">
              <a:solidFill>
                <a:srgbClr val="718596"/>
              </a:solidFill>
              <a:latin typeface="Calibri" panose="020F05020202040302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10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Single Service Compose — Commands</a:t>
            </a:r>
            <a:endParaRPr sz="2600" b="1" i="0">
              <a:solidFill>
                <a:srgbClr val="FFFFFF"/>
              </a:solidFill>
              <a:latin typeface="Cambria" panose="02040503050406030204"/>
            </a:endParaRPr>
          </a:p>
        </p:txBody>
      </p:sp>
      <p:sp>
        <p:nvSpPr>
          <p:cNvPr id="7" name="Rectangle 6"/>
          <p:cNvSpPr/>
          <p:nvPr/>
        </p:nvSpPr>
        <p:spPr>
          <a:xfrm>
            <a:off x="566928" y="152704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52704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0" name="TextBox 9"/>
          <p:cNvSpPr txBox="1"/>
          <p:nvPr/>
        </p:nvSpPr>
        <p:spPr>
          <a:xfrm>
            <a:off x="841248" y="157276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mkdir lab10 &amp;&amp; cd lab10
# Create app.py, requirements.txt, Dockerfile, docker-compose.yml</a:t>
            </a:r>
            <a:endParaRPr sz="900" b="0" i="0">
              <a:solidFill>
                <a:srgbClr val="FFFFFF"/>
              </a:solidFill>
              <a:latin typeface="Courier New" panose="02070309020205020404"/>
            </a:endParaRPr>
          </a:p>
        </p:txBody>
      </p:sp>
      <p:sp>
        <p:nvSpPr>
          <p:cNvPr id="11" name="TextBox 10"/>
          <p:cNvSpPr txBox="1"/>
          <p:nvPr/>
        </p:nvSpPr>
        <p:spPr>
          <a:xfrm>
            <a:off x="640080" y="22219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Start the service:</a:t>
            </a:r>
            <a:endParaRPr sz="1600" b="1" i="0">
              <a:solidFill>
                <a:srgbClr val="0F172A"/>
              </a:solidFill>
              <a:latin typeface="Calibri" panose="020F0502020204030204"/>
            </a:endParaRPr>
          </a:p>
        </p:txBody>
      </p:sp>
      <p:sp>
        <p:nvSpPr>
          <p:cNvPr id="12" name="Rectangle 11"/>
          <p:cNvSpPr/>
          <p:nvPr/>
        </p:nvSpPr>
        <p:spPr>
          <a:xfrm>
            <a:off x="566928" y="2542032"/>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542032"/>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569464"/>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5" name="TextBox 14"/>
          <p:cNvSpPr txBox="1"/>
          <p:nvPr/>
        </p:nvSpPr>
        <p:spPr>
          <a:xfrm>
            <a:off x="841248" y="2587752"/>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docker-compose up -d
docker-compose ps
curl http://localhost:5001</a:t>
            </a:r>
            <a:endParaRPr sz="900" b="0" i="0">
              <a:solidFill>
                <a:srgbClr val="FFFFFF"/>
              </a:solidFill>
              <a:latin typeface="Courier New" panose="02070309020205020404"/>
            </a:endParaRPr>
          </a:p>
        </p:txBody>
      </p:sp>
      <p:sp>
        <p:nvSpPr>
          <p:cNvPr id="16" name="TextBox 15"/>
          <p:cNvSpPr txBox="1"/>
          <p:nvPr/>
        </p:nvSpPr>
        <p:spPr>
          <a:xfrm>
            <a:off x="640080" y="34427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Inspect logs and run commands inside:</a:t>
            </a:r>
            <a:endParaRPr sz="1600" b="1" i="0">
              <a:solidFill>
                <a:srgbClr val="0F172A"/>
              </a:solidFill>
              <a:latin typeface="Calibri" panose="020F0502020204030204"/>
            </a:endParaRPr>
          </a:p>
        </p:txBody>
      </p:sp>
      <p:sp>
        <p:nvSpPr>
          <p:cNvPr id="17" name="Rectangle 16"/>
          <p:cNvSpPr/>
          <p:nvPr/>
        </p:nvSpPr>
        <p:spPr>
          <a:xfrm>
            <a:off x="566928" y="376275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376275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379018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0" name="TextBox 19"/>
          <p:cNvSpPr txBox="1"/>
          <p:nvPr/>
        </p:nvSpPr>
        <p:spPr>
          <a:xfrm>
            <a:off x="841248" y="380847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docker-compose logs
docker-compose exec web python -c "print('Running inside container')"</a:t>
            </a:r>
            <a:endParaRPr sz="900" b="0" i="0">
              <a:solidFill>
                <a:srgbClr val="FFFFFF"/>
              </a:solidFill>
              <a:latin typeface="Courier New" panose="02070309020205020404"/>
            </a:endParaRPr>
          </a:p>
        </p:txBody>
      </p:sp>
      <p:sp>
        <p:nvSpPr>
          <p:cNvPr id="21" name="TextBox 20"/>
          <p:cNvSpPr txBox="1"/>
          <p:nvPr/>
        </p:nvSpPr>
        <p:spPr>
          <a:xfrm>
            <a:off x="640080" y="44577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Stop and remove:</a:t>
            </a:r>
            <a:endParaRPr sz="1600" b="1" i="0">
              <a:solidFill>
                <a:srgbClr val="0F172A"/>
              </a:solidFill>
              <a:latin typeface="Calibri" panose="020F0502020204030204"/>
            </a:endParaRPr>
          </a:p>
        </p:txBody>
      </p:sp>
      <p:sp>
        <p:nvSpPr>
          <p:cNvPr id="22" name="Rectangle 21"/>
          <p:cNvSpPr/>
          <p:nvPr/>
        </p:nvSpPr>
        <p:spPr>
          <a:xfrm>
            <a:off x="566928" y="4777740"/>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4777740"/>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6928" y="4805172"/>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5" name="TextBox 24"/>
          <p:cNvSpPr txBox="1"/>
          <p:nvPr/>
        </p:nvSpPr>
        <p:spPr>
          <a:xfrm>
            <a:off x="841248" y="4823460"/>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docker-compose down &amp;&amp; cd ..</a:t>
            </a:r>
            <a:endParaRPr sz="900" b="0" i="0">
              <a:solidFill>
                <a:srgbClr val="FFFFFF"/>
              </a:solidFill>
              <a:latin typeface="Courier New" panose="02070309020205020404"/>
            </a:endParaRPr>
          </a:p>
        </p:txBody>
      </p:sp>
      <p:sp>
        <p:nvSpPr>
          <p:cNvPr id="26" name="TextBox 25"/>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27" name="TextBox 2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8" name="TextBox 2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9" name="TextBox 2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60</a:t>
            </a:r>
            <a:endParaRPr sz="900" b="0" i="0">
              <a:solidFill>
                <a:srgbClr val="718596"/>
              </a:solidFill>
              <a:latin typeface="Calibri" panose="020F050202020403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Multi-Service Communication</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When you define multiple services in a docker-compose.yml, Compose automatically creates a shared network and assigns each service a DNS hostname equal to its service name.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How services find each other:</a:t>
            </a:r>
            <a:endParaRPr sz="1600" b="1" i="0">
              <a:solidFill>
                <a:srgbClr val="0F172A"/>
              </a:solidFill>
              <a:latin typeface="Calibri" panose="020F0502020204030204"/>
            </a:endParaRPr>
          </a:p>
        </p:txBody>
      </p:sp>
      <p:sp>
        <p:nvSpPr>
          <p:cNvPr id="9" name="Rectangle 8"/>
          <p:cNvSpPr/>
          <p:nvPr/>
        </p:nvSpPr>
        <p:spPr>
          <a:xfrm>
            <a:off x="566928" y="2459736"/>
            <a:ext cx="11119104" cy="19979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1997964"/>
          </a:xfrm>
          <a:prstGeom prst="rect">
            <a:avLst/>
          </a:prstGeom>
          <a:noFill/>
        </p:spPr>
        <p:txBody>
          <a:bodyPr wrap="square">
            <a:spAutoFit/>
          </a:bodyPr>
          <a:lstStyle/>
          <a:p>
            <a:pPr algn="l">
              <a:buNone/>
            </a:pPr>
            <a:r>
              <a:rPr sz="900" b="0" i="0">
                <a:solidFill>
                  <a:srgbClr val="0F172A"/>
                </a:solidFill>
                <a:latin typeface="Courier New" panose="02070309020205020404"/>
              </a:rPr>
              <a:t># In docker-compose.yml:
services:
  web:
    ...
  redis:
    image: redis:7-alpine
# In app.py — use the SERVICE NAME as hostname:
r = redis.Redis(host="redis", port=6379)</a:t>
            </a:r>
            <a:endParaRPr sz="900" b="0" i="0">
              <a:solidFill>
                <a:srgbClr val="0F172A"/>
              </a:solidFill>
              <a:latin typeface="Courier New" panose="02070309020205020404"/>
            </a:endParaRPr>
          </a:p>
        </p:txBody>
      </p:sp>
      <p:sp>
        <p:nvSpPr>
          <p:cNvPr id="11" name="TextBox 10"/>
          <p:cNvSpPr txBox="1"/>
          <p:nvPr/>
        </p:nvSpPr>
        <p:spPr>
          <a:xfrm>
            <a:off x="640080" y="479602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depends_on — controls startup order:</a:t>
            </a:r>
            <a:endParaRPr sz="1600" b="1" i="0">
              <a:solidFill>
                <a:srgbClr val="0F172A"/>
              </a:solidFill>
              <a:latin typeface="Calibri" panose="020F0502020204030204"/>
            </a:endParaRPr>
          </a:p>
        </p:txBody>
      </p:sp>
      <p:sp>
        <p:nvSpPr>
          <p:cNvPr id="12" name="TextBox 11"/>
          <p:cNvSpPr txBox="1"/>
          <p:nvPr/>
        </p:nvSpPr>
        <p:spPr>
          <a:xfrm>
            <a:off x="640080" y="51617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depends_on: [redis]   starts web only after redis container is created</a:t>
            </a:r>
            <a:endParaRPr sz="1600" b="0" i="0">
              <a:solidFill>
                <a:srgbClr val="0F172A"/>
              </a:solidFill>
              <a:latin typeface="Calibri" panose="020F0502020204030204"/>
            </a:endParaRPr>
          </a:p>
        </p:txBody>
      </p:sp>
      <p:sp>
        <p:nvSpPr>
          <p:cNvPr id="13" name="TextBox 12"/>
          <p:cNvSpPr txBox="1"/>
          <p:nvPr/>
        </p:nvSpPr>
        <p:spPr>
          <a:xfrm>
            <a:off x="640080" y="55275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Important: 'created' is NOT the same as 'ready'. Use healthchecks for true readiness.</a:t>
            </a:r>
            <a:endParaRPr sz="1600" b="0" i="0">
              <a:solidFill>
                <a:srgbClr val="0F172A"/>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61</a:t>
            </a:r>
            <a:endParaRPr sz="900" b="0" i="0">
              <a:solidFill>
                <a:srgbClr val="718596"/>
              </a:solidFill>
              <a:latin typeface="Calibri" panose="020F050202020403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11</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Flask + Redis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https://killercoda.com/tertiary-labs/course/killercoda/day1-05-docker-compose</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62</a:t>
            </a:r>
            <a:endParaRPr sz="900" b="0" i="0">
              <a:solidFill>
                <a:srgbClr val="718596"/>
              </a:solidFill>
              <a:latin typeface="Calibri" panose="020F050202020403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11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Flask + Redis — Files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app.py</a:t>
            </a:r>
            <a:endParaRPr sz="1600" b="1" i="0">
              <a:solidFill>
                <a:srgbClr val="0F172A"/>
              </a:solidFill>
              <a:latin typeface="Calibri" panose="020F0502020204030204"/>
            </a:endParaRPr>
          </a:p>
        </p:txBody>
      </p:sp>
      <p:sp>
        <p:nvSpPr>
          <p:cNvPr id="8" name="Rectangle 7"/>
          <p:cNvSpPr/>
          <p:nvPr/>
        </p:nvSpPr>
        <p:spPr>
          <a:xfrm>
            <a:off x="566928" y="1892808"/>
            <a:ext cx="11119104" cy="17922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7922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7922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792224"/>
          </a:xfrm>
          <a:prstGeom prst="rect">
            <a:avLst/>
          </a:prstGeom>
          <a:noFill/>
        </p:spPr>
        <p:txBody>
          <a:bodyPr wrap="square">
            <a:spAutoFit/>
          </a:bodyPr>
          <a:lstStyle/>
          <a:p>
            <a:pPr algn="l">
              <a:buNone/>
            </a:pPr>
            <a:r>
              <a:rPr sz="900" b="0" i="0">
                <a:solidFill>
                  <a:srgbClr val="FFFFFF"/>
                </a:solidFill>
                <a:latin typeface="Courier New" panose="02070309020205020404"/>
              </a:rPr>
              <a:t>from flask import Flask
import redis
app = Flask(__name__)
r = redis.Redis(host="redis", port=6379)
@app.route("/")
def home():
    count = r.incr("visits")
    return f"&lt;h1&gt;Visit count: {count}&lt;/h1&gt;"</a:t>
            </a:r>
            <a:endParaRPr sz="900" b="0" i="0">
              <a:solidFill>
                <a:srgbClr val="FFFFFF"/>
              </a:solidFill>
              <a:latin typeface="Courier New" panose="02070309020205020404"/>
            </a:endParaRPr>
          </a:p>
        </p:txBody>
      </p:sp>
      <p:sp>
        <p:nvSpPr>
          <p:cNvPr id="12" name="TextBox 11"/>
          <p:cNvSpPr txBox="1"/>
          <p:nvPr/>
        </p:nvSpPr>
        <p:spPr>
          <a:xfrm>
            <a:off x="640080" y="40233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docker-compose.yml</a:t>
            </a:r>
            <a:endParaRPr sz="1600" b="1" i="0">
              <a:solidFill>
                <a:srgbClr val="0F172A"/>
              </a:solidFill>
              <a:latin typeface="Calibri" panose="020F0502020204030204"/>
            </a:endParaRPr>
          </a:p>
        </p:txBody>
      </p:sp>
      <p:sp>
        <p:nvSpPr>
          <p:cNvPr id="13" name="Rectangle 12"/>
          <p:cNvSpPr/>
          <p:nvPr/>
        </p:nvSpPr>
        <p:spPr>
          <a:xfrm>
            <a:off x="566928" y="4343400"/>
            <a:ext cx="11119104" cy="1463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343400"/>
            <a:ext cx="256032" cy="1463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370832"/>
            <a:ext cx="256032" cy="1463040"/>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4389120"/>
            <a:ext cx="10771632" cy="1463040"/>
          </a:xfrm>
          <a:prstGeom prst="rect">
            <a:avLst/>
          </a:prstGeom>
          <a:noFill/>
        </p:spPr>
        <p:txBody>
          <a:bodyPr wrap="square">
            <a:spAutoFit/>
          </a:bodyPr>
          <a:lstStyle/>
          <a:p>
            <a:pPr algn="l">
              <a:buNone/>
            </a:pPr>
            <a:r>
              <a:rPr sz="900" b="0" i="0">
                <a:solidFill>
                  <a:srgbClr val="FFFFFF"/>
                </a:solidFill>
                <a:latin typeface="Courier New" panose="02070309020205020404"/>
              </a:rPr>
              <a:t>services:
  web:
    build: .
    ports:
      - "5001:5000"
    depends_on:
      - redis
  redis:
    image: redis:7-alpine</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63</a:t>
            </a:r>
            <a:endParaRPr sz="900" b="0" i="0">
              <a:solidFill>
                <a:srgbClr val="718596"/>
              </a:solidFill>
              <a:latin typeface="Calibri" panose="020F050202020403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11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Flask + Redis — Commands</a:t>
            </a:r>
            <a:endParaRPr sz="2600" b="1" i="0">
              <a:solidFill>
                <a:srgbClr val="FFFFFF"/>
              </a:solidFill>
              <a:latin typeface="Cambria" panose="02040503050406030204"/>
            </a:endParaRPr>
          </a:p>
        </p:txBody>
      </p:sp>
      <p:sp>
        <p:nvSpPr>
          <p:cNvPr id="7" name="Rectangle 6"/>
          <p:cNvSpPr/>
          <p:nvPr/>
        </p:nvSpPr>
        <p:spPr>
          <a:xfrm>
            <a:off x="566928" y="152704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52704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0" name="TextBox 9"/>
          <p:cNvSpPr txBox="1"/>
          <p:nvPr/>
        </p:nvSpPr>
        <p:spPr>
          <a:xfrm>
            <a:off x="841248" y="157276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mkdir lab11 &amp;&amp; cd lab11
# Create app.py, requirements.txt, Dockerfile, docker-compose.yml</a:t>
            </a:r>
            <a:endParaRPr sz="900" b="0" i="0">
              <a:solidFill>
                <a:srgbClr val="FFFFFF"/>
              </a:solidFill>
              <a:latin typeface="Courier New" panose="02070309020205020404"/>
            </a:endParaRPr>
          </a:p>
        </p:txBody>
      </p:sp>
      <p:sp>
        <p:nvSpPr>
          <p:cNvPr id="11" name="TextBox 10"/>
          <p:cNvSpPr txBox="1"/>
          <p:nvPr/>
        </p:nvSpPr>
        <p:spPr>
          <a:xfrm>
            <a:off x="640080" y="22219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Start services:</a:t>
            </a:r>
            <a:endParaRPr sz="1600" b="1" i="0">
              <a:solidFill>
                <a:srgbClr val="0F172A"/>
              </a:solidFill>
              <a:latin typeface="Calibri" panose="020F0502020204030204"/>
            </a:endParaRPr>
          </a:p>
        </p:txBody>
      </p:sp>
      <p:sp>
        <p:nvSpPr>
          <p:cNvPr id="12" name="Rectangle 11"/>
          <p:cNvSpPr/>
          <p:nvPr/>
        </p:nvSpPr>
        <p:spPr>
          <a:xfrm>
            <a:off x="566928" y="254203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54203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56946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5" name="TextBox 14"/>
          <p:cNvSpPr txBox="1"/>
          <p:nvPr/>
        </p:nvSpPr>
        <p:spPr>
          <a:xfrm>
            <a:off x="841248" y="258775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docker-compose up -d
docker-compose ps</a:t>
            </a:r>
            <a:endParaRPr sz="900" b="0" i="0">
              <a:solidFill>
                <a:srgbClr val="FFFFFF"/>
              </a:solidFill>
              <a:latin typeface="Courier New" panose="02070309020205020404"/>
            </a:endParaRPr>
          </a:p>
        </p:txBody>
      </p:sp>
      <p:sp>
        <p:nvSpPr>
          <p:cNvPr id="16" name="TextBox 15"/>
          <p:cNvSpPr txBox="1"/>
          <p:nvPr/>
        </p:nvSpPr>
        <p:spPr>
          <a:xfrm>
            <a:off x="640080" y="32369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Test the visit counter (increments each request):</a:t>
            </a:r>
            <a:endParaRPr sz="1600" b="1" i="0">
              <a:solidFill>
                <a:srgbClr val="0F172A"/>
              </a:solidFill>
              <a:latin typeface="Calibri" panose="020F0502020204030204"/>
            </a:endParaRPr>
          </a:p>
        </p:txBody>
      </p:sp>
      <p:sp>
        <p:nvSpPr>
          <p:cNvPr id="17" name="Rectangle 16"/>
          <p:cNvSpPr/>
          <p:nvPr/>
        </p:nvSpPr>
        <p:spPr>
          <a:xfrm>
            <a:off x="566928" y="355701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355701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358444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0" name="TextBox 19"/>
          <p:cNvSpPr txBox="1"/>
          <p:nvPr/>
        </p:nvSpPr>
        <p:spPr>
          <a:xfrm>
            <a:off x="841248" y="360273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curl http://localhost:5001      # Visit count: 1
curl http://localhost:5001      # Visit count: 2
curl http://localhost:5001      # Visit count: 3</a:t>
            </a:r>
            <a:endParaRPr sz="900" b="0" i="0">
              <a:solidFill>
                <a:srgbClr val="FFFFFF"/>
              </a:solidFill>
              <a:latin typeface="Courier New" panose="02070309020205020404"/>
            </a:endParaRPr>
          </a:p>
        </p:txBody>
      </p:sp>
      <p:sp>
        <p:nvSpPr>
          <p:cNvPr id="21" name="TextBox 20"/>
          <p:cNvSpPr txBox="1"/>
          <p:nvPr/>
        </p:nvSpPr>
        <p:spPr>
          <a:xfrm>
            <a:off x="640080" y="44577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Stop and remove:</a:t>
            </a:r>
            <a:endParaRPr sz="1600" b="1" i="0">
              <a:solidFill>
                <a:srgbClr val="0F172A"/>
              </a:solidFill>
              <a:latin typeface="Calibri" panose="020F0502020204030204"/>
            </a:endParaRPr>
          </a:p>
        </p:txBody>
      </p:sp>
      <p:sp>
        <p:nvSpPr>
          <p:cNvPr id="22" name="Rectangle 21"/>
          <p:cNvSpPr/>
          <p:nvPr/>
        </p:nvSpPr>
        <p:spPr>
          <a:xfrm>
            <a:off x="566928" y="4777740"/>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4777740"/>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6928" y="4805172"/>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5" name="TextBox 24"/>
          <p:cNvSpPr txBox="1"/>
          <p:nvPr/>
        </p:nvSpPr>
        <p:spPr>
          <a:xfrm>
            <a:off x="841248" y="4823460"/>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docker-compose down &amp;&amp; cd ..</a:t>
            </a:r>
            <a:endParaRPr sz="900" b="0" i="0">
              <a:solidFill>
                <a:srgbClr val="FFFFFF"/>
              </a:solidFill>
              <a:latin typeface="Courier New" panose="02070309020205020404"/>
            </a:endParaRPr>
          </a:p>
        </p:txBody>
      </p:sp>
      <p:sp>
        <p:nvSpPr>
          <p:cNvPr id="26" name="TextBox 25"/>
          <p:cNvSpPr txBox="1"/>
          <p:nvPr/>
        </p:nvSpPr>
        <p:spPr>
          <a:xfrm>
            <a:off x="640080" y="546811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Redis hostname in app.py = service name 'redis'. Compose handles the DNS automatically.</a:t>
            </a:r>
            <a:endParaRPr sz="1400" b="0" i="1">
              <a:solidFill>
                <a:srgbClr val="2496ED"/>
              </a:solidFill>
              <a:latin typeface="Calibri" panose="020F0502020204030204"/>
            </a:endParaRPr>
          </a:p>
        </p:txBody>
      </p:sp>
      <p:sp>
        <p:nvSpPr>
          <p:cNvPr id="27" name="TextBox 2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64</a:t>
            </a:r>
            <a:endParaRPr sz="900" b="0" i="0">
              <a:solidFill>
                <a:srgbClr val="718596"/>
              </a:solidFill>
              <a:latin typeface="Calibri" panose="020F050202020403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Health Checks &amp; Startup Dependencies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Databases (PostgreSQL, MySQL) take several seconds to be truly ready to accept connections after their container starts. Without proper ordering, your app will crash on startup.</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Solution: healthcheck + condition: service_healthy</a:t>
            </a:r>
            <a:endParaRPr sz="1600" b="1" i="0">
              <a:solidFill>
                <a:srgbClr val="0F172A"/>
              </a:solidFill>
              <a:latin typeface="Calibri" panose="020F0502020204030204"/>
            </a:endParaRPr>
          </a:p>
        </p:txBody>
      </p:sp>
      <p:sp>
        <p:nvSpPr>
          <p:cNvPr id="9" name="Rectangle 8"/>
          <p:cNvSpPr/>
          <p:nvPr/>
        </p:nvSpPr>
        <p:spPr>
          <a:xfrm>
            <a:off x="566928" y="2459736"/>
            <a:ext cx="11119104" cy="24094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2409444"/>
          </a:xfrm>
          <a:prstGeom prst="rect">
            <a:avLst/>
          </a:prstGeom>
          <a:noFill/>
        </p:spPr>
        <p:txBody>
          <a:bodyPr wrap="square">
            <a:spAutoFit/>
          </a:bodyPr>
          <a:lstStyle/>
          <a:p>
            <a:pPr algn="l">
              <a:buNone/>
            </a:pPr>
            <a:r>
              <a:rPr sz="900" b="0" i="0">
                <a:solidFill>
                  <a:srgbClr val="0F172A"/>
                </a:solidFill>
                <a:latin typeface="Courier New" panose="02070309020205020404"/>
              </a:rPr>
              <a:t>db:
  image: postgres:16-alpine
  healthcheck:
    test: ["CMD-SHELL", "pg_isready -U user -d mydb"]
    interval: 5s
    retries: 5
web:
  depends_on:
    db:
      condition: service_healthy   # waits until pg_isready passes</a:t>
            </a:r>
            <a:endParaRPr sz="900" b="0" i="0">
              <a:solidFill>
                <a:srgbClr val="0F172A"/>
              </a:solidFill>
              <a:latin typeface="Courier New" panose="02070309020205020404"/>
            </a:endParaRPr>
          </a:p>
        </p:txBody>
      </p:sp>
      <p:sp>
        <p:nvSpPr>
          <p:cNvPr id="11" name="TextBox 10"/>
          <p:cNvSpPr txBox="1"/>
          <p:nvPr/>
        </p:nvSpPr>
        <p:spPr>
          <a:xfrm>
            <a:off x="640080" y="520750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Three depends_on conditions:</a:t>
            </a:r>
            <a:endParaRPr sz="1600" b="1" i="0">
              <a:solidFill>
                <a:srgbClr val="0F172A"/>
              </a:solidFill>
              <a:latin typeface="Calibri" panose="020F0502020204030204"/>
            </a:endParaRPr>
          </a:p>
        </p:txBody>
      </p:sp>
      <p:sp>
        <p:nvSpPr>
          <p:cNvPr id="12" name="TextBox 11"/>
          <p:cNvSpPr txBox="1"/>
          <p:nvPr/>
        </p:nvSpPr>
        <p:spPr>
          <a:xfrm>
            <a:off x="640080" y="55732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service_started   — container is running (default, not truly ready)</a:t>
            </a:r>
            <a:endParaRPr sz="1600" b="0"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65</a:t>
            </a:r>
            <a:endParaRPr sz="900" b="0" i="0">
              <a:solidFill>
                <a:srgbClr val="718596"/>
              </a:solidFill>
              <a:latin typeface="Calibri" panose="020F050202020403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12</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Full-Stack — Web + PostgreSQL + Redis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https://killercoda.com/tertiary-labs/course/killercoda/day1-05-docker-compose</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66</a:t>
            </a:r>
            <a:endParaRPr sz="900" b="0" i="0">
              <a:solidFill>
                <a:srgbClr val="718596"/>
              </a:solidFill>
              <a:latin typeface="Calibri" panose="020F050202020403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12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Full-Stack — docker-compose.yml</a:t>
            </a:r>
            <a:endParaRPr sz="2600" b="1" i="0">
              <a:solidFill>
                <a:srgbClr val="FFFFFF"/>
              </a:solidFill>
              <a:latin typeface="Cambria" panose="02040503050406030204"/>
            </a:endParaRPr>
          </a:p>
        </p:txBody>
      </p:sp>
      <p:sp>
        <p:nvSpPr>
          <p:cNvPr id="7" name="Rectangle 6"/>
          <p:cNvSpPr/>
          <p:nvPr/>
        </p:nvSpPr>
        <p:spPr>
          <a:xfrm>
            <a:off x="566928" y="1527048"/>
            <a:ext cx="11119104" cy="427939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527048"/>
            <a:ext cx="256032" cy="427939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1554480"/>
            <a:ext cx="256032" cy="4279392"/>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0" name="TextBox 9"/>
          <p:cNvSpPr txBox="1"/>
          <p:nvPr/>
        </p:nvSpPr>
        <p:spPr>
          <a:xfrm>
            <a:off x="841248" y="1572768"/>
            <a:ext cx="10771632" cy="4279392"/>
          </a:xfrm>
          <a:prstGeom prst="rect">
            <a:avLst/>
          </a:prstGeom>
          <a:noFill/>
        </p:spPr>
        <p:txBody>
          <a:bodyPr wrap="square">
            <a:spAutoFit/>
          </a:bodyPr>
          <a:lstStyle/>
          <a:p>
            <a:pPr algn="l">
              <a:buNone/>
            </a:pPr>
            <a:r>
              <a:rPr sz="900" b="0" i="0">
                <a:solidFill>
                  <a:srgbClr val="FFFFFF"/>
                </a:solidFill>
                <a:latin typeface="Courier New" panose="02070309020205020404"/>
              </a:rPr>
              <a:t>services:
  web:
    build: .
    ports:
      - "3000:3000"
    environment:
      DATABASE_URL: postgresql://user:pass@db:5432/mydb
      REDIS_URL: redis://redis:6379
    depends_on:
      db:
        condition: service_healthy
      redis:
        condition: service_started
  db:
    image: postgres:16-alpine
    environment:
      POSTGRES_USER: user
      POSTGRES_PASSWORD: pass
      POSTGRES_DB: mydb
    healthcheck:
      test: ["CMD-SHELL", "pg_isready -U user -d mydb"]
      interval: 5s
      retries: 5
    volumes:
      - pgdata:/var/lib/postgresql/data
  redis:
    image: redis:7-alpine
volumes:
  pgdata:</a:t>
            </a:r>
            <a:endParaRPr sz="900" b="0" i="0">
              <a:solidFill>
                <a:srgbClr val="FFFFFF"/>
              </a:solidFill>
              <a:latin typeface="Courier New" panose="02070309020205020404"/>
            </a:endParaRPr>
          </a:p>
        </p:txBody>
      </p:sp>
      <p:sp>
        <p:nvSpPr>
          <p:cNvPr id="11" name="TextBox 10"/>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12" name="TextBox 1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3" name="TextBox 1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4" name="TextBox 1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67</a:t>
            </a:r>
            <a:endParaRPr sz="900" b="0" i="0">
              <a:solidFill>
                <a:srgbClr val="718596"/>
              </a:solidFill>
              <a:latin typeface="Calibri" panose="020F050202020403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12 — DOCKER COMPOSE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Full-Stack — Commands &amp; Endpoints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The Node.js app exposes three endpoints:</a:t>
            </a:r>
            <a:endParaRPr sz="1600" b="1" i="0">
              <a:solidFill>
                <a:srgbClr val="0F172A"/>
              </a:solidFill>
              <a:latin typeface="Calibri" panose="020F0502020204030204"/>
            </a:endParaRPr>
          </a:p>
        </p:txBody>
      </p:sp>
      <p:sp>
        <p:nvSpPr>
          <p:cNvPr id="8" name="Rectangle 7"/>
          <p:cNvSpPr/>
          <p:nvPr/>
        </p:nvSpPr>
        <p:spPr>
          <a:xfrm>
            <a:off x="566928" y="1892808"/>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GET /        -&gt; visit counter (Redis incr)
GET /db      -&gt; current PostgreSQL timestamp
GET /health  -&gt; {"status": "ok"}</a:t>
            </a:r>
            <a:endParaRPr sz="900" b="0" i="0">
              <a:solidFill>
                <a:srgbClr val="FFFFFF"/>
              </a:solidFill>
              <a:latin typeface="Courier New" panose="02070309020205020404"/>
            </a:endParaRPr>
          </a:p>
        </p:txBody>
      </p:sp>
      <p:sp>
        <p:nvSpPr>
          <p:cNvPr id="12" name="TextBox 11"/>
          <p:cNvSpPr txBox="1"/>
          <p:nvPr/>
        </p:nvSpPr>
        <p:spPr>
          <a:xfrm>
            <a:off x="640080" y="27934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Start and test:</a:t>
            </a:r>
            <a:endParaRPr sz="1600" b="1" i="0">
              <a:solidFill>
                <a:srgbClr val="0F172A"/>
              </a:solidFill>
              <a:latin typeface="Calibri" panose="020F0502020204030204"/>
            </a:endParaRPr>
          </a:p>
        </p:txBody>
      </p:sp>
      <p:sp>
        <p:nvSpPr>
          <p:cNvPr id="13" name="Rectangle 12"/>
          <p:cNvSpPr/>
          <p:nvPr/>
        </p:nvSpPr>
        <p:spPr>
          <a:xfrm>
            <a:off x="566928" y="3113532"/>
            <a:ext cx="11119104" cy="15864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113532"/>
            <a:ext cx="256032" cy="15864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140964"/>
            <a:ext cx="256032" cy="15864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159252"/>
            <a:ext cx="10771632" cy="1586484"/>
          </a:xfrm>
          <a:prstGeom prst="rect">
            <a:avLst/>
          </a:prstGeom>
          <a:noFill/>
        </p:spPr>
        <p:txBody>
          <a:bodyPr wrap="square">
            <a:spAutoFit/>
          </a:bodyPr>
          <a:lstStyle/>
          <a:p>
            <a:pPr algn="l">
              <a:buNone/>
            </a:pPr>
            <a:r>
              <a:rPr sz="900" b="0" i="0">
                <a:solidFill>
                  <a:srgbClr val="FFFFFF"/>
                </a:solidFill>
                <a:latin typeface="Courier New" panose="02070309020205020404"/>
              </a:rPr>
              <a:t>mkdir lab12 &amp;&amp; cd lab12
# Create app.js, package.json, Dockerfile, docker-compose.yml
docker-compose up -d
docker-compose ps
curl http://localhost:3000
curl http://localhost:3000/db
curl http://localhost:3000/health</a:t>
            </a:r>
            <a:endParaRPr sz="900" b="0" i="0">
              <a:solidFill>
                <a:srgbClr val="FFFFFF"/>
              </a:solidFill>
              <a:latin typeface="Courier New" panose="02070309020205020404"/>
            </a:endParaRPr>
          </a:p>
        </p:txBody>
      </p:sp>
      <p:sp>
        <p:nvSpPr>
          <p:cNvPr id="17" name="TextBox 16"/>
          <p:cNvSpPr txBox="1"/>
          <p:nvPr/>
        </p:nvSpPr>
        <p:spPr>
          <a:xfrm>
            <a:off x="640080" y="48371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Stop and remove (including volumes):</a:t>
            </a:r>
            <a:endParaRPr sz="1600" b="1" i="0">
              <a:solidFill>
                <a:srgbClr val="0F172A"/>
              </a:solidFill>
              <a:latin typeface="Calibri" panose="020F0502020204030204"/>
            </a:endParaRPr>
          </a:p>
        </p:txBody>
      </p:sp>
      <p:sp>
        <p:nvSpPr>
          <p:cNvPr id="18" name="Rectangle 17"/>
          <p:cNvSpPr/>
          <p:nvPr/>
        </p:nvSpPr>
        <p:spPr>
          <a:xfrm>
            <a:off x="566928" y="5157216"/>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157216"/>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184648"/>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5202936"/>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docker-compose down -v &amp;&amp; cd ..</a:t>
            </a:r>
            <a:endParaRPr sz="900" b="0" i="0">
              <a:solidFill>
                <a:srgbClr val="FFFFFF"/>
              </a:solidFill>
              <a:latin typeface="Courier New" panose="02070309020205020404"/>
            </a:endParaRPr>
          </a:p>
        </p:txBody>
      </p:sp>
      <p:sp>
        <p:nvSpPr>
          <p:cNvPr id="22" name="TextBox 21"/>
          <p:cNvSpPr txBox="1"/>
          <p:nvPr/>
        </p:nvSpPr>
        <p:spPr>
          <a:xfrm>
            <a:off x="640080" y="5646420"/>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depends_on with service_healthy ensures web waits for PostgreSQL to be ready.</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https://killercoda.com/tertiary-labs/course/killercoda/day1-05-docker-compose</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68</a:t>
            </a:r>
            <a:endParaRPr sz="900" b="0" i="0">
              <a:solidFill>
                <a:srgbClr val="718596"/>
              </a:solidFill>
              <a:latin typeface="Calibri" panose="020F0502020204030204"/>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7ED"/>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KNOWLEDGE CHECK  2</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Quick Review — Storage, Networking &amp; Compose</a:t>
            </a:r>
            <a:endParaRPr sz="3000" b="1" i="0">
              <a:solidFill>
                <a:srgbClr val="0F172A"/>
              </a:solidFill>
              <a:latin typeface="Cambria" panose="02040503050406030204"/>
            </a:endParaRPr>
          </a:p>
        </p:txBody>
      </p:sp>
      <p:sp>
        <p:nvSpPr>
          <p:cNvPr id="4" name="TextBox 3"/>
          <p:cNvSpPr txBox="1"/>
          <p:nvPr/>
        </p:nvSpPr>
        <p:spPr>
          <a:xfrm>
            <a:off x="640080" y="16459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Q1.  Which volume type is fully managed by Docker?</a:t>
            </a:r>
            <a:endParaRPr sz="1600" b="1" i="0">
              <a:solidFill>
                <a:srgbClr val="0F172A"/>
              </a:solidFill>
              <a:latin typeface="Calibri" panose="020F0502020204030204"/>
            </a:endParaRPr>
          </a:p>
        </p:txBody>
      </p:sp>
      <p:sp>
        <p:nvSpPr>
          <p:cNvPr id="5" name="Rectangle 4"/>
          <p:cNvSpPr/>
          <p:nvPr/>
        </p:nvSpPr>
        <p:spPr>
          <a:xfrm>
            <a:off x="566928" y="196596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1168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Bind mount        B)  Named volume        C)  tmpfs        D)  Host volume</a:t>
            </a:r>
            <a:endParaRPr sz="900" b="0" i="0">
              <a:solidFill>
                <a:srgbClr val="0F172A"/>
              </a:solidFill>
              <a:latin typeface="Courier New" panose="02070309020205020404"/>
            </a:endParaRPr>
          </a:p>
        </p:txBody>
      </p:sp>
      <p:sp>
        <p:nvSpPr>
          <p:cNvPr id="7" name="TextBox 6"/>
          <p:cNvSpPr txBox="1"/>
          <p:nvPr/>
        </p:nvSpPr>
        <p:spPr>
          <a:xfrm>
            <a:off x="640080" y="26563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Q2.  How do containers on a custom bridge network reach each other?</a:t>
            </a:r>
            <a:endParaRPr sz="1600" b="1" i="0">
              <a:solidFill>
                <a:srgbClr val="0F172A"/>
              </a:solidFill>
              <a:latin typeface="Calibri" panose="020F0502020204030204"/>
            </a:endParaRPr>
          </a:p>
        </p:txBody>
      </p:sp>
      <p:sp>
        <p:nvSpPr>
          <p:cNvPr id="8" name="TextBox 7"/>
          <p:cNvSpPr txBox="1"/>
          <p:nvPr/>
        </p:nvSpPr>
        <p:spPr>
          <a:xfrm>
            <a:off x="640080" y="32232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Q3.  What does  -p 8080:80  mean?</a:t>
            </a:r>
            <a:endParaRPr sz="1600" b="1" i="0">
              <a:solidFill>
                <a:srgbClr val="0F172A"/>
              </a:solidFill>
              <a:latin typeface="Calibri" panose="020F0502020204030204"/>
            </a:endParaRPr>
          </a:p>
        </p:txBody>
      </p:sp>
      <p:sp>
        <p:nvSpPr>
          <p:cNvPr id="9" name="TextBox 8"/>
          <p:cNvSpPr txBox="1"/>
          <p:nvPr/>
        </p:nvSpPr>
        <p:spPr>
          <a:xfrm>
            <a:off x="640080" y="37901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Q4.  Which key ensures a service starts only after another is healthy?</a:t>
            </a:r>
            <a:endParaRPr sz="1600" b="1" i="0">
              <a:solidFill>
                <a:srgbClr val="0F172A"/>
              </a:solidFill>
              <a:latin typeface="Calibri" panose="020F0502020204030204"/>
            </a:endParaRPr>
          </a:p>
        </p:txBody>
      </p:sp>
      <p:sp>
        <p:nvSpPr>
          <p:cNvPr id="10" name="Rectangle 9"/>
          <p:cNvSpPr/>
          <p:nvPr/>
        </p:nvSpPr>
        <p:spPr>
          <a:xfrm>
            <a:off x="566928" y="411022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5594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needs        B)  after        C)  depends_on with condition: service_healthy</a:t>
            </a:r>
            <a:endParaRPr sz="900" b="0" i="0">
              <a:solidFill>
                <a:srgbClr val="0F172A"/>
              </a:solidFill>
              <a:latin typeface="Courier New" panose="02070309020205020404"/>
            </a:endParaRPr>
          </a:p>
        </p:txBody>
      </p:sp>
      <p:sp>
        <p:nvSpPr>
          <p:cNvPr id="12" name="TextBox 11"/>
          <p:cNvSpPr txBox="1"/>
          <p:nvPr/>
        </p:nvSpPr>
        <p:spPr>
          <a:xfrm>
            <a:off x="640080" y="48006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Q5.  Which command removes containers AND networks created by docker-compose up?</a:t>
            </a:r>
            <a:endParaRPr sz="1600" b="1" i="0">
              <a:solidFill>
                <a:srgbClr val="0F172A"/>
              </a:solidFill>
              <a:latin typeface="Calibri" panose="020F0502020204030204"/>
            </a:endParaRPr>
          </a:p>
        </p:txBody>
      </p:sp>
      <p:sp>
        <p:nvSpPr>
          <p:cNvPr id="13" name="Rectangle 12"/>
          <p:cNvSpPr/>
          <p:nvPr/>
        </p:nvSpPr>
        <p:spPr>
          <a:xfrm>
            <a:off x="566928" y="512064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16636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docker-compose stop        B)  docker-compose rm        C)  docker-compose down</a:t>
            </a:r>
            <a:endParaRPr sz="900" b="0" i="0">
              <a:solidFill>
                <a:srgbClr val="0F172A"/>
              </a:solidFill>
              <a:latin typeface="Courier New" panose="020703090202050204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69</a:t>
            </a:r>
            <a:endParaRPr sz="900" b="0" i="0">
              <a:solidFill>
                <a:srgbClr val="718596"/>
              </a:solidFill>
              <a:latin typeface="Calibri" panose="020F050202020403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WRAP UP</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Day 1 — Summary</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What we covered today:</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Docker architecture: client, daemon, registry</a:t>
            </a:r>
            <a:endParaRPr sz="1600" b="0" i="0">
              <a:solidFill>
                <a:srgbClr val="0F172A"/>
              </a:solidFill>
              <a:latin typeface="Calibri" panose="020F0502020204030204"/>
            </a:endParaRPr>
          </a:p>
        </p:txBody>
      </p:sp>
      <p:sp>
        <p:nvSpPr>
          <p:cNvPr id="9" name="TextBox 8"/>
          <p:cNvSpPr txBox="1"/>
          <p:nvPr/>
        </p:nvSpPr>
        <p:spPr>
          <a:xfrm>
            <a:off x="640080" y="23042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Running and managing containers  (run, ps, stop, rm, logs, cp)</a:t>
            </a:r>
            <a:endParaRPr sz="1600" b="0" i="0">
              <a:solidFill>
                <a:srgbClr val="0F172A"/>
              </a:solidFill>
              <a:latin typeface="Calibri" panose="020F0502020204030204"/>
            </a:endParaRPr>
          </a:p>
        </p:txBody>
      </p:sp>
      <p:sp>
        <p:nvSpPr>
          <p:cNvPr id="10" name="TextBox 9"/>
          <p:cNvSpPr txBox="1"/>
          <p:nvPr/>
        </p:nvSpPr>
        <p:spPr>
          <a:xfrm>
            <a:off x="640080" y="26700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Building custom images with Dockerfile  (build, layers, caching)</a:t>
            </a:r>
            <a:endParaRPr sz="1600" b="0" i="0">
              <a:solidFill>
                <a:srgbClr val="0F172A"/>
              </a:solidFill>
              <a:latin typeface="Calibri" panose="020F0502020204030204"/>
            </a:endParaRPr>
          </a:p>
        </p:txBody>
      </p:sp>
      <p:sp>
        <p:nvSpPr>
          <p:cNvPr id="11" name="TextBox 10"/>
          <p:cNvSpPr txBox="1"/>
          <p:nvPr/>
        </p:nvSpPr>
        <p:spPr>
          <a:xfrm>
            <a:off x="640080" y="30358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Persistent storage: named volumes and bind mounts</a:t>
            </a:r>
            <a:endParaRPr sz="1600" b="0" i="0">
              <a:solidFill>
                <a:srgbClr val="0F172A"/>
              </a:solidFill>
              <a:latin typeface="Calibri" panose="020F0502020204030204"/>
            </a:endParaRPr>
          </a:p>
        </p:txBody>
      </p:sp>
      <p:sp>
        <p:nvSpPr>
          <p:cNvPr id="12" name="TextBox 11"/>
          <p:cNvSpPr txBox="1"/>
          <p:nvPr/>
        </p:nvSpPr>
        <p:spPr>
          <a:xfrm>
            <a:off x="640080" y="34015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Networking: custom bridge networks, container DNS, port mapping</a:t>
            </a:r>
            <a:endParaRPr sz="1600" b="0" i="0">
              <a:solidFill>
                <a:srgbClr val="0F172A"/>
              </a:solidFill>
              <a:latin typeface="Calibri" panose="020F0502020204030204"/>
            </a:endParaRPr>
          </a:p>
        </p:txBody>
      </p:sp>
      <p:sp>
        <p:nvSpPr>
          <p:cNvPr id="13" name="TextBox 12"/>
          <p:cNvSpPr txBox="1"/>
          <p:nvPr/>
        </p:nvSpPr>
        <p:spPr>
          <a:xfrm>
            <a:off x="640080" y="37673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Runtime configuration: environment variables and env files</a:t>
            </a:r>
            <a:endParaRPr sz="1600" b="0" i="0">
              <a:solidFill>
                <a:srgbClr val="0F172A"/>
              </a:solidFill>
              <a:latin typeface="Calibri" panose="020F0502020204030204"/>
            </a:endParaRPr>
          </a:p>
        </p:txBody>
      </p:sp>
      <p:sp>
        <p:nvSpPr>
          <p:cNvPr id="14" name="TextBox 13"/>
          <p:cNvSpPr txBox="1"/>
          <p:nvPr/>
        </p:nvSpPr>
        <p:spPr>
          <a:xfrm>
            <a:off x="640080" y="41330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Docker Compose: defining and running multi-service apps</a:t>
            </a:r>
            <a:endParaRPr sz="1600" b="0" i="0">
              <a:solidFill>
                <a:srgbClr val="0F172A"/>
              </a:solidFill>
              <a:latin typeface="Calibri" panose="020F0502020204030204"/>
            </a:endParaRPr>
          </a:p>
        </p:txBody>
      </p:sp>
      <p:sp>
        <p:nvSpPr>
          <p:cNvPr id="15" name="TextBox 14"/>
          <p:cNvSpPr txBox="1"/>
          <p:nvPr/>
        </p:nvSpPr>
        <p:spPr>
          <a:xfrm>
            <a:off x="640080" y="47000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Tomorrow — Kubernetes (Day 2):</a:t>
            </a:r>
            <a:endParaRPr sz="1600" b="1" i="0">
              <a:solidFill>
                <a:srgbClr val="0F172A"/>
              </a:solidFill>
              <a:latin typeface="Calibri" panose="020F0502020204030204"/>
            </a:endParaRPr>
          </a:p>
        </p:txBody>
      </p:sp>
      <p:sp>
        <p:nvSpPr>
          <p:cNvPr id="16" name="TextBox 15"/>
          <p:cNvSpPr txBox="1"/>
          <p:nvPr/>
        </p:nvSpPr>
        <p:spPr>
          <a:xfrm>
            <a:off x="640080" y="50657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Pods, Namespaces, Deployments, Rollouts, Services, Storage, Jobs</a:t>
            </a:r>
            <a:endParaRPr sz="1600" b="0" i="0">
              <a:solidFill>
                <a:srgbClr val="0F172A"/>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70</a:t>
            </a:r>
            <a:endParaRPr sz="900" b="0" i="0">
              <a:solidFill>
                <a:srgbClr val="718596"/>
              </a:solidFill>
              <a:latin typeface="Calibri" panose="020F0502020204030204"/>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8503920" y="-1645919"/>
            <a:ext cx="4206240" cy="4206240"/>
          </a:xfrm>
          <a:prstGeom prst="ellipse">
            <a:avLst/>
          </a:prstGeom>
          <a:solidFill>
            <a:srgbClr val="2496ED">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2651759"/>
            <a:ext cx="3108960" cy="3108960"/>
          </a:xfrm>
          <a:prstGeom prst="ellipse">
            <a:avLst/>
          </a:prstGeom>
          <a:solidFill>
            <a:srgbClr val="2496ED">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645920"/>
            <a:ext cx="10058400" cy="365760"/>
          </a:xfrm>
          <a:prstGeom prst="rect">
            <a:avLst/>
          </a:prstGeom>
          <a:noFill/>
        </p:spPr>
        <p:txBody>
          <a:bodyPr wrap="square">
            <a:spAutoFit/>
          </a:bodyPr>
          <a:lstStyle/>
          <a:p>
            <a:pPr algn="l">
              <a:buNone/>
            </a:pPr>
            <a:r>
              <a:rPr sz="1400" b="1" i="0">
                <a:solidFill>
                  <a:srgbClr val="2496ED"/>
                </a:solidFill>
                <a:latin typeface="Calibri" panose="020F0502020204030204"/>
              </a:rPr>
              <a:t>END OF DAY 1</a:t>
            </a:r>
            <a:endParaRPr sz="1400" b="1" i="0">
              <a:solidFill>
                <a:srgbClr val="2496ED"/>
              </a:solidFill>
              <a:latin typeface="Calibri" panose="020F0502020204030204"/>
            </a:endParaRPr>
          </a:p>
        </p:txBody>
      </p:sp>
      <p:sp>
        <p:nvSpPr>
          <p:cNvPr id="5" name="TextBox 4"/>
          <p:cNvSpPr txBox="1"/>
          <p:nvPr/>
        </p:nvSpPr>
        <p:spPr>
          <a:xfrm>
            <a:off x="777240" y="2103120"/>
            <a:ext cx="10058400" cy="1005840"/>
          </a:xfrm>
          <a:prstGeom prst="rect">
            <a:avLst/>
          </a:prstGeom>
          <a:noFill/>
        </p:spPr>
        <p:txBody>
          <a:bodyPr wrap="square">
            <a:spAutoFit/>
          </a:bodyPr>
          <a:lstStyle/>
          <a:p>
            <a:pPr algn="l">
              <a:buNone/>
            </a:pPr>
            <a:r>
              <a:rPr sz="5200" b="1" i="0">
                <a:solidFill>
                  <a:srgbClr val="FFFFFF"/>
                </a:solidFill>
                <a:latin typeface="Cambria" panose="02040503050406030204"/>
              </a:rPr>
              <a:t>Questions?</a:t>
            </a:r>
            <a:endParaRPr sz="5200" b="1" i="0">
              <a:solidFill>
                <a:srgbClr val="FFFFFF"/>
              </a:solidFill>
              <a:latin typeface="Cambria" panose="02040503050406030204"/>
            </a:endParaRPr>
          </a:p>
        </p:txBody>
      </p:sp>
      <p:sp>
        <p:nvSpPr>
          <p:cNvPr id="6" name="TextBox 5"/>
          <p:cNvSpPr txBox="1"/>
          <p:nvPr/>
        </p:nvSpPr>
        <p:spPr>
          <a:xfrm>
            <a:off x="822960" y="3291840"/>
            <a:ext cx="10058400" cy="457200"/>
          </a:xfrm>
          <a:prstGeom prst="rect">
            <a:avLst/>
          </a:prstGeom>
          <a:noFill/>
        </p:spPr>
        <p:txBody>
          <a:bodyPr wrap="square">
            <a:spAutoFit/>
          </a:bodyPr>
          <a:lstStyle/>
          <a:p>
            <a:pPr algn="l">
              <a:buNone/>
            </a:pPr>
            <a:r>
              <a:rPr sz="1800" b="0" i="0">
                <a:solidFill>
                  <a:srgbClr val="94A3B8"/>
                </a:solidFill>
                <a:latin typeface="Calibri" panose="020F0502020204030204"/>
              </a:rPr>
              <a:t>See you tomorrow for Day 2 — Kubernetes.</a:t>
            </a:r>
            <a:endParaRPr sz="1800" b="0" i="0">
              <a:solidFill>
                <a:srgbClr val="94A3B8"/>
              </a:solidFill>
              <a:latin typeface="Calibri" panose="020F0502020204030204"/>
            </a:endParaRPr>
          </a:p>
        </p:txBody>
      </p:sp>
      <p:sp>
        <p:nvSpPr>
          <p:cNvPr id="7" name="TextBox 6"/>
          <p:cNvSpPr txBox="1"/>
          <p:nvPr/>
        </p:nvSpPr>
        <p:spPr>
          <a:xfrm>
            <a:off x="822960" y="4114800"/>
            <a:ext cx="10058400" cy="320040"/>
          </a:xfrm>
          <a:prstGeom prst="rect">
            <a:avLst/>
          </a:prstGeom>
          <a:noFill/>
        </p:spPr>
        <p:txBody>
          <a:bodyPr wrap="square">
            <a:spAutoFit/>
          </a:bodyPr>
          <a:lstStyle/>
          <a:p>
            <a:pPr algn="l">
              <a:buNone/>
            </a:pPr>
            <a:r>
              <a:rPr sz="1400" b="0" i="0">
                <a:solidFill>
                  <a:srgbClr val="64748B"/>
                </a:solidFill>
                <a:latin typeface="Calibri" panose="020F0502020204030204"/>
              </a:rPr>
              <a:t>enquiry@tertiaryinfotech.com   |   +65 6100 0613</a:t>
            </a:r>
            <a:endParaRPr sz="1400" b="0" i="0">
              <a:solidFill>
                <a:srgbClr val="64748B"/>
              </a:solidFill>
              <a:latin typeface="Calibri" panose="020F0502020204030204"/>
            </a:endParaRPr>
          </a:p>
        </p:txBody>
      </p:sp>
      <p:sp>
        <p:nvSpPr>
          <p:cNvPr id="8" name="TextBox 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9" name="TextBox 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0" name="TextBox 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71</a:t>
            </a:r>
            <a:endParaRPr sz="900" b="0" i="0">
              <a:solidFill>
                <a:srgbClr val="718596"/>
              </a:solidFill>
              <a:latin typeface="Calibri" panose="020F05020202040302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8686800" y="-1554479"/>
            <a:ext cx="4206240" cy="4206240"/>
          </a:xfrm>
          <a:prstGeom prst="ellipse">
            <a:avLst/>
          </a:prstGeom>
          <a:solidFill>
            <a:srgbClr val="2496ED">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875520" y="2743200"/>
            <a:ext cx="3108960" cy="3108960"/>
          </a:xfrm>
          <a:prstGeom prst="ellipse">
            <a:avLst/>
          </a:prstGeom>
          <a:solidFill>
            <a:srgbClr val="2496ED">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645920"/>
            <a:ext cx="10058400" cy="457200"/>
          </a:xfrm>
          <a:prstGeom prst="rect">
            <a:avLst/>
          </a:prstGeom>
          <a:noFill/>
        </p:spPr>
        <p:txBody>
          <a:bodyPr wrap="square">
            <a:spAutoFit/>
          </a:bodyPr>
          <a:lstStyle/>
          <a:p>
            <a:pPr algn="l">
              <a:buNone/>
            </a:pPr>
            <a:r>
              <a:rPr sz="1800" b="1" i="0">
                <a:solidFill>
                  <a:srgbClr val="2496ED"/>
                </a:solidFill>
                <a:latin typeface="Calibri" panose="020F0502020204030204"/>
              </a:rPr>
              <a:t>DAY 2</a:t>
            </a:r>
            <a:endParaRPr sz="1800" b="1" i="0">
              <a:solidFill>
                <a:srgbClr val="2496ED"/>
              </a:solidFill>
              <a:latin typeface="Calibri" panose="020F0502020204030204"/>
            </a:endParaRPr>
          </a:p>
        </p:txBody>
      </p:sp>
      <p:sp>
        <p:nvSpPr>
          <p:cNvPr id="5" name="TextBox 4"/>
          <p:cNvSpPr txBox="1"/>
          <p:nvPr/>
        </p:nvSpPr>
        <p:spPr>
          <a:xfrm>
            <a:off x="777240" y="2194560"/>
            <a:ext cx="10058400" cy="1280160"/>
          </a:xfrm>
          <a:prstGeom prst="rect">
            <a:avLst/>
          </a:prstGeom>
          <a:noFill/>
        </p:spPr>
        <p:txBody>
          <a:bodyPr wrap="square">
            <a:spAutoFit/>
          </a:bodyPr>
          <a:lstStyle/>
          <a:p>
            <a:pPr algn="l">
              <a:buNone/>
            </a:pPr>
            <a:r>
              <a:rPr sz="5200" b="1" i="0">
                <a:solidFill>
                  <a:srgbClr val="FFFFFF"/>
                </a:solidFill>
                <a:latin typeface="Cambria" panose="02040503050406030204"/>
              </a:rPr>
              <a:t>Kubernetes</a:t>
            </a:r>
            <a:endParaRPr sz="5200" b="1" i="0">
              <a:solidFill>
                <a:srgbClr val="FFFFFF"/>
              </a:solidFill>
              <a:latin typeface="Cambria" panose="02040503050406030204"/>
            </a:endParaRPr>
          </a:p>
        </p:txBody>
      </p:sp>
      <p:sp>
        <p:nvSpPr>
          <p:cNvPr id="6" name="TextBox 5"/>
          <p:cNvSpPr txBox="1"/>
          <p:nvPr/>
        </p:nvSpPr>
        <p:spPr>
          <a:xfrm>
            <a:off x="822960" y="3657600"/>
            <a:ext cx="10058400" cy="457200"/>
          </a:xfrm>
          <a:prstGeom prst="rect">
            <a:avLst/>
          </a:prstGeom>
          <a:noFill/>
        </p:spPr>
        <p:txBody>
          <a:bodyPr wrap="square">
            <a:spAutoFit/>
          </a:bodyPr>
          <a:lstStyle/>
          <a:p>
            <a:pPr algn="l">
              <a:buNone/>
            </a:pPr>
            <a:r>
              <a:rPr sz="1800" b="0" i="0">
                <a:solidFill>
                  <a:srgbClr val="94A3B8"/>
                </a:solidFill>
                <a:latin typeface="Calibri" panose="020F0502020204030204"/>
              </a:rPr>
              <a:t>Container orchestration — deploy, scale, and heal your apps.</a:t>
            </a:r>
            <a:endParaRPr sz="1800" b="0" i="0">
              <a:solidFill>
                <a:srgbClr val="94A3B8"/>
              </a:solidFill>
              <a:latin typeface="Calibri" panose="020F0502020204030204"/>
            </a:endParaRPr>
          </a:p>
        </p:txBody>
      </p:sp>
      <p:sp>
        <p:nvSpPr>
          <p:cNvPr id="7" name="TextBox 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8" name="TextBox 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9" name="TextBox 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72</a:t>
            </a:r>
            <a:endParaRPr sz="900" b="0" i="0">
              <a:solidFill>
                <a:srgbClr val="718596"/>
              </a:solidFill>
              <a:latin typeface="Calibri" panose="020F0502020204030204"/>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ROADMAP</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Day 2 — Course Outline</a:t>
            </a:r>
            <a:endParaRPr sz="2600" b="1" i="0">
              <a:solidFill>
                <a:srgbClr val="FFFFFF"/>
              </a:solidFill>
              <a:latin typeface="Cambria" panose="02040503050406030204"/>
            </a:endParaRPr>
          </a:p>
        </p:txBody>
      </p:sp>
      <p:sp>
        <p:nvSpPr>
          <p:cNvPr id="7" name="TextBox 6"/>
          <p:cNvSpPr txBox="1"/>
          <p:nvPr/>
        </p:nvSpPr>
        <p:spPr>
          <a:xfrm>
            <a:off x="640080" y="1783080"/>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1.  What is Kubernetes? — Architecture &amp; objects</a:t>
            </a:r>
            <a:endParaRPr sz="1500" b="0" i="0">
              <a:solidFill>
                <a:srgbClr val="0F172A"/>
              </a:solidFill>
              <a:latin typeface="Calibri" panose="020F0502020204030204"/>
            </a:endParaRPr>
          </a:p>
        </p:txBody>
      </p:sp>
      <p:sp>
        <p:nvSpPr>
          <p:cNvPr id="8" name="TextBox 7"/>
          <p:cNvSpPr txBox="1"/>
          <p:nvPr/>
        </p:nvSpPr>
        <p:spPr>
          <a:xfrm>
            <a:off x="640080" y="2441448"/>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2.  kubectl — The K8s CLI</a:t>
            </a:r>
            <a:endParaRPr sz="1500" b="0" i="0">
              <a:solidFill>
                <a:srgbClr val="0F172A"/>
              </a:solidFill>
              <a:latin typeface="Calibri" panose="020F0502020204030204"/>
            </a:endParaRPr>
          </a:p>
        </p:txBody>
      </p:sp>
      <p:sp>
        <p:nvSpPr>
          <p:cNvPr id="9" name="TextBox 8"/>
          <p:cNvSpPr txBox="1"/>
          <p:nvPr/>
        </p:nvSpPr>
        <p:spPr>
          <a:xfrm>
            <a:off x="640080" y="3099815"/>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3.  Pods — Lifecycle, YAML, anatomy  (Lab 13)</a:t>
            </a:r>
            <a:endParaRPr sz="1500" b="0" i="0">
              <a:solidFill>
                <a:srgbClr val="0F172A"/>
              </a:solidFill>
              <a:latin typeface="Calibri" panose="020F0502020204030204"/>
            </a:endParaRPr>
          </a:p>
        </p:txBody>
      </p:sp>
      <p:sp>
        <p:nvSpPr>
          <p:cNvPr id="10" name="TextBox 9"/>
          <p:cNvSpPr txBox="1"/>
          <p:nvPr/>
        </p:nvSpPr>
        <p:spPr>
          <a:xfrm>
            <a:off x="640080" y="3758184"/>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4.  Namespaces — Environment isolation  (Lab 14)</a:t>
            </a:r>
            <a:endParaRPr sz="1500" b="0" i="0">
              <a:solidFill>
                <a:srgbClr val="0F172A"/>
              </a:solidFill>
              <a:latin typeface="Calibri" panose="020F0502020204030204"/>
            </a:endParaRPr>
          </a:p>
        </p:txBody>
      </p:sp>
      <p:sp>
        <p:nvSpPr>
          <p:cNvPr id="11" name="TextBox 10"/>
          <p:cNvSpPr txBox="1"/>
          <p:nvPr/>
        </p:nvSpPr>
        <p:spPr>
          <a:xfrm>
            <a:off x="640080" y="4416552"/>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5.  Deployments — Self-healing, scaling  (Lab 15)</a:t>
            </a:r>
            <a:endParaRPr sz="1500" b="0" i="0">
              <a:solidFill>
                <a:srgbClr val="0F172A"/>
              </a:solidFill>
              <a:latin typeface="Calibri" panose="020F0502020204030204"/>
            </a:endParaRPr>
          </a:p>
        </p:txBody>
      </p:sp>
      <p:sp>
        <p:nvSpPr>
          <p:cNvPr id="12" name="TextBox 11"/>
          <p:cNvSpPr txBox="1"/>
          <p:nvPr/>
        </p:nvSpPr>
        <p:spPr>
          <a:xfrm>
            <a:off x="6309360" y="1783080"/>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6.  Rolling Updates &amp; Rollbacks  (Lab 16)</a:t>
            </a:r>
            <a:endParaRPr sz="1500" b="0" i="0">
              <a:solidFill>
                <a:srgbClr val="0F172A"/>
              </a:solidFill>
              <a:latin typeface="Calibri" panose="020F0502020204030204"/>
            </a:endParaRPr>
          </a:p>
        </p:txBody>
      </p:sp>
      <p:sp>
        <p:nvSpPr>
          <p:cNvPr id="13" name="TextBox 12"/>
          <p:cNvSpPr txBox="1"/>
          <p:nvPr/>
        </p:nvSpPr>
        <p:spPr>
          <a:xfrm>
            <a:off x="6309360" y="2441448"/>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7.  Services — ClusterIP, NodePort  (Lab 17)</a:t>
            </a:r>
            <a:endParaRPr sz="1500" b="0" i="0">
              <a:solidFill>
                <a:srgbClr val="0F172A"/>
              </a:solidFill>
              <a:latin typeface="Calibri" panose="020F0502020204030204"/>
            </a:endParaRPr>
          </a:p>
        </p:txBody>
      </p:sp>
      <p:sp>
        <p:nvSpPr>
          <p:cNvPr id="14" name="TextBox 13"/>
          <p:cNvSpPr txBox="1"/>
          <p:nvPr/>
        </p:nvSpPr>
        <p:spPr>
          <a:xfrm>
            <a:off x="6309360" y="3099815"/>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8.  Storage — emptyDir, PV/PVC  (Lab 18)</a:t>
            </a:r>
            <a:endParaRPr sz="1500" b="0" i="0">
              <a:solidFill>
                <a:srgbClr val="0F172A"/>
              </a:solidFill>
              <a:latin typeface="Calibri" panose="020F0502020204030204"/>
            </a:endParaRPr>
          </a:p>
        </p:txBody>
      </p:sp>
      <p:sp>
        <p:nvSpPr>
          <p:cNvPr id="15" name="TextBox 14"/>
          <p:cNvSpPr txBox="1"/>
          <p:nvPr/>
        </p:nvSpPr>
        <p:spPr>
          <a:xfrm>
            <a:off x="6309360" y="3758184"/>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9.  Jobs &amp; CronJobs  (Lab 19)</a:t>
            </a:r>
            <a:endParaRPr sz="1500" b="0" i="0">
              <a:solidFill>
                <a:srgbClr val="0F172A"/>
              </a:solidFill>
              <a:latin typeface="Calibri" panose="020F0502020204030204"/>
            </a:endParaRPr>
          </a:p>
        </p:txBody>
      </p:sp>
      <p:sp>
        <p:nvSpPr>
          <p:cNvPr id="16" name="TextBox 15"/>
          <p:cNvSpPr txBox="1"/>
          <p:nvPr/>
        </p:nvSpPr>
        <p:spPr>
          <a:xfrm>
            <a:off x="6309360" y="4416552"/>
            <a:ext cx="5486400" cy="502920"/>
          </a:xfrm>
          <a:prstGeom prst="rect">
            <a:avLst/>
          </a:prstGeom>
          <a:noFill/>
        </p:spPr>
        <p:txBody>
          <a:bodyPr wrap="square">
            <a:spAutoFit/>
          </a:bodyPr>
          <a:lstStyle/>
          <a:p>
            <a:pPr algn="l">
              <a:buNone/>
            </a:pPr>
            <a:r>
              <a:rPr sz="1500" b="0" i="0">
                <a:solidFill>
                  <a:srgbClr val="0F172A"/>
                </a:solidFill>
                <a:latin typeface="Calibri" panose="020F0502020204030204"/>
              </a:rPr>
              <a:t>10. Knowledge Checks  •  Assessment</a:t>
            </a:r>
            <a:endParaRPr sz="1500" b="0" i="0">
              <a:solidFill>
                <a:srgbClr val="0F172A"/>
              </a:solidFill>
              <a:latin typeface="Calibri" panose="020F0502020204030204"/>
            </a:endParaRPr>
          </a:p>
        </p:txBody>
      </p:sp>
      <p:sp>
        <p:nvSpPr>
          <p:cNvPr id="17" name="Rectangle 16"/>
          <p:cNvSpPr/>
          <p:nvPr/>
        </p:nvSpPr>
        <p:spPr>
          <a:xfrm>
            <a:off x="201168" y="5888736"/>
            <a:ext cx="11777472" cy="475488"/>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5760" y="5952744"/>
            <a:ext cx="11448288" cy="347472"/>
          </a:xfrm>
          <a:prstGeom prst="rect">
            <a:avLst/>
          </a:prstGeom>
          <a:noFill/>
        </p:spPr>
        <p:txBody>
          <a:bodyPr wrap="square">
            <a:spAutoFit/>
          </a:bodyPr>
          <a:lstStyle/>
          <a:p>
            <a:pPr algn="ctr">
              <a:buNone/>
            </a:pPr>
            <a:r>
              <a:rPr sz="1200" b="1" i="0">
                <a:solidFill>
                  <a:srgbClr val="FFFFFF"/>
                </a:solidFill>
                <a:latin typeface="Calibri" panose="020F0502020204030204"/>
              </a:rPr>
              <a:t>7 Labs (Lab 13–19) + 2 Knowledge Checks  |  Assessment on final day  |  Hands-on via KillerCoda browser environment</a:t>
            </a:r>
            <a:endParaRPr sz="1200" b="1" i="0">
              <a:solidFill>
                <a:srgbClr val="FFFFFF"/>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73</a:t>
            </a:r>
            <a:endParaRPr sz="900" b="0" i="0">
              <a:solidFill>
                <a:srgbClr val="718596"/>
              </a:solidFill>
              <a:latin typeface="Calibri" panose="020F0502020204030204"/>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1</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What is Kubernetes?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Container orchestration at scale</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Architecture overview</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Control plane</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Worker nodes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kubectl &amp; Core objects</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K8s vs Docker Compose</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74</a:t>
            </a:r>
            <a:endParaRPr sz="900" b="0" i="0">
              <a:solidFill>
                <a:srgbClr val="718596"/>
              </a:solidFill>
              <a:latin typeface="Calibri" panose="020F0502020204030204"/>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The Container Management Problem</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Docker is excellent for running a single container on one host. But in production:</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Challenges at scale:</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Hundreds of containers across dozens of servers</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A container crashes — who restarts it?</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Traffic spikes — who scales the app up?</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New version released — how to update with zero downtime?</a:t>
            </a:r>
            <a:endParaRPr sz="1600" b="0" i="0">
              <a:solidFill>
                <a:srgbClr val="0F172A"/>
              </a:solidFill>
              <a:latin typeface="Calibri" panose="020F0502020204030204"/>
            </a:endParaRPr>
          </a:p>
        </p:txBody>
      </p:sp>
      <p:sp>
        <p:nvSpPr>
          <p:cNvPr id="13" name="TextBox 12"/>
          <p:cNvSpPr txBox="1"/>
          <p:nvPr/>
        </p:nvSpPr>
        <p:spPr>
          <a:xfrm>
            <a:off x="640080" y="39684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Which host has enough memory to run the next container?</a:t>
            </a:r>
            <a:endParaRPr sz="1600" b="0" i="0">
              <a:solidFill>
                <a:srgbClr val="0F172A"/>
              </a:solidFill>
              <a:latin typeface="Calibri" panose="020F0502020204030204"/>
            </a:endParaRPr>
          </a:p>
        </p:txBody>
      </p:sp>
      <p:sp>
        <p:nvSpPr>
          <p:cNvPr id="14" name="TextBox 13"/>
          <p:cNvSpPr txBox="1"/>
          <p:nvPr/>
        </p:nvSpPr>
        <p:spPr>
          <a:xfrm>
            <a:off x="640080" y="453542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Kubernetes (K8s) automates all of this — deployment, scaling, healing, and networking.</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75</a:t>
            </a:r>
            <a:endParaRPr sz="900" b="0" i="0">
              <a:solidFill>
                <a:srgbClr val="718596"/>
              </a:solidFill>
              <a:latin typeface="Calibri" panose="020F0502020204030204"/>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Kubernetes?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Kubernetes is a portable, extensible, open source platform for managing containerised workloads and services that facilitate both declarative configuration and automation. Google open-sourced it in 2014, combining 15+ years of production experience. (kubernetes.io/docs/concepts/overview)</a:t>
            </a:r>
            <a:endParaRPr sz="1600" b="0" i="0">
              <a:solidFill>
                <a:srgbClr val="0F172A"/>
              </a:solidFill>
              <a:latin typeface="Calibri" panose="020F0502020204030204"/>
            </a:endParaRPr>
          </a:p>
        </p:txBody>
      </p:sp>
      <p:sp>
        <p:nvSpPr>
          <p:cNvPr id="8" name="TextBox 7"/>
          <p:cNvSpPr txBox="1"/>
          <p:nvPr/>
        </p:nvSpPr>
        <p:spPr>
          <a:xfrm>
            <a:off x="640080" y="2304161"/>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Key capabilities   (kubernetes.io):</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Service discovery &amp; load balancing  — expose via DNS or IP; distribute traffic</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Storage orchestration  — automatically mount local or cloud storage</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Automated rollouts &amp; rollbacks  — control state changes at a managed rate</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Self-healing  — restarts failed containers; replaces non-responsive ones</a:t>
            </a:r>
            <a:endParaRPr sz="1600" b="0" i="0">
              <a:solidFill>
                <a:srgbClr val="0F172A"/>
              </a:solidFill>
              <a:latin typeface="Calibri" panose="020F0502020204030204"/>
            </a:endParaRPr>
          </a:p>
        </p:txBody>
      </p:sp>
      <p:sp>
        <p:nvSpPr>
          <p:cNvPr id="13" name="TextBox 12"/>
          <p:cNvSpPr txBox="1"/>
          <p:nvPr/>
        </p:nvSpPr>
        <p:spPr>
          <a:xfrm>
            <a:off x="640080" y="39684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Horizontal scaling  — scale via command, UI, or automatic CPU-based triggers</a:t>
            </a:r>
            <a:endParaRPr sz="1600" b="0" i="0">
              <a:solidFill>
                <a:srgbClr val="0F172A"/>
              </a:solidFill>
              <a:latin typeface="Calibri" panose="020F0502020204030204"/>
            </a:endParaRPr>
          </a:p>
        </p:txBody>
      </p:sp>
      <p:sp>
        <p:nvSpPr>
          <p:cNvPr id="14" name="TextBox 13"/>
          <p:cNvSpPr txBox="1"/>
          <p:nvPr/>
        </p:nvSpPr>
        <p:spPr>
          <a:xfrm>
            <a:off x="640080" y="43342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Secret &amp; config management  — store passwords, tokens, keys securely</a:t>
            </a:r>
            <a:endParaRPr sz="1600" b="0" i="0">
              <a:solidFill>
                <a:srgbClr val="0F172A"/>
              </a:solidFill>
              <a:latin typeface="Calibri" panose="020F0502020204030204"/>
            </a:endParaRPr>
          </a:p>
        </p:txBody>
      </p:sp>
      <p:sp>
        <p:nvSpPr>
          <p:cNvPr id="15" name="TextBox 14"/>
          <p:cNvSpPr txBox="1"/>
          <p:nvPr/>
        </p:nvSpPr>
        <p:spPr>
          <a:xfrm>
            <a:off x="640080" y="4901184"/>
            <a:ext cx="10972800" cy="310896"/>
          </a:xfrm>
          <a:prstGeom prst="rect">
            <a:avLst/>
          </a:prstGeom>
          <a:noFill/>
        </p:spPr>
        <p:txBody>
          <a:bodyPr wrap="square">
            <a:spAutoFit/>
          </a:bodyPr>
          <a:lstStyle/>
          <a:p>
            <a:pPr algn="l">
              <a:buNone/>
            </a:pPr>
            <a:r>
              <a:rPr sz="1200" b="0" i="0">
                <a:solidFill>
                  <a:srgbClr val="64748B"/>
                </a:solidFill>
                <a:latin typeface="Calibri" panose="020F0502020204030204"/>
              </a:rPr>
              <a:t>Used by: Google (GKE), Microsoft Azure (AKS), Amazon (EKS), and virtually every large-scale cloud deployment.</a:t>
            </a:r>
            <a:endParaRPr sz="1200" b="0" i="0">
              <a:solidFill>
                <a:srgbClr val="64748B"/>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76</a:t>
            </a:r>
            <a:endParaRPr sz="900" b="0" i="0">
              <a:solidFill>
                <a:srgbClr val="718596"/>
              </a:solidFill>
              <a:latin typeface="Calibri" panose="020F05020202040302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ARCHITECTURE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K8s Cluster Architecture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 Kubernetes cluster has two types of machines:</a:t>
            </a:r>
            <a:endParaRPr sz="1600" b="1"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Control Plane  (Master Node)</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Manages the cluster — scheduling, desired state, API.</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Components: API Server, etcd, Scheduler, Controller Manager</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Worker Nodes</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Run the actual application containers inside Pods.</a:t>
            </a:r>
            <a:endParaRPr sz="1600" b="0"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Components: kubelet, kube-proxy, container runtime (containerd)</a:t>
            </a:r>
            <a:endParaRPr sz="1600" b="0" i="0">
              <a:solidFill>
                <a:srgbClr val="0F172A"/>
              </a:solidFill>
              <a:latin typeface="Calibri" panose="020F0502020204030204"/>
            </a:endParaRPr>
          </a:p>
        </p:txBody>
      </p:sp>
      <p:sp>
        <p:nvSpPr>
          <p:cNvPr id="14" name="TextBox 13"/>
          <p:cNvSpPr txBox="1"/>
          <p:nvPr/>
        </p:nvSpPr>
        <p:spPr>
          <a:xfrm>
            <a:off x="640080" y="473659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kubectl talks to the API Server -&gt; API Server stores state in etcd -&gt; Scheduler assigns Pods to Nodes -&gt; kubelet starts containers.</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77</a:t>
            </a:r>
            <a:endParaRPr sz="900" b="0" i="0">
              <a:solidFill>
                <a:srgbClr val="718596"/>
              </a:solidFill>
              <a:latin typeface="Calibri" panose="020F0502020204030204"/>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ARCHITECTURE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Kubernetes Cluster: Control Plane &amp; Worker Nodes</a:t>
            </a:r>
            <a:endParaRPr sz="2600" b="1" i="0">
              <a:solidFill>
                <a:srgbClr val="FFFFFF"/>
              </a:solidFill>
              <a:latin typeface="Cambria" panose="02040503050406030204"/>
            </a:endParaRPr>
          </a:p>
        </p:txBody>
      </p:sp>
      <p:sp>
        <p:nvSpPr>
          <p:cNvPr id="7" name="Rectangle 6"/>
          <p:cNvSpPr/>
          <p:nvPr/>
        </p:nvSpPr>
        <p:spPr>
          <a:xfrm>
            <a:off x="502920" y="1719072"/>
            <a:ext cx="11173968" cy="416052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737360"/>
            <a:ext cx="10972800" cy="237744"/>
          </a:xfrm>
          <a:prstGeom prst="rect">
            <a:avLst/>
          </a:prstGeom>
          <a:noFill/>
        </p:spPr>
        <p:txBody>
          <a:bodyPr wrap="square">
            <a:spAutoFit/>
          </a:bodyPr>
          <a:lstStyle/>
          <a:p>
            <a:pPr algn="l">
              <a:buNone/>
            </a:pPr>
            <a:r>
              <a:rPr sz="900" b="1" i="0">
                <a:solidFill>
                  <a:srgbClr val="64748B"/>
                </a:solidFill>
                <a:latin typeface="Calibri" panose="020F0502020204030204"/>
              </a:rPr>
              <a:t>Kubernetes Cluster</a:t>
            </a:r>
            <a:endParaRPr sz="900" b="1" i="0">
              <a:solidFill>
                <a:srgbClr val="64748B"/>
              </a:solidFill>
              <a:latin typeface="Calibri" panose="020F0502020204030204"/>
            </a:endParaRPr>
          </a:p>
        </p:txBody>
      </p:sp>
      <p:sp>
        <p:nvSpPr>
          <p:cNvPr id="9" name="Rectangle 8"/>
          <p:cNvSpPr/>
          <p:nvPr/>
        </p:nvSpPr>
        <p:spPr>
          <a:xfrm>
            <a:off x="594360" y="2029968"/>
            <a:ext cx="3566160" cy="35661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057400"/>
            <a:ext cx="3474720" cy="347472"/>
          </a:xfrm>
          <a:prstGeom prst="rect">
            <a:avLst/>
          </a:prstGeom>
          <a:noFill/>
        </p:spPr>
        <p:txBody>
          <a:bodyPr wrap="square">
            <a:spAutoFit/>
          </a:bodyPr>
          <a:lstStyle/>
          <a:p>
            <a:pPr algn="ctr">
              <a:buNone/>
            </a:pPr>
            <a:r>
              <a:rPr sz="1300" b="1" i="0">
                <a:solidFill>
                  <a:srgbClr val="2496ED"/>
                </a:solidFill>
                <a:latin typeface="Cambria" panose="02040503050406030204"/>
              </a:rPr>
              <a:t>Control Plane</a:t>
            </a:r>
            <a:endParaRPr sz="1300" b="1" i="0">
              <a:solidFill>
                <a:srgbClr val="2496ED"/>
              </a:solidFill>
              <a:latin typeface="Cambria" panose="02040503050406030204"/>
            </a:endParaRPr>
          </a:p>
        </p:txBody>
      </p:sp>
      <p:sp>
        <p:nvSpPr>
          <p:cNvPr id="11" name="Rectangle 10"/>
          <p:cNvSpPr/>
          <p:nvPr/>
        </p:nvSpPr>
        <p:spPr>
          <a:xfrm>
            <a:off x="731520" y="2487168"/>
            <a:ext cx="3291840" cy="6217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2514600"/>
            <a:ext cx="3200400" cy="256032"/>
          </a:xfrm>
          <a:prstGeom prst="rect">
            <a:avLst/>
          </a:prstGeom>
          <a:noFill/>
        </p:spPr>
        <p:txBody>
          <a:bodyPr wrap="square">
            <a:spAutoFit/>
          </a:bodyPr>
          <a:lstStyle/>
          <a:p>
            <a:pPr algn="ctr">
              <a:buNone/>
            </a:pPr>
            <a:r>
              <a:rPr sz="1100" b="1" i="0">
                <a:solidFill>
                  <a:srgbClr val="FFFFFF"/>
                </a:solidFill>
                <a:latin typeface="Calibri" panose="020F0502020204030204"/>
              </a:rPr>
              <a:t>API Server</a:t>
            </a:r>
            <a:endParaRPr sz="1100" b="1" i="0">
              <a:solidFill>
                <a:srgbClr val="FFFFFF"/>
              </a:solidFill>
              <a:latin typeface="Calibri" panose="020F0502020204030204"/>
            </a:endParaRPr>
          </a:p>
        </p:txBody>
      </p:sp>
      <p:sp>
        <p:nvSpPr>
          <p:cNvPr id="13" name="TextBox 12"/>
          <p:cNvSpPr txBox="1"/>
          <p:nvPr/>
        </p:nvSpPr>
        <p:spPr>
          <a:xfrm>
            <a:off x="777240" y="2816352"/>
            <a:ext cx="3200400" cy="219456"/>
          </a:xfrm>
          <a:prstGeom prst="rect">
            <a:avLst/>
          </a:prstGeom>
          <a:noFill/>
        </p:spPr>
        <p:txBody>
          <a:bodyPr wrap="square">
            <a:spAutoFit/>
          </a:bodyPr>
          <a:lstStyle/>
          <a:p>
            <a:pPr algn="ctr">
              <a:buNone/>
            </a:pPr>
            <a:r>
              <a:rPr sz="900" b="0" i="0">
                <a:solidFill>
                  <a:srgbClr val="94A3B8"/>
                </a:solidFill>
                <a:latin typeface="Calibri" panose="020F0502020204030204"/>
              </a:rPr>
              <a:t>Entry point — REST API</a:t>
            </a:r>
            <a:endParaRPr sz="900" b="0" i="0">
              <a:solidFill>
                <a:srgbClr val="94A3B8"/>
              </a:solidFill>
              <a:latin typeface="Calibri" panose="020F0502020204030204"/>
            </a:endParaRPr>
          </a:p>
        </p:txBody>
      </p:sp>
      <p:sp>
        <p:nvSpPr>
          <p:cNvPr id="14" name="Rectangle 13"/>
          <p:cNvSpPr/>
          <p:nvPr/>
        </p:nvSpPr>
        <p:spPr>
          <a:xfrm>
            <a:off x="731520" y="3255264"/>
            <a:ext cx="3291840" cy="6217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3282696"/>
            <a:ext cx="3200400" cy="256032"/>
          </a:xfrm>
          <a:prstGeom prst="rect">
            <a:avLst/>
          </a:prstGeom>
          <a:noFill/>
        </p:spPr>
        <p:txBody>
          <a:bodyPr wrap="square">
            <a:spAutoFit/>
          </a:bodyPr>
          <a:lstStyle/>
          <a:p>
            <a:pPr algn="ctr">
              <a:buNone/>
            </a:pPr>
            <a:r>
              <a:rPr sz="1100" b="1" i="0">
                <a:solidFill>
                  <a:srgbClr val="FFFFFF"/>
                </a:solidFill>
                <a:latin typeface="Calibri" panose="020F0502020204030204"/>
              </a:rPr>
              <a:t>etcd</a:t>
            </a:r>
            <a:endParaRPr sz="1100" b="1" i="0">
              <a:solidFill>
                <a:srgbClr val="FFFFFF"/>
              </a:solidFill>
              <a:latin typeface="Calibri" panose="020F0502020204030204"/>
            </a:endParaRPr>
          </a:p>
        </p:txBody>
      </p:sp>
      <p:sp>
        <p:nvSpPr>
          <p:cNvPr id="16" name="TextBox 15"/>
          <p:cNvSpPr txBox="1"/>
          <p:nvPr/>
        </p:nvSpPr>
        <p:spPr>
          <a:xfrm>
            <a:off x="777240" y="3584448"/>
            <a:ext cx="3200400" cy="219456"/>
          </a:xfrm>
          <a:prstGeom prst="rect">
            <a:avLst/>
          </a:prstGeom>
          <a:noFill/>
        </p:spPr>
        <p:txBody>
          <a:bodyPr wrap="square">
            <a:spAutoFit/>
          </a:bodyPr>
          <a:lstStyle/>
          <a:p>
            <a:pPr algn="ctr">
              <a:buNone/>
            </a:pPr>
            <a:r>
              <a:rPr sz="900" b="0" i="0">
                <a:solidFill>
                  <a:srgbClr val="94A3B8"/>
                </a:solidFill>
                <a:latin typeface="Calibri" panose="020F0502020204030204"/>
              </a:rPr>
              <a:t>Cluster state store</a:t>
            </a:r>
            <a:endParaRPr sz="900" b="0" i="0">
              <a:solidFill>
                <a:srgbClr val="94A3B8"/>
              </a:solidFill>
              <a:latin typeface="Calibri" panose="020F0502020204030204"/>
            </a:endParaRPr>
          </a:p>
        </p:txBody>
      </p:sp>
      <p:sp>
        <p:nvSpPr>
          <p:cNvPr id="17" name="Rectangle 16"/>
          <p:cNvSpPr/>
          <p:nvPr/>
        </p:nvSpPr>
        <p:spPr>
          <a:xfrm>
            <a:off x="731520" y="4023360"/>
            <a:ext cx="3291840" cy="6217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77240" y="4050792"/>
            <a:ext cx="3200400" cy="256032"/>
          </a:xfrm>
          <a:prstGeom prst="rect">
            <a:avLst/>
          </a:prstGeom>
          <a:noFill/>
        </p:spPr>
        <p:txBody>
          <a:bodyPr wrap="square">
            <a:spAutoFit/>
          </a:bodyPr>
          <a:lstStyle/>
          <a:p>
            <a:pPr algn="ctr">
              <a:buNone/>
            </a:pPr>
            <a:r>
              <a:rPr sz="1100" b="1" i="0">
                <a:solidFill>
                  <a:srgbClr val="FFFFFF"/>
                </a:solidFill>
                <a:latin typeface="Calibri" panose="020F0502020204030204"/>
              </a:rPr>
              <a:t>Scheduler</a:t>
            </a:r>
            <a:endParaRPr sz="1100" b="1" i="0">
              <a:solidFill>
                <a:srgbClr val="FFFFFF"/>
              </a:solidFill>
              <a:latin typeface="Calibri" panose="020F0502020204030204"/>
            </a:endParaRPr>
          </a:p>
        </p:txBody>
      </p:sp>
      <p:sp>
        <p:nvSpPr>
          <p:cNvPr id="19" name="TextBox 18"/>
          <p:cNvSpPr txBox="1"/>
          <p:nvPr/>
        </p:nvSpPr>
        <p:spPr>
          <a:xfrm>
            <a:off x="777240" y="4352544"/>
            <a:ext cx="3200400" cy="219456"/>
          </a:xfrm>
          <a:prstGeom prst="rect">
            <a:avLst/>
          </a:prstGeom>
          <a:noFill/>
        </p:spPr>
        <p:txBody>
          <a:bodyPr wrap="square">
            <a:spAutoFit/>
          </a:bodyPr>
          <a:lstStyle/>
          <a:p>
            <a:pPr algn="ctr">
              <a:buNone/>
            </a:pPr>
            <a:r>
              <a:rPr sz="900" b="0" i="0">
                <a:solidFill>
                  <a:srgbClr val="94A3B8"/>
                </a:solidFill>
                <a:latin typeface="Calibri" panose="020F0502020204030204"/>
              </a:rPr>
              <a:t>Assigns Pods to Nodes</a:t>
            </a:r>
            <a:endParaRPr sz="900" b="0" i="0">
              <a:solidFill>
                <a:srgbClr val="94A3B8"/>
              </a:solidFill>
              <a:latin typeface="Calibri" panose="020F0502020204030204"/>
            </a:endParaRPr>
          </a:p>
        </p:txBody>
      </p:sp>
      <p:sp>
        <p:nvSpPr>
          <p:cNvPr id="20" name="Rectangle 19"/>
          <p:cNvSpPr/>
          <p:nvPr/>
        </p:nvSpPr>
        <p:spPr>
          <a:xfrm>
            <a:off x="731520" y="4791456"/>
            <a:ext cx="3291840" cy="62179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4818888"/>
            <a:ext cx="3200400" cy="256032"/>
          </a:xfrm>
          <a:prstGeom prst="rect">
            <a:avLst/>
          </a:prstGeom>
          <a:noFill/>
        </p:spPr>
        <p:txBody>
          <a:bodyPr wrap="square">
            <a:spAutoFit/>
          </a:bodyPr>
          <a:lstStyle/>
          <a:p>
            <a:pPr algn="ctr">
              <a:buNone/>
            </a:pPr>
            <a:r>
              <a:rPr sz="1100" b="1" i="0">
                <a:solidFill>
                  <a:srgbClr val="FFFFFF"/>
                </a:solidFill>
                <a:latin typeface="Calibri" panose="020F0502020204030204"/>
              </a:rPr>
              <a:t>Controller Mgr</a:t>
            </a:r>
            <a:endParaRPr sz="1100" b="1" i="0">
              <a:solidFill>
                <a:srgbClr val="FFFFFF"/>
              </a:solidFill>
              <a:latin typeface="Calibri" panose="020F0502020204030204"/>
            </a:endParaRPr>
          </a:p>
        </p:txBody>
      </p:sp>
      <p:sp>
        <p:nvSpPr>
          <p:cNvPr id="22" name="TextBox 21"/>
          <p:cNvSpPr txBox="1"/>
          <p:nvPr/>
        </p:nvSpPr>
        <p:spPr>
          <a:xfrm>
            <a:off x="777240" y="5120640"/>
            <a:ext cx="3200400" cy="219456"/>
          </a:xfrm>
          <a:prstGeom prst="rect">
            <a:avLst/>
          </a:prstGeom>
          <a:noFill/>
        </p:spPr>
        <p:txBody>
          <a:bodyPr wrap="square">
            <a:spAutoFit/>
          </a:bodyPr>
          <a:lstStyle/>
          <a:p>
            <a:pPr algn="ctr">
              <a:buNone/>
            </a:pPr>
            <a:r>
              <a:rPr sz="900" b="0" i="0">
                <a:solidFill>
                  <a:srgbClr val="94A3B8"/>
                </a:solidFill>
                <a:latin typeface="Calibri" panose="020F0502020204030204"/>
              </a:rPr>
              <a:t>Reconciles desired state</a:t>
            </a:r>
            <a:endParaRPr sz="900" b="0" i="0">
              <a:solidFill>
                <a:srgbClr val="94A3B8"/>
              </a:solidFill>
              <a:latin typeface="Calibri" panose="020F0502020204030204"/>
            </a:endParaRPr>
          </a:p>
        </p:txBody>
      </p:sp>
      <p:sp>
        <p:nvSpPr>
          <p:cNvPr id="23" name="TextBox 22"/>
          <p:cNvSpPr txBox="1"/>
          <p:nvPr/>
        </p:nvSpPr>
        <p:spPr>
          <a:xfrm>
            <a:off x="4251960" y="3749039"/>
            <a:ext cx="566928" cy="402336"/>
          </a:xfrm>
          <a:prstGeom prst="rect">
            <a:avLst/>
          </a:prstGeom>
          <a:noFill/>
        </p:spPr>
        <p:txBody>
          <a:bodyPr wrap="square">
            <a:spAutoFit/>
          </a:bodyPr>
          <a:lstStyle/>
          <a:p>
            <a:pPr algn="ctr">
              <a:buNone/>
            </a:pPr>
            <a:r>
              <a:rPr sz="2800" b="1" i="0">
                <a:solidFill>
                  <a:srgbClr val="2496ED"/>
                </a:solidFill>
                <a:latin typeface="Calibri" panose="020F0502020204030204"/>
              </a:rPr>
              <a:t>→</a:t>
            </a:r>
            <a:endParaRPr sz="2800" b="1" i="0">
              <a:solidFill>
                <a:srgbClr val="2496ED"/>
              </a:solidFill>
              <a:latin typeface="Calibri" panose="020F0502020204030204"/>
            </a:endParaRPr>
          </a:p>
        </p:txBody>
      </p:sp>
      <p:sp>
        <p:nvSpPr>
          <p:cNvPr id="24" name="Rectangle 23"/>
          <p:cNvSpPr/>
          <p:nvPr/>
        </p:nvSpPr>
        <p:spPr>
          <a:xfrm>
            <a:off x="4956048" y="2029968"/>
            <a:ext cx="2971800" cy="3566160"/>
          </a:xfrm>
          <a:prstGeom prst="rect">
            <a:avLst/>
          </a:prstGeom>
          <a:solidFill>
            <a:srgbClr val="1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001768" y="2057400"/>
            <a:ext cx="2880360" cy="347472"/>
          </a:xfrm>
          <a:prstGeom prst="rect">
            <a:avLst/>
          </a:prstGeom>
          <a:noFill/>
        </p:spPr>
        <p:txBody>
          <a:bodyPr wrap="square">
            <a:spAutoFit/>
          </a:bodyPr>
          <a:lstStyle/>
          <a:p>
            <a:pPr algn="ctr">
              <a:buNone/>
            </a:pPr>
            <a:r>
              <a:rPr sz="1200" b="1" i="0">
                <a:solidFill>
                  <a:srgbClr val="2496ED"/>
                </a:solidFill>
                <a:latin typeface="Cambria" panose="02040503050406030204"/>
              </a:rPr>
              <a:t>Worker Node 1</a:t>
            </a:r>
            <a:endParaRPr sz="1200" b="1" i="0">
              <a:solidFill>
                <a:srgbClr val="2496ED"/>
              </a:solidFill>
              <a:latin typeface="Cambria" panose="02040503050406030204"/>
            </a:endParaRPr>
          </a:p>
        </p:txBody>
      </p:sp>
      <p:sp>
        <p:nvSpPr>
          <p:cNvPr id="26" name="Rectangle 25"/>
          <p:cNvSpPr/>
          <p:nvPr/>
        </p:nvSpPr>
        <p:spPr>
          <a:xfrm>
            <a:off x="5047488" y="2487168"/>
            <a:ext cx="278892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093208" y="2523744"/>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kubelet</a:t>
            </a:r>
            <a:endParaRPr sz="1100" b="1" i="0">
              <a:solidFill>
                <a:srgbClr val="FFFFFF"/>
              </a:solidFill>
              <a:latin typeface="Calibri" panose="020F0502020204030204"/>
            </a:endParaRPr>
          </a:p>
        </p:txBody>
      </p:sp>
      <p:sp>
        <p:nvSpPr>
          <p:cNvPr id="28" name="TextBox 27"/>
          <p:cNvSpPr txBox="1"/>
          <p:nvPr/>
        </p:nvSpPr>
        <p:spPr>
          <a:xfrm>
            <a:off x="5093208" y="2907792"/>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Node agent — runs Pods</a:t>
            </a:r>
            <a:endParaRPr sz="900" b="0" i="0">
              <a:solidFill>
                <a:srgbClr val="94A3B8"/>
              </a:solidFill>
              <a:latin typeface="Calibri" panose="020F0502020204030204"/>
            </a:endParaRPr>
          </a:p>
        </p:txBody>
      </p:sp>
      <p:sp>
        <p:nvSpPr>
          <p:cNvPr id="29" name="Rectangle 28"/>
          <p:cNvSpPr/>
          <p:nvPr/>
        </p:nvSpPr>
        <p:spPr>
          <a:xfrm>
            <a:off x="5047488" y="3456432"/>
            <a:ext cx="278892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093208" y="3493008"/>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kube-proxy</a:t>
            </a:r>
            <a:endParaRPr sz="1100" b="1" i="0">
              <a:solidFill>
                <a:srgbClr val="FFFFFF"/>
              </a:solidFill>
              <a:latin typeface="Calibri" panose="020F0502020204030204"/>
            </a:endParaRPr>
          </a:p>
        </p:txBody>
      </p:sp>
      <p:sp>
        <p:nvSpPr>
          <p:cNvPr id="31" name="TextBox 30"/>
          <p:cNvSpPr txBox="1"/>
          <p:nvPr/>
        </p:nvSpPr>
        <p:spPr>
          <a:xfrm>
            <a:off x="5093208" y="3877056"/>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Network &amp; routing rules</a:t>
            </a:r>
            <a:endParaRPr sz="900" b="0" i="0">
              <a:solidFill>
                <a:srgbClr val="94A3B8"/>
              </a:solidFill>
              <a:latin typeface="Calibri" panose="020F0502020204030204"/>
            </a:endParaRPr>
          </a:p>
        </p:txBody>
      </p:sp>
      <p:sp>
        <p:nvSpPr>
          <p:cNvPr id="32" name="Rectangle 31"/>
          <p:cNvSpPr/>
          <p:nvPr/>
        </p:nvSpPr>
        <p:spPr>
          <a:xfrm>
            <a:off x="5047488" y="4425696"/>
            <a:ext cx="2788920" cy="804672"/>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093208" y="4462272"/>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Pods</a:t>
            </a:r>
            <a:endParaRPr sz="1100" b="1" i="0">
              <a:solidFill>
                <a:srgbClr val="FFFFFF"/>
              </a:solidFill>
              <a:latin typeface="Calibri" panose="020F0502020204030204"/>
            </a:endParaRPr>
          </a:p>
        </p:txBody>
      </p:sp>
      <p:sp>
        <p:nvSpPr>
          <p:cNvPr id="34" name="TextBox 33"/>
          <p:cNvSpPr txBox="1"/>
          <p:nvPr/>
        </p:nvSpPr>
        <p:spPr>
          <a:xfrm>
            <a:off x="5093208" y="4846320"/>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App containers run here</a:t>
            </a:r>
            <a:endParaRPr sz="900" b="0" i="0">
              <a:solidFill>
                <a:srgbClr val="94A3B8"/>
              </a:solidFill>
              <a:latin typeface="Calibri" panose="020F0502020204030204"/>
            </a:endParaRPr>
          </a:p>
        </p:txBody>
      </p:sp>
      <p:sp>
        <p:nvSpPr>
          <p:cNvPr id="35" name="Rectangle 34"/>
          <p:cNvSpPr/>
          <p:nvPr/>
        </p:nvSpPr>
        <p:spPr>
          <a:xfrm>
            <a:off x="8229600" y="2029968"/>
            <a:ext cx="2971800" cy="3566160"/>
          </a:xfrm>
          <a:prstGeom prst="rect">
            <a:avLst/>
          </a:prstGeom>
          <a:solidFill>
            <a:srgbClr val="1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75320" y="2057400"/>
            <a:ext cx="2880360" cy="347472"/>
          </a:xfrm>
          <a:prstGeom prst="rect">
            <a:avLst/>
          </a:prstGeom>
          <a:noFill/>
        </p:spPr>
        <p:txBody>
          <a:bodyPr wrap="square">
            <a:spAutoFit/>
          </a:bodyPr>
          <a:lstStyle/>
          <a:p>
            <a:pPr algn="ctr">
              <a:buNone/>
            </a:pPr>
            <a:r>
              <a:rPr sz="1200" b="1" i="0">
                <a:solidFill>
                  <a:srgbClr val="2496ED"/>
                </a:solidFill>
                <a:latin typeface="Cambria" panose="02040503050406030204"/>
              </a:rPr>
              <a:t>Worker Node 2</a:t>
            </a:r>
            <a:endParaRPr sz="1200" b="1" i="0">
              <a:solidFill>
                <a:srgbClr val="2496ED"/>
              </a:solidFill>
              <a:latin typeface="Cambria" panose="02040503050406030204"/>
            </a:endParaRPr>
          </a:p>
        </p:txBody>
      </p:sp>
      <p:sp>
        <p:nvSpPr>
          <p:cNvPr id="37" name="Rectangle 36"/>
          <p:cNvSpPr/>
          <p:nvPr/>
        </p:nvSpPr>
        <p:spPr>
          <a:xfrm>
            <a:off x="8321040" y="2487168"/>
            <a:ext cx="278892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66760" y="2523744"/>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kubelet</a:t>
            </a:r>
            <a:endParaRPr sz="1100" b="1" i="0">
              <a:solidFill>
                <a:srgbClr val="FFFFFF"/>
              </a:solidFill>
              <a:latin typeface="Calibri" panose="020F0502020204030204"/>
            </a:endParaRPr>
          </a:p>
        </p:txBody>
      </p:sp>
      <p:sp>
        <p:nvSpPr>
          <p:cNvPr id="39" name="TextBox 38"/>
          <p:cNvSpPr txBox="1"/>
          <p:nvPr/>
        </p:nvSpPr>
        <p:spPr>
          <a:xfrm>
            <a:off x="8366760" y="2907792"/>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Node agent — runs Pods</a:t>
            </a:r>
            <a:endParaRPr sz="900" b="0" i="0">
              <a:solidFill>
                <a:srgbClr val="94A3B8"/>
              </a:solidFill>
              <a:latin typeface="Calibri" panose="020F0502020204030204"/>
            </a:endParaRPr>
          </a:p>
        </p:txBody>
      </p:sp>
      <p:sp>
        <p:nvSpPr>
          <p:cNvPr id="40" name="Rectangle 39"/>
          <p:cNvSpPr/>
          <p:nvPr/>
        </p:nvSpPr>
        <p:spPr>
          <a:xfrm>
            <a:off x="8321040" y="3456432"/>
            <a:ext cx="2788920" cy="804672"/>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366760" y="3493008"/>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kube-proxy</a:t>
            </a:r>
            <a:endParaRPr sz="1100" b="1" i="0">
              <a:solidFill>
                <a:srgbClr val="FFFFFF"/>
              </a:solidFill>
              <a:latin typeface="Calibri" panose="020F0502020204030204"/>
            </a:endParaRPr>
          </a:p>
        </p:txBody>
      </p:sp>
      <p:sp>
        <p:nvSpPr>
          <p:cNvPr id="42" name="TextBox 41"/>
          <p:cNvSpPr txBox="1"/>
          <p:nvPr/>
        </p:nvSpPr>
        <p:spPr>
          <a:xfrm>
            <a:off x="8366760" y="3877056"/>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Network &amp; routing rules</a:t>
            </a:r>
            <a:endParaRPr sz="900" b="0" i="0">
              <a:solidFill>
                <a:srgbClr val="94A3B8"/>
              </a:solidFill>
              <a:latin typeface="Calibri" panose="020F0502020204030204"/>
            </a:endParaRPr>
          </a:p>
        </p:txBody>
      </p:sp>
      <p:sp>
        <p:nvSpPr>
          <p:cNvPr id="43" name="Rectangle 42"/>
          <p:cNvSpPr/>
          <p:nvPr/>
        </p:nvSpPr>
        <p:spPr>
          <a:xfrm>
            <a:off x="8321040" y="4425696"/>
            <a:ext cx="2788920" cy="804672"/>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366760" y="4462272"/>
            <a:ext cx="2697480" cy="256032"/>
          </a:xfrm>
          <a:prstGeom prst="rect">
            <a:avLst/>
          </a:prstGeom>
          <a:noFill/>
        </p:spPr>
        <p:txBody>
          <a:bodyPr wrap="square">
            <a:spAutoFit/>
          </a:bodyPr>
          <a:lstStyle/>
          <a:p>
            <a:pPr algn="ctr">
              <a:buNone/>
            </a:pPr>
            <a:r>
              <a:rPr sz="1100" b="1" i="0">
                <a:solidFill>
                  <a:srgbClr val="FFFFFF"/>
                </a:solidFill>
                <a:latin typeface="Calibri" panose="020F0502020204030204"/>
              </a:rPr>
              <a:t>Pods</a:t>
            </a:r>
            <a:endParaRPr sz="1100" b="1" i="0">
              <a:solidFill>
                <a:srgbClr val="FFFFFF"/>
              </a:solidFill>
              <a:latin typeface="Calibri" panose="020F0502020204030204"/>
            </a:endParaRPr>
          </a:p>
        </p:txBody>
      </p:sp>
      <p:sp>
        <p:nvSpPr>
          <p:cNvPr id="45" name="TextBox 44"/>
          <p:cNvSpPr txBox="1"/>
          <p:nvPr/>
        </p:nvSpPr>
        <p:spPr>
          <a:xfrm>
            <a:off x="8366760" y="4846320"/>
            <a:ext cx="2697480" cy="237744"/>
          </a:xfrm>
          <a:prstGeom prst="rect">
            <a:avLst/>
          </a:prstGeom>
          <a:noFill/>
        </p:spPr>
        <p:txBody>
          <a:bodyPr wrap="square">
            <a:spAutoFit/>
          </a:bodyPr>
          <a:lstStyle/>
          <a:p>
            <a:pPr algn="ctr">
              <a:buNone/>
            </a:pPr>
            <a:r>
              <a:rPr sz="900" b="0" i="0">
                <a:solidFill>
                  <a:srgbClr val="94A3B8"/>
                </a:solidFill>
                <a:latin typeface="Calibri" panose="020F0502020204030204"/>
              </a:rPr>
              <a:t>App containers run here</a:t>
            </a:r>
            <a:endParaRPr sz="900" b="0" i="0">
              <a:solidFill>
                <a:srgbClr val="94A3B8"/>
              </a:solidFill>
              <a:latin typeface="Calibri" panose="020F0502020204030204"/>
            </a:endParaRPr>
          </a:p>
        </p:txBody>
      </p:sp>
      <p:sp>
        <p:nvSpPr>
          <p:cNvPr id="46" name="TextBox 45"/>
          <p:cNvSpPr txBox="1"/>
          <p:nvPr/>
        </p:nvSpPr>
        <p:spPr>
          <a:xfrm>
            <a:off x="548640" y="6035040"/>
            <a:ext cx="11064240" cy="274320"/>
          </a:xfrm>
          <a:prstGeom prst="rect">
            <a:avLst/>
          </a:prstGeom>
          <a:noFill/>
        </p:spPr>
        <p:txBody>
          <a:bodyPr wrap="square">
            <a:spAutoFit/>
          </a:bodyPr>
          <a:lstStyle/>
          <a:p>
            <a:pPr algn="l">
              <a:buNone/>
            </a:pPr>
            <a:r>
              <a:rPr sz="1000" b="0" i="1">
                <a:solidFill>
                  <a:srgbClr val="718596"/>
                </a:solidFill>
                <a:latin typeface="Calibri" panose="020F0502020204030204"/>
              </a:rPr>
              <a:t>kubectl  →  sends commands to API Server  →  which schedules &amp; manages Pods on Worker Nodes</a:t>
            </a:r>
            <a:endParaRPr sz="1000" b="0" i="1">
              <a:solidFill>
                <a:srgbClr val="718596"/>
              </a:solidFill>
              <a:latin typeface="Calibri" panose="020F0502020204030204"/>
            </a:endParaRPr>
          </a:p>
        </p:txBody>
      </p:sp>
      <p:sp>
        <p:nvSpPr>
          <p:cNvPr id="47" name="TextBox 4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48" name="TextBox 4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49" name="TextBox 4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78</a:t>
            </a:r>
            <a:endParaRPr sz="900" b="0" i="0">
              <a:solidFill>
                <a:srgbClr val="718596"/>
              </a:solidFill>
              <a:latin typeface="Calibri" panose="020F05020202040302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ARCHITECTURE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Control Plane Components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API Server  (kube-apiserver)</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The front door to K8s. Every kubectl command is an API call here.</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etcd</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Distributed key-value store. The single source of truth for all cluster state.</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Scheduler  (kube-scheduler)</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Watches for unscheduled Pods and assigns them to a Node based on resources.</a:t>
            </a:r>
            <a:endParaRPr sz="1600" b="0" i="0">
              <a:solidFill>
                <a:srgbClr val="0F172A"/>
              </a:solidFill>
              <a:latin typeface="Calibri" panose="020F0502020204030204"/>
            </a:endParaRPr>
          </a:p>
        </p:txBody>
      </p:sp>
      <p:sp>
        <p:nvSpPr>
          <p:cNvPr id="13" name="TextBox 12"/>
          <p:cNvSpPr txBox="1"/>
          <p:nvPr/>
        </p:nvSpPr>
        <p:spPr>
          <a:xfrm>
            <a:off x="640080" y="43708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Controller Manager  (kube-controller-manager)</a:t>
            </a:r>
            <a:endParaRPr sz="1600" b="1" i="0">
              <a:solidFill>
                <a:srgbClr val="0F172A"/>
              </a:solidFill>
              <a:latin typeface="Calibri" panose="020F0502020204030204"/>
            </a:endParaRPr>
          </a:p>
        </p:txBody>
      </p:sp>
      <p:sp>
        <p:nvSpPr>
          <p:cNvPr id="14" name="TextBox 13"/>
          <p:cNvSpPr txBox="1"/>
          <p:nvPr/>
        </p:nvSpPr>
        <p:spPr>
          <a:xfrm>
            <a:off x="640080" y="4736592"/>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Runs controllers that reconcile actual state with desired state (e.g. ReplicaSet controller ensures N replicas are always running).</a:t>
            </a:r>
            <a:endParaRPr sz="1600" b="0" i="0">
              <a:solidFill>
                <a:srgbClr val="0F172A"/>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79</a:t>
            </a:r>
            <a:endParaRPr sz="900" b="0" i="0">
              <a:solidFill>
                <a:srgbClr val="718596"/>
              </a:solidFill>
              <a:latin typeface="Calibri" panose="020F0502020204030204"/>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ARCHITECTURE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Worker Node Components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kubelet</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Agent running on every node. Receives Pod specs from the API Server and ensures containers are running and healthy.</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kube-proxy</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Maintains network rules on the node. Implements the Service abstraction by routing traffic to the right Pod IPs.</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Container Runtime</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Software that actually runs containers. Default is containerd (replaces Docker in K8s 1.24+).</a:t>
            </a:r>
            <a:endParaRPr sz="1600" b="0" i="0">
              <a:solidFill>
                <a:srgbClr val="0F172A"/>
              </a:solidFill>
              <a:latin typeface="Calibri" panose="020F0502020204030204"/>
            </a:endParaRPr>
          </a:p>
        </p:txBody>
      </p:sp>
      <p:sp>
        <p:nvSpPr>
          <p:cNvPr id="13" name="TextBox 12"/>
          <p:cNvSpPr txBox="1"/>
          <p:nvPr/>
        </p:nvSpPr>
        <p:spPr>
          <a:xfrm>
            <a:off x="640080" y="437083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Every worker node runs all three: kubelet + kube-proxy + container runtime.</a:t>
            </a:r>
            <a:endParaRPr sz="14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80</a:t>
            </a:r>
            <a:endParaRPr sz="900" b="0" i="0">
              <a:solidFill>
                <a:srgbClr val="718596"/>
              </a:solidFill>
              <a:latin typeface="Calibri" panose="020F0502020204030204"/>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TOOLS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kubectl — The K8s CLI</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kubectl is the command-line tool for interacting with any Kubernetes cluster.</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Essential commands:</a:t>
            </a:r>
            <a:endParaRPr sz="1600" b="1" i="0">
              <a:solidFill>
                <a:srgbClr val="0F172A"/>
              </a:solidFill>
              <a:latin typeface="Calibri" panose="020F0502020204030204"/>
            </a:endParaRPr>
          </a:p>
        </p:txBody>
      </p:sp>
      <p:sp>
        <p:nvSpPr>
          <p:cNvPr id="9" name="Rectangle 8"/>
          <p:cNvSpPr/>
          <p:nvPr/>
        </p:nvSpPr>
        <p:spPr>
          <a:xfrm>
            <a:off x="566928" y="2459736"/>
            <a:ext cx="11119104" cy="15864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1586484"/>
          </a:xfrm>
          <a:prstGeom prst="rect">
            <a:avLst/>
          </a:prstGeom>
          <a:noFill/>
        </p:spPr>
        <p:txBody>
          <a:bodyPr wrap="square">
            <a:spAutoFit/>
          </a:bodyPr>
          <a:lstStyle/>
          <a:p>
            <a:pPr algn="l">
              <a:buNone/>
            </a:pPr>
            <a:r>
              <a:rPr sz="900" b="0" i="0">
                <a:solidFill>
                  <a:srgbClr val="0F172A"/>
                </a:solidFill>
                <a:latin typeface="Courier New" panose="02070309020205020404"/>
              </a:rPr>
              <a:t>kubectl get pods              # list pods
kubectl get pods -o wide      # with node and IP info
kubectl describe pod &lt;name&gt;   # detailed info + events
kubectl apply -f file.yaml    # create/update from YAML
kubectl delete -f file.yaml   # delete resources
kubectl logs &lt;pod&gt;            # view container logs
kubectl exec -it &lt;pod&gt; -- sh  # open shell in pod</a:t>
            </a:r>
            <a:endParaRPr sz="900" b="0" i="0">
              <a:solidFill>
                <a:srgbClr val="0F172A"/>
              </a:solidFill>
              <a:latin typeface="Courier New" panose="02070309020205020404"/>
            </a:endParaRPr>
          </a:p>
        </p:txBody>
      </p:sp>
      <p:sp>
        <p:nvSpPr>
          <p:cNvPr id="11" name="TextBox 10"/>
          <p:cNvSpPr txBox="1"/>
          <p:nvPr/>
        </p:nvSpPr>
        <p:spPr>
          <a:xfrm>
            <a:off x="640080" y="4384548"/>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kubectl --help  or  kubectl &lt;command&gt; --help  shows all options.</a:t>
            </a:r>
            <a:endParaRPr sz="1400" b="0" i="1">
              <a:solidFill>
                <a:srgbClr val="2496ED"/>
              </a:solidFill>
              <a:latin typeface="Calibri" panose="020F0502020204030204"/>
            </a:endParaRPr>
          </a:p>
        </p:txBody>
      </p:sp>
      <p:sp>
        <p:nvSpPr>
          <p:cNvPr id="12" name="TextBox 1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3" name="TextBox 1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4" name="TextBox 1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81</a:t>
            </a:r>
            <a:endParaRPr sz="900" b="0" i="0">
              <a:solidFill>
                <a:srgbClr val="718596"/>
              </a:solidFill>
              <a:latin typeface="Calibri" panose="020F05020202040302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OBJECTS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Core Kubernetes Objects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Pod</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Smallest deployable unit. Wraps one or more containers sharing network and storage.</a:t>
            </a:r>
            <a:endParaRPr sz="1600" b="0" i="0">
              <a:solidFill>
                <a:srgbClr val="0F172A"/>
              </a:solidFill>
              <a:latin typeface="Calibri" panose="020F0502020204030204"/>
            </a:endParaRPr>
          </a:p>
        </p:txBody>
      </p:sp>
      <p:sp>
        <p:nvSpPr>
          <p:cNvPr id="9" name="TextBox 8"/>
          <p:cNvSpPr txBox="1"/>
          <p:nvPr/>
        </p:nvSpPr>
        <p:spPr>
          <a:xfrm>
            <a:off x="640080" y="23042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Deployment</a:t>
            </a:r>
            <a:endParaRPr sz="1600" b="1" i="0">
              <a:solidFill>
                <a:srgbClr val="0F172A"/>
              </a:solidFill>
              <a:latin typeface="Calibri" panose="020F0502020204030204"/>
            </a:endParaRPr>
          </a:p>
        </p:txBody>
      </p:sp>
      <p:sp>
        <p:nvSpPr>
          <p:cNvPr id="10" name="TextBox 9"/>
          <p:cNvSpPr txBox="1"/>
          <p:nvPr/>
        </p:nvSpPr>
        <p:spPr>
          <a:xfrm>
            <a:off x="640080" y="26700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Manages a set of identical Pods. Handles scaling, updates, and self-healing.</a:t>
            </a:r>
            <a:endParaRPr sz="1600" b="0" i="0">
              <a:solidFill>
                <a:srgbClr val="0F172A"/>
              </a:solidFill>
              <a:latin typeface="Calibri" panose="020F0502020204030204"/>
            </a:endParaRPr>
          </a:p>
        </p:txBody>
      </p:sp>
      <p:sp>
        <p:nvSpPr>
          <p:cNvPr id="11" name="TextBox 10"/>
          <p:cNvSpPr txBox="1"/>
          <p:nvPr/>
        </p:nvSpPr>
        <p:spPr>
          <a:xfrm>
            <a:off x="640080" y="303580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Service</a:t>
            </a:r>
            <a:endParaRPr sz="1600" b="1" i="0">
              <a:solidFill>
                <a:srgbClr val="0F172A"/>
              </a:solidFill>
              <a:latin typeface="Calibri" panose="020F0502020204030204"/>
            </a:endParaRPr>
          </a:p>
        </p:txBody>
      </p:sp>
      <p:sp>
        <p:nvSpPr>
          <p:cNvPr id="12" name="TextBox 11"/>
          <p:cNvSpPr txBox="1"/>
          <p:nvPr/>
        </p:nvSpPr>
        <p:spPr>
          <a:xfrm>
            <a:off x="640080" y="34015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Stable network endpoint for a group of Pods. Provides load balancing and DNS.</a:t>
            </a:r>
            <a:endParaRPr sz="1600" b="0" i="0">
              <a:solidFill>
                <a:srgbClr val="0F172A"/>
              </a:solidFill>
              <a:latin typeface="Calibri" panose="020F0502020204030204"/>
            </a:endParaRPr>
          </a:p>
        </p:txBody>
      </p:sp>
      <p:sp>
        <p:nvSpPr>
          <p:cNvPr id="13" name="TextBox 12"/>
          <p:cNvSpPr txBox="1"/>
          <p:nvPr/>
        </p:nvSpPr>
        <p:spPr>
          <a:xfrm>
            <a:off x="640080" y="376732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Namespace</a:t>
            </a:r>
            <a:endParaRPr sz="1600" b="1" i="0">
              <a:solidFill>
                <a:srgbClr val="0F172A"/>
              </a:solidFill>
              <a:latin typeface="Calibri" panose="020F0502020204030204"/>
            </a:endParaRPr>
          </a:p>
        </p:txBody>
      </p:sp>
      <p:sp>
        <p:nvSpPr>
          <p:cNvPr id="14" name="TextBox 13"/>
          <p:cNvSpPr txBox="1"/>
          <p:nvPr/>
        </p:nvSpPr>
        <p:spPr>
          <a:xfrm>
            <a:off x="640080" y="41330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Virtual cluster for isolating resources (e.g. dev, staging, prod environments).</a:t>
            </a:r>
            <a:endParaRPr sz="1600" b="0" i="0">
              <a:solidFill>
                <a:srgbClr val="0F172A"/>
              </a:solidFill>
              <a:latin typeface="Calibri" panose="020F0502020204030204"/>
            </a:endParaRPr>
          </a:p>
        </p:txBody>
      </p:sp>
      <p:sp>
        <p:nvSpPr>
          <p:cNvPr id="15" name="TextBox 14"/>
          <p:cNvSpPr txBox="1"/>
          <p:nvPr/>
        </p:nvSpPr>
        <p:spPr>
          <a:xfrm>
            <a:off x="640080" y="449884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PersistentVolume / PVC</a:t>
            </a:r>
            <a:endParaRPr sz="1600" b="1" i="0">
              <a:solidFill>
                <a:srgbClr val="0F172A"/>
              </a:solidFill>
              <a:latin typeface="Calibri" panose="020F0502020204030204"/>
            </a:endParaRPr>
          </a:p>
        </p:txBody>
      </p:sp>
      <p:sp>
        <p:nvSpPr>
          <p:cNvPr id="16" name="TextBox 15"/>
          <p:cNvSpPr txBox="1"/>
          <p:nvPr/>
        </p:nvSpPr>
        <p:spPr>
          <a:xfrm>
            <a:off x="640080" y="48646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Decouple storage lifecycle from Pod lifecycle — data survives Pod restarts.</a:t>
            </a:r>
            <a:endParaRPr sz="1600" b="0" i="0">
              <a:solidFill>
                <a:srgbClr val="0F172A"/>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82</a:t>
            </a:r>
            <a:endParaRPr sz="900" b="0" i="0">
              <a:solidFill>
                <a:srgbClr val="718596"/>
              </a:solidFill>
              <a:latin typeface="Calibri" panose="020F0502020204030204"/>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OBJECTS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Service → Deployment → Pods</a:t>
            </a:r>
            <a:endParaRPr sz="2600" b="1" i="0">
              <a:solidFill>
                <a:srgbClr val="FFFFFF"/>
              </a:solidFill>
              <a:latin typeface="Cambria" panose="02040503050406030204"/>
            </a:endParaRPr>
          </a:p>
        </p:txBody>
      </p:sp>
      <p:sp>
        <p:nvSpPr>
          <p:cNvPr id="7" name="Rectangle 6"/>
          <p:cNvSpPr/>
          <p:nvPr/>
        </p:nvSpPr>
        <p:spPr>
          <a:xfrm>
            <a:off x="594360" y="1828800"/>
            <a:ext cx="7406640" cy="804672"/>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856231"/>
            <a:ext cx="7315200" cy="329184"/>
          </a:xfrm>
          <a:prstGeom prst="rect">
            <a:avLst/>
          </a:prstGeom>
          <a:noFill/>
        </p:spPr>
        <p:txBody>
          <a:bodyPr wrap="square">
            <a:spAutoFit/>
          </a:bodyPr>
          <a:lstStyle/>
          <a:p>
            <a:pPr algn="ctr">
              <a:buNone/>
            </a:pPr>
            <a:r>
              <a:rPr sz="1400" b="1" i="0">
                <a:solidFill>
                  <a:srgbClr val="FFFFFF"/>
                </a:solidFill>
                <a:latin typeface="Cambria" panose="02040503050406030204"/>
              </a:rPr>
              <a:t>Service</a:t>
            </a:r>
            <a:endParaRPr sz="1400" b="1" i="0">
              <a:solidFill>
                <a:srgbClr val="FFFFFF"/>
              </a:solidFill>
              <a:latin typeface="Cambria" panose="02040503050406030204"/>
            </a:endParaRPr>
          </a:p>
        </p:txBody>
      </p:sp>
      <p:sp>
        <p:nvSpPr>
          <p:cNvPr id="9" name="TextBox 8"/>
          <p:cNvSpPr txBox="1"/>
          <p:nvPr/>
        </p:nvSpPr>
        <p:spPr>
          <a:xfrm>
            <a:off x="640080" y="2194560"/>
            <a:ext cx="7315200" cy="347472"/>
          </a:xfrm>
          <a:prstGeom prst="rect">
            <a:avLst/>
          </a:prstGeom>
          <a:noFill/>
        </p:spPr>
        <p:txBody>
          <a:bodyPr wrap="square">
            <a:spAutoFit/>
          </a:bodyPr>
          <a:lstStyle/>
          <a:p>
            <a:pPr algn="ctr">
              <a:buNone/>
            </a:pPr>
            <a:r>
              <a:rPr sz="1000" b="0" i="0">
                <a:solidFill>
                  <a:srgbClr val="FFFFFF"/>
                </a:solidFill>
                <a:latin typeface="Calibri" panose="020F0502020204030204"/>
              </a:rPr>
              <a:t>Stable network endpoint (ClusterIP / NodePort / LoadBalancer)  •  DNS  •  Load balancing</a:t>
            </a:r>
            <a:endParaRPr sz="1000" b="0" i="0">
              <a:solidFill>
                <a:srgbClr val="FFFFFF"/>
              </a:solidFill>
              <a:latin typeface="Calibri" panose="020F0502020204030204"/>
            </a:endParaRPr>
          </a:p>
        </p:txBody>
      </p:sp>
      <p:sp>
        <p:nvSpPr>
          <p:cNvPr id="10" name="TextBox 9"/>
          <p:cNvSpPr txBox="1"/>
          <p:nvPr/>
        </p:nvSpPr>
        <p:spPr>
          <a:xfrm>
            <a:off x="3931920" y="2688336"/>
            <a:ext cx="548640" cy="347472"/>
          </a:xfrm>
          <a:prstGeom prst="rect">
            <a:avLst/>
          </a:prstGeom>
          <a:noFill/>
        </p:spPr>
        <p:txBody>
          <a:bodyPr wrap="square">
            <a:spAutoFit/>
          </a:bodyPr>
          <a:lstStyle/>
          <a:p>
            <a:pPr algn="ctr">
              <a:buNone/>
            </a:pPr>
            <a:r>
              <a:rPr sz="2200" b="1" i="0">
                <a:solidFill>
                  <a:srgbClr val="0F172A"/>
                </a:solidFill>
                <a:latin typeface="Calibri" panose="020F0502020204030204"/>
              </a:rPr>
              <a:t>↓</a:t>
            </a:r>
            <a:endParaRPr sz="2200" b="1" i="0">
              <a:solidFill>
                <a:srgbClr val="0F172A"/>
              </a:solidFill>
              <a:latin typeface="Calibri" panose="020F0502020204030204"/>
            </a:endParaRPr>
          </a:p>
        </p:txBody>
      </p:sp>
      <p:sp>
        <p:nvSpPr>
          <p:cNvPr id="11" name="Rectangle 10"/>
          <p:cNvSpPr/>
          <p:nvPr/>
        </p:nvSpPr>
        <p:spPr>
          <a:xfrm>
            <a:off x="594360" y="3090672"/>
            <a:ext cx="7406640" cy="80467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118104"/>
            <a:ext cx="7315200" cy="329184"/>
          </a:xfrm>
          <a:prstGeom prst="rect">
            <a:avLst/>
          </a:prstGeom>
          <a:noFill/>
        </p:spPr>
        <p:txBody>
          <a:bodyPr wrap="square">
            <a:spAutoFit/>
          </a:bodyPr>
          <a:lstStyle/>
          <a:p>
            <a:pPr algn="ctr">
              <a:buNone/>
            </a:pPr>
            <a:r>
              <a:rPr sz="1400" b="1" i="0">
                <a:solidFill>
                  <a:srgbClr val="FFFFFF"/>
                </a:solidFill>
                <a:latin typeface="Cambria" panose="02040503050406030204"/>
              </a:rPr>
              <a:t>Deployment</a:t>
            </a:r>
            <a:endParaRPr sz="1400" b="1" i="0">
              <a:solidFill>
                <a:srgbClr val="FFFFFF"/>
              </a:solidFill>
              <a:latin typeface="Cambria" panose="02040503050406030204"/>
            </a:endParaRPr>
          </a:p>
        </p:txBody>
      </p:sp>
      <p:sp>
        <p:nvSpPr>
          <p:cNvPr id="13" name="TextBox 12"/>
          <p:cNvSpPr txBox="1"/>
          <p:nvPr/>
        </p:nvSpPr>
        <p:spPr>
          <a:xfrm>
            <a:off x="640080" y="3456432"/>
            <a:ext cx="7315200" cy="347472"/>
          </a:xfrm>
          <a:prstGeom prst="rect">
            <a:avLst/>
          </a:prstGeom>
          <a:noFill/>
        </p:spPr>
        <p:txBody>
          <a:bodyPr wrap="square">
            <a:spAutoFit/>
          </a:bodyPr>
          <a:lstStyle/>
          <a:p>
            <a:pPr algn="ctr">
              <a:buNone/>
            </a:pPr>
            <a:r>
              <a:rPr sz="1000" b="0" i="0">
                <a:solidFill>
                  <a:srgbClr val="94A3B8"/>
                </a:solidFill>
                <a:latin typeface="Calibri" panose="020F0502020204030204"/>
              </a:rPr>
              <a:t>Manages desired replicas  •  Rolling updates  •  Self-healing via ReplicaSet</a:t>
            </a:r>
            <a:endParaRPr sz="1000" b="0" i="0">
              <a:solidFill>
                <a:srgbClr val="94A3B8"/>
              </a:solidFill>
              <a:latin typeface="Calibri" panose="020F0502020204030204"/>
            </a:endParaRPr>
          </a:p>
        </p:txBody>
      </p:sp>
      <p:sp>
        <p:nvSpPr>
          <p:cNvPr id="14" name="TextBox 13"/>
          <p:cNvSpPr txBox="1"/>
          <p:nvPr/>
        </p:nvSpPr>
        <p:spPr>
          <a:xfrm>
            <a:off x="1417320" y="3950208"/>
            <a:ext cx="548640" cy="347472"/>
          </a:xfrm>
          <a:prstGeom prst="rect">
            <a:avLst/>
          </a:prstGeom>
          <a:noFill/>
        </p:spPr>
        <p:txBody>
          <a:bodyPr wrap="square">
            <a:spAutoFit/>
          </a:bodyPr>
          <a:lstStyle/>
          <a:p>
            <a:pPr algn="ctr">
              <a:buNone/>
            </a:pPr>
            <a:r>
              <a:rPr sz="2200" b="1" i="0">
                <a:solidFill>
                  <a:srgbClr val="0F172A"/>
                </a:solidFill>
                <a:latin typeface="Calibri" panose="020F0502020204030204"/>
              </a:rPr>
              <a:t>↓</a:t>
            </a:r>
            <a:endParaRPr sz="2200" b="1" i="0">
              <a:solidFill>
                <a:srgbClr val="0F172A"/>
              </a:solidFill>
              <a:latin typeface="Calibri" panose="020F0502020204030204"/>
            </a:endParaRPr>
          </a:p>
        </p:txBody>
      </p:sp>
      <p:sp>
        <p:nvSpPr>
          <p:cNvPr id="15" name="TextBox 14"/>
          <p:cNvSpPr txBox="1"/>
          <p:nvPr/>
        </p:nvSpPr>
        <p:spPr>
          <a:xfrm>
            <a:off x="3931920" y="3950208"/>
            <a:ext cx="548640" cy="347472"/>
          </a:xfrm>
          <a:prstGeom prst="rect">
            <a:avLst/>
          </a:prstGeom>
          <a:noFill/>
        </p:spPr>
        <p:txBody>
          <a:bodyPr wrap="square">
            <a:spAutoFit/>
          </a:bodyPr>
          <a:lstStyle/>
          <a:p>
            <a:pPr algn="ctr">
              <a:buNone/>
            </a:pPr>
            <a:r>
              <a:rPr sz="2200" b="1" i="0">
                <a:solidFill>
                  <a:srgbClr val="0F172A"/>
                </a:solidFill>
                <a:latin typeface="Calibri" panose="020F0502020204030204"/>
              </a:rPr>
              <a:t>↓</a:t>
            </a:r>
            <a:endParaRPr sz="2200" b="1" i="0">
              <a:solidFill>
                <a:srgbClr val="0F172A"/>
              </a:solidFill>
              <a:latin typeface="Calibri" panose="020F0502020204030204"/>
            </a:endParaRPr>
          </a:p>
        </p:txBody>
      </p:sp>
      <p:sp>
        <p:nvSpPr>
          <p:cNvPr id="16" name="TextBox 15"/>
          <p:cNvSpPr txBox="1"/>
          <p:nvPr/>
        </p:nvSpPr>
        <p:spPr>
          <a:xfrm>
            <a:off x="6446520" y="3950208"/>
            <a:ext cx="548640" cy="347472"/>
          </a:xfrm>
          <a:prstGeom prst="rect">
            <a:avLst/>
          </a:prstGeom>
          <a:noFill/>
        </p:spPr>
        <p:txBody>
          <a:bodyPr wrap="square">
            <a:spAutoFit/>
          </a:bodyPr>
          <a:lstStyle/>
          <a:p>
            <a:pPr algn="ctr">
              <a:buNone/>
            </a:pPr>
            <a:r>
              <a:rPr sz="2200" b="1" i="0">
                <a:solidFill>
                  <a:srgbClr val="0F172A"/>
                </a:solidFill>
                <a:latin typeface="Calibri" panose="020F0502020204030204"/>
              </a:rPr>
              <a:t>↓</a:t>
            </a:r>
            <a:endParaRPr sz="2200" b="1" i="0">
              <a:solidFill>
                <a:srgbClr val="0F172A"/>
              </a:solidFill>
              <a:latin typeface="Calibri" panose="020F0502020204030204"/>
            </a:endParaRPr>
          </a:p>
        </p:txBody>
      </p:sp>
      <p:sp>
        <p:nvSpPr>
          <p:cNvPr id="17" name="Rectangle 16"/>
          <p:cNvSpPr/>
          <p:nvPr/>
        </p:nvSpPr>
        <p:spPr>
          <a:xfrm>
            <a:off x="594360" y="4352544"/>
            <a:ext cx="2249424" cy="1389888"/>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4379976"/>
            <a:ext cx="2157984" cy="274320"/>
          </a:xfrm>
          <a:prstGeom prst="rect">
            <a:avLst/>
          </a:prstGeom>
          <a:noFill/>
        </p:spPr>
        <p:txBody>
          <a:bodyPr wrap="square">
            <a:spAutoFit/>
          </a:bodyPr>
          <a:lstStyle/>
          <a:p>
            <a:pPr algn="ctr">
              <a:buNone/>
            </a:pPr>
            <a:r>
              <a:rPr sz="1200" b="1" i="0">
                <a:solidFill>
                  <a:srgbClr val="FFFFFF"/>
                </a:solidFill>
                <a:latin typeface="Cambria" panose="02040503050406030204"/>
              </a:rPr>
              <a:t>Pod 1</a:t>
            </a:r>
            <a:endParaRPr sz="1200" b="1" i="0">
              <a:solidFill>
                <a:srgbClr val="FFFFFF"/>
              </a:solidFill>
              <a:latin typeface="Cambria" panose="02040503050406030204"/>
            </a:endParaRPr>
          </a:p>
        </p:txBody>
      </p:sp>
      <p:sp>
        <p:nvSpPr>
          <p:cNvPr id="19" name="Rectangle 18"/>
          <p:cNvSpPr/>
          <p:nvPr/>
        </p:nvSpPr>
        <p:spPr>
          <a:xfrm>
            <a:off x="685800" y="4736592"/>
            <a:ext cx="2066543" cy="658368"/>
          </a:xfrm>
          <a:prstGeom prst="rect">
            <a:avLst/>
          </a:prstGeom>
          <a:solidFill>
            <a:srgbClr val="179E6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4919472"/>
            <a:ext cx="2066543" cy="274320"/>
          </a:xfrm>
          <a:prstGeom prst="rect">
            <a:avLst/>
          </a:prstGeom>
          <a:noFill/>
        </p:spPr>
        <p:txBody>
          <a:bodyPr wrap="square">
            <a:spAutoFit/>
          </a:bodyPr>
          <a:lstStyle/>
          <a:p>
            <a:pPr algn="ctr">
              <a:buNone/>
            </a:pPr>
            <a:r>
              <a:rPr sz="1000" b="0" i="0">
                <a:solidFill>
                  <a:srgbClr val="FFFFFF"/>
                </a:solidFill>
                <a:latin typeface="Calibri" panose="020F0502020204030204"/>
              </a:rPr>
              <a:t>Container</a:t>
            </a:r>
            <a:endParaRPr sz="1000" b="0" i="0">
              <a:solidFill>
                <a:srgbClr val="FFFFFF"/>
              </a:solidFill>
              <a:latin typeface="Calibri" panose="020F0502020204030204"/>
            </a:endParaRPr>
          </a:p>
        </p:txBody>
      </p:sp>
      <p:sp>
        <p:nvSpPr>
          <p:cNvPr id="21" name="Rectangle 20"/>
          <p:cNvSpPr/>
          <p:nvPr/>
        </p:nvSpPr>
        <p:spPr>
          <a:xfrm>
            <a:off x="2944368" y="4352544"/>
            <a:ext cx="2249424" cy="1389888"/>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90088" y="4379976"/>
            <a:ext cx="2157984" cy="274320"/>
          </a:xfrm>
          <a:prstGeom prst="rect">
            <a:avLst/>
          </a:prstGeom>
          <a:noFill/>
        </p:spPr>
        <p:txBody>
          <a:bodyPr wrap="square">
            <a:spAutoFit/>
          </a:bodyPr>
          <a:lstStyle/>
          <a:p>
            <a:pPr algn="ctr">
              <a:buNone/>
            </a:pPr>
            <a:r>
              <a:rPr sz="1200" b="1" i="0">
                <a:solidFill>
                  <a:srgbClr val="FFFFFF"/>
                </a:solidFill>
                <a:latin typeface="Cambria" panose="02040503050406030204"/>
              </a:rPr>
              <a:t>Pod 2</a:t>
            </a:r>
            <a:endParaRPr sz="1200" b="1" i="0">
              <a:solidFill>
                <a:srgbClr val="FFFFFF"/>
              </a:solidFill>
              <a:latin typeface="Cambria" panose="02040503050406030204"/>
            </a:endParaRPr>
          </a:p>
        </p:txBody>
      </p:sp>
      <p:sp>
        <p:nvSpPr>
          <p:cNvPr id="23" name="Rectangle 22"/>
          <p:cNvSpPr/>
          <p:nvPr/>
        </p:nvSpPr>
        <p:spPr>
          <a:xfrm>
            <a:off x="3035808" y="4736592"/>
            <a:ext cx="2066543" cy="658368"/>
          </a:xfrm>
          <a:prstGeom prst="rect">
            <a:avLst/>
          </a:prstGeom>
          <a:solidFill>
            <a:srgbClr val="179E6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035808" y="4919472"/>
            <a:ext cx="2066543" cy="274320"/>
          </a:xfrm>
          <a:prstGeom prst="rect">
            <a:avLst/>
          </a:prstGeom>
          <a:noFill/>
        </p:spPr>
        <p:txBody>
          <a:bodyPr wrap="square">
            <a:spAutoFit/>
          </a:bodyPr>
          <a:lstStyle/>
          <a:p>
            <a:pPr algn="ctr">
              <a:buNone/>
            </a:pPr>
            <a:r>
              <a:rPr sz="1000" b="0" i="0">
                <a:solidFill>
                  <a:srgbClr val="FFFFFF"/>
                </a:solidFill>
                <a:latin typeface="Calibri" panose="020F0502020204030204"/>
              </a:rPr>
              <a:t>Container</a:t>
            </a:r>
            <a:endParaRPr sz="1000" b="0" i="0">
              <a:solidFill>
                <a:srgbClr val="FFFFFF"/>
              </a:solidFill>
              <a:latin typeface="Calibri" panose="020F0502020204030204"/>
            </a:endParaRPr>
          </a:p>
        </p:txBody>
      </p:sp>
      <p:sp>
        <p:nvSpPr>
          <p:cNvPr id="25" name="Rectangle 24"/>
          <p:cNvSpPr/>
          <p:nvPr/>
        </p:nvSpPr>
        <p:spPr>
          <a:xfrm>
            <a:off x="5294376" y="4352544"/>
            <a:ext cx="2249424" cy="1389888"/>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340096" y="4379976"/>
            <a:ext cx="2157984" cy="274320"/>
          </a:xfrm>
          <a:prstGeom prst="rect">
            <a:avLst/>
          </a:prstGeom>
          <a:noFill/>
        </p:spPr>
        <p:txBody>
          <a:bodyPr wrap="square">
            <a:spAutoFit/>
          </a:bodyPr>
          <a:lstStyle/>
          <a:p>
            <a:pPr algn="ctr">
              <a:buNone/>
            </a:pPr>
            <a:r>
              <a:rPr sz="1200" b="1" i="0">
                <a:solidFill>
                  <a:srgbClr val="FFFFFF"/>
                </a:solidFill>
                <a:latin typeface="Cambria" panose="02040503050406030204"/>
              </a:rPr>
              <a:t>Pod 3</a:t>
            </a:r>
            <a:endParaRPr sz="1200" b="1" i="0">
              <a:solidFill>
                <a:srgbClr val="FFFFFF"/>
              </a:solidFill>
              <a:latin typeface="Cambria" panose="02040503050406030204"/>
            </a:endParaRPr>
          </a:p>
        </p:txBody>
      </p:sp>
      <p:sp>
        <p:nvSpPr>
          <p:cNvPr id="27" name="Rectangle 26"/>
          <p:cNvSpPr/>
          <p:nvPr/>
        </p:nvSpPr>
        <p:spPr>
          <a:xfrm>
            <a:off x="5385816" y="4736592"/>
            <a:ext cx="2066543" cy="658368"/>
          </a:xfrm>
          <a:prstGeom prst="rect">
            <a:avLst/>
          </a:prstGeom>
          <a:solidFill>
            <a:srgbClr val="179E6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385816" y="4919472"/>
            <a:ext cx="2066543" cy="274320"/>
          </a:xfrm>
          <a:prstGeom prst="rect">
            <a:avLst/>
          </a:prstGeom>
          <a:noFill/>
        </p:spPr>
        <p:txBody>
          <a:bodyPr wrap="square">
            <a:spAutoFit/>
          </a:bodyPr>
          <a:lstStyle/>
          <a:p>
            <a:pPr algn="ctr">
              <a:buNone/>
            </a:pPr>
            <a:r>
              <a:rPr sz="1000" b="0" i="0">
                <a:solidFill>
                  <a:srgbClr val="FFFFFF"/>
                </a:solidFill>
                <a:latin typeface="Calibri" panose="020F0502020204030204"/>
              </a:rPr>
              <a:t>Container</a:t>
            </a:r>
            <a:endParaRPr sz="1000" b="0" i="0">
              <a:solidFill>
                <a:srgbClr val="FFFFFF"/>
              </a:solidFill>
              <a:latin typeface="Calibri" panose="020F0502020204030204"/>
            </a:endParaRPr>
          </a:p>
        </p:txBody>
      </p:sp>
      <p:sp>
        <p:nvSpPr>
          <p:cNvPr id="29" name="Rectangle 28"/>
          <p:cNvSpPr/>
          <p:nvPr/>
        </p:nvSpPr>
        <p:spPr>
          <a:xfrm>
            <a:off x="8229600" y="1828800"/>
            <a:ext cx="3566160" cy="4023360"/>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75320" y="1865376"/>
            <a:ext cx="3474720" cy="329184"/>
          </a:xfrm>
          <a:prstGeom prst="rect">
            <a:avLst/>
          </a:prstGeom>
          <a:noFill/>
        </p:spPr>
        <p:txBody>
          <a:bodyPr wrap="square">
            <a:spAutoFit/>
          </a:bodyPr>
          <a:lstStyle/>
          <a:p>
            <a:pPr algn="ctr">
              <a:buNone/>
            </a:pPr>
            <a:r>
              <a:rPr sz="1400" b="1" i="0">
                <a:solidFill>
                  <a:srgbClr val="0F172A"/>
                </a:solidFill>
                <a:latin typeface="Cambria" panose="02040503050406030204"/>
              </a:rPr>
              <a:t>Namespace</a:t>
            </a:r>
            <a:endParaRPr sz="1400" b="1" i="0">
              <a:solidFill>
                <a:srgbClr val="0F172A"/>
              </a:solidFill>
              <a:latin typeface="Cambria" panose="02040503050406030204"/>
            </a:endParaRPr>
          </a:p>
        </p:txBody>
      </p:sp>
      <p:sp>
        <p:nvSpPr>
          <p:cNvPr id="31" name="TextBox 30"/>
          <p:cNvSpPr txBox="1"/>
          <p:nvPr/>
        </p:nvSpPr>
        <p:spPr>
          <a:xfrm>
            <a:off x="8321040" y="2249424"/>
            <a:ext cx="3383280" cy="2560320"/>
          </a:xfrm>
          <a:prstGeom prst="rect">
            <a:avLst/>
          </a:prstGeom>
          <a:noFill/>
        </p:spPr>
        <p:txBody>
          <a:bodyPr wrap="square">
            <a:spAutoFit/>
          </a:bodyPr>
          <a:lstStyle/>
          <a:p>
            <a:pPr algn="l">
              <a:buNone/>
            </a:pPr>
            <a:r>
              <a:rPr sz="1100" b="0" i="0">
                <a:solidFill>
                  <a:srgbClr val="0F172A"/>
                </a:solidFill>
                <a:latin typeface="Calibri" panose="020F0502020204030204"/>
              </a:rPr>
              <a:t>Isolates resources by environment
(dev / staging / prod)
kubectl create namespace dev
kubectl get pods -n dev
Each Namespace has its own:
  Services, Deployments, Pods</a:t>
            </a:r>
            <a:endParaRPr sz="1100" b="0" i="0">
              <a:solidFill>
                <a:srgbClr val="0F172A"/>
              </a:solidFill>
              <a:latin typeface="Calibri" panose="020F0502020204030204"/>
            </a:endParaRPr>
          </a:p>
        </p:txBody>
      </p:sp>
      <p:sp>
        <p:nvSpPr>
          <p:cNvPr id="32" name="TextBox 3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3" name="TextBox 3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4" name="TextBox 3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83</a:t>
            </a:r>
            <a:endParaRPr sz="900" b="0" i="0">
              <a:solidFill>
                <a:srgbClr val="718596"/>
              </a:solidFill>
              <a:latin typeface="Calibri" panose="020F05020202040302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OVERVIEW</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Kubernetes vs Docker Compose</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53593"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Docker Compose</a:t>
            </a:r>
            <a:endParaRPr sz="1800" b="1" i="0">
              <a:solidFill>
                <a:srgbClr val="0F172A"/>
              </a:solidFill>
              <a:latin typeface="Cambria" panose="02040503050406030204"/>
            </a:endParaRPr>
          </a:p>
        </p:txBody>
      </p:sp>
      <p:sp>
        <p:nvSpPr>
          <p:cNvPr id="9" name="TextBox 8"/>
          <p:cNvSpPr txBox="1"/>
          <p:nvPr/>
        </p:nvSpPr>
        <p:spPr>
          <a:xfrm>
            <a:off x="553593"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Single host only</a:t>
            </a:r>
            <a:endParaRPr sz="1600" b="0" i="0">
              <a:solidFill>
                <a:srgbClr val="0F172A"/>
              </a:solidFill>
              <a:latin typeface="Calibri" panose="020F0502020204030204"/>
            </a:endParaRPr>
          </a:p>
        </p:txBody>
      </p:sp>
      <p:sp>
        <p:nvSpPr>
          <p:cNvPr id="10" name="TextBox 9"/>
          <p:cNvSpPr txBox="1"/>
          <p:nvPr/>
        </p:nvSpPr>
        <p:spPr>
          <a:xfrm>
            <a:off x="553593"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Manual restart on failure</a:t>
            </a:r>
            <a:endParaRPr sz="1600" b="0" i="0">
              <a:solidFill>
                <a:srgbClr val="0F172A"/>
              </a:solidFill>
              <a:latin typeface="Calibri" panose="020F0502020204030204"/>
            </a:endParaRPr>
          </a:p>
        </p:txBody>
      </p:sp>
      <p:sp>
        <p:nvSpPr>
          <p:cNvPr id="11" name="TextBox 10"/>
          <p:cNvSpPr txBox="1"/>
          <p:nvPr/>
        </p:nvSpPr>
        <p:spPr>
          <a:xfrm>
            <a:off x="553593"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No auto-scaling</a:t>
            </a:r>
            <a:endParaRPr sz="1600" b="0" i="0">
              <a:solidFill>
                <a:srgbClr val="0F172A"/>
              </a:solidFill>
              <a:latin typeface="Calibri" panose="020F0502020204030204"/>
            </a:endParaRPr>
          </a:p>
        </p:txBody>
      </p:sp>
      <p:sp>
        <p:nvSpPr>
          <p:cNvPr id="12" name="TextBox 11"/>
          <p:cNvSpPr txBox="1"/>
          <p:nvPr/>
        </p:nvSpPr>
        <p:spPr>
          <a:xfrm>
            <a:off x="553593"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Simple YAML format</a:t>
            </a:r>
            <a:endParaRPr sz="1600" b="0" i="0">
              <a:solidFill>
                <a:srgbClr val="0F172A"/>
              </a:solidFill>
              <a:latin typeface="Calibri" panose="020F0502020204030204"/>
            </a:endParaRPr>
          </a:p>
        </p:txBody>
      </p:sp>
      <p:sp>
        <p:nvSpPr>
          <p:cNvPr id="13" name="TextBox 12"/>
          <p:cNvSpPr txBox="1"/>
          <p:nvPr/>
        </p:nvSpPr>
        <p:spPr>
          <a:xfrm>
            <a:off x="553593"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Great for local dev</a:t>
            </a:r>
            <a:endParaRPr sz="1600" b="0" i="0">
              <a:solidFill>
                <a:srgbClr val="0F172A"/>
              </a:solidFill>
              <a:latin typeface="Calibri" panose="020F0502020204030204"/>
            </a:endParaRPr>
          </a:p>
        </p:txBody>
      </p:sp>
      <p:sp>
        <p:nvSpPr>
          <p:cNvPr id="14" name="TextBox 13"/>
          <p:cNvSpPr txBox="1"/>
          <p:nvPr/>
        </p:nvSpPr>
        <p:spPr>
          <a:xfrm>
            <a:off x="601218"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Best for: development, testing</a:t>
            </a:r>
            <a:endParaRPr sz="1200" b="0" i="0">
              <a:solidFill>
                <a:srgbClr val="64748B"/>
              </a:solidFill>
              <a:latin typeface="Calibri" panose="020F0502020204030204"/>
            </a:endParaRPr>
          </a:p>
        </p:txBody>
      </p:sp>
      <p:sp>
        <p:nvSpPr>
          <p:cNvPr id="15" name="TextBox 14"/>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Kubernetes</a:t>
            </a:r>
            <a:endParaRPr sz="1800" b="1" i="0">
              <a:solidFill>
                <a:srgbClr val="0F172A"/>
              </a:solidFill>
              <a:latin typeface="Cambria" panose="02040503050406030204"/>
            </a:endParaRPr>
          </a:p>
        </p:txBody>
      </p:sp>
      <p:sp>
        <p:nvSpPr>
          <p:cNvPr id="16" name="TextBox 15"/>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Multi-host cluster</a:t>
            </a:r>
            <a:endParaRPr sz="1600" b="0" i="0">
              <a:solidFill>
                <a:srgbClr val="0F172A"/>
              </a:solidFill>
              <a:latin typeface="Calibri" panose="020F0502020204030204"/>
            </a:endParaRPr>
          </a:p>
        </p:txBody>
      </p:sp>
      <p:sp>
        <p:nvSpPr>
          <p:cNvPr id="17" name="TextBox 16"/>
          <p:cNvSpPr txBox="1"/>
          <p:nvPr/>
        </p:nvSpPr>
        <p:spPr>
          <a:xfrm>
            <a:off x="6309360"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Self-healing (auto-restart)</a:t>
            </a:r>
            <a:endParaRPr sz="1600" b="0" i="0">
              <a:solidFill>
                <a:srgbClr val="0F172A"/>
              </a:solidFill>
              <a:latin typeface="Calibri" panose="020F0502020204030204"/>
            </a:endParaRPr>
          </a:p>
        </p:txBody>
      </p:sp>
      <p:sp>
        <p:nvSpPr>
          <p:cNvPr id="18" name="TextBox 17"/>
          <p:cNvSpPr txBox="1"/>
          <p:nvPr/>
        </p:nvSpPr>
        <p:spPr>
          <a:xfrm>
            <a:off x="6309360"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Horizontal auto-scaling</a:t>
            </a:r>
            <a:endParaRPr sz="1600" b="0" i="0">
              <a:solidFill>
                <a:srgbClr val="0F172A"/>
              </a:solidFill>
              <a:latin typeface="Calibri" panose="020F0502020204030204"/>
            </a:endParaRPr>
          </a:p>
        </p:txBody>
      </p:sp>
      <p:sp>
        <p:nvSpPr>
          <p:cNvPr id="19" name="TextBox 18"/>
          <p:cNvSpPr txBox="1"/>
          <p:nvPr/>
        </p:nvSpPr>
        <p:spPr>
          <a:xfrm>
            <a:off x="6309360"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Rich YAML object model</a:t>
            </a:r>
            <a:endParaRPr sz="1600" b="0" i="0">
              <a:solidFill>
                <a:srgbClr val="0F172A"/>
              </a:solidFill>
              <a:latin typeface="Calibri" panose="020F0502020204030204"/>
            </a:endParaRPr>
          </a:p>
        </p:txBody>
      </p:sp>
      <p:sp>
        <p:nvSpPr>
          <p:cNvPr id="20" name="TextBox 19"/>
          <p:cNvSpPr txBox="1"/>
          <p:nvPr/>
        </p:nvSpPr>
        <p:spPr>
          <a:xfrm>
            <a:off x="6309360"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Production-grade</a:t>
            </a:r>
            <a:endParaRPr sz="1600" b="0" i="0">
              <a:solidFill>
                <a:srgbClr val="0F172A"/>
              </a:solidFill>
              <a:latin typeface="Calibri" panose="020F0502020204030204"/>
            </a:endParaRPr>
          </a:p>
        </p:txBody>
      </p:sp>
      <p:sp>
        <p:nvSpPr>
          <p:cNvPr id="21" name="TextBox 20"/>
          <p:cNvSpPr txBox="1"/>
          <p:nvPr/>
        </p:nvSpPr>
        <p:spPr>
          <a:xfrm>
            <a:off x="6309360"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Best for: production, CI/CD</a:t>
            </a:r>
            <a:endParaRPr sz="1200" b="0" i="0">
              <a:solidFill>
                <a:srgbClr val="64748B"/>
              </a:solidFill>
              <a:latin typeface="Calibri" panose="020F05020202040302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84</a:t>
            </a:r>
            <a:endParaRPr sz="900" b="0" i="0">
              <a:solidFill>
                <a:srgbClr val="718596"/>
              </a:solidFill>
              <a:latin typeface="Calibri" panose="020F05020202040302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 CONCEPTS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Labels &amp; Selectors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Labels are key-value pairs attached to K8s objects. Selectors filter objects by label.</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Labels in YAML:</a:t>
            </a:r>
            <a:endParaRPr sz="1600" b="1" i="0">
              <a:solidFill>
                <a:srgbClr val="0F172A"/>
              </a:solidFill>
              <a:latin typeface="Calibri" panose="020F0502020204030204"/>
            </a:endParaRPr>
          </a:p>
        </p:txBody>
      </p:sp>
      <p:sp>
        <p:nvSpPr>
          <p:cNvPr id="9" name="Rectangle 8"/>
          <p:cNvSpPr/>
          <p:nvPr/>
        </p:nvSpPr>
        <p:spPr>
          <a:xfrm>
            <a:off x="566928" y="2459736"/>
            <a:ext cx="11119104" cy="11750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1175004"/>
          </a:xfrm>
          <a:prstGeom prst="rect">
            <a:avLst/>
          </a:prstGeom>
          <a:noFill/>
        </p:spPr>
        <p:txBody>
          <a:bodyPr wrap="square">
            <a:spAutoFit/>
          </a:bodyPr>
          <a:lstStyle/>
          <a:p>
            <a:pPr algn="l">
              <a:buNone/>
            </a:pPr>
            <a:r>
              <a:rPr sz="900" b="0" i="0">
                <a:solidFill>
                  <a:srgbClr val="0F172A"/>
                </a:solidFill>
                <a:latin typeface="Courier New" panose="02070309020205020404"/>
              </a:rPr>
              <a:t>metadata:
  labels:
    app: my-app
    env: production
    tier: frontend</a:t>
            </a:r>
            <a:endParaRPr sz="900" b="0" i="0">
              <a:solidFill>
                <a:srgbClr val="0F172A"/>
              </a:solidFill>
              <a:latin typeface="Courier New" panose="02070309020205020404"/>
            </a:endParaRPr>
          </a:p>
        </p:txBody>
      </p:sp>
      <p:sp>
        <p:nvSpPr>
          <p:cNvPr id="11" name="TextBox 10"/>
          <p:cNvSpPr txBox="1"/>
          <p:nvPr/>
        </p:nvSpPr>
        <p:spPr>
          <a:xfrm>
            <a:off x="640080" y="37719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Select by label (kubectl):</a:t>
            </a:r>
            <a:endParaRPr sz="1600" b="1" i="0">
              <a:solidFill>
                <a:srgbClr val="0F172A"/>
              </a:solidFill>
              <a:latin typeface="Calibri" panose="020F0502020204030204"/>
            </a:endParaRPr>
          </a:p>
        </p:txBody>
      </p:sp>
      <p:sp>
        <p:nvSpPr>
          <p:cNvPr id="12" name="Rectangle 11"/>
          <p:cNvSpPr/>
          <p:nvPr/>
        </p:nvSpPr>
        <p:spPr>
          <a:xfrm>
            <a:off x="566928" y="4091940"/>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4137660"/>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kubectl get pods -l app=my-app
kubectl get pods -l env=production,tier=frontend</a:t>
            </a:r>
            <a:endParaRPr sz="900" b="0" i="0">
              <a:solidFill>
                <a:srgbClr val="0F172A"/>
              </a:solidFill>
              <a:latin typeface="Courier New" panose="02070309020205020404"/>
            </a:endParaRPr>
          </a:p>
        </p:txBody>
      </p:sp>
      <p:sp>
        <p:nvSpPr>
          <p:cNvPr id="14" name="TextBox 13"/>
          <p:cNvSpPr txBox="1"/>
          <p:nvPr/>
        </p:nvSpPr>
        <p:spPr>
          <a:xfrm>
            <a:off x="640080" y="498805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Services and Deployments use selectors to find their Pods — the glue that connects K8s objects.</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85</a:t>
            </a:r>
            <a:endParaRPr sz="900" b="0" i="0">
              <a:solidFill>
                <a:srgbClr val="718596"/>
              </a:solidFill>
              <a:latin typeface="Calibri" panose="020F05020202040302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2</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Pods &amp; Namespaces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13 &amp; 14 — The foundational K8s units</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What is a Pod?</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Pod YAML structure</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Pod lifecycle</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13: Pods (imperative &amp; declarative)</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14: Namespaces</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86</a:t>
            </a:r>
            <a:endParaRPr sz="900" b="0" i="0">
              <a:solidFill>
                <a:srgbClr val="718596"/>
              </a:solidFill>
              <a:latin typeface="Calibri" panose="020F0502020204030204"/>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PODS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Pod?</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Pod is the smallest deployable unit in Kubernetes — a wrapper around one or more containers.</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All containers in a Pod share:</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The same network namespace (same IP, same ports)</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The same storage volumes</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The same lifecycle (start and stop together)</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Pods are ephemeral — do NOT count on them living forever:</a:t>
            </a:r>
            <a:endParaRPr sz="1600" b="1"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Delete a Pod manually: it is gone.</a:t>
            </a:r>
            <a:endParaRPr sz="1600" b="0" i="0">
              <a:solidFill>
                <a:srgbClr val="0F172A"/>
              </a:solidFill>
              <a:latin typeface="Calibri" panose="020F0502020204030204"/>
            </a:endParaRPr>
          </a:p>
        </p:txBody>
      </p:sp>
      <p:sp>
        <p:nvSpPr>
          <p:cNvPr id="14" name="TextBox 13"/>
          <p:cNvSpPr txBox="1"/>
          <p:nvPr/>
        </p:nvSpPr>
        <p:spPr>
          <a:xfrm>
            <a:off x="640080" y="453542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Node fails: Pods on that node are gone.</a:t>
            </a:r>
            <a:endParaRPr sz="1600" b="0" i="0">
              <a:solidFill>
                <a:srgbClr val="0F172A"/>
              </a:solidFill>
              <a:latin typeface="Calibri" panose="020F0502020204030204"/>
            </a:endParaRPr>
          </a:p>
        </p:txBody>
      </p:sp>
      <p:sp>
        <p:nvSpPr>
          <p:cNvPr id="15" name="TextBox 14"/>
          <p:cNvSpPr txBox="1"/>
          <p:nvPr/>
        </p:nvSpPr>
        <p:spPr>
          <a:xfrm>
            <a:off x="640080" y="490118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Use a Deployment to ensure Pods are recreated automatically.</a:t>
            </a:r>
            <a:endParaRPr sz="1600" b="0" i="0">
              <a:solidFill>
                <a:srgbClr val="0F172A"/>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87</a:t>
            </a:r>
            <a:endParaRPr sz="900" b="0" i="0">
              <a:solidFill>
                <a:srgbClr val="718596"/>
              </a:solidFill>
              <a:latin typeface="Calibri" panose="020F0502020204030204"/>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PODS — ANATOMY</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Inside a Pod: Containers, Network &amp; Storage</a:t>
            </a:r>
            <a:endParaRPr sz="2600" b="1" i="0">
              <a:solidFill>
                <a:srgbClr val="FFFFFF"/>
              </a:solidFill>
              <a:latin typeface="Cambria" panose="02040503050406030204"/>
            </a:endParaRPr>
          </a:p>
        </p:txBody>
      </p:sp>
      <p:sp>
        <p:nvSpPr>
          <p:cNvPr id="7" name="Rectangle 6"/>
          <p:cNvSpPr/>
          <p:nvPr/>
        </p:nvSpPr>
        <p:spPr>
          <a:xfrm>
            <a:off x="548640" y="1737360"/>
            <a:ext cx="8046720" cy="3931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1764792"/>
            <a:ext cx="4572000" cy="310896"/>
          </a:xfrm>
          <a:prstGeom prst="rect">
            <a:avLst/>
          </a:prstGeom>
          <a:noFill/>
        </p:spPr>
        <p:txBody>
          <a:bodyPr wrap="square">
            <a:spAutoFit/>
          </a:bodyPr>
          <a:lstStyle/>
          <a:p>
            <a:pPr algn="l">
              <a:buNone/>
            </a:pPr>
            <a:r>
              <a:rPr sz="1400" b="1" i="0">
                <a:solidFill>
                  <a:srgbClr val="0F172A"/>
                </a:solidFill>
                <a:latin typeface="Cambria" panose="02040503050406030204"/>
              </a:rPr>
              <a:t>Pod   (my-app)</a:t>
            </a:r>
            <a:endParaRPr sz="1400" b="1" i="0">
              <a:solidFill>
                <a:srgbClr val="0F172A"/>
              </a:solidFill>
              <a:latin typeface="Cambria" panose="02040503050406030204"/>
            </a:endParaRPr>
          </a:p>
        </p:txBody>
      </p:sp>
      <p:sp>
        <p:nvSpPr>
          <p:cNvPr id="9" name="TextBox 8"/>
          <p:cNvSpPr txBox="1"/>
          <p:nvPr/>
        </p:nvSpPr>
        <p:spPr>
          <a:xfrm>
            <a:off x="4572000" y="1764792"/>
            <a:ext cx="3931920" cy="310896"/>
          </a:xfrm>
          <a:prstGeom prst="rect">
            <a:avLst/>
          </a:prstGeom>
          <a:noFill/>
        </p:spPr>
        <p:txBody>
          <a:bodyPr wrap="square">
            <a:spAutoFit/>
          </a:bodyPr>
          <a:lstStyle/>
          <a:p>
            <a:pPr algn="r">
              <a:buNone/>
            </a:pPr>
            <a:r>
              <a:rPr sz="1000" b="0" i="0">
                <a:solidFill>
                  <a:srgbClr val="64748B"/>
                </a:solidFill>
                <a:latin typeface="Calibri" panose="020F0502020204030204"/>
              </a:rPr>
              <a:t>Node: worker-1    IP: 10.244.1.5</a:t>
            </a:r>
            <a:endParaRPr sz="1000" b="0" i="0">
              <a:solidFill>
                <a:srgbClr val="64748B"/>
              </a:solidFill>
              <a:latin typeface="Calibri" panose="020F0502020204030204"/>
            </a:endParaRPr>
          </a:p>
        </p:txBody>
      </p:sp>
      <p:sp>
        <p:nvSpPr>
          <p:cNvPr id="10" name="Rectangle 9"/>
          <p:cNvSpPr/>
          <p:nvPr/>
        </p:nvSpPr>
        <p:spPr>
          <a:xfrm>
            <a:off x="822960" y="2231136"/>
            <a:ext cx="3108960" cy="2542032"/>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 y="2286000"/>
            <a:ext cx="3017520" cy="329184"/>
          </a:xfrm>
          <a:prstGeom prst="rect">
            <a:avLst/>
          </a:prstGeom>
          <a:noFill/>
        </p:spPr>
        <p:txBody>
          <a:bodyPr wrap="square">
            <a:spAutoFit/>
          </a:bodyPr>
          <a:lstStyle/>
          <a:p>
            <a:pPr algn="ctr">
              <a:buNone/>
            </a:pPr>
            <a:r>
              <a:rPr sz="1200" b="1" i="0">
                <a:solidFill>
                  <a:srgbClr val="FFFFFF"/>
                </a:solidFill>
                <a:latin typeface="Calibri" panose="020F0502020204030204"/>
              </a:rPr>
              <a:t>Main Container</a:t>
            </a:r>
            <a:endParaRPr sz="1200" b="1" i="0">
              <a:solidFill>
                <a:srgbClr val="FFFFFF"/>
              </a:solidFill>
              <a:latin typeface="Calibri" panose="020F0502020204030204"/>
            </a:endParaRPr>
          </a:p>
        </p:txBody>
      </p:sp>
      <p:sp>
        <p:nvSpPr>
          <p:cNvPr id="12" name="TextBox 11"/>
          <p:cNvSpPr txBox="1"/>
          <p:nvPr/>
        </p:nvSpPr>
        <p:spPr>
          <a:xfrm>
            <a:off x="868680" y="2670048"/>
            <a:ext cx="2999232" cy="1005840"/>
          </a:xfrm>
          <a:prstGeom prst="rect">
            <a:avLst/>
          </a:prstGeom>
          <a:noFill/>
        </p:spPr>
        <p:txBody>
          <a:bodyPr wrap="square">
            <a:spAutoFit/>
          </a:bodyPr>
          <a:lstStyle/>
          <a:p>
            <a:pPr algn="l">
              <a:buNone/>
            </a:pPr>
            <a:r>
              <a:rPr sz="1100" b="0" i="0">
                <a:solidFill>
                  <a:srgbClr val="94A3B8"/>
                </a:solidFill>
                <a:latin typeface="Calibri" panose="020F0502020204030204"/>
              </a:rPr>
              <a:t>image: my-app:v2
port: 8080
Runs the main
application</a:t>
            </a:r>
            <a:endParaRPr sz="1100" b="0" i="0">
              <a:solidFill>
                <a:srgbClr val="94A3B8"/>
              </a:solidFill>
              <a:latin typeface="Calibri" panose="020F0502020204030204"/>
            </a:endParaRPr>
          </a:p>
        </p:txBody>
      </p:sp>
      <p:sp>
        <p:nvSpPr>
          <p:cNvPr id="13" name="Rectangle 12"/>
          <p:cNvSpPr/>
          <p:nvPr/>
        </p:nvSpPr>
        <p:spPr>
          <a:xfrm>
            <a:off x="4114800" y="2231136"/>
            <a:ext cx="3108960" cy="2542032"/>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160520" y="2286000"/>
            <a:ext cx="3017520" cy="329184"/>
          </a:xfrm>
          <a:prstGeom prst="rect">
            <a:avLst/>
          </a:prstGeom>
          <a:noFill/>
        </p:spPr>
        <p:txBody>
          <a:bodyPr wrap="square">
            <a:spAutoFit/>
          </a:bodyPr>
          <a:lstStyle/>
          <a:p>
            <a:pPr algn="ctr">
              <a:buNone/>
            </a:pPr>
            <a:r>
              <a:rPr sz="1200" b="1" i="0">
                <a:solidFill>
                  <a:srgbClr val="FFFFFF"/>
                </a:solidFill>
                <a:latin typeface="Calibri" panose="020F0502020204030204"/>
              </a:rPr>
              <a:t>Sidecar Container</a:t>
            </a:r>
            <a:endParaRPr sz="1200" b="1" i="0">
              <a:solidFill>
                <a:srgbClr val="FFFFFF"/>
              </a:solidFill>
              <a:latin typeface="Calibri" panose="020F0502020204030204"/>
            </a:endParaRPr>
          </a:p>
        </p:txBody>
      </p:sp>
      <p:sp>
        <p:nvSpPr>
          <p:cNvPr id="15" name="TextBox 14"/>
          <p:cNvSpPr txBox="1"/>
          <p:nvPr/>
        </p:nvSpPr>
        <p:spPr>
          <a:xfrm>
            <a:off x="4160520" y="2670048"/>
            <a:ext cx="2999232" cy="1005840"/>
          </a:xfrm>
          <a:prstGeom prst="rect">
            <a:avLst/>
          </a:prstGeom>
          <a:noFill/>
        </p:spPr>
        <p:txBody>
          <a:bodyPr wrap="square">
            <a:spAutoFit/>
          </a:bodyPr>
          <a:lstStyle/>
          <a:p>
            <a:pPr algn="l">
              <a:buNone/>
            </a:pPr>
            <a:r>
              <a:rPr sz="1100" b="0" i="0">
                <a:solidFill>
                  <a:srgbClr val="94A3B8"/>
                </a:solidFill>
                <a:latin typeface="Calibri" panose="020F0502020204030204"/>
              </a:rPr>
              <a:t>image: log-collector
Collects logs,
forwards to
central store</a:t>
            </a:r>
            <a:endParaRPr sz="1100" b="0" i="0">
              <a:solidFill>
                <a:srgbClr val="94A3B8"/>
              </a:solidFill>
              <a:latin typeface="Calibri" panose="020F0502020204030204"/>
            </a:endParaRPr>
          </a:p>
        </p:txBody>
      </p:sp>
      <p:sp>
        <p:nvSpPr>
          <p:cNvPr id="16" name="Rectangle 15"/>
          <p:cNvSpPr/>
          <p:nvPr/>
        </p:nvSpPr>
        <p:spPr>
          <a:xfrm>
            <a:off x="822960" y="4846320"/>
            <a:ext cx="6400800" cy="4937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901184"/>
            <a:ext cx="6309360" cy="329184"/>
          </a:xfrm>
          <a:prstGeom prst="rect">
            <a:avLst/>
          </a:prstGeom>
          <a:noFill/>
        </p:spPr>
        <p:txBody>
          <a:bodyPr wrap="square">
            <a:spAutoFit/>
          </a:bodyPr>
          <a:lstStyle/>
          <a:p>
            <a:pPr algn="ctr">
              <a:buNone/>
            </a:pPr>
            <a:r>
              <a:rPr sz="1000" b="1" i="0">
                <a:solidFill>
                  <a:srgbClr val="FFFFFF"/>
                </a:solidFill>
                <a:latin typeface="Calibri" panose="020F0502020204030204"/>
              </a:rPr>
              <a:t>Shared Network  |  Same IP: 10.244.1.5  |  Same port space  |  Communicate via localhost</a:t>
            </a:r>
            <a:endParaRPr sz="1000" b="1" i="0">
              <a:solidFill>
                <a:srgbClr val="FFFFFF"/>
              </a:solidFill>
              <a:latin typeface="Calibri" panose="020F0502020204030204"/>
            </a:endParaRPr>
          </a:p>
        </p:txBody>
      </p:sp>
      <p:sp>
        <p:nvSpPr>
          <p:cNvPr id="18" name="Rectangle 17"/>
          <p:cNvSpPr/>
          <p:nvPr/>
        </p:nvSpPr>
        <p:spPr>
          <a:xfrm>
            <a:off x="7315200" y="2231136"/>
            <a:ext cx="1170432" cy="3108960"/>
          </a:xfrm>
          <a:prstGeom prst="rect">
            <a:avLst/>
          </a:prstGeom>
          <a:solidFill>
            <a:srgbClr val="7B54A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60920" y="3017520"/>
            <a:ext cx="1078992" cy="731520"/>
          </a:xfrm>
          <a:prstGeom prst="rect">
            <a:avLst/>
          </a:prstGeom>
          <a:noFill/>
        </p:spPr>
        <p:txBody>
          <a:bodyPr wrap="square">
            <a:spAutoFit/>
          </a:bodyPr>
          <a:lstStyle/>
          <a:p>
            <a:pPr algn="ctr">
              <a:buNone/>
            </a:pPr>
            <a:r>
              <a:rPr sz="1100" b="1" i="0">
                <a:solidFill>
                  <a:srgbClr val="FFFFFF"/>
                </a:solidFill>
                <a:latin typeface="Calibri" panose="020F0502020204030204"/>
              </a:rPr>
              <a:t>Shared
Volume
/logs</a:t>
            </a:r>
            <a:endParaRPr sz="1100" b="1" i="0">
              <a:solidFill>
                <a:srgbClr val="FFFFFF"/>
              </a:solidFill>
              <a:latin typeface="Calibri" panose="020F0502020204030204"/>
            </a:endParaRPr>
          </a:p>
        </p:txBody>
      </p:sp>
      <p:sp>
        <p:nvSpPr>
          <p:cNvPr id="20" name="Rectangle 19"/>
          <p:cNvSpPr/>
          <p:nvPr/>
        </p:nvSpPr>
        <p:spPr>
          <a:xfrm>
            <a:off x="8732520" y="1737360"/>
            <a:ext cx="3108960" cy="3931920"/>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778240" y="1783080"/>
            <a:ext cx="3017520" cy="329184"/>
          </a:xfrm>
          <a:prstGeom prst="rect">
            <a:avLst/>
          </a:prstGeom>
          <a:noFill/>
        </p:spPr>
        <p:txBody>
          <a:bodyPr wrap="square">
            <a:spAutoFit/>
          </a:bodyPr>
          <a:lstStyle/>
          <a:p>
            <a:pPr algn="l">
              <a:buNone/>
            </a:pPr>
            <a:r>
              <a:rPr sz="1400" b="1" i="0">
                <a:solidFill>
                  <a:srgbClr val="0F172A"/>
                </a:solidFill>
                <a:latin typeface="Cambria" panose="02040503050406030204"/>
              </a:rPr>
              <a:t>Shared Resources</a:t>
            </a:r>
            <a:endParaRPr sz="1400" b="1" i="0">
              <a:solidFill>
                <a:srgbClr val="0F172A"/>
              </a:solidFill>
              <a:latin typeface="Cambria" panose="02040503050406030204"/>
            </a:endParaRPr>
          </a:p>
        </p:txBody>
      </p:sp>
      <p:sp>
        <p:nvSpPr>
          <p:cNvPr id="22" name="TextBox 21"/>
          <p:cNvSpPr txBox="1"/>
          <p:nvPr/>
        </p:nvSpPr>
        <p:spPr>
          <a:xfrm>
            <a:off x="8823960" y="2231136"/>
            <a:ext cx="2926080" cy="274320"/>
          </a:xfrm>
          <a:prstGeom prst="rect">
            <a:avLst/>
          </a:prstGeom>
          <a:noFill/>
        </p:spPr>
        <p:txBody>
          <a:bodyPr wrap="square">
            <a:spAutoFit/>
          </a:bodyPr>
          <a:lstStyle/>
          <a:p>
            <a:pPr algn="l">
              <a:buNone/>
            </a:pPr>
            <a:r>
              <a:rPr sz="1200" b="1" i="0">
                <a:solidFill>
                  <a:srgbClr val="0F172A"/>
                </a:solidFill>
                <a:latin typeface="Calibri" panose="020F0502020204030204"/>
              </a:rPr>
              <a:t>Network:</a:t>
            </a:r>
            <a:endParaRPr sz="1200" b="1" i="0">
              <a:solidFill>
                <a:srgbClr val="0F172A"/>
              </a:solidFill>
              <a:latin typeface="Calibri" panose="020F0502020204030204"/>
            </a:endParaRPr>
          </a:p>
        </p:txBody>
      </p:sp>
      <p:sp>
        <p:nvSpPr>
          <p:cNvPr id="23" name="TextBox 22"/>
          <p:cNvSpPr txBox="1"/>
          <p:nvPr/>
        </p:nvSpPr>
        <p:spPr>
          <a:xfrm>
            <a:off x="8823960" y="2523744"/>
            <a:ext cx="2926080" cy="402336"/>
          </a:xfrm>
          <a:prstGeom prst="rect">
            <a:avLst/>
          </a:prstGeom>
          <a:noFill/>
        </p:spPr>
        <p:txBody>
          <a:bodyPr wrap="square">
            <a:spAutoFit/>
          </a:bodyPr>
          <a:lstStyle/>
          <a:p>
            <a:pPr algn="l">
              <a:buNone/>
            </a:pPr>
            <a:r>
              <a:rPr sz="1100" b="0" i="0">
                <a:solidFill>
                  <a:srgbClr val="64748B"/>
                </a:solidFill>
                <a:latin typeface="Calibri" panose="020F0502020204030204"/>
              </a:rPr>
              <a:t>Same IP &amp; ports. Talk to each other via localhost.</a:t>
            </a:r>
            <a:endParaRPr sz="1100" b="0" i="0">
              <a:solidFill>
                <a:srgbClr val="64748B"/>
              </a:solidFill>
              <a:latin typeface="Calibri" panose="020F0502020204030204"/>
            </a:endParaRPr>
          </a:p>
        </p:txBody>
      </p:sp>
      <p:sp>
        <p:nvSpPr>
          <p:cNvPr id="24" name="TextBox 23"/>
          <p:cNvSpPr txBox="1"/>
          <p:nvPr/>
        </p:nvSpPr>
        <p:spPr>
          <a:xfrm>
            <a:off x="8823960" y="3182112"/>
            <a:ext cx="2926080" cy="274320"/>
          </a:xfrm>
          <a:prstGeom prst="rect">
            <a:avLst/>
          </a:prstGeom>
          <a:noFill/>
        </p:spPr>
        <p:txBody>
          <a:bodyPr wrap="square">
            <a:spAutoFit/>
          </a:bodyPr>
          <a:lstStyle/>
          <a:p>
            <a:pPr algn="l">
              <a:buNone/>
            </a:pPr>
            <a:r>
              <a:rPr sz="1200" b="1" i="0">
                <a:solidFill>
                  <a:srgbClr val="0F172A"/>
                </a:solidFill>
                <a:latin typeface="Calibri" panose="020F0502020204030204"/>
              </a:rPr>
              <a:t>Volumes:</a:t>
            </a:r>
            <a:endParaRPr sz="1200" b="1" i="0">
              <a:solidFill>
                <a:srgbClr val="0F172A"/>
              </a:solidFill>
              <a:latin typeface="Calibri" panose="020F0502020204030204"/>
            </a:endParaRPr>
          </a:p>
        </p:txBody>
      </p:sp>
      <p:sp>
        <p:nvSpPr>
          <p:cNvPr id="25" name="TextBox 24"/>
          <p:cNvSpPr txBox="1"/>
          <p:nvPr/>
        </p:nvSpPr>
        <p:spPr>
          <a:xfrm>
            <a:off x="8823960" y="3474720"/>
            <a:ext cx="2926080" cy="402336"/>
          </a:xfrm>
          <a:prstGeom prst="rect">
            <a:avLst/>
          </a:prstGeom>
          <a:noFill/>
        </p:spPr>
        <p:txBody>
          <a:bodyPr wrap="square">
            <a:spAutoFit/>
          </a:bodyPr>
          <a:lstStyle/>
          <a:p>
            <a:pPr algn="l">
              <a:buNone/>
            </a:pPr>
            <a:r>
              <a:rPr sz="1100" b="0" i="0">
                <a:solidFill>
                  <a:srgbClr val="64748B"/>
                </a:solidFill>
                <a:latin typeface="Calibri" panose="020F0502020204030204"/>
              </a:rPr>
              <a:t>Read/write same files (e.g. log files).</a:t>
            </a:r>
            <a:endParaRPr sz="1100" b="0" i="0">
              <a:solidFill>
                <a:srgbClr val="64748B"/>
              </a:solidFill>
              <a:latin typeface="Calibri" panose="020F0502020204030204"/>
            </a:endParaRPr>
          </a:p>
        </p:txBody>
      </p:sp>
      <p:sp>
        <p:nvSpPr>
          <p:cNvPr id="26" name="TextBox 25"/>
          <p:cNvSpPr txBox="1"/>
          <p:nvPr/>
        </p:nvSpPr>
        <p:spPr>
          <a:xfrm>
            <a:off x="8823960" y="4133087"/>
            <a:ext cx="2926080" cy="274320"/>
          </a:xfrm>
          <a:prstGeom prst="rect">
            <a:avLst/>
          </a:prstGeom>
          <a:noFill/>
        </p:spPr>
        <p:txBody>
          <a:bodyPr wrap="square">
            <a:spAutoFit/>
          </a:bodyPr>
          <a:lstStyle/>
          <a:p>
            <a:pPr algn="l">
              <a:buNone/>
            </a:pPr>
            <a:r>
              <a:rPr sz="1200" b="1" i="0">
                <a:solidFill>
                  <a:srgbClr val="0F172A"/>
                </a:solidFill>
                <a:latin typeface="Calibri" panose="020F0502020204030204"/>
              </a:rPr>
              <a:t>Lifecycle:</a:t>
            </a:r>
            <a:endParaRPr sz="1200" b="1" i="0">
              <a:solidFill>
                <a:srgbClr val="0F172A"/>
              </a:solidFill>
              <a:latin typeface="Calibri" panose="020F0502020204030204"/>
            </a:endParaRPr>
          </a:p>
        </p:txBody>
      </p:sp>
      <p:sp>
        <p:nvSpPr>
          <p:cNvPr id="27" name="TextBox 26"/>
          <p:cNvSpPr txBox="1"/>
          <p:nvPr/>
        </p:nvSpPr>
        <p:spPr>
          <a:xfrm>
            <a:off x="8823960" y="4425696"/>
            <a:ext cx="2926080" cy="402336"/>
          </a:xfrm>
          <a:prstGeom prst="rect">
            <a:avLst/>
          </a:prstGeom>
          <a:noFill/>
        </p:spPr>
        <p:txBody>
          <a:bodyPr wrap="square">
            <a:spAutoFit/>
          </a:bodyPr>
          <a:lstStyle/>
          <a:p>
            <a:pPr algn="l">
              <a:buNone/>
            </a:pPr>
            <a:r>
              <a:rPr sz="1100" b="0" i="0">
                <a:solidFill>
                  <a:srgbClr val="64748B"/>
                </a:solidFill>
                <a:latin typeface="Calibri" panose="020F0502020204030204"/>
              </a:rPr>
              <a:t>Start and stop together — all or nothing.</a:t>
            </a:r>
            <a:endParaRPr sz="1100" b="0" i="0">
              <a:solidFill>
                <a:srgbClr val="64748B"/>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88</a:t>
            </a:r>
            <a:endParaRPr sz="900" b="0" i="0">
              <a:solidFill>
                <a:srgbClr val="718596"/>
              </a:solidFill>
              <a:latin typeface="Calibri" panose="020F0502020204030204"/>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PODS — YAML</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Pod YAML Structure</a:t>
            </a:r>
            <a:endParaRPr sz="2600" b="1" i="0">
              <a:solidFill>
                <a:srgbClr val="FFFFFF"/>
              </a:solidFill>
              <a:latin typeface="Cambria" panose="02040503050406030204"/>
            </a:endParaRPr>
          </a:p>
        </p:txBody>
      </p:sp>
      <p:sp>
        <p:nvSpPr>
          <p:cNvPr id="7" name="Rectangle 6"/>
          <p:cNvSpPr/>
          <p:nvPr/>
        </p:nvSpPr>
        <p:spPr>
          <a:xfrm>
            <a:off x="566928" y="1527048"/>
            <a:ext cx="11119104" cy="26151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572768"/>
            <a:ext cx="10972800" cy="2615184"/>
          </a:xfrm>
          <a:prstGeom prst="rect">
            <a:avLst/>
          </a:prstGeom>
          <a:noFill/>
        </p:spPr>
        <p:txBody>
          <a:bodyPr wrap="square">
            <a:spAutoFit/>
          </a:bodyPr>
          <a:lstStyle/>
          <a:p>
            <a:pPr algn="l">
              <a:buNone/>
            </a:pPr>
            <a:r>
              <a:rPr sz="900" b="0" i="0">
                <a:solidFill>
                  <a:srgbClr val="0F172A"/>
                </a:solidFill>
                <a:latin typeface="Courier New" panose="02070309020205020404"/>
              </a:rPr>
              <a:t>apiVersion: v1
kind: Pod
metadata:
  name: my-app
  labels:
    app: my-app
spec:
  containers:
    - name: nginx
      image: nginx
      ports:
        - containerPort: 80</a:t>
            </a:r>
            <a:endParaRPr sz="900" b="0" i="0">
              <a:solidFill>
                <a:srgbClr val="0F172A"/>
              </a:solidFill>
              <a:latin typeface="Courier New" panose="02070309020205020404"/>
            </a:endParaRPr>
          </a:p>
        </p:txBody>
      </p:sp>
      <p:sp>
        <p:nvSpPr>
          <p:cNvPr id="9" name="TextBox 8"/>
          <p:cNvSpPr txBox="1"/>
          <p:nvPr/>
        </p:nvSpPr>
        <p:spPr>
          <a:xfrm>
            <a:off x="640080" y="44805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Key fields:</a:t>
            </a:r>
            <a:endParaRPr sz="1600" b="1" i="0">
              <a:solidFill>
                <a:srgbClr val="0F172A"/>
              </a:solidFill>
              <a:latin typeface="Calibri" panose="020F0502020204030204"/>
            </a:endParaRPr>
          </a:p>
        </p:txBody>
      </p:sp>
      <p:sp>
        <p:nvSpPr>
          <p:cNvPr id="10" name="TextBox 9"/>
          <p:cNvSpPr txBox="1"/>
          <p:nvPr/>
        </p:nvSpPr>
        <p:spPr>
          <a:xfrm>
            <a:off x="640080" y="4846320"/>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apiVersion  — API group (v1 for core objects)</a:t>
            </a:r>
            <a:endParaRPr sz="1600" b="0" i="0">
              <a:solidFill>
                <a:srgbClr val="0F172A"/>
              </a:solidFill>
              <a:latin typeface="Calibri" panose="020F0502020204030204"/>
            </a:endParaRPr>
          </a:p>
        </p:txBody>
      </p:sp>
      <p:sp>
        <p:nvSpPr>
          <p:cNvPr id="11" name="TextBox 10"/>
          <p:cNvSpPr txBox="1"/>
          <p:nvPr/>
        </p:nvSpPr>
        <p:spPr>
          <a:xfrm>
            <a:off x="640080" y="5212080"/>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kind        — object type (Pod, Deployment, Service ...)</a:t>
            </a:r>
            <a:endParaRPr sz="1600" b="0" i="0">
              <a:solidFill>
                <a:srgbClr val="0F172A"/>
              </a:solidFill>
              <a:latin typeface="Calibri" panose="020F0502020204030204"/>
            </a:endParaRPr>
          </a:p>
        </p:txBody>
      </p:sp>
      <p:sp>
        <p:nvSpPr>
          <p:cNvPr id="12" name="TextBox 11"/>
          <p:cNvSpPr txBox="1"/>
          <p:nvPr/>
        </p:nvSpPr>
        <p:spPr>
          <a:xfrm>
            <a:off x="640080" y="5577840"/>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metadata    — name + labels</a:t>
            </a:r>
            <a:endParaRPr sz="1600" b="0"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89</a:t>
            </a:r>
            <a:endParaRPr sz="900" b="0" i="0">
              <a:solidFill>
                <a:srgbClr val="718596"/>
              </a:solidFill>
              <a:latin typeface="Calibri" panose="020F0502020204030204"/>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PODS — LIFECYCLE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Pod Phase &amp; States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Pod phases (kubectl get pods STATUS column):</a:t>
            </a:r>
            <a:endParaRPr sz="1600" b="1"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Pending     — scheduled but containers not yet started</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Running     — at least one container is running</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Succeeded   — all containers exited with code 0</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Failed      — at least one container exited non-zero</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Unknown     — cannot reach the node</a:t>
            </a:r>
            <a:endParaRPr sz="1600" b="0"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Container states (kubectl describe pod):</a:t>
            </a:r>
            <a:endParaRPr sz="1600" b="1" i="0">
              <a:solidFill>
                <a:srgbClr val="0F172A"/>
              </a:solidFill>
              <a:latin typeface="Calibri" panose="020F0502020204030204"/>
            </a:endParaRPr>
          </a:p>
        </p:txBody>
      </p:sp>
      <p:sp>
        <p:nvSpPr>
          <p:cNvPr id="14" name="TextBox 13"/>
          <p:cNvSpPr txBox="1"/>
          <p:nvPr/>
        </p:nvSpPr>
        <p:spPr>
          <a:xfrm>
            <a:off x="640080" y="453542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Waiting  |  Running  |  Terminated</a:t>
            </a:r>
            <a:endParaRPr sz="1600" b="0" i="0">
              <a:solidFill>
                <a:srgbClr val="0F172A"/>
              </a:solidFill>
              <a:latin typeface="Calibri" panose="020F0502020204030204"/>
            </a:endParaRPr>
          </a:p>
        </p:txBody>
      </p:sp>
      <p:sp>
        <p:nvSpPr>
          <p:cNvPr id="15" name="TextBox 14"/>
          <p:cNvSpPr txBox="1"/>
          <p:nvPr/>
        </p:nvSpPr>
        <p:spPr>
          <a:xfrm>
            <a:off x="640080" y="510235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CrashLoopBackOff means the container keeps crashing and K8s is waiting before restarting.</a:t>
            </a:r>
            <a:endParaRPr sz="1400" b="0" i="1">
              <a:solidFill>
                <a:srgbClr val="2496ED"/>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90</a:t>
            </a:r>
            <a:endParaRPr sz="900" b="0" i="0">
              <a:solidFill>
                <a:srgbClr val="718596"/>
              </a:solidFill>
              <a:latin typeface="Calibri" panose="020F0502020204030204"/>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13</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Pods — Imperative &amp; Declarative</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https://killercoda.com/tertiary-labs/course/killercoda/day2-01-k8s-pods-namespaces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91</a:t>
            </a:r>
            <a:endParaRPr sz="900" b="0" i="0">
              <a:solidFill>
                <a:srgbClr val="718596"/>
              </a:solidFill>
              <a:latin typeface="Calibri" panose="020F0502020204030204"/>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13 — PODS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Pods — Imperative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Run and inspect a pod:</a:t>
            </a:r>
            <a:endParaRPr sz="1600" b="1" i="0">
              <a:solidFill>
                <a:srgbClr val="0F172A"/>
              </a:solidFill>
              <a:latin typeface="Calibri" panose="020F0502020204030204"/>
            </a:endParaRPr>
          </a:p>
        </p:txBody>
      </p:sp>
      <p:sp>
        <p:nvSpPr>
          <p:cNvPr id="8" name="Rectangle 7"/>
          <p:cNvSpPr/>
          <p:nvPr/>
        </p:nvSpPr>
        <p:spPr>
          <a:xfrm>
            <a:off x="566928" y="189280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kubectl run my-nginx --image=nginx
kubectl get pods
kubectl get pods -o wide
kubectl describe pod my-nginx</a:t>
            </a:r>
            <a:endParaRPr sz="900" b="0" i="0">
              <a:solidFill>
                <a:srgbClr val="FFFFFF"/>
              </a:solidFill>
              <a:latin typeface="Courier New" panose="02070309020205020404"/>
            </a:endParaRPr>
          </a:p>
        </p:txBody>
      </p:sp>
      <p:sp>
        <p:nvSpPr>
          <p:cNvPr id="12" name="TextBox 11"/>
          <p:cNvSpPr txBox="1"/>
          <p:nvPr/>
        </p:nvSpPr>
        <p:spPr>
          <a:xfrm>
            <a:off x="640080" y="29992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Logs and exec:</a:t>
            </a:r>
            <a:endParaRPr sz="1600" b="1" i="0">
              <a:solidFill>
                <a:srgbClr val="0F172A"/>
              </a:solidFill>
              <a:latin typeface="Calibri" panose="020F0502020204030204"/>
            </a:endParaRPr>
          </a:p>
        </p:txBody>
      </p:sp>
      <p:sp>
        <p:nvSpPr>
          <p:cNvPr id="13" name="Rectangle 12"/>
          <p:cNvSpPr/>
          <p:nvPr/>
        </p:nvSpPr>
        <p:spPr>
          <a:xfrm>
            <a:off x="566928" y="3319272"/>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319272"/>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46704"/>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364992"/>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kubectl logs my-nginx
kubectl exec my-nginx -- cat /etc/hostname
kubectl exec -it my-nginx -- /bin/sh
# Inside: ls /usr/share/nginx/html &amp;&amp; exit</a:t>
            </a:r>
            <a:endParaRPr sz="900" b="0" i="0">
              <a:solidFill>
                <a:srgbClr val="FFFFFF"/>
              </a:solidFill>
              <a:latin typeface="Courier New" panose="02070309020205020404"/>
            </a:endParaRPr>
          </a:p>
        </p:txBody>
      </p:sp>
      <p:sp>
        <p:nvSpPr>
          <p:cNvPr id="17" name="TextBox 16"/>
          <p:cNvSpPr txBox="1"/>
          <p:nvPr/>
        </p:nvSpPr>
        <p:spPr>
          <a:xfrm>
            <a:off x="640080" y="4425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Delete and verify:</a:t>
            </a:r>
            <a:endParaRPr sz="1600" b="1" i="0">
              <a:solidFill>
                <a:srgbClr val="0F172A"/>
              </a:solidFill>
              <a:latin typeface="Calibri" panose="020F0502020204030204"/>
            </a:endParaRPr>
          </a:p>
        </p:txBody>
      </p:sp>
      <p:sp>
        <p:nvSpPr>
          <p:cNvPr id="18" name="Rectangle 17"/>
          <p:cNvSpPr/>
          <p:nvPr/>
        </p:nvSpPr>
        <p:spPr>
          <a:xfrm>
            <a:off x="566928" y="474573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74573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77316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79145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delete pod my-nginx
kubectl get pods</a:t>
            </a:r>
            <a:endParaRPr sz="900" b="0" i="0">
              <a:solidFill>
                <a:srgbClr val="FFFFFF"/>
              </a:solidFill>
              <a:latin typeface="Courier New" panose="02070309020205020404"/>
            </a:endParaRPr>
          </a:p>
        </p:txBody>
      </p:sp>
      <p:sp>
        <p:nvSpPr>
          <p:cNvPr id="22" name="TextBox 21"/>
          <p:cNvSpPr txBox="1"/>
          <p:nvPr/>
        </p:nvSpPr>
        <p:spPr>
          <a:xfrm>
            <a:off x="640080" y="5641848"/>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Key concept: Pods are mortal. Delete one and it is gone. Deployments keep Pods alive.</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https://killercoda.com/tertiary-labs/course/killercoda/day2-01-k8s-pods-namespaces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92</a:t>
            </a:r>
            <a:endParaRPr sz="900" b="0" i="0">
              <a:solidFill>
                <a:srgbClr val="718596"/>
              </a:solidFill>
              <a:latin typeface="Calibri" panose="020F0502020204030204"/>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13 — PODS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Pods — Declarative YAML</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pod.yaml</a:t>
            </a:r>
            <a:endParaRPr sz="1600" b="1" i="0">
              <a:solidFill>
                <a:srgbClr val="0F172A"/>
              </a:solidFill>
              <a:latin typeface="Calibri" panose="020F0502020204030204"/>
            </a:endParaRPr>
          </a:p>
        </p:txBody>
      </p:sp>
      <p:sp>
        <p:nvSpPr>
          <p:cNvPr id="8" name="Rectangle 7"/>
          <p:cNvSpPr/>
          <p:nvPr/>
        </p:nvSpPr>
        <p:spPr>
          <a:xfrm>
            <a:off x="566928" y="1892808"/>
            <a:ext cx="11119104" cy="26151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26151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26151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2615184"/>
          </a:xfrm>
          <a:prstGeom prst="rect">
            <a:avLst/>
          </a:prstGeom>
          <a:noFill/>
        </p:spPr>
        <p:txBody>
          <a:bodyPr wrap="square">
            <a:spAutoFit/>
          </a:bodyPr>
          <a:lstStyle/>
          <a:p>
            <a:pPr algn="l">
              <a:buNone/>
            </a:pPr>
            <a:r>
              <a:rPr sz="900" b="0" i="0">
                <a:solidFill>
                  <a:srgbClr val="FFFFFF"/>
                </a:solidFill>
                <a:latin typeface="Courier New" panose="02070309020205020404"/>
              </a:rPr>
              <a:t>apiVersion: v1
kind: Pod
metadata:
  name: my-app
  labels:
    app: my-app
spec:
  containers:
    - name: nginx
      image: nginx
      ports:
        - containerPort: 80</a:t>
            </a:r>
            <a:endParaRPr sz="900" b="0" i="0">
              <a:solidFill>
                <a:srgbClr val="FFFFFF"/>
              </a:solidFill>
              <a:latin typeface="Courier New" panose="02070309020205020404"/>
            </a:endParaRPr>
          </a:p>
        </p:txBody>
      </p:sp>
      <p:sp>
        <p:nvSpPr>
          <p:cNvPr id="12" name="TextBox 11"/>
          <p:cNvSpPr txBox="1"/>
          <p:nvPr/>
        </p:nvSpPr>
        <p:spPr>
          <a:xfrm>
            <a:off x="640080" y="46451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Apply, inspect, delete:</a:t>
            </a:r>
            <a:endParaRPr sz="1600" b="1" i="0">
              <a:solidFill>
                <a:srgbClr val="0F172A"/>
              </a:solidFill>
              <a:latin typeface="Calibri" panose="020F0502020204030204"/>
            </a:endParaRPr>
          </a:p>
        </p:txBody>
      </p:sp>
      <p:sp>
        <p:nvSpPr>
          <p:cNvPr id="13" name="Rectangle 12"/>
          <p:cNvSpPr/>
          <p:nvPr/>
        </p:nvSpPr>
        <p:spPr>
          <a:xfrm>
            <a:off x="566928" y="4965192"/>
            <a:ext cx="11119104" cy="8412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965192"/>
            <a:ext cx="256032" cy="841248"/>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992624"/>
            <a:ext cx="256032" cy="841248"/>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5010912"/>
            <a:ext cx="10771632" cy="841248"/>
          </a:xfrm>
          <a:prstGeom prst="rect">
            <a:avLst/>
          </a:prstGeom>
          <a:noFill/>
        </p:spPr>
        <p:txBody>
          <a:bodyPr wrap="square">
            <a:spAutoFit/>
          </a:bodyPr>
          <a:lstStyle/>
          <a:p>
            <a:pPr algn="l">
              <a:buNone/>
            </a:pPr>
            <a:r>
              <a:rPr sz="900" b="0" i="0">
                <a:solidFill>
                  <a:srgbClr val="FFFFFF"/>
                </a:solidFill>
                <a:latin typeface="Courier New" panose="02070309020205020404"/>
              </a:rPr>
              <a:t>kubectl apply -f pod.yaml
kubectl get pods
kubectl describe pod my-app
kubectl delete -f pod.yaml</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https://killercoda.com/tertiary-labs/course/killercoda/day2-01-k8s-pods-namespaces</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93</a:t>
            </a:r>
            <a:endParaRPr sz="900" b="0" i="0">
              <a:solidFill>
                <a:srgbClr val="718596"/>
              </a:solidFill>
              <a:latin typeface="Calibri" panose="020F0502020204030204"/>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NAMESPACES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Namespace?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Namespace is a virtual cluster inside your K8s cluster. Resources in different namespaces are isolated by default.</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Default namespaces: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default      — where objects go if you don't specify a namespace</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kube-system  — internal K8s components (DNS, proxy, scheduler)</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kube-public  — publicly readable cluster info</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Why use namespaces?</a:t>
            </a:r>
            <a:endParaRPr sz="1600" b="1"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Separate environments: dev / staging / prod</a:t>
            </a:r>
            <a:endParaRPr sz="1600" b="0" i="0">
              <a:solidFill>
                <a:srgbClr val="0F172A"/>
              </a:solidFill>
              <a:latin typeface="Calibri" panose="020F0502020204030204"/>
            </a:endParaRPr>
          </a:p>
        </p:txBody>
      </p:sp>
      <p:sp>
        <p:nvSpPr>
          <p:cNvPr id="14" name="TextBox 13"/>
          <p:cNvSpPr txBox="1"/>
          <p:nvPr/>
        </p:nvSpPr>
        <p:spPr>
          <a:xfrm>
            <a:off x="640080" y="453542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Team isolation: team-a / team-b</a:t>
            </a:r>
            <a:endParaRPr sz="1600" b="0" i="0">
              <a:solidFill>
                <a:srgbClr val="0F172A"/>
              </a:solidFill>
              <a:latin typeface="Calibri" panose="020F0502020204030204"/>
            </a:endParaRPr>
          </a:p>
        </p:txBody>
      </p:sp>
      <p:sp>
        <p:nvSpPr>
          <p:cNvPr id="15" name="TextBox 14"/>
          <p:cNvSpPr txBox="1"/>
          <p:nvPr/>
        </p:nvSpPr>
        <p:spPr>
          <a:xfrm>
            <a:off x="640080" y="490118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Apply quotas and policies per namespace</a:t>
            </a:r>
            <a:endParaRPr sz="1600" b="0" i="0">
              <a:solidFill>
                <a:srgbClr val="0F172A"/>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94</a:t>
            </a:r>
            <a:endParaRPr sz="900" b="0" i="0">
              <a:solidFill>
                <a:srgbClr val="718596"/>
              </a:solidFill>
              <a:latin typeface="Calibri" panose="020F0502020204030204"/>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14</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Namespaces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https://killercoda.com/tertiary-labs/course/killercoda/day2-01-k8s-pods-namespaces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95</a:t>
            </a:r>
            <a:endParaRPr sz="900" b="0" i="0">
              <a:solidFill>
                <a:srgbClr val="718596"/>
              </a:solidFill>
              <a:latin typeface="Calibri" panose="020F0502020204030204"/>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14 — NAMESPACES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Namespaces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namespace and run a pod inside it:</a:t>
            </a:r>
            <a:endParaRPr sz="1600" b="1" i="0">
              <a:solidFill>
                <a:srgbClr val="0F172A"/>
              </a:solidFill>
              <a:latin typeface="Calibri" panose="020F0502020204030204"/>
            </a:endParaRPr>
          </a:p>
        </p:txBody>
      </p:sp>
      <p:sp>
        <p:nvSpPr>
          <p:cNvPr id="8" name="Rectangle 7"/>
          <p:cNvSpPr/>
          <p:nvPr/>
        </p:nvSpPr>
        <p:spPr>
          <a:xfrm>
            <a:off x="566928" y="1892808"/>
            <a:ext cx="11119104" cy="117500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17500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17500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175004"/>
          </a:xfrm>
          <a:prstGeom prst="rect">
            <a:avLst/>
          </a:prstGeom>
          <a:noFill/>
        </p:spPr>
        <p:txBody>
          <a:bodyPr wrap="square">
            <a:spAutoFit/>
          </a:bodyPr>
          <a:lstStyle/>
          <a:p>
            <a:pPr algn="l">
              <a:buNone/>
            </a:pPr>
            <a:r>
              <a:rPr sz="900" b="0" i="0">
                <a:solidFill>
                  <a:srgbClr val="FFFFFF"/>
                </a:solidFill>
                <a:latin typeface="Courier New" panose="02070309020205020404"/>
              </a:rPr>
              <a:t>kubectl get namespaces
kubectl create namespace dev
kubectl run my-nginx --image=nginx -n dev
kubectl get pods -n dev
kubectl get pods --all-namespaces</a:t>
            </a:r>
            <a:endParaRPr sz="900" b="0" i="0">
              <a:solidFill>
                <a:srgbClr val="FFFFFF"/>
              </a:solidFill>
              <a:latin typeface="Courier New" panose="02070309020205020404"/>
            </a:endParaRPr>
          </a:p>
        </p:txBody>
      </p:sp>
      <p:sp>
        <p:nvSpPr>
          <p:cNvPr id="12" name="TextBox 11"/>
          <p:cNvSpPr txBox="1"/>
          <p:nvPr/>
        </p:nvSpPr>
        <p:spPr>
          <a:xfrm>
            <a:off x="640080" y="320497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Delete namespace (removes everything inside!):</a:t>
            </a:r>
            <a:endParaRPr sz="1600" b="1" i="0">
              <a:solidFill>
                <a:srgbClr val="0F172A"/>
              </a:solidFill>
              <a:latin typeface="Calibri" panose="020F0502020204030204"/>
            </a:endParaRPr>
          </a:p>
        </p:txBody>
      </p:sp>
      <p:sp>
        <p:nvSpPr>
          <p:cNvPr id="13" name="Rectangle 12"/>
          <p:cNvSpPr/>
          <p:nvPr/>
        </p:nvSpPr>
        <p:spPr>
          <a:xfrm>
            <a:off x="566928" y="3525012"/>
            <a:ext cx="11119104" cy="3520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25012"/>
            <a:ext cx="256032" cy="3520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552444"/>
            <a:ext cx="256032" cy="35204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570732"/>
            <a:ext cx="10771632" cy="352044"/>
          </a:xfrm>
          <a:prstGeom prst="rect">
            <a:avLst/>
          </a:prstGeom>
          <a:noFill/>
        </p:spPr>
        <p:txBody>
          <a:bodyPr wrap="square">
            <a:spAutoFit/>
          </a:bodyPr>
          <a:lstStyle/>
          <a:p>
            <a:pPr algn="l">
              <a:buNone/>
            </a:pPr>
            <a:r>
              <a:rPr sz="900" b="0" i="0">
                <a:solidFill>
                  <a:srgbClr val="FFFFFF"/>
                </a:solidFill>
                <a:latin typeface="Courier New" panose="02070309020205020404"/>
              </a:rPr>
              <a:t>kubectl delete namespace dev</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Declarative namespace + pod:</a:t>
            </a:r>
            <a:endParaRPr sz="1600" b="1" i="0">
              <a:solidFill>
                <a:srgbClr val="0F172A"/>
              </a:solidFill>
              <a:latin typeface="Calibri" panose="020F0502020204030204"/>
            </a:endParaRPr>
          </a:p>
        </p:txBody>
      </p:sp>
      <p:sp>
        <p:nvSpPr>
          <p:cNvPr id="18" name="Rectangle 17"/>
          <p:cNvSpPr/>
          <p:nvPr/>
        </p:nvSpPr>
        <p:spPr>
          <a:xfrm>
            <a:off x="566928" y="4334256"/>
            <a:ext cx="11119104" cy="13807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13807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138074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1380744"/>
          </a:xfrm>
          <a:prstGeom prst="rect">
            <a:avLst/>
          </a:prstGeom>
          <a:noFill/>
        </p:spPr>
        <p:txBody>
          <a:bodyPr wrap="square">
            <a:spAutoFit/>
          </a:bodyPr>
          <a:lstStyle/>
          <a:p>
            <a:pPr algn="l">
              <a:buNone/>
            </a:pPr>
            <a:r>
              <a:rPr sz="900" b="0" i="0">
                <a:solidFill>
                  <a:srgbClr val="FFFFFF"/>
                </a:solidFill>
                <a:latin typeface="Courier New" panose="02070309020205020404"/>
              </a:rPr>
              <a:t># namespace.yaml  -&gt;  kind: Namespace / name: staging
# pod-staging.yaml -&gt;  namespace: staging in metadata
kubectl apply -f namespace.yaml
kubectl apply -f pod-staging.yaml
kubectl get pods -n staging
kubectl delete -f namespace.yaml</a:t>
            </a:r>
            <a:endParaRPr sz="900" b="0" i="0">
              <a:solidFill>
                <a:srgbClr val="FFFFFF"/>
              </a:solidFill>
              <a:latin typeface="Courier New" panose="02070309020205020404"/>
            </a:endParaRPr>
          </a:p>
        </p:txBody>
      </p:sp>
      <p:sp>
        <p:nvSpPr>
          <p:cNvPr id="22" name="TextBox 21"/>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https://killercoda.com/tertiary-labs/course/killercoda/day2-01-k8s-pods-namespaces</a:t>
            </a:r>
            <a:endParaRPr sz="1100" b="0" i="1">
              <a:solidFill>
                <a:srgbClr val="2496ED"/>
              </a:solidFill>
              <a:latin typeface="Calibri" panose="020F0502020204030204"/>
            </a:endParaRPr>
          </a:p>
        </p:txBody>
      </p:sp>
      <p:sp>
        <p:nvSpPr>
          <p:cNvPr id="23" name="TextBox 2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4" name="TextBox 2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5" name="TextBox 2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96</a:t>
            </a:r>
            <a:endParaRPr sz="900" b="0" i="0">
              <a:solidFill>
                <a:srgbClr val="718596"/>
              </a:solidFill>
              <a:latin typeface="Calibri" panose="020F0502020204030204"/>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3</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Deployments &amp; Scaling</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 15 — Self-healing, replicas, YAML</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Why Deployments?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Naked Pod vs Deployment</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ReplicaSets</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15: Create &amp; scale</a:t>
            </a:r>
            <a:endParaRPr sz="1800" b="0" i="0">
              <a:solidFill>
                <a:srgbClr val="CBD5E1"/>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97</a:t>
            </a:r>
            <a:endParaRPr sz="900" b="0" i="0">
              <a:solidFill>
                <a:srgbClr val="718596"/>
              </a:solidFill>
              <a:latin typeface="Calibri" panose="020F0502020204030204"/>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DEPLOYMENTS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Deployment?</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Deployment is the standard way to run stateless applications in Kubernetes. It manages a ReplicaSet which in turn manages Pods.</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What a Deployment gives you:</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Declare desired count: "I want 3 replicas of this app"</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Self-healing: if a Pod dies, a new one is created automatically</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Scaling: change replicas up or down with one command</a:t>
            </a:r>
            <a:endParaRPr sz="1600" b="0" i="0">
              <a:solidFill>
                <a:srgbClr val="0F172A"/>
              </a:solidFill>
              <a:latin typeface="Calibri" panose="020F0502020204030204"/>
            </a:endParaRPr>
          </a:p>
        </p:txBody>
      </p:sp>
      <p:sp>
        <p:nvSpPr>
          <p:cNvPr id="12" name="TextBox 11"/>
          <p:cNvSpPr txBox="1"/>
          <p:nvPr/>
        </p:nvSpPr>
        <p:spPr>
          <a:xfrm>
            <a:off x="640080" y="360273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Rolling updates: update the image with zero downtime</a:t>
            </a:r>
            <a:endParaRPr sz="1600" b="0" i="0">
              <a:solidFill>
                <a:srgbClr val="0F172A"/>
              </a:solidFill>
              <a:latin typeface="Calibri" panose="020F0502020204030204"/>
            </a:endParaRPr>
          </a:p>
        </p:txBody>
      </p:sp>
      <p:sp>
        <p:nvSpPr>
          <p:cNvPr id="13" name="TextBox 12"/>
          <p:cNvSpPr txBox="1"/>
          <p:nvPr/>
        </p:nvSpPr>
        <p:spPr>
          <a:xfrm>
            <a:off x="640080" y="396849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Rollback: revert to a previous version instantly</a:t>
            </a:r>
            <a:endParaRPr sz="1600" b="0" i="0">
              <a:solidFill>
                <a:srgbClr val="0F172A"/>
              </a:solidFill>
              <a:latin typeface="Calibri" panose="020F0502020204030204"/>
            </a:endParaRPr>
          </a:p>
        </p:txBody>
      </p:sp>
      <p:sp>
        <p:nvSpPr>
          <p:cNvPr id="14" name="TextBox 13"/>
          <p:cNvSpPr txBox="1"/>
          <p:nvPr/>
        </p:nvSpPr>
        <p:spPr>
          <a:xfrm>
            <a:off x="640080" y="4535424"/>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Rule: never run a naked Pod in production. Always use a Deployment.</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98</a:t>
            </a:r>
            <a:endParaRPr sz="900" b="0" i="0">
              <a:solidFill>
                <a:srgbClr val="718596"/>
              </a:solidFill>
              <a:latin typeface="Calibri" panose="020F0502020204030204"/>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DEPLOYMENTS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Naked Pod vs Deployment</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63118"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Naked Pod</a:t>
            </a:r>
            <a:endParaRPr sz="1800" b="1" i="0">
              <a:solidFill>
                <a:srgbClr val="0F172A"/>
              </a:solidFill>
              <a:latin typeface="Cambria" panose="02040503050406030204"/>
            </a:endParaRPr>
          </a:p>
        </p:txBody>
      </p:sp>
      <p:sp>
        <p:nvSpPr>
          <p:cNvPr id="9" name="TextBox 8"/>
          <p:cNvSpPr txBox="1"/>
          <p:nvPr/>
        </p:nvSpPr>
        <p:spPr>
          <a:xfrm>
            <a:off x="563118"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Runs one container instance</a:t>
            </a:r>
            <a:endParaRPr sz="1600" b="0" i="0">
              <a:solidFill>
                <a:srgbClr val="0F172A"/>
              </a:solidFill>
              <a:latin typeface="Calibri" panose="020F0502020204030204"/>
            </a:endParaRPr>
          </a:p>
        </p:txBody>
      </p:sp>
      <p:sp>
        <p:nvSpPr>
          <p:cNvPr id="10" name="TextBox 9"/>
          <p:cNvSpPr txBox="1"/>
          <p:nvPr/>
        </p:nvSpPr>
        <p:spPr>
          <a:xfrm>
            <a:off x="563118"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Dies and stays dead</a:t>
            </a:r>
            <a:endParaRPr sz="1600" b="0" i="0">
              <a:solidFill>
                <a:srgbClr val="0F172A"/>
              </a:solidFill>
              <a:latin typeface="Calibri" panose="020F0502020204030204"/>
            </a:endParaRPr>
          </a:p>
        </p:txBody>
      </p:sp>
      <p:sp>
        <p:nvSpPr>
          <p:cNvPr id="11" name="TextBox 10"/>
          <p:cNvSpPr txBox="1"/>
          <p:nvPr/>
        </p:nvSpPr>
        <p:spPr>
          <a:xfrm>
            <a:off x="563118"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Manual recreation</a:t>
            </a:r>
            <a:endParaRPr sz="1600" b="0" i="0">
              <a:solidFill>
                <a:srgbClr val="0F172A"/>
              </a:solidFill>
              <a:latin typeface="Calibri" panose="020F0502020204030204"/>
            </a:endParaRPr>
          </a:p>
        </p:txBody>
      </p:sp>
      <p:sp>
        <p:nvSpPr>
          <p:cNvPr id="12" name="TextBox 11"/>
          <p:cNvSpPr txBox="1"/>
          <p:nvPr/>
        </p:nvSpPr>
        <p:spPr>
          <a:xfrm>
            <a:off x="563118"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No rolling update</a:t>
            </a:r>
            <a:endParaRPr sz="1600" b="0" i="0">
              <a:solidFill>
                <a:srgbClr val="0F172A"/>
              </a:solidFill>
              <a:latin typeface="Calibri" panose="020F0502020204030204"/>
            </a:endParaRPr>
          </a:p>
        </p:txBody>
      </p:sp>
      <p:sp>
        <p:nvSpPr>
          <p:cNvPr id="13" name="TextBox 12"/>
          <p:cNvSpPr txBox="1"/>
          <p:nvPr/>
        </p:nvSpPr>
        <p:spPr>
          <a:xfrm>
            <a:off x="563118"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No scaling</a:t>
            </a:r>
            <a:endParaRPr sz="1600" b="0" i="0">
              <a:solidFill>
                <a:srgbClr val="0F172A"/>
              </a:solidFill>
              <a:latin typeface="Calibri" panose="020F0502020204030204"/>
            </a:endParaRPr>
          </a:p>
        </p:txBody>
      </p:sp>
      <p:sp>
        <p:nvSpPr>
          <p:cNvPr id="14" name="TextBox 13"/>
          <p:cNvSpPr txBox="1"/>
          <p:nvPr/>
        </p:nvSpPr>
        <p:spPr>
          <a:xfrm>
            <a:off x="601218"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Only for: debugging, one-shot tasks</a:t>
            </a:r>
            <a:endParaRPr sz="1200" b="0" i="0">
              <a:solidFill>
                <a:srgbClr val="64748B"/>
              </a:solidFill>
              <a:latin typeface="Calibri" panose="020F0502020204030204"/>
            </a:endParaRPr>
          </a:p>
        </p:txBody>
      </p:sp>
      <p:sp>
        <p:nvSpPr>
          <p:cNvPr id="15" name="TextBox 14"/>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Deployment</a:t>
            </a:r>
            <a:endParaRPr sz="1800" b="1" i="0">
              <a:solidFill>
                <a:srgbClr val="0F172A"/>
              </a:solidFill>
              <a:latin typeface="Cambria" panose="02040503050406030204"/>
            </a:endParaRPr>
          </a:p>
        </p:txBody>
      </p:sp>
      <p:sp>
        <p:nvSpPr>
          <p:cNvPr id="16" name="TextBox 15"/>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Manages N replicas</a:t>
            </a:r>
            <a:endParaRPr sz="1600" b="0" i="0">
              <a:solidFill>
                <a:srgbClr val="0F172A"/>
              </a:solidFill>
              <a:latin typeface="Calibri" panose="020F0502020204030204"/>
            </a:endParaRPr>
          </a:p>
        </p:txBody>
      </p:sp>
      <p:sp>
        <p:nvSpPr>
          <p:cNvPr id="17" name="TextBox 16"/>
          <p:cNvSpPr txBox="1"/>
          <p:nvPr/>
        </p:nvSpPr>
        <p:spPr>
          <a:xfrm>
            <a:off x="6309360"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Self-heals on failure</a:t>
            </a:r>
            <a:endParaRPr sz="1600" b="0" i="0">
              <a:solidFill>
                <a:srgbClr val="0F172A"/>
              </a:solidFill>
              <a:latin typeface="Calibri" panose="020F0502020204030204"/>
            </a:endParaRPr>
          </a:p>
        </p:txBody>
      </p:sp>
      <p:sp>
        <p:nvSpPr>
          <p:cNvPr id="18" name="TextBox 17"/>
          <p:cNvSpPr txBox="1"/>
          <p:nvPr/>
        </p:nvSpPr>
        <p:spPr>
          <a:xfrm>
            <a:off x="6309360"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Automatic recreation</a:t>
            </a:r>
            <a:endParaRPr sz="1600" b="0" i="0">
              <a:solidFill>
                <a:srgbClr val="0F172A"/>
              </a:solidFill>
              <a:latin typeface="Calibri" panose="020F0502020204030204"/>
            </a:endParaRPr>
          </a:p>
        </p:txBody>
      </p:sp>
      <p:sp>
        <p:nvSpPr>
          <p:cNvPr id="19" name="TextBox 18"/>
          <p:cNvSpPr txBox="1"/>
          <p:nvPr/>
        </p:nvSpPr>
        <p:spPr>
          <a:xfrm>
            <a:off x="6309360"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Rolling update built-in</a:t>
            </a:r>
            <a:endParaRPr sz="1600" b="0" i="0">
              <a:solidFill>
                <a:srgbClr val="0F172A"/>
              </a:solidFill>
              <a:latin typeface="Calibri" panose="020F0502020204030204"/>
            </a:endParaRPr>
          </a:p>
        </p:txBody>
      </p:sp>
      <p:sp>
        <p:nvSpPr>
          <p:cNvPr id="20" name="TextBox 19"/>
          <p:cNvSpPr txBox="1"/>
          <p:nvPr/>
        </p:nvSpPr>
        <p:spPr>
          <a:xfrm>
            <a:off x="6309360" y="347472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Scale with one command</a:t>
            </a:r>
            <a:endParaRPr sz="1600" b="0" i="0">
              <a:solidFill>
                <a:srgbClr val="0F172A"/>
              </a:solidFill>
              <a:latin typeface="Calibri" panose="020F0502020204030204"/>
            </a:endParaRPr>
          </a:p>
        </p:txBody>
      </p:sp>
      <p:sp>
        <p:nvSpPr>
          <p:cNvPr id="21" name="TextBox 20"/>
          <p:cNvSpPr txBox="1"/>
          <p:nvPr/>
        </p:nvSpPr>
        <p:spPr>
          <a:xfrm>
            <a:off x="6309360" y="4041648"/>
            <a:ext cx="5303520" cy="310896"/>
          </a:xfrm>
          <a:prstGeom prst="rect">
            <a:avLst/>
          </a:prstGeom>
          <a:noFill/>
        </p:spPr>
        <p:txBody>
          <a:bodyPr wrap="square">
            <a:spAutoFit/>
          </a:bodyPr>
          <a:lstStyle/>
          <a:p>
            <a:pPr algn="l">
              <a:buNone/>
            </a:pPr>
            <a:r>
              <a:rPr sz="1200" b="0" i="0">
                <a:solidFill>
                  <a:srgbClr val="64748B"/>
                </a:solidFill>
                <a:latin typeface="Calibri" panose="020F0502020204030204"/>
              </a:rPr>
              <a:t>Always use for production apps</a:t>
            </a:r>
            <a:endParaRPr sz="1200" b="0" i="0">
              <a:solidFill>
                <a:srgbClr val="64748B"/>
              </a:solidFill>
              <a:latin typeface="Calibri" panose="020F05020202040302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99</a:t>
            </a:r>
            <a:endParaRPr sz="900" b="0" i="0">
              <a:solidFill>
                <a:srgbClr val="718596"/>
              </a:solidFill>
              <a:latin typeface="Calibri" panose="020F0502020204030204"/>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DEPLOYMENTS — INTERNALS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ReplicaSet &amp; Self-Healing</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Deployment creates and manages a ReplicaSet. The ReplicaSet watches your Pods and ensures the desired count is always running.</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Self-healing loop:</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1.  ReplicaSet watches Pods with matching labels</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2.  Pod count drops below desired  -&gt;  create new Pod</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3.  Pod count exceeds desired  -&gt;  delete extra Pod</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View the ReplicaSet:</a:t>
            </a:r>
            <a:endParaRPr sz="1600" b="1" i="0">
              <a:solidFill>
                <a:srgbClr val="0F172A"/>
              </a:solidFill>
              <a:latin typeface="Calibri" panose="020F0502020204030204"/>
            </a:endParaRPr>
          </a:p>
        </p:txBody>
      </p:sp>
      <p:sp>
        <p:nvSpPr>
          <p:cNvPr id="13" name="Rectangle 12"/>
          <p:cNvSpPr/>
          <p:nvPr/>
        </p:nvSpPr>
        <p:spPr>
          <a:xfrm>
            <a:off x="566928" y="4123944"/>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169664"/>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kubectl get replicasets
kubectl describe replicaset &lt;name&gt;</a:t>
            </a:r>
            <a:endParaRPr sz="900" b="0" i="0">
              <a:solidFill>
                <a:srgbClr val="0F172A"/>
              </a:solidFill>
              <a:latin typeface="Courier New" panose="02070309020205020404"/>
            </a:endParaRPr>
          </a:p>
        </p:txBody>
      </p:sp>
      <p:sp>
        <p:nvSpPr>
          <p:cNvPr id="15" name="TextBox 14"/>
          <p:cNvSpPr txBox="1"/>
          <p:nvPr/>
        </p:nvSpPr>
        <p:spPr>
          <a:xfrm>
            <a:off x="640080" y="502005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You rarely interact with ReplicaSets directly — manage them through Deployments.</a:t>
            </a:r>
            <a:endParaRPr sz="1400" b="0" i="1">
              <a:solidFill>
                <a:srgbClr val="2496ED"/>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100</a:t>
            </a:r>
            <a:endParaRPr sz="900" b="0" i="0">
              <a:solidFill>
                <a:srgbClr val="718596"/>
              </a:solidFill>
              <a:latin typeface="Calibri" panose="020F0502020204030204"/>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DEPLOYMENTS — SELF-HEALING</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ReplicaSet Control Loop</a:t>
            </a:r>
            <a:endParaRPr sz="2600" b="1" i="0">
              <a:solidFill>
                <a:srgbClr val="FFFFFF"/>
              </a:solidFill>
              <a:latin typeface="Cambria" panose="02040503050406030204"/>
            </a:endParaRPr>
          </a:p>
        </p:txBody>
      </p:sp>
      <p:sp>
        <p:nvSpPr>
          <p:cNvPr id="7" name="TextBox 6"/>
          <p:cNvSpPr txBox="1"/>
          <p:nvPr/>
        </p:nvSpPr>
        <p:spPr>
          <a:xfrm>
            <a:off x="548640" y="1828800"/>
            <a:ext cx="5120640" cy="310896"/>
          </a:xfrm>
          <a:prstGeom prst="rect">
            <a:avLst/>
          </a:prstGeom>
          <a:noFill/>
        </p:spPr>
        <p:txBody>
          <a:bodyPr wrap="square">
            <a:spAutoFit/>
          </a:bodyPr>
          <a:lstStyle/>
          <a:p>
            <a:pPr algn="l">
              <a:buNone/>
            </a:pPr>
            <a:r>
              <a:rPr sz="1300" b="1" i="0">
                <a:solidFill>
                  <a:srgbClr val="0F172A"/>
                </a:solidFill>
                <a:latin typeface="Cambria" panose="02040503050406030204"/>
              </a:rPr>
              <a:t>BEFORE  (desired: 3 — actual: 3)</a:t>
            </a:r>
            <a:endParaRPr sz="1300" b="1" i="0">
              <a:solidFill>
                <a:srgbClr val="0F172A"/>
              </a:solidFill>
              <a:latin typeface="Cambria" panose="02040503050406030204"/>
            </a:endParaRPr>
          </a:p>
        </p:txBody>
      </p:sp>
      <p:sp>
        <p:nvSpPr>
          <p:cNvPr id="8" name="Rectangle 7"/>
          <p:cNvSpPr/>
          <p:nvPr/>
        </p:nvSpPr>
        <p:spPr>
          <a:xfrm>
            <a:off x="548640" y="2231136"/>
            <a:ext cx="1554480"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2359152"/>
            <a:ext cx="1463039" cy="438912"/>
          </a:xfrm>
          <a:prstGeom prst="rect">
            <a:avLst/>
          </a:prstGeom>
          <a:noFill/>
        </p:spPr>
        <p:txBody>
          <a:bodyPr wrap="square">
            <a:spAutoFit/>
          </a:bodyPr>
          <a:lstStyle/>
          <a:p>
            <a:pPr algn="ctr">
              <a:buNone/>
            </a:pPr>
            <a:r>
              <a:rPr sz="1000" b="1" i="0">
                <a:solidFill>
                  <a:srgbClr val="FFFFFF"/>
                </a:solidFill>
                <a:latin typeface="Calibri" panose="020F0502020204030204"/>
              </a:rPr>
              <a:t>Pod 1
Running</a:t>
            </a:r>
            <a:endParaRPr sz="1000" b="1" i="0">
              <a:solidFill>
                <a:srgbClr val="FFFFFF"/>
              </a:solidFill>
              <a:latin typeface="Calibri" panose="020F0502020204030204"/>
            </a:endParaRPr>
          </a:p>
        </p:txBody>
      </p:sp>
      <p:sp>
        <p:nvSpPr>
          <p:cNvPr id="10" name="Rectangle 9"/>
          <p:cNvSpPr/>
          <p:nvPr/>
        </p:nvSpPr>
        <p:spPr>
          <a:xfrm>
            <a:off x="2249424" y="2231136"/>
            <a:ext cx="1554480"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95144" y="2359152"/>
            <a:ext cx="1463039" cy="438912"/>
          </a:xfrm>
          <a:prstGeom prst="rect">
            <a:avLst/>
          </a:prstGeom>
          <a:noFill/>
        </p:spPr>
        <p:txBody>
          <a:bodyPr wrap="square">
            <a:spAutoFit/>
          </a:bodyPr>
          <a:lstStyle/>
          <a:p>
            <a:pPr algn="ctr">
              <a:buNone/>
            </a:pPr>
            <a:r>
              <a:rPr sz="1000" b="1" i="0">
                <a:solidFill>
                  <a:srgbClr val="FFFFFF"/>
                </a:solidFill>
                <a:latin typeface="Calibri" panose="020F0502020204030204"/>
              </a:rPr>
              <a:t>Pod 2
Running</a:t>
            </a:r>
            <a:endParaRPr sz="1000" b="1" i="0">
              <a:solidFill>
                <a:srgbClr val="FFFFFF"/>
              </a:solidFill>
              <a:latin typeface="Calibri" panose="020F0502020204030204"/>
            </a:endParaRPr>
          </a:p>
        </p:txBody>
      </p:sp>
      <p:sp>
        <p:nvSpPr>
          <p:cNvPr id="12" name="Rectangle 11"/>
          <p:cNvSpPr/>
          <p:nvPr/>
        </p:nvSpPr>
        <p:spPr>
          <a:xfrm>
            <a:off x="3950208" y="2231136"/>
            <a:ext cx="1554480"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995928" y="2359152"/>
            <a:ext cx="1463039" cy="438912"/>
          </a:xfrm>
          <a:prstGeom prst="rect">
            <a:avLst/>
          </a:prstGeom>
          <a:noFill/>
        </p:spPr>
        <p:txBody>
          <a:bodyPr wrap="square">
            <a:spAutoFit/>
          </a:bodyPr>
          <a:lstStyle/>
          <a:p>
            <a:pPr algn="ctr">
              <a:buNone/>
            </a:pPr>
            <a:r>
              <a:rPr sz="1000" b="1" i="0">
                <a:solidFill>
                  <a:srgbClr val="FFFFFF"/>
                </a:solidFill>
                <a:latin typeface="Calibri" panose="020F0502020204030204"/>
              </a:rPr>
              <a:t>Pod 3
Running</a:t>
            </a:r>
            <a:endParaRPr sz="1000" b="1" i="0">
              <a:solidFill>
                <a:srgbClr val="FFFFFF"/>
              </a:solidFill>
              <a:latin typeface="Calibri" panose="020F0502020204030204"/>
            </a:endParaRPr>
          </a:p>
        </p:txBody>
      </p:sp>
      <p:sp>
        <p:nvSpPr>
          <p:cNvPr id="14" name="TextBox 13"/>
          <p:cNvSpPr txBox="1"/>
          <p:nvPr/>
        </p:nvSpPr>
        <p:spPr>
          <a:xfrm>
            <a:off x="5285232" y="2450592"/>
            <a:ext cx="2194560" cy="329184"/>
          </a:xfrm>
          <a:prstGeom prst="rect">
            <a:avLst/>
          </a:prstGeom>
          <a:noFill/>
        </p:spPr>
        <p:txBody>
          <a:bodyPr wrap="square">
            <a:spAutoFit/>
          </a:bodyPr>
          <a:lstStyle/>
          <a:p>
            <a:pPr algn="ctr">
              <a:buNone/>
            </a:pPr>
            <a:r>
              <a:rPr sz="1200" b="0" i="1">
                <a:solidFill>
                  <a:srgbClr val="CC4444"/>
                </a:solidFill>
                <a:latin typeface="Calibri" panose="020F0502020204030204"/>
              </a:rPr>
              <a:t>→  Pod 2 crashes  →</a:t>
            </a:r>
            <a:endParaRPr sz="1200" b="0" i="1">
              <a:solidFill>
                <a:srgbClr val="CC4444"/>
              </a:solidFill>
              <a:latin typeface="Calibri" panose="020F0502020204030204"/>
            </a:endParaRPr>
          </a:p>
        </p:txBody>
      </p:sp>
      <p:sp>
        <p:nvSpPr>
          <p:cNvPr id="15" name="TextBox 14"/>
          <p:cNvSpPr txBox="1"/>
          <p:nvPr/>
        </p:nvSpPr>
        <p:spPr>
          <a:xfrm>
            <a:off x="7607808" y="1828800"/>
            <a:ext cx="4480560" cy="310896"/>
          </a:xfrm>
          <a:prstGeom prst="rect">
            <a:avLst/>
          </a:prstGeom>
          <a:noFill/>
        </p:spPr>
        <p:txBody>
          <a:bodyPr wrap="square">
            <a:spAutoFit/>
          </a:bodyPr>
          <a:lstStyle/>
          <a:p>
            <a:pPr algn="l">
              <a:buNone/>
            </a:pPr>
            <a:r>
              <a:rPr sz="1300" b="1" i="0">
                <a:solidFill>
                  <a:srgbClr val="0F172A"/>
                </a:solidFill>
                <a:latin typeface="Cambria" panose="02040503050406030204"/>
              </a:rPr>
              <a:t>DETECTED  (desired: 3 — actual: 2  → gap!)</a:t>
            </a:r>
            <a:endParaRPr sz="1300" b="1" i="0">
              <a:solidFill>
                <a:srgbClr val="0F172A"/>
              </a:solidFill>
              <a:latin typeface="Cambria" panose="02040503050406030204"/>
            </a:endParaRPr>
          </a:p>
        </p:txBody>
      </p:sp>
      <p:sp>
        <p:nvSpPr>
          <p:cNvPr id="16" name="Rectangle 15"/>
          <p:cNvSpPr/>
          <p:nvPr/>
        </p:nvSpPr>
        <p:spPr>
          <a:xfrm>
            <a:off x="7607808" y="2231136"/>
            <a:ext cx="1335024"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53527" y="2359152"/>
            <a:ext cx="1243584" cy="438912"/>
          </a:xfrm>
          <a:prstGeom prst="rect">
            <a:avLst/>
          </a:prstGeom>
          <a:noFill/>
        </p:spPr>
        <p:txBody>
          <a:bodyPr wrap="square">
            <a:spAutoFit/>
          </a:bodyPr>
          <a:lstStyle/>
          <a:p>
            <a:pPr algn="ctr">
              <a:buNone/>
            </a:pPr>
            <a:r>
              <a:rPr sz="1000" b="1" i="0">
                <a:solidFill>
                  <a:srgbClr val="FFFFFF"/>
                </a:solidFill>
                <a:latin typeface="Calibri" panose="020F0502020204030204"/>
              </a:rPr>
              <a:t>Pod 1
Running</a:t>
            </a:r>
            <a:endParaRPr sz="1000" b="1" i="0">
              <a:solidFill>
                <a:srgbClr val="FFFFFF"/>
              </a:solidFill>
              <a:latin typeface="Calibri" panose="020F0502020204030204"/>
            </a:endParaRPr>
          </a:p>
        </p:txBody>
      </p:sp>
      <p:sp>
        <p:nvSpPr>
          <p:cNvPr id="18" name="Rectangle 17"/>
          <p:cNvSpPr/>
          <p:nvPr/>
        </p:nvSpPr>
        <p:spPr>
          <a:xfrm>
            <a:off x="9034272" y="2231136"/>
            <a:ext cx="1335024" cy="731520"/>
          </a:xfrm>
          <a:prstGeom prst="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79992" y="2359152"/>
            <a:ext cx="1243584" cy="438912"/>
          </a:xfrm>
          <a:prstGeom prst="rect">
            <a:avLst/>
          </a:prstGeom>
          <a:noFill/>
        </p:spPr>
        <p:txBody>
          <a:bodyPr wrap="square">
            <a:spAutoFit/>
          </a:bodyPr>
          <a:lstStyle/>
          <a:p>
            <a:pPr algn="ctr">
              <a:buNone/>
            </a:pPr>
            <a:r>
              <a:rPr sz="1000" b="1" i="0">
                <a:solidFill>
                  <a:srgbClr val="FFFFFF"/>
                </a:solidFill>
                <a:latin typeface="Calibri" panose="020F0502020204030204"/>
              </a:rPr>
              <a:t>Pod 2
DEAD</a:t>
            </a:r>
            <a:endParaRPr sz="1000" b="1" i="0">
              <a:solidFill>
                <a:srgbClr val="FFFFFF"/>
              </a:solidFill>
              <a:latin typeface="Calibri" panose="020F0502020204030204"/>
            </a:endParaRPr>
          </a:p>
        </p:txBody>
      </p:sp>
      <p:sp>
        <p:nvSpPr>
          <p:cNvPr id="20" name="Rectangle 19"/>
          <p:cNvSpPr/>
          <p:nvPr/>
        </p:nvSpPr>
        <p:spPr>
          <a:xfrm>
            <a:off x="10460736" y="2231136"/>
            <a:ext cx="1335024"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506455" y="2359152"/>
            <a:ext cx="1243584" cy="438912"/>
          </a:xfrm>
          <a:prstGeom prst="rect">
            <a:avLst/>
          </a:prstGeom>
          <a:noFill/>
        </p:spPr>
        <p:txBody>
          <a:bodyPr wrap="square">
            <a:spAutoFit/>
          </a:bodyPr>
          <a:lstStyle/>
          <a:p>
            <a:pPr algn="ctr">
              <a:buNone/>
            </a:pPr>
            <a:r>
              <a:rPr sz="1000" b="1" i="0">
                <a:solidFill>
                  <a:srgbClr val="FFFFFF"/>
                </a:solidFill>
                <a:latin typeface="Calibri" panose="020F0502020204030204"/>
              </a:rPr>
              <a:t>Pod 3
Running</a:t>
            </a:r>
            <a:endParaRPr sz="1000" b="1" i="0">
              <a:solidFill>
                <a:srgbClr val="FFFFFF"/>
              </a:solidFill>
              <a:latin typeface="Calibri" panose="020F0502020204030204"/>
            </a:endParaRPr>
          </a:p>
        </p:txBody>
      </p:sp>
      <p:sp>
        <p:nvSpPr>
          <p:cNvPr id="22" name="Rectangle 21"/>
          <p:cNvSpPr/>
          <p:nvPr/>
        </p:nvSpPr>
        <p:spPr>
          <a:xfrm>
            <a:off x="4297680" y="3291840"/>
            <a:ext cx="3566160" cy="91440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43400" y="3337560"/>
            <a:ext cx="3474720" cy="329184"/>
          </a:xfrm>
          <a:prstGeom prst="rect">
            <a:avLst/>
          </a:prstGeom>
          <a:noFill/>
        </p:spPr>
        <p:txBody>
          <a:bodyPr wrap="square">
            <a:spAutoFit/>
          </a:bodyPr>
          <a:lstStyle/>
          <a:p>
            <a:pPr algn="ctr">
              <a:buNone/>
            </a:pPr>
            <a:r>
              <a:rPr sz="1300" b="1" i="0">
                <a:solidFill>
                  <a:srgbClr val="2496ED"/>
                </a:solidFill>
                <a:latin typeface="Cambria" panose="02040503050406030204"/>
              </a:rPr>
              <a:t>ReplicaSet Controller</a:t>
            </a:r>
            <a:endParaRPr sz="1300" b="1" i="0">
              <a:solidFill>
                <a:srgbClr val="2496ED"/>
              </a:solidFill>
              <a:latin typeface="Cambria" panose="02040503050406030204"/>
            </a:endParaRPr>
          </a:p>
        </p:txBody>
      </p:sp>
      <p:sp>
        <p:nvSpPr>
          <p:cNvPr id="24" name="TextBox 23"/>
          <p:cNvSpPr txBox="1"/>
          <p:nvPr/>
        </p:nvSpPr>
        <p:spPr>
          <a:xfrm>
            <a:off x="4343400" y="3675887"/>
            <a:ext cx="3474720" cy="402336"/>
          </a:xfrm>
          <a:prstGeom prst="rect">
            <a:avLst/>
          </a:prstGeom>
          <a:noFill/>
        </p:spPr>
        <p:txBody>
          <a:bodyPr wrap="square">
            <a:spAutoFit/>
          </a:bodyPr>
          <a:lstStyle/>
          <a:p>
            <a:pPr algn="ctr">
              <a:buNone/>
            </a:pPr>
            <a:r>
              <a:rPr sz="1000" b="0" i="0">
                <a:solidFill>
                  <a:srgbClr val="94A3B8"/>
                </a:solidFill>
                <a:latin typeface="Calibri" panose="020F0502020204030204"/>
              </a:rPr>
              <a:t>Watches pods  •  Detects gap  •  Creates replacement</a:t>
            </a:r>
            <a:endParaRPr sz="1000" b="0" i="0">
              <a:solidFill>
                <a:srgbClr val="94A3B8"/>
              </a:solidFill>
              <a:latin typeface="Calibri" panose="020F0502020204030204"/>
            </a:endParaRPr>
          </a:p>
        </p:txBody>
      </p:sp>
      <p:sp>
        <p:nvSpPr>
          <p:cNvPr id="25" name="TextBox 24"/>
          <p:cNvSpPr txBox="1"/>
          <p:nvPr/>
        </p:nvSpPr>
        <p:spPr>
          <a:xfrm>
            <a:off x="8778240" y="3063240"/>
            <a:ext cx="1645920" cy="237744"/>
          </a:xfrm>
          <a:prstGeom prst="rect">
            <a:avLst/>
          </a:prstGeom>
          <a:noFill/>
        </p:spPr>
        <p:txBody>
          <a:bodyPr wrap="square">
            <a:spAutoFit/>
          </a:bodyPr>
          <a:lstStyle/>
          <a:p>
            <a:pPr algn="ctr">
              <a:buNone/>
            </a:pPr>
            <a:r>
              <a:rPr sz="1000" b="0" i="0">
                <a:solidFill>
                  <a:srgbClr val="64748B"/>
                </a:solidFill>
                <a:latin typeface="Calibri" panose="020F0502020204030204"/>
              </a:rPr>
              <a:t>↑  detects crash</a:t>
            </a:r>
            <a:endParaRPr sz="1000" b="0" i="0">
              <a:solidFill>
                <a:srgbClr val="64748B"/>
              </a:solidFill>
              <a:latin typeface="Calibri" panose="020F0502020204030204"/>
            </a:endParaRPr>
          </a:p>
        </p:txBody>
      </p:sp>
      <p:sp>
        <p:nvSpPr>
          <p:cNvPr id="26" name="TextBox 25"/>
          <p:cNvSpPr txBox="1"/>
          <p:nvPr/>
        </p:nvSpPr>
        <p:spPr>
          <a:xfrm>
            <a:off x="4389120" y="4261104"/>
            <a:ext cx="3383280" cy="256032"/>
          </a:xfrm>
          <a:prstGeom prst="rect">
            <a:avLst/>
          </a:prstGeom>
          <a:noFill/>
        </p:spPr>
        <p:txBody>
          <a:bodyPr wrap="square">
            <a:spAutoFit/>
          </a:bodyPr>
          <a:lstStyle/>
          <a:p>
            <a:pPr algn="ctr">
              <a:buNone/>
            </a:pPr>
            <a:r>
              <a:rPr sz="1000" b="0" i="0">
                <a:solidFill>
                  <a:srgbClr val="2496ED"/>
                </a:solidFill>
                <a:latin typeface="Calibri" panose="020F0502020204030204"/>
              </a:rPr>
              <a:t>↓  creates replacement</a:t>
            </a:r>
            <a:endParaRPr sz="1000" b="0" i="0">
              <a:solidFill>
                <a:srgbClr val="2496ED"/>
              </a:solidFill>
              <a:latin typeface="Calibri" panose="020F0502020204030204"/>
            </a:endParaRPr>
          </a:p>
        </p:txBody>
      </p:sp>
      <p:sp>
        <p:nvSpPr>
          <p:cNvPr id="27" name="TextBox 26"/>
          <p:cNvSpPr txBox="1"/>
          <p:nvPr/>
        </p:nvSpPr>
        <p:spPr>
          <a:xfrm>
            <a:off x="548640" y="4645152"/>
            <a:ext cx="11064240" cy="310896"/>
          </a:xfrm>
          <a:prstGeom prst="rect">
            <a:avLst/>
          </a:prstGeom>
          <a:noFill/>
        </p:spPr>
        <p:txBody>
          <a:bodyPr wrap="square">
            <a:spAutoFit/>
          </a:bodyPr>
          <a:lstStyle/>
          <a:p>
            <a:pPr algn="l">
              <a:buNone/>
            </a:pPr>
            <a:r>
              <a:rPr sz="1300" b="1" i="0">
                <a:solidFill>
                  <a:srgbClr val="107854"/>
                </a:solidFill>
                <a:latin typeface="Cambria" panose="02040503050406030204"/>
              </a:rPr>
              <a:t>HEALED  (desired: 3 — actual: 3  — automatically!)</a:t>
            </a:r>
            <a:endParaRPr sz="1300" b="1" i="0">
              <a:solidFill>
                <a:srgbClr val="107854"/>
              </a:solidFill>
              <a:latin typeface="Cambria" panose="02040503050406030204"/>
            </a:endParaRPr>
          </a:p>
        </p:txBody>
      </p:sp>
      <p:sp>
        <p:nvSpPr>
          <p:cNvPr id="28" name="Rectangle 27"/>
          <p:cNvSpPr/>
          <p:nvPr/>
        </p:nvSpPr>
        <p:spPr>
          <a:xfrm>
            <a:off x="548640" y="5047488"/>
            <a:ext cx="3566160"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94360" y="5303520"/>
            <a:ext cx="3474720" cy="256032"/>
          </a:xfrm>
          <a:prstGeom prst="rect">
            <a:avLst/>
          </a:prstGeom>
          <a:noFill/>
        </p:spPr>
        <p:txBody>
          <a:bodyPr wrap="square">
            <a:spAutoFit/>
          </a:bodyPr>
          <a:lstStyle/>
          <a:p>
            <a:pPr algn="ctr">
              <a:buNone/>
            </a:pPr>
            <a:r>
              <a:rPr sz="1100" b="1" i="0">
                <a:solidFill>
                  <a:srgbClr val="FFFFFF"/>
                </a:solidFill>
                <a:latin typeface="Calibri" panose="020F0502020204030204"/>
              </a:rPr>
              <a:t>Pod 1   Running</a:t>
            </a:r>
            <a:endParaRPr sz="1100" b="1" i="0">
              <a:solidFill>
                <a:srgbClr val="FFFFFF"/>
              </a:solidFill>
              <a:latin typeface="Calibri" panose="020F0502020204030204"/>
            </a:endParaRPr>
          </a:p>
        </p:txBody>
      </p:sp>
      <p:sp>
        <p:nvSpPr>
          <p:cNvPr id="30" name="Rectangle 29"/>
          <p:cNvSpPr/>
          <p:nvPr/>
        </p:nvSpPr>
        <p:spPr>
          <a:xfrm>
            <a:off x="4389120" y="5047488"/>
            <a:ext cx="3566160" cy="73152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434840" y="5303520"/>
            <a:ext cx="3474720" cy="256032"/>
          </a:xfrm>
          <a:prstGeom prst="rect">
            <a:avLst/>
          </a:prstGeom>
          <a:noFill/>
        </p:spPr>
        <p:txBody>
          <a:bodyPr wrap="square">
            <a:spAutoFit/>
          </a:bodyPr>
          <a:lstStyle/>
          <a:p>
            <a:pPr algn="ctr">
              <a:buNone/>
            </a:pPr>
            <a:r>
              <a:rPr sz="1100" b="1" i="0">
                <a:solidFill>
                  <a:srgbClr val="FFFFFF"/>
                </a:solidFill>
                <a:latin typeface="Calibri" panose="020F0502020204030204"/>
              </a:rPr>
              <a:t>Pod 3   Running</a:t>
            </a:r>
            <a:endParaRPr sz="1100" b="1" i="0">
              <a:solidFill>
                <a:srgbClr val="FFFFFF"/>
              </a:solidFill>
              <a:latin typeface="Calibri" panose="020F0502020204030204"/>
            </a:endParaRPr>
          </a:p>
        </p:txBody>
      </p:sp>
      <p:sp>
        <p:nvSpPr>
          <p:cNvPr id="32" name="Rectangle 31"/>
          <p:cNvSpPr/>
          <p:nvPr/>
        </p:nvSpPr>
        <p:spPr>
          <a:xfrm>
            <a:off x="8229600" y="5047488"/>
            <a:ext cx="3566160" cy="731520"/>
          </a:xfrm>
          <a:prstGeom prst="rect">
            <a:avLst/>
          </a:prstGeom>
          <a:solidFill>
            <a:srgbClr val="276B5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75320" y="5303520"/>
            <a:ext cx="3474720" cy="256032"/>
          </a:xfrm>
          <a:prstGeom prst="rect">
            <a:avLst/>
          </a:prstGeom>
          <a:noFill/>
        </p:spPr>
        <p:txBody>
          <a:bodyPr wrap="square">
            <a:spAutoFit/>
          </a:bodyPr>
          <a:lstStyle/>
          <a:p>
            <a:pPr algn="ctr">
              <a:buNone/>
            </a:pPr>
            <a:r>
              <a:rPr sz="1100" b="1" i="0">
                <a:solidFill>
                  <a:srgbClr val="FFFFFF"/>
                </a:solidFill>
                <a:latin typeface="Calibri" panose="020F0502020204030204"/>
              </a:rPr>
              <a:t>Pod 4   Running  (new)</a:t>
            </a:r>
            <a:endParaRPr sz="1100" b="1" i="0">
              <a:solidFill>
                <a:srgbClr val="FFFFFF"/>
              </a:solidFill>
              <a:latin typeface="Calibri" panose="020F0502020204030204"/>
            </a:endParaRPr>
          </a:p>
        </p:txBody>
      </p:sp>
      <p:sp>
        <p:nvSpPr>
          <p:cNvPr id="34" name="TextBox 3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5" name="TextBox 3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6" name="TextBox 3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101</a:t>
            </a:r>
            <a:endParaRPr sz="900" b="0" i="0">
              <a:solidFill>
                <a:srgbClr val="718596"/>
              </a:solidFill>
              <a:latin typeface="Calibri" panose="020F05020202040302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15</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Deployments — Imperative &amp; Declarative</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https://killercoda.com/tertiary-labs/course/killercoda/day2-02-k8s-deployments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102</a:t>
            </a:r>
            <a:endParaRPr sz="900" b="0" i="0">
              <a:solidFill>
                <a:srgbClr val="718596"/>
              </a:solidFill>
              <a:latin typeface="Calibri" panose="020F0502020204030204"/>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15 — DEPLOYMENTS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Deployments — Imperative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and inspect:</a:t>
            </a:r>
            <a:endParaRPr sz="1600" b="1" i="0">
              <a:solidFill>
                <a:srgbClr val="0F172A"/>
              </a:solidFill>
              <a:latin typeface="Calibri" panose="020F0502020204030204"/>
            </a:endParaRPr>
          </a:p>
        </p:txBody>
      </p:sp>
      <p:sp>
        <p:nvSpPr>
          <p:cNvPr id="8" name="Rectangle 7"/>
          <p:cNvSpPr/>
          <p:nvPr/>
        </p:nvSpPr>
        <p:spPr>
          <a:xfrm>
            <a:off x="566928" y="189280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kubectl create deployment my-nginx --image=nginx
kubectl get deployments
kubectl get pods
kubectl describe deployment my-nginx</a:t>
            </a:r>
            <a:endParaRPr sz="900" b="0" i="0">
              <a:solidFill>
                <a:srgbClr val="FFFFFF"/>
              </a:solidFill>
              <a:latin typeface="Courier New" panose="02070309020205020404"/>
            </a:endParaRPr>
          </a:p>
        </p:txBody>
      </p:sp>
      <p:sp>
        <p:nvSpPr>
          <p:cNvPr id="12" name="TextBox 11"/>
          <p:cNvSpPr txBox="1"/>
          <p:nvPr/>
        </p:nvSpPr>
        <p:spPr>
          <a:xfrm>
            <a:off x="640080" y="29992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Scale and watch:</a:t>
            </a:r>
            <a:endParaRPr sz="1600" b="1" i="0">
              <a:solidFill>
                <a:srgbClr val="0F172A"/>
              </a:solidFill>
              <a:latin typeface="Calibri" panose="020F0502020204030204"/>
            </a:endParaRPr>
          </a:p>
        </p:txBody>
      </p:sp>
      <p:sp>
        <p:nvSpPr>
          <p:cNvPr id="13" name="Rectangle 12"/>
          <p:cNvSpPr/>
          <p:nvPr/>
        </p:nvSpPr>
        <p:spPr>
          <a:xfrm>
            <a:off x="566928" y="331927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31927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4670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36499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scale deployment my-nginx --replicas=3
kubectl get pods -w   # Ctrl+C when all Running</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Self-healing: delete a pod and watch it recreate:</a:t>
            </a:r>
            <a:endParaRPr sz="1600" b="1" i="0">
              <a:solidFill>
                <a:srgbClr val="0F172A"/>
              </a:solidFill>
              <a:latin typeface="Calibri" panose="020F0502020204030204"/>
            </a:endParaRPr>
          </a:p>
        </p:txBody>
      </p:sp>
      <p:sp>
        <p:nvSpPr>
          <p:cNvPr id="18" name="Rectangle 17"/>
          <p:cNvSpPr/>
          <p:nvPr/>
        </p:nvSpPr>
        <p:spPr>
          <a:xfrm>
            <a:off x="566928" y="433425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delete pod $(kubectl get pods -l app=my-nginx -o name | head -1 | cut -d/ -f2)
kubectl get pods</a:t>
            </a:r>
            <a:endParaRPr sz="900" b="0" i="0">
              <a:solidFill>
                <a:srgbClr val="FFFFFF"/>
              </a:solidFill>
              <a:latin typeface="Courier New" panose="02070309020205020404"/>
            </a:endParaRPr>
          </a:p>
        </p:txBody>
      </p:sp>
      <p:sp>
        <p:nvSpPr>
          <p:cNvPr id="22" name="TextBox 21"/>
          <p:cNvSpPr txBox="1"/>
          <p:nvPr/>
        </p:nvSpPr>
        <p:spPr>
          <a:xfrm>
            <a:off x="640080" y="50292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Scale down and clean up:</a:t>
            </a:r>
            <a:endParaRPr sz="1600" b="1" i="0">
              <a:solidFill>
                <a:srgbClr val="0F172A"/>
              </a:solidFill>
              <a:latin typeface="Calibri" panose="020F0502020204030204"/>
            </a:endParaRPr>
          </a:p>
        </p:txBody>
      </p:sp>
      <p:sp>
        <p:nvSpPr>
          <p:cNvPr id="23" name="Rectangle 22"/>
          <p:cNvSpPr/>
          <p:nvPr/>
        </p:nvSpPr>
        <p:spPr>
          <a:xfrm>
            <a:off x="566928" y="5349240"/>
            <a:ext cx="11119104" cy="457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5349240"/>
            <a:ext cx="256032" cy="45720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5376672"/>
            <a:ext cx="256032" cy="457200"/>
          </a:xfrm>
          <a:prstGeom prst="rect">
            <a:avLst/>
          </a:prstGeom>
          <a:noFill/>
        </p:spPr>
        <p:txBody>
          <a:bodyPr wrap="square">
            <a:spAutoFit/>
          </a:bodyPr>
          <a:lstStyle/>
          <a:p>
            <a:pPr algn="ctr">
              <a:buNone/>
            </a:pPr>
            <a:r>
              <a:rPr sz="1100" b="1" i="0">
                <a:solidFill>
                  <a:srgbClr val="FFFFFF"/>
                </a:solidFill>
                <a:latin typeface="Calibri" panose="020F0502020204030204"/>
              </a:rPr>
              <a:t>4</a:t>
            </a:r>
            <a:endParaRPr sz="1100" b="1" i="0">
              <a:solidFill>
                <a:srgbClr val="FFFFFF"/>
              </a:solidFill>
              <a:latin typeface="Calibri" panose="020F0502020204030204"/>
            </a:endParaRPr>
          </a:p>
        </p:txBody>
      </p:sp>
      <p:sp>
        <p:nvSpPr>
          <p:cNvPr id="26" name="TextBox 25"/>
          <p:cNvSpPr txBox="1"/>
          <p:nvPr/>
        </p:nvSpPr>
        <p:spPr>
          <a:xfrm>
            <a:off x="841248" y="5394960"/>
            <a:ext cx="10771632" cy="457200"/>
          </a:xfrm>
          <a:prstGeom prst="rect">
            <a:avLst/>
          </a:prstGeom>
          <a:noFill/>
        </p:spPr>
        <p:txBody>
          <a:bodyPr wrap="square">
            <a:spAutoFit/>
          </a:bodyPr>
          <a:lstStyle/>
          <a:p>
            <a:pPr algn="l">
              <a:buNone/>
            </a:pPr>
            <a:r>
              <a:rPr sz="900" b="0" i="0">
                <a:solidFill>
                  <a:srgbClr val="FFFFFF"/>
                </a:solidFill>
                <a:latin typeface="Courier New" panose="02070309020205020404"/>
              </a:rPr>
              <a:t>kubectl scale deployment my-nginx --replicas=1
kubectl delete deployment my-nginx</a:t>
            </a:r>
            <a:endParaRPr sz="900" b="0" i="0">
              <a:solidFill>
                <a:srgbClr val="FFFFFF"/>
              </a:solidFill>
              <a:latin typeface="Courier New" panose="02070309020205020404"/>
            </a:endParaRPr>
          </a:p>
        </p:txBody>
      </p:sp>
      <p:sp>
        <p:nvSpPr>
          <p:cNvPr id="27" name="TextBox 2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https://killercoda.com/tertiary-labs/course/killercoda/day2-02-k8s-deployments</a:t>
            </a:r>
            <a:endParaRPr sz="1100" b="0" i="1">
              <a:solidFill>
                <a:srgbClr val="2496ED"/>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103</a:t>
            </a:r>
            <a:endParaRPr sz="900" b="0" i="0">
              <a:solidFill>
                <a:srgbClr val="718596"/>
              </a:solidFill>
              <a:latin typeface="Calibri" panose="020F0502020204030204"/>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15 — DEPLOYMENTS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Deployments — Declarative YAML</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deployment.yaml</a:t>
            </a:r>
            <a:endParaRPr sz="1600" b="1" i="0">
              <a:solidFill>
                <a:srgbClr val="0F172A"/>
              </a:solidFill>
              <a:latin typeface="Calibri" panose="020F0502020204030204"/>
            </a:endParaRPr>
          </a:p>
        </p:txBody>
      </p:sp>
      <p:sp>
        <p:nvSpPr>
          <p:cNvPr id="8" name="Rectangle 7"/>
          <p:cNvSpPr/>
          <p:nvPr/>
        </p:nvSpPr>
        <p:spPr>
          <a:xfrm>
            <a:off x="566928" y="1892808"/>
            <a:ext cx="11119104" cy="391363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391363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3913632"/>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3913632"/>
          </a:xfrm>
          <a:prstGeom prst="rect">
            <a:avLst/>
          </a:prstGeom>
          <a:noFill/>
        </p:spPr>
        <p:txBody>
          <a:bodyPr wrap="square">
            <a:spAutoFit/>
          </a:bodyPr>
          <a:lstStyle/>
          <a:p>
            <a:pPr algn="l">
              <a:buNone/>
            </a:pPr>
            <a:r>
              <a:rPr sz="900" b="0" i="0">
                <a:solidFill>
                  <a:srgbClr val="FFFFFF"/>
                </a:solidFill>
                <a:latin typeface="Courier New" panose="02070309020205020404"/>
              </a:rPr>
              <a:t>apiVersion: apps/v1
kind: Deployment
metadata:
  name: my-app
spec:
  replicas: 3
  selector:
    matchLabels:
      app: my-app
  template:
    metadata:
      labels:
        app: my-app
    spec:
      containers:
        - name: nginx
          image: nginx
          ports:
            - containerPort: 80</a:t>
            </a:r>
            <a:endParaRPr sz="900" b="0" i="0">
              <a:solidFill>
                <a:srgbClr val="FFFFFF"/>
              </a:solidFill>
              <a:latin typeface="Courier New" panose="02070309020205020404"/>
            </a:endParaRPr>
          </a:p>
        </p:txBody>
      </p:sp>
      <p:sp>
        <p:nvSpPr>
          <p:cNvPr id="12" name="TextBox 11"/>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https://killercoda.com/tertiary-labs/course/killercoda/day2-02-k8s-deployments</a:t>
            </a:r>
            <a:endParaRPr sz="1100" b="0" i="1">
              <a:solidFill>
                <a:srgbClr val="2496ED"/>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104</a:t>
            </a:r>
            <a:endParaRPr sz="900" b="0" i="0">
              <a:solidFill>
                <a:srgbClr val="718596"/>
              </a:solidFill>
              <a:latin typeface="Calibri" panose="020F0502020204030204"/>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7ED"/>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KNOWLEDGE CHECK  1</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Quick Review — K8s Basics, Pods &amp; Deployments</a:t>
            </a:r>
            <a:endParaRPr sz="3000" b="1" i="0">
              <a:solidFill>
                <a:srgbClr val="0F172A"/>
              </a:solidFill>
              <a:latin typeface="Cambria" panose="02040503050406030204"/>
            </a:endParaRPr>
          </a:p>
        </p:txBody>
      </p:sp>
      <p:sp>
        <p:nvSpPr>
          <p:cNvPr id="4" name="TextBox 3"/>
          <p:cNvSpPr txBox="1"/>
          <p:nvPr/>
        </p:nvSpPr>
        <p:spPr>
          <a:xfrm>
            <a:off x="640080" y="16459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Q1.  Which control plane component is responsible for assigning Pods to nodes?</a:t>
            </a:r>
            <a:endParaRPr sz="1600" b="1" i="0">
              <a:solidFill>
                <a:srgbClr val="0F172A"/>
              </a:solidFill>
              <a:latin typeface="Calibri" panose="020F0502020204030204"/>
            </a:endParaRPr>
          </a:p>
        </p:txBody>
      </p:sp>
      <p:sp>
        <p:nvSpPr>
          <p:cNvPr id="5" name="Rectangle 4"/>
          <p:cNvSpPr/>
          <p:nvPr/>
        </p:nvSpPr>
        <p:spPr>
          <a:xfrm>
            <a:off x="566928" y="196596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1168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API Server     B) etcd     C) Scheduler     D) Controller Manager</a:t>
            </a:r>
            <a:endParaRPr sz="900" b="0" i="0">
              <a:solidFill>
                <a:srgbClr val="0F172A"/>
              </a:solidFill>
              <a:latin typeface="Courier New" panose="02070309020205020404"/>
            </a:endParaRPr>
          </a:p>
        </p:txBody>
      </p:sp>
      <p:sp>
        <p:nvSpPr>
          <p:cNvPr id="7" name="TextBox 6"/>
          <p:cNvSpPr txBox="1"/>
          <p:nvPr/>
        </p:nvSpPr>
        <p:spPr>
          <a:xfrm>
            <a:off x="640080" y="26563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Q2.  What is the difference between a Pod and a Deployment?</a:t>
            </a:r>
            <a:endParaRPr sz="1600" b="1" i="0">
              <a:solidFill>
                <a:srgbClr val="0F172A"/>
              </a:solidFill>
              <a:latin typeface="Calibri" panose="020F0502020204030204"/>
            </a:endParaRPr>
          </a:p>
        </p:txBody>
      </p:sp>
      <p:sp>
        <p:nvSpPr>
          <p:cNvPr id="8" name="TextBox 7"/>
          <p:cNvSpPr txBox="1"/>
          <p:nvPr/>
        </p:nvSpPr>
        <p:spPr>
          <a:xfrm>
            <a:off x="640080" y="32232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Q3.  True / False:  kubectl apply -f is safe to run multiple times on the same file.</a:t>
            </a:r>
            <a:endParaRPr sz="1600" b="1" i="0">
              <a:solidFill>
                <a:srgbClr val="0F172A"/>
              </a:solidFill>
              <a:latin typeface="Calibri" panose="020F0502020204030204"/>
            </a:endParaRPr>
          </a:p>
        </p:txBody>
      </p:sp>
      <p:sp>
        <p:nvSpPr>
          <p:cNvPr id="9" name="TextBox 8"/>
          <p:cNvSpPr txBox="1"/>
          <p:nvPr/>
        </p:nvSpPr>
        <p:spPr>
          <a:xfrm>
            <a:off x="640080" y="37901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Q4.  Which command shows pods in ALL namespaces?</a:t>
            </a:r>
            <a:endParaRPr sz="1600" b="1" i="0">
              <a:solidFill>
                <a:srgbClr val="0F172A"/>
              </a:solidFill>
              <a:latin typeface="Calibri" panose="020F0502020204030204"/>
            </a:endParaRPr>
          </a:p>
        </p:txBody>
      </p:sp>
      <p:sp>
        <p:nvSpPr>
          <p:cNvPr id="10" name="Rectangle 9"/>
          <p:cNvSpPr/>
          <p:nvPr/>
        </p:nvSpPr>
        <p:spPr>
          <a:xfrm>
            <a:off x="566928" y="411022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5594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kubectl get pods -n all     B) kubectl get pods --all-namespaces     C) kubectl get all pods</a:t>
            </a:r>
            <a:endParaRPr sz="900" b="0" i="0">
              <a:solidFill>
                <a:srgbClr val="0F172A"/>
              </a:solidFill>
              <a:latin typeface="Courier New" panose="02070309020205020404"/>
            </a:endParaRPr>
          </a:p>
        </p:txBody>
      </p:sp>
      <p:sp>
        <p:nvSpPr>
          <p:cNvPr id="12" name="TextBox 11"/>
          <p:cNvSpPr txBox="1"/>
          <p:nvPr/>
        </p:nvSpPr>
        <p:spPr>
          <a:xfrm>
            <a:off x="640080" y="48006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Q5.  What happens when you delete a namespace?</a:t>
            </a:r>
            <a:endParaRPr sz="1600" b="1"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105</a:t>
            </a:r>
            <a:endParaRPr sz="900" b="0" i="0">
              <a:solidFill>
                <a:srgbClr val="718596"/>
              </a:solidFill>
              <a:latin typeface="Calibri" panose="020F0502020204030204"/>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4</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Rolling Updates &amp; Rollbacks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 16 — Zero-downtime updates and instant revert</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Rolling vs Recreate</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How rolling update works</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16a: Update image</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16b: Rollback</a:t>
            </a:r>
            <a:endParaRPr sz="1800" b="0" i="0">
              <a:solidFill>
                <a:srgbClr val="CBD5E1"/>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106</a:t>
            </a:r>
            <a:endParaRPr sz="900" b="0" i="0">
              <a:solidFill>
                <a:srgbClr val="718596"/>
              </a:solidFill>
              <a:latin typeface="Calibri" panose="020F0502020204030204"/>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ROLLOUTS — STRATEGIES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Update Strategies</a:t>
            </a:r>
            <a:endParaRPr sz="2600" b="1" i="0">
              <a:solidFill>
                <a:srgbClr val="FFFFFF"/>
              </a:solidFill>
              <a:latin typeface="Cambria" panose="02040503050406030204"/>
            </a:endParaRPr>
          </a:p>
        </p:txBody>
      </p:sp>
      <p:sp>
        <p:nvSpPr>
          <p:cNvPr id="7" name="Rectangle 6"/>
          <p:cNvSpPr/>
          <p:nvPr/>
        </p:nvSpPr>
        <p:spPr>
          <a:xfrm>
            <a:off x="6089904" y="1572768"/>
            <a:ext cx="27432" cy="438912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2643"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Rolling Update  (default)</a:t>
            </a:r>
            <a:endParaRPr sz="1800" b="1" i="0">
              <a:solidFill>
                <a:srgbClr val="0F172A"/>
              </a:solidFill>
              <a:latin typeface="Cambria" panose="02040503050406030204"/>
            </a:endParaRPr>
          </a:p>
        </p:txBody>
      </p:sp>
      <p:sp>
        <p:nvSpPr>
          <p:cNvPr id="9" name="TextBox 8"/>
          <p:cNvSpPr txBox="1"/>
          <p:nvPr/>
        </p:nvSpPr>
        <p:spPr>
          <a:xfrm>
            <a:off x="572643"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Replace Pods gradually</a:t>
            </a:r>
            <a:endParaRPr sz="1600" b="0" i="0">
              <a:solidFill>
                <a:srgbClr val="0F172A"/>
              </a:solidFill>
              <a:latin typeface="Calibri" panose="020F0502020204030204"/>
            </a:endParaRPr>
          </a:p>
        </p:txBody>
      </p:sp>
      <p:sp>
        <p:nvSpPr>
          <p:cNvPr id="10" name="TextBox 9"/>
          <p:cNvSpPr txBox="1"/>
          <p:nvPr/>
        </p:nvSpPr>
        <p:spPr>
          <a:xfrm>
            <a:off x="572643"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Old and new run simultaneously</a:t>
            </a:r>
            <a:endParaRPr sz="1600" b="0" i="0">
              <a:solidFill>
                <a:srgbClr val="0F172A"/>
              </a:solidFill>
              <a:latin typeface="Calibri" panose="020F0502020204030204"/>
            </a:endParaRPr>
          </a:p>
        </p:txBody>
      </p:sp>
      <p:sp>
        <p:nvSpPr>
          <p:cNvPr id="11" name="TextBox 10"/>
          <p:cNvSpPr txBox="1"/>
          <p:nvPr/>
        </p:nvSpPr>
        <p:spPr>
          <a:xfrm>
            <a:off x="572643"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Zero downtime</a:t>
            </a:r>
            <a:endParaRPr sz="1600" b="0" i="0">
              <a:solidFill>
                <a:srgbClr val="0F172A"/>
              </a:solidFill>
              <a:latin typeface="Calibri" panose="020F0502020204030204"/>
            </a:endParaRPr>
          </a:p>
        </p:txBody>
      </p:sp>
      <p:sp>
        <p:nvSpPr>
          <p:cNvPr id="12" name="TextBox 11"/>
          <p:cNvSpPr txBox="1"/>
          <p:nvPr/>
        </p:nvSpPr>
        <p:spPr>
          <a:xfrm>
            <a:off x="572643"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Slower — controlled pace</a:t>
            </a:r>
            <a:endParaRPr sz="1600" b="0" i="0">
              <a:solidFill>
                <a:srgbClr val="0F172A"/>
              </a:solidFill>
              <a:latin typeface="Calibri" panose="020F0502020204030204"/>
            </a:endParaRPr>
          </a:p>
        </p:txBody>
      </p:sp>
      <p:sp>
        <p:nvSpPr>
          <p:cNvPr id="13" name="Rectangle 12"/>
          <p:cNvSpPr/>
          <p:nvPr/>
        </p:nvSpPr>
        <p:spPr>
          <a:xfrm>
            <a:off x="128016" y="3630168"/>
            <a:ext cx="5449824" cy="96926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0743" y="3675888"/>
            <a:ext cx="5303520" cy="969264"/>
          </a:xfrm>
          <a:prstGeom prst="rect">
            <a:avLst/>
          </a:prstGeom>
          <a:noFill/>
        </p:spPr>
        <p:txBody>
          <a:bodyPr wrap="square">
            <a:spAutoFit/>
          </a:bodyPr>
          <a:lstStyle/>
          <a:p>
            <a:pPr algn="l">
              <a:buNone/>
            </a:pPr>
            <a:r>
              <a:rPr sz="900" b="0" i="0">
                <a:solidFill>
                  <a:srgbClr val="0F172A"/>
                </a:solidFill>
                <a:latin typeface="Courier New" panose="02070309020205020404"/>
              </a:rPr>
              <a:t>strategy:
  type: RollingUpdate
  maxSurge: 1
  maxUnavailable: 0</a:t>
            </a:r>
            <a:endParaRPr sz="900" b="0" i="0">
              <a:solidFill>
                <a:srgbClr val="0F172A"/>
              </a:solidFill>
              <a:latin typeface="Courier New" panose="02070309020205020404"/>
            </a:endParaRPr>
          </a:p>
        </p:txBody>
      </p:sp>
      <p:sp>
        <p:nvSpPr>
          <p:cNvPr id="15" name="TextBox 14"/>
          <p:cNvSpPr txBox="1"/>
          <p:nvPr/>
        </p:nvSpPr>
        <p:spPr>
          <a:xfrm>
            <a:off x="6309360" y="1572768"/>
            <a:ext cx="5303520" cy="411480"/>
          </a:xfrm>
          <a:prstGeom prst="rect">
            <a:avLst/>
          </a:prstGeom>
          <a:noFill/>
        </p:spPr>
        <p:txBody>
          <a:bodyPr wrap="square">
            <a:spAutoFit/>
          </a:bodyPr>
          <a:lstStyle/>
          <a:p>
            <a:pPr algn="l">
              <a:buNone/>
            </a:pPr>
            <a:r>
              <a:rPr sz="1800" b="1" i="0">
                <a:solidFill>
                  <a:srgbClr val="0F172A"/>
                </a:solidFill>
                <a:latin typeface="Cambria" panose="02040503050406030204"/>
              </a:rPr>
              <a:t>Recreate</a:t>
            </a:r>
            <a:endParaRPr sz="1800" b="1" i="0">
              <a:solidFill>
                <a:srgbClr val="0F172A"/>
              </a:solidFill>
              <a:latin typeface="Cambria" panose="02040503050406030204"/>
            </a:endParaRPr>
          </a:p>
        </p:txBody>
      </p:sp>
      <p:sp>
        <p:nvSpPr>
          <p:cNvPr id="16" name="TextBox 15"/>
          <p:cNvSpPr txBox="1"/>
          <p:nvPr/>
        </p:nvSpPr>
        <p:spPr>
          <a:xfrm>
            <a:off x="6309360" y="201168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Stop all old Pods first</a:t>
            </a:r>
            <a:endParaRPr sz="1600" b="0" i="0">
              <a:solidFill>
                <a:srgbClr val="0F172A"/>
              </a:solidFill>
              <a:latin typeface="Calibri" panose="020F0502020204030204"/>
            </a:endParaRPr>
          </a:p>
        </p:txBody>
      </p:sp>
      <p:sp>
        <p:nvSpPr>
          <p:cNvPr id="17" name="TextBox 16"/>
          <p:cNvSpPr txBox="1"/>
          <p:nvPr/>
        </p:nvSpPr>
        <p:spPr>
          <a:xfrm>
            <a:off x="6309360" y="237744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Then start new Pods</a:t>
            </a:r>
            <a:endParaRPr sz="1600" b="0" i="0">
              <a:solidFill>
                <a:srgbClr val="0F172A"/>
              </a:solidFill>
              <a:latin typeface="Calibri" panose="020F0502020204030204"/>
            </a:endParaRPr>
          </a:p>
        </p:txBody>
      </p:sp>
      <p:sp>
        <p:nvSpPr>
          <p:cNvPr id="18" name="TextBox 17"/>
          <p:cNvSpPr txBox="1"/>
          <p:nvPr/>
        </p:nvSpPr>
        <p:spPr>
          <a:xfrm>
            <a:off x="6309360" y="274320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Brief downtime</a:t>
            </a:r>
            <a:endParaRPr sz="1600" b="0" i="0">
              <a:solidFill>
                <a:srgbClr val="0F172A"/>
              </a:solidFill>
              <a:latin typeface="Calibri" panose="020F0502020204030204"/>
            </a:endParaRPr>
          </a:p>
        </p:txBody>
      </p:sp>
      <p:sp>
        <p:nvSpPr>
          <p:cNvPr id="19" name="TextBox 18"/>
          <p:cNvSpPr txBox="1"/>
          <p:nvPr/>
        </p:nvSpPr>
        <p:spPr>
          <a:xfrm>
            <a:off x="6309360" y="3108960"/>
            <a:ext cx="5303520" cy="365760"/>
          </a:xfrm>
          <a:prstGeom prst="rect">
            <a:avLst/>
          </a:prstGeom>
          <a:noFill/>
        </p:spPr>
        <p:txBody>
          <a:bodyPr wrap="square">
            <a:spAutoFit/>
          </a:bodyPr>
          <a:lstStyle/>
          <a:p>
            <a:pPr algn="l">
              <a:buNone/>
            </a:pPr>
            <a:r>
              <a:rPr sz="1600" b="0" i="0">
                <a:solidFill>
                  <a:srgbClr val="0F172A"/>
                </a:solidFill>
                <a:latin typeface="Calibri" panose="020F0502020204030204"/>
              </a:rPr>
              <a:t>Faster — all-or-nothing</a:t>
            </a:r>
            <a:endParaRPr sz="1600" b="0" i="0">
              <a:solidFill>
                <a:srgbClr val="0F172A"/>
              </a:solidFill>
              <a:latin typeface="Calibri" panose="020F0502020204030204"/>
            </a:endParaRPr>
          </a:p>
        </p:txBody>
      </p:sp>
      <p:sp>
        <p:nvSpPr>
          <p:cNvPr id="20" name="Rectangle 19"/>
          <p:cNvSpPr/>
          <p:nvPr/>
        </p:nvSpPr>
        <p:spPr>
          <a:xfrm>
            <a:off x="6236208" y="3630168"/>
            <a:ext cx="544982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3675888"/>
            <a:ext cx="5303520" cy="557784"/>
          </a:xfrm>
          <a:prstGeom prst="rect">
            <a:avLst/>
          </a:prstGeom>
          <a:noFill/>
        </p:spPr>
        <p:txBody>
          <a:bodyPr wrap="square">
            <a:spAutoFit/>
          </a:bodyPr>
          <a:lstStyle/>
          <a:p>
            <a:pPr algn="l">
              <a:buNone/>
            </a:pPr>
            <a:r>
              <a:rPr sz="900" b="0" i="0">
                <a:solidFill>
                  <a:srgbClr val="0F172A"/>
                </a:solidFill>
                <a:latin typeface="Courier New" panose="02070309020205020404"/>
              </a:rPr>
              <a:t>strategy:
  type: Recreate</a:t>
            </a:r>
            <a:endParaRPr sz="900" b="0" i="0">
              <a:solidFill>
                <a:srgbClr val="0F172A"/>
              </a:solidFill>
              <a:latin typeface="Courier New" panose="02070309020205020404"/>
            </a:endParaRPr>
          </a:p>
        </p:txBody>
      </p:sp>
      <p:sp>
        <p:nvSpPr>
          <p:cNvPr id="22" name="TextBox 2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3" name="TextBox 2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4" name="TextBox 2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107</a:t>
            </a:r>
            <a:endParaRPr sz="900" b="0" i="0">
              <a:solidFill>
                <a:srgbClr val="718596"/>
              </a:solidFill>
              <a:latin typeface="Calibri" panose="020F0502020204030204"/>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ROLLOUTS — MECHANISM</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How Rolling Updates Work</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When you update the image in a Deployment, K8s creates a new ReplicaSet and gradually shifts Pods from the old RS to the new one.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Step-by-step:</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1.  New ReplicaSet created with 0 replicas</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2.  Scale new RS up by 1, scale old RS down by 1</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3.  Repeat until new RS = desired count, old RS = 0</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Track live progress:</a:t>
            </a:r>
            <a:endParaRPr sz="1600" b="1" i="0">
              <a:solidFill>
                <a:srgbClr val="0F172A"/>
              </a:solidFill>
              <a:latin typeface="Calibri" panose="020F0502020204030204"/>
            </a:endParaRPr>
          </a:p>
        </p:txBody>
      </p:sp>
      <p:sp>
        <p:nvSpPr>
          <p:cNvPr id="13" name="Rectangle 12"/>
          <p:cNvSpPr/>
          <p:nvPr/>
        </p:nvSpPr>
        <p:spPr>
          <a:xfrm>
            <a:off x="566928" y="4123944"/>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169664"/>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kubectl rollout status deployment my-nginx</a:t>
            </a:r>
            <a:endParaRPr sz="900" b="0" i="0">
              <a:solidFill>
                <a:srgbClr val="0F172A"/>
              </a:solidFill>
              <a:latin typeface="Courier New" panose="02070309020205020404"/>
            </a:endParaRPr>
          </a:p>
        </p:txBody>
      </p:sp>
      <p:sp>
        <p:nvSpPr>
          <p:cNvPr id="15" name="TextBox 14"/>
          <p:cNvSpPr txBox="1"/>
          <p:nvPr/>
        </p:nvSpPr>
        <p:spPr>
          <a:xfrm>
            <a:off x="640080" y="481431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K8s keeps old ReplicaSets as rollback history. Default: 10 revisions kept.</a:t>
            </a:r>
            <a:endParaRPr sz="1400" b="0" i="1">
              <a:solidFill>
                <a:srgbClr val="2496ED"/>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108</a:t>
            </a:r>
            <a:endParaRPr sz="900" b="0" i="0">
              <a:solidFill>
                <a:srgbClr val="718596"/>
              </a:solidFill>
              <a:latin typeface="Calibri" panose="020F0502020204030204"/>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ROLLOUTS — MECHANISM</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Rolling Update — Step by Step</a:t>
            </a:r>
            <a:endParaRPr sz="2600" b="1" i="0">
              <a:solidFill>
                <a:srgbClr val="FFFFFF"/>
              </a:solidFill>
              <a:latin typeface="Cambria" panose="02040503050406030204"/>
            </a:endParaRPr>
          </a:p>
        </p:txBody>
      </p:sp>
      <p:sp>
        <p:nvSpPr>
          <p:cNvPr id="7" name="TextBox 6"/>
          <p:cNvSpPr txBox="1"/>
          <p:nvPr/>
        </p:nvSpPr>
        <p:spPr>
          <a:xfrm>
            <a:off x="502920" y="1737360"/>
            <a:ext cx="2651760" cy="475488"/>
          </a:xfrm>
          <a:prstGeom prst="rect">
            <a:avLst/>
          </a:prstGeom>
          <a:noFill/>
        </p:spPr>
        <p:txBody>
          <a:bodyPr wrap="square">
            <a:spAutoFit/>
          </a:bodyPr>
          <a:lstStyle/>
          <a:p>
            <a:pPr algn="l">
              <a:buNone/>
            </a:pPr>
            <a:r>
              <a:rPr sz="1100" b="1" i="0">
                <a:solidFill>
                  <a:srgbClr val="0F172A"/>
                </a:solidFill>
                <a:latin typeface="Calibri" panose="020F0502020204030204"/>
              </a:rPr>
              <a:t>Start
(all v1)</a:t>
            </a:r>
            <a:endParaRPr sz="1100" b="1" i="0">
              <a:solidFill>
                <a:srgbClr val="0F172A"/>
              </a:solidFill>
              <a:latin typeface="Calibri" panose="020F0502020204030204"/>
            </a:endParaRPr>
          </a:p>
        </p:txBody>
      </p:sp>
      <p:sp>
        <p:nvSpPr>
          <p:cNvPr id="8" name="TextBox 7"/>
          <p:cNvSpPr txBox="1"/>
          <p:nvPr/>
        </p:nvSpPr>
        <p:spPr>
          <a:xfrm>
            <a:off x="502920" y="2304288"/>
            <a:ext cx="2560320" cy="237744"/>
          </a:xfrm>
          <a:prstGeom prst="rect">
            <a:avLst/>
          </a:prstGeom>
          <a:noFill/>
        </p:spPr>
        <p:txBody>
          <a:bodyPr wrap="square">
            <a:spAutoFit/>
          </a:bodyPr>
          <a:lstStyle/>
          <a:p>
            <a:pPr algn="l">
              <a:buNone/>
            </a:pPr>
            <a:r>
              <a:rPr sz="900" b="0" i="0">
                <a:solidFill>
                  <a:srgbClr val="8A867D"/>
                </a:solidFill>
                <a:latin typeface="Calibri" panose="020F0502020204030204"/>
              </a:rPr>
              <a:t>Old RS (v1) ×3</a:t>
            </a:r>
            <a:endParaRPr sz="900" b="0" i="0">
              <a:solidFill>
                <a:srgbClr val="8A867D"/>
              </a:solidFill>
              <a:latin typeface="Calibri" panose="020F0502020204030204"/>
            </a:endParaRPr>
          </a:p>
        </p:txBody>
      </p:sp>
      <p:sp>
        <p:nvSpPr>
          <p:cNvPr id="9" name="Rectangle 8"/>
          <p:cNvSpPr/>
          <p:nvPr/>
        </p:nvSpPr>
        <p:spPr>
          <a:xfrm>
            <a:off x="502920"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11" name="Rectangle 10"/>
          <p:cNvSpPr/>
          <p:nvPr/>
        </p:nvSpPr>
        <p:spPr>
          <a:xfrm>
            <a:off x="1344168"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344168"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13" name="Rectangle 12"/>
          <p:cNvSpPr/>
          <p:nvPr/>
        </p:nvSpPr>
        <p:spPr>
          <a:xfrm>
            <a:off x="2185416"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185416"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15" name="TextBox 14"/>
          <p:cNvSpPr txBox="1"/>
          <p:nvPr/>
        </p:nvSpPr>
        <p:spPr>
          <a:xfrm>
            <a:off x="502920" y="3236976"/>
            <a:ext cx="2560320" cy="237744"/>
          </a:xfrm>
          <a:prstGeom prst="rect">
            <a:avLst/>
          </a:prstGeom>
          <a:noFill/>
        </p:spPr>
        <p:txBody>
          <a:bodyPr wrap="square">
            <a:spAutoFit/>
          </a:bodyPr>
          <a:lstStyle/>
          <a:p>
            <a:pPr algn="l">
              <a:buNone/>
            </a:pPr>
            <a:r>
              <a:rPr sz="900" b="0" i="0">
                <a:solidFill>
                  <a:srgbClr val="107854"/>
                </a:solidFill>
                <a:latin typeface="Calibri" panose="020F0502020204030204"/>
              </a:rPr>
              <a:t>New RS (v2) ×0</a:t>
            </a:r>
            <a:endParaRPr sz="900" b="0" i="0">
              <a:solidFill>
                <a:srgbClr val="107854"/>
              </a:solidFill>
              <a:latin typeface="Calibri" panose="020F0502020204030204"/>
            </a:endParaRPr>
          </a:p>
        </p:txBody>
      </p:sp>
      <p:sp>
        <p:nvSpPr>
          <p:cNvPr id="16" name="TextBox 15"/>
          <p:cNvSpPr txBox="1"/>
          <p:nvPr/>
        </p:nvSpPr>
        <p:spPr>
          <a:xfrm>
            <a:off x="3227832" y="2834640"/>
            <a:ext cx="365760" cy="365760"/>
          </a:xfrm>
          <a:prstGeom prst="rect">
            <a:avLst/>
          </a:prstGeom>
          <a:noFill/>
        </p:spPr>
        <p:txBody>
          <a:bodyPr wrap="square">
            <a:spAutoFit/>
          </a:bodyPr>
          <a:lstStyle/>
          <a:p>
            <a:pPr algn="ctr">
              <a:buNone/>
            </a:pPr>
            <a:r>
              <a:rPr sz="2200" b="1" i="0">
                <a:solidFill>
                  <a:srgbClr val="2496ED"/>
                </a:solidFill>
                <a:latin typeface="Calibri" panose="020F0502020204030204"/>
              </a:rPr>
              <a:t>→</a:t>
            </a:r>
            <a:endParaRPr sz="2200" b="1" i="0">
              <a:solidFill>
                <a:srgbClr val="2496ED"/>
              </a:solidFill>
              <a:latin typeface="Calibri" panose="020F0502020204030204"/>
            </a:endParaRPr>
          </a:p>
        </p:txBody>
      </p:sp>
      <p:sp>
        <p:nvSpPr>
          <p:cNvPr id="17" name="TextBox 16"/>
          <p:cNvSpPr txBox="1"/>
          <p:nvPr/>
        </p:nvSpPr>
        <p:spPr>
          <a:xfrm>
            <a:off x="3410712" y="1737360"/>
            <a:ext cx="2651760" cy="475488"/>
          </a:xfrm>
          <a:prstGeom prst="rect">
            <a:avLst/>
          </a:prstGeom>
          <a:noFill/>
        </p:spPr>
        <p:txBody>
          <a:bodyPr wrap="square">
            <a:spAutoFit/>
          </a:bodyPr>
          <a:lstStyle/>
          <a:p>
            <a:pPr algn="l">
              <a:buNone/>
            </a:pPr>
            <a:r>
              <a:rPr sz="1100" b="1" i="0">
                <a:solidFill>
                  <a:srgbClr val="0F172A"/>
                </a:solidFill>
                <a:latin typeface="Calibri" panose="020F0502020204030204"/>
              </a:rPr>
              <a:t>Step 1
+1 new, -1 old</a:t>
            </a:r>
            <a:endParaRPr sz="1100" b="1" i="0">
              <a:solidFill>
                <a:srgbClr val="0F172A"/>
              </a:solidFill>
              <a:latin typeface="Calibri" panose="020F0502020204030204"/>
            </a:endParaRPr>
          </a:p>
        </p:txBody>
      </p:sp>
      <p:sp>
        <p:nvSpPr>
          <p:cNvPr id="18" name="TextBox 17"/>
          <p:cNvSpPr txBox="1"/>
          <p:nvPr/>
        </p:nvSpPr>
        <p:spPr>
          <a:xfrm>
            <a:off x="3410712" y="2304288"/>
            <a:ext cx="2560320" cy="237744"/>
          </a:xfrm>
          <a:prstGeom prst="rect">
            <a:avLst/>
          </a:prstGeom>
          <a:noFill/>
        </p:spPr>
        <p:txBody>
          <a:bodyPr wrap="square">
            <a:spAutoFit/>
          </a:bodyPr>
          <a:lstStyle/>
          <a:p>
            <a:pPr algn="l">
              <a:buNone/>
            </a:pPr>
            <a:r>
              <a:rPr sz="900" b="0" i="0">
                <a:solidFill>
                  <a:srgbClr val="8A867D"/>
                </a:solidFill>
                <a:latin typeface="Calibri" panose="020F0502020204030204"/>
              </a:rPr>
              <a:t>Old RS (v1) ×2</a:t>
            </a:r>
            <a:endParaRPr sz="900" b="0" i="0">
              <a:solidFill>
                <a:srgbClr val="8A867D"/>
              </a:solidFill>
              <a:latin typeface="Calibri" panose="020F0502020204030204"/>
            </a:endParaRPr>
          </a:p>
        </p:txBody>
      </p:sp>
      <p:sp>
        <p:nvSpPr>
          <p:cNvPr id="19" name="Rectangle 18"/>
          <p:cNvSpPr/>
          <p:nvPr/>
        </p:nvSpPr>
        <p:spPr>
          <a:xfrm>
            <a:off x="3410712"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10712"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21" name="Rectangle 20"/>
          <p:cNvSpPr/>
          <p:nvPr/>
        </p:nvSpPr>
        <p:spPr>
          <a:xfrm>
            <a:off x="4251960"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51960"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23" name="TextBox 22"/>
          <p:cNvSpPr txBox="1"/>
          <p:nvPr/>
        </p:nvSpPr>
        <p:spPr>
          <a:xfrm>
            <a:off x="3410712" y="3236976"/>
            <a:ext cx="2560320" cy="237744"/>
          </a:xfrm>
          <a:prstGeom prst="rect">
            <a:avLst/>
          </a:prstGeom>
          <a:noFill/>
        </p:spPr>
        <p:txBody>
          <a:bodyPr wrap="square">
            <a:spAutoFit/>
          </a:bodyPr>
          <a:lstStyle/>
          <a:p>
            <a:pPr algn="l">
              <a:buNone/>
            </a:pPr>
            <a:r>
              <a:rPr sz="900" b="0" i="0">
                <a:solidFill>
                  <a:srgbClr val="107854"/>
                </a:solidFill>
                <a:latin typeface="Calibri" panose="020F0502020204030204"/>
              </a:rPr>
              <a:t>New RS (v2) ×1</a:t>
            </a:r>
            <a:endParaRPr sz="900" b="0" i="0">
              <a:solidFill>
                <a:srgbClr val="107854"/>
              </a:solidFill>
              <a:latin typeface="Calibri" panose="020F0502020204030204"/>
            </a:endParaRPr>
          </a:p>
        </p:txBody>
      </p:sp>
      <p:sp>
        <p:nvSpPr>
          <p:cNvPr id="24" name="Rectangle 23"/>
          <p:cNvSpPr/>
          <p:nvPr/>
        </p:nvSpPr>
        <p:spPr>
          <a:xfrm>
            <a:off x="3410712"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10712"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26" name="TextBox 25"/>
          <p:cNvSpPr txBox="1"/>
          <p:nvPr/>
        </p:nvSpPr>
        <p:spPr>
          <a:xfrm>
            <a:off x="6135624" y="2834640"/>
            <a:ext cx="365760" cy="365760"/>
          </a:xfrm>
          <a:prstGeom prst="rect">
            <a:avLst/>
          </a:prstGeom>
          <a:noFill/>
        </p:spPr>
        <p:txBody>
          <a:bodyPr wrap="square">
            <a:spAutoFit/>
          </a:bodyPr>
          <a:lstStyle/>
          <a:p>
            <a:pPr algn="ctr">
              <a:buNone/>
            </a:pPr>
            <a:r>
              <a:rPr sz="2200" b="1" i="0">
                <a:solidFill>
                  <a:srgbClr val="2496ED"/>
                </a:solidFill>
                <a:latin typeface="Calibri" panose="020F0502020204030204"/>
              </a:rPr>
              <a:t>→</a:t>
            </a:r>
            <a:endParaRPr sz="2200" b="1" i="0">
              <a:solidFill>
                <a:srgbClr val="2496ED"/>
              </a:solidFill>
              <a:latin typeface="Calibri" panose="020F0502020204030204"/>
            </a:endParaRPr>
          </a:p>
        </p:txBody>
      </p:sp>
      <p:sp>
        <p:nvSpPr>
          <p:cNvPr id="27" name="TextBox 26"/>
          <p:cNvSpPr txBox="1"/>
          <p:nvPr/>
        </p:nvSpPr>
        <p:spPr>
          <a:xfrm>
            <a:off x="6318504" y="1737360"/>
            <a:ext cx="2651760" cy="475488"/>
          </a:xfrm>
          <a:prstGeom prst="rect">
            <a:avLst/>
          </a:prstGeom>
          <a:noFill/>
        </p:spPr>
        <p:txBody>
          <a:bodyPr wrap="square">
            <a:spAutoFit/>
          </a:bodyPr>
          <a:lstStyle/>
          <a:p>
            <a:pPr algn="l">
              <a:buNone/>
            </a:pPr>
            <a:r>
              <a:rPr sz="1100" b="1" i="0">
                <a:solidFill>
                  <a:srgbClr val="0F172A"/>
                </a:solidFill>
                <a:latin typeface="Calibri" panose="020F0502020204030204"/>
              </a:rPr>
              <a:t>Step 2
+1 new, -1 old</a:t>
            </a:r>
            <a:endParaRPr sz="1100" b="1" i="0">
              <a:solidFill>
                <a:srgbClr val="0F172A"/>
              </a:solidFill>
              <a:latin typeface="Calibri" panose="020F0502020204030204"/>
            </a:endParaRPr>
          </a:p>
        </p:txBody>
      </p:sp>
      <p:sp>
        <p:nvSpPr>
          <p:cNvPr id="28" name="TextBox 27"/>
          <p:cNvSpPr txBox="1"/>
          <p:nvPr/>
        </p:nvSpPr>
        <p:spPr>
          <a:xfrm>
            <a:off x="6318504" y="2304288"/>
            <a:ext cx="2560320" cy="237744"/>
          </a:xfrm>
          <a:prstGeom prst="rect">
            <a:avLst/>
          </a:prstGeom>
          <a:noFill/>
        </p:spPr>
        <p:txBody>
          <a:bodyPr wrap="square">
            <a:spAutoFit/>
          </a:bodyPr>
          <a:lstStyle/>
          <a:p>
            <a:pPr algn="l">
              <a:buNone/>
            </a:pPr>
            <a:r>
              <a:rPr sz="900" b="0" i="0">
                <a:solidFill>
                  <a:srgbClr val="8A867D"/>
                </a:solidFill>
                <a:latin typeface="Calibri" panose="020F0502020204030204"/>
              </a:rPr>
              <a:t>Old RS (v1) ×1</a:t>
            </a:r>
            <a:endParaRPr sz="900" b="0" i="0">
              <a:solidFill>
                <a:srgbClr val="8A867D"/>
              </a:solidFill>
              <a:latin typeface="Calibri" panose="020F0502020204030204"/>
            </a:endParaRPr>
          </a:p>
        </p:txBody>
      </p:sp>
      <p:sp>
        <p:nvSpPr>
          <p:cNvPr id="29" name="Rectangle 28"/>
          <p:cNvSpPr/>
          <p:nvPr/>
        </p:nvSpPr>
        <p:spPr>
          <a:xfrm>
            <a:off x="6318504" y="2560320"/>
            <a:ext cx="768096" cy="493776"/>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18504" y="2697480"/>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v1</a:t>
            </a:r>
            <a:endParaRPr sz="900" b="0" i="0">
              <a:solidFill>
                <a:srgbClr val="FFFFFF"/>
              </a:solidFill>
              <a:latin typeface="Calibri" panose="020F0502020204030204"/>
            </a:endParaRPr>
          </a:p>
        </p:txBody>
      </p:sp>
      <p:sp>
        <p:nvSpPr>
          <p:cNvPr id="31" name="TextBox 30"/>
          <p:cNvSpPr txBox="1"/>
          <p:nvPr/>
        </p:nvSpPr>
        <p:spPr>
          <a:xfrm>
            <a:off x="6318504" y="3236976"/>
            <a:ext cx="2560320" cy="237744"/>
          </a:xfrm>
          <a:prstGeom prst="rect">
            <a:avLst/>
          </a:prstGeom>
          <a:noFill/>
        </p:spPr>
        <p:txBody>
          <a:bodyPr wrap="square">
            <a:spAutoFit/>
          </a:bodyPr>
          <a:lstStyle/>
          <a:p>
            <a:pPr algn="l">
              <a:buNone/>
            </a:pPr>
            <a:r>
              <a:rPr sz="900" b="0" i="0">
                <a:solidFill>
                  <a:srgbClr val="107854"/>
                </a:solidFill>
                <a:latin typeface="Calibri" panose="020F0502020204030204"/>
              </a:rPr>
              <a:t>New RS (v2) ×2</a:t>
            </a:r>
            <a:endParaRPr sz="900" b="0" i="0">
              <a:solidFill>
                <a:srgbClr val="107854"/>
              </a:solidFill>
              <a:latin typeface="Calibri" panose="020F0502020204030204"/>
            </a:endParaRPr>
          </a:p>
        </p:txBody>
      </p:sp>
      <p:sp>
        <p:nvSpPr>
          <p:cNvPr id="32" name="Rectangle 31"/>
          <p:cNvSpPr/>
          <p:nvPr/>
        </p:nvSpPr>
        <p:spPr>
          <a:xfrm>
            <a:off x="6318504"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18504"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34" name="Rectangle 33"/>
          <p:cNvSpPr/>
          <p:nvPr/>
        </p:nvSpPr>
        <p:spPr>
          <a:xfrm>
            <a:off x="7159752"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159752"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36" name="TextBox 35"/>
          <p:cNvSpPr txBox="1"/>
          <p:nvPr/>
        </p:nvSpPr>
        <p:spPr>
          <a:xfrm>
            <a:off x="9043416" y="2834640"/>
            <a:ext cx="365760" cy="365760"/>
          </a:xfrm>
          <a:prstGeom prst="rect">
            <a:avLst/>
          </a:prstGeom>
          <a:noFill/>
        </p:spPr>
        <p:txBody>
          <a:bodyPr wrap="square">
            <a:spAutoFit/>
          </a:bodyPr>
          <a:lstStyle/>
          <a:p>
            <a:pPr algn="ctr">
              <a:buNone/>
            </a:pPr>
            <a:r>
              <a:rPr sz="2200" b="1" i="0">
                <a:solidFill>
                  <a:srgbClr val="2496ED"/>
                </a:solidFill>
                <a:latin typeface="Calibri" panose="020F0502020204030204"/>
              </a:rPr>
              <a:t>→</a:t>
            </a:r>
            <a:endParaRPr sz="2200" b="1" i="0">
              <a:solidFill>
                <a:srgbClr val="2496ED"/>
              </a:solidFill>
              <a:latin typeface="Calibri" panose="020F0502020204030204"/>
            </a:endParaRPr>
          </a:p>
        </p:txBody>
      </p:sp>
      <p:sp>
        <p:nvSpPr>
          <p:cNvPr id="37" name="TextBox 36"/>
          <p:cNvSpPr txBox="1"/>
          <p:nvPr/>
        </p:nvSpPr>
        <p:spPr>
          <a:xfrm>
            <a:off x="9226296" y="1737360"/>
            <a:ext cx="2651760" cy="475488"/>
          </a:xfrm>
          <a:prstGeom prst="rect">
            <a:avLst/>
          </a:prstGeom>
          <a:noFill/>
        </p:spPr>
        <p:txBody>
          <a:bodyPr wrap="square">
            <a:spAutoFit/>
          </a:bodyPr>
          <a:lstStyle/>
          <a:p>
            <a:pPr algn="l">
              <a:buNone/>
            </a:pPr>
            <a:r>
              <a:rPr sz="1100" b="1" i="0">
                <a:solidFill>
                  <a:srgbClr val="0F172A"/>
                </a:solidFill>
                <a:latin typeface="Calibri" panose="020F0502020204030204"/>
              </a:rPr>
              <a:t>Done
(all v2)</a:t>
            </a:r>
            <a:endParaRPr sz="1100" b="1" i="0">
              <a:solidFill>
                <a:srgbClr val="0F172A"/>
              </a:solidFill>
              <a:latin typeface="Calibri" panose="020F0502020204030204"/>
            </a:endParaRPr>
          </a:p>
        </p:txBody>
      </p:sp>
      <p:sp>
        <p:nvSpPr>
          <p:cNvPr id="38" name="TextBox 37"/>
          <p:cNvSpPr txBox="1"/>
          <p:nvPr/>
        </p:nvSpPr>
        <p:spPr>
          <a:xfrm>
            <a:off x="9226296" y="2304288"/>
            <a:ext cx="2560320" cy="237744"/>
          </a:xfrm>
          <a:prstGeom prst="rect">
            <a:avLst/>
          </a:prstGeom>
          <a:noFill/>
        </p:spPr>
        <p:txBody>
          <a:bodyPr wrap="square">
            <a:spAutoFit/>
          </a:bodyPr>
          <a:lstStyle/>
          <a:p>
            <a:pPr algn="l">
              <a:buNone/>
            </a:pPr>
            <a:r>
              <a:rPr sz="900" b="0" i="0">
                <a:solidFill>
                  <a:srgbClr val="8A867D"/>
                </a:solidFill>
                <a:latin typeface="Calibri" panose="020F0502020204030204"/>
              </a:rPr>
              <a:t>Old RS (v1) ×0</a:t>
            </a:r>
            <a:endParaRPr sz="900" b="0" i="0">
              <a:solidFill>
                <a:srgbClr val="8A867D"/>
              </a:solidFill>
              <a:latin typeface="Calibri" panose="020F0502020204030204"/>
            </a:endParaRPr>
          </a:p>
        </p:txBody>
      </p:sp>
      <p:sp>
        <p:nvSpPr>
          <p:cNvPr id="39" name="TextBox 38"/>
          <p:cNvSpPr txBox="1"/>
          <p:nvPr/>
        </p:nvSpPr>
        <p:spPr>
          <a:xfrm>
            <a:off x="9226296" y="3236976"/>
            <a:ext cx="2560320" cy="237744"/>
          </a:xfrm>
          <a:prstGeom prst="rect">
            <a:avLst/>
          </a:prstGeom>
          <a:noFill/>
        </p:spPr>
        <p:txBody>
          <a:bodyPr wrap="square">
            <a:spAutoFit/>
          </a:bodyPr>
          <a:lstStyle/>
          <a:p>
            <a:pPr algn="l">
              <a:buNone/>
            </a:pPr>
            <a:r>
              <a:rPr sz="900" b="0" i="0">
                <a:solidFill>
                  <a:srgbClr val="107854"/>
                </a:solidFill>
                <a:latin typeface="Calibri" panose="020F0502020204030204"/>
              </a:rPr>
              <a:t>New RS (v2) ×3</a:t>
            </a:r>
            <a:endParaRPr sz="900" b="0" i="0">
              <a:solidFill>
                <a:srgbClr val="107854"/>
              </a:solidFill>
              <a:latin typeface="Calibri" panose="020F0502020204030204"/>
            </a:endParaRPr>
          </a:p>
        </p:txBody>
      </p:sp>
      <p:sp>
        <p:nvSpPr>
          <p:cNvPr id="40" name="Rectangle 39"/>
          <p:cNvSpPr/>
          <p:nvPr/>
        </p:nvSpPr>
        <p:spPr>
          <a:xfrm>
            <a:off x="9226296"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26296"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42" name="Rectangle 41"/>
          <p:cNvSpPr/>
          <p:nvPr/>
        </p:nvSpPr>
        <p:spPr>
          <a:xfrm>
            <a:off x="10067544"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067544"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44" name="Rectangle 43"/>
          <p:cNvSpPr/>
          <p:nvPr/>
        </p:nvSpPr>
        <p:spPr>
          <a:xfrm>
            <a:off x="10908792" y="3493008"/>
            <a:ext cx="768096" cy="49377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908792" y="3630168"/>
            <a:ext cx="768096" cy="237744"/>
          </a:xfrm>
          <a:prstGeom prst="rect">
            <a:avLst/>
          </a:prstGeom>
          <a:noFill/>
        </p:spPr>
        <p:txBody>
          <a:bodyPr wrap="square">
            <a:spAutoFit/>
          </a:bodyPr>
          <a:lstStyle/>
          <a:p>
            <a:pPr algn="ctr">
              <a:buNone/>
            </a:pPr>
            <a:r>
              <a:rPr sz="900" b="0" i="0">
                <a:solidFill>
                  <a:srgbClr val="FFFFFF"/>
                </a:solidFill>
                <a:latin typeface="Calibri" panose="020F0502020204030204"/>
              </a:rPr>
              <a:t>v2</a:t>
            </a:r>
            <a:endParaRPr sz="900" b="0" i="0">
              <a:solidFill>
                <a:srgbClr val="FFFFFF"/>
              </a:solidFill>
              <a:latin typeface="Calibri" panose="020F0502020204030204"/>
            </a:endParaRPr>
          </a:p>
        </p:txBody>
      </p:sp>
      <p:sp>
        <p:nvSpPr>
          <p:cNvPr id="46" name="Rectangle 45"/>
          <p:cNvSpPr/>
          <p:nvPr/>
        </p:nvSpPr>
        <p:spPr>
          <a:xfrm>
            <a:off x="502920" y="4315968"/>
            <a:ext cx="11064240" cy="56692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48640" y="4443984"/>
            <a:ext cx="10972800" cy="310896"/>
          </a:xfrm>
          <a:prstGeom prst="rect">
            <a:avLst/>
          </a:prstGeom>
          <a:noFill/>
        </p:spPr>
        <p:txBody>
          <a:bodyPr wrap="square">
            <a:spAutoFit/>
          </a:bodyPr>
          <a:lstStyle/>
          <a:p>
            <a:pPr algn="ctr">
              <a:buNone/>
            </a:pPr>
            <a:r>
              <a:rPr sz="1000" b="0" i="0">
                <a:solidFill>
                  <a:srgbClr val="2496ED"/>
                </a:solidFill>
                <a:latin typeface="Calibri" panose="020F0502020204030204"/>
              </a:rPr>
              <a:t>Deployment Controller  —  kubectl set image nginx=nginx:v2  |  Old RS scaled to 0 but kept for rollback history</a:t>
            </a:r>
            <a:endParaRPr sz="1000" b="0" i="0">
              <a:solidFill>
                <a:srgbClr val="2496ED"/>
              </a:solidFill>
              <a:latin typeface="Calibri" panose="020F0502020204030204"/>
            </a:endParaRPr>
          </a:p>
        </p:txBody>
      </p:sp>
      <p:sp>
        <p:nvSpPr>
          <p:cNvPr id="48" name="TextBox 47"/>
          <p:cNvSpPr txBox="1"/>
          <p:nvPr/>
        </p:nvSpPr>
        <p:spPr>
          <a:xfrm>
            <a:off x="502920" y="4992624"/>
            <a:ext cx="11064240" cy="292608"/>
          </a:xfrm>
          <a:prstGeom prst="rect">
            <a:avLst/>
          </a:prstGeom>
          <a:noFill/>
        </p:spPr>
        <p:txBody>
          <a:bodyPr wrap="square">
            <a:spAutoFit/>
          </a:bodyPr>
          <a:lstStyle/>
          <a:p>
            <a:pPr algn="l">
              <a:buNone/>
            </a:pPr>
            <a:r>
              <a:rPr sz="1100" b="0" i="1">
                <a:solidFill>
                  <a:srgbClr val="64748B"/>
                </a:solidFill>
                <a:latin typeface="Calibri" panose="020F0502020204030204"/>
              </a:rPr>
              <a:t>Zero downtime: old and new pods run simultaneously during transition  |  maxSurge/maxUnavailable control the pace</a:t>
            </a:r>
            <a:endParaRPr sz="1100" b="0" i="1">
              <a:solidFill>
                <a:srgbClr val="64748B"/>
              </a:solidFill>
              <a:latin typeface="Calibri" panose="020F0502020204030204"/>
            </a:endParaRPr>
          </a:p>
        </p:txBody>
      </p:sp>
      <p:sp>
        <p:nvSpPr>
          <p:cNvPr id="49" name="TextBox 4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50" name="TextBox 4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51" name="TextBox 5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109</a:t>
            </a:r>
            <a:endParaRPr sz="900" b="0" i="0">
              <a:solidFill>
                <a:srgbClr val="718596"/>
              </a:solidFill>
              <a:latin typeface="Calibri" panose="020F0502020204030204"/>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16</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Rolling Updates &amp; Rollbacks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https://killercoda.com/tertiary-labs/course/killercoda/day2-03-k8s-rollouts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110</a:t>
            </a:r>
            <a:endParaRPr sz="900" b="0" i="0">
              <a:solidFill>
                <a:srgbClr val="718596"/>
              </a:solidFill>
              <a:latin typeface="Calibri" panose="020F0502020204030204"/>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16 — ROLLOUTS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Rolling Update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Deploy nginx 1.24, then update to 1.25:</a:t>
            </a:r>
            <a:endParaRPr sz="1600" b="1" i="0">
              <a:solidFill>
                <a:srgbClr val="0F172A"/>
              </a:solidFill>
              <a:latin typeface="Calibri" panose="020F0502020204030204"/>
            </a:endParaRPr>
          </a:p>
        </p:txBody>
      </p:sp>
      <p:sp>
        <p:nvSpPr>
          <p:cNvPr id="8" name="Rectangle 7"/>
          <p:cNvSpPr/>
          <p:nvPr/>
        </p:nvSpPr>
        <p:spPr>
          <a:xfrm>
            <a:off x="566928" y="1892808"/>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kubectl create deployment my-nginx --image=nginx:1.24 --replicas=3
kubectl get deployments
kubectl describe deployment my-nginx | grep Image</a:t>
            </a:r>
            <a:endParaRPr sz="900" b="0" i="0">
              <a:solidFill>
                <a:srgbClr val="FFFFFF"/>
              </a:solidFill>
              <a:latin typeface="Courier New" panose="02070309020205020404"/>
            </a:endParaRPr>
          </a:p>
        </p:txBody>
      </p:sp>
      <p:sp>
        <p:nvSpPr>
          <p:cNvPr id="12" name="TextBox 11"/>
          <p:cNvSpPr txBox="1"/>
          <p:nvPr/>
        </p:nvSpPr>
        <p:spPr>
          <a:xfrm>
            <a:off x="640080" y="279349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Update image and track rollout:</a:t>
            </a:r>
            <a:endParaRPr sz="1600" b="1" i="0">
              <a:solidFill>
                <a:srgbClr val="0F172A"/>
              </a:solidFill>
              <a:latin typeface="Calibri" panose="020F0502020204030204"/>
            </a:endParaRPr>
          </a:p>
        </p:txBody>
      </p:sp>
      <p:sp>
        <p:nvSpPr>
          <p:cNvPr id="13" name="Rectangle 12"/>
          <p:cNvSpPr/>
          <p:nvPr/>
        </p:nvSpPr>
        <p:spPr>
          <a:xfrm>
            <a:off x="566928" y="3113532"/>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113532"/>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140964"/>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159252"/>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kubectl set image deployment my-nginx nginx=nginx:1.25
kubectl rollout status deployment my-nginx
kubectl describe deployment my-nginx | grep Image</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Update again to 1.27 and check history:</a:t>
            </a:r>
            <a:endParaRPr sz="1600" b="1" i="0">
              <a:solidFill>
                <a:srgbClr val="0F172A"/>
              </a:solidFill>
              <a:latin typeface="Calibri" panose="020F0502020204030204"/>
            </a:endParaRPr>
          </a:p>
        </p:txBody>
      </p:sp>
      <p:sp>
        <p:nvSpPr>
          <p:cNvPr id="18" name="Rectangle 17"/>
          <p:cNvSpPr/>
          <p:nvPr/>
        </p:nvSpPr>
        <p:spPr>
          <a:xfrm>
            <a:off x="566928" y="433425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kubectl set image deployment my-nginx nginx=nginx:1.27
kubectl rollout status deployment my-nginx
kubectl rollout history deployment my-nginx</a:t>
            </a:r>
            <a:endParaRPr sz="900" b="0" i="0">
              <a:solidFill>
                <a:srgbClr val="FFFFFF"/>
              </a:solidFill>
              <a:latin typeface="Courier New" panose="02070309020205020404"/>
            </a:endParaRPr>
          </a:p>
        </p:txBody>
      </p:sp>
      <p:sp>
        <p:nvSpPr>
          <p:cNvPr id="22" name="TextBox 21"/>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https://killercoda.com/tertiary-labs/course/killercoda/day2-03-k8s-rollouts</a:t>
            </a:r>
            <a:endParaRPr sz="1100" b="0" i="1">
              <a:solidFill>
                <a:srgbClr val="2496ED"/>
              </a:solidFill>
              <a:latin typeface="Calibri" panose="020F0502020204030204"/>
            </a:endParaRPr>
          </a:p>
        </p:txBody>
      </p:sp>
      <p:sp>
        <p:nvSpPr>
          <p:cNvPr id="23" name="TextBox 2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4" name="TextBox 2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5" name="TextBox 2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111</a:t>
            </a:r>
            <a:endParaRPr sz="900" b="0" i="0">
              <a:solidFill>
                <a:srgbClr val="718596"/>
              </a:solidFill>
              <a:latin typeface="Calibri" panose="020F0502020204030204"/>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16 — ROLLOUTS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Rollback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Rollback to previous revision (nginx 1.25):</a:t>
            </a:r>
            <a:endParaRPr sz="1600" b="1" i="0">
              <a:solidFill>
                <a:srgbClr val="0F172A"/>
              </a:solidFill>
              <a:latin typeface="Calibri" panose="020F0502020204030204"/>
            </a:endParaRPr>
          </a:p>
        </p:txBody>
      </p:sp>
      <p:sp>
        <p:nvSpPr>
          <p:cNvPr id="8" name="Rectangle 7"/>
          <p:cNvSpPr/>
          <p:nvPr/>
        </p:nvSpPr>
        <p:spPr>
          <a:xfrm>
            <a:off x="566928" y="1892808"/>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rollout undo deployment my-nginx
kubectl describe deployment my-nginx | grep Image</a:t>
            </a:r>
            <a:endParaRPr sz="900" b="0" i="0">
              <a:solidFill>
                <a:srgbClr val="FFFFFF"/>
              </a:solidFill>
              <a:latin typeface="Courier New" panose="02070309020205020404"/>
            </a:endParaRPr>
          </a:p>
        </p:txBody>
      </p:sp>
      <p:sp>
        <p:nvSpPr>
          <p:cNvPr id="12" name="TextBox 11"/>
          <p:cNvSpPr txBox="1"/>
          <p:nvPr/>
        </p:nvSpPr>
        <p:spPr>
          <a:xfrm>
            <a:off x="640080" y="25877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Rollback to a specific revision (nginx 1.24):</a:t>
            </a:r>
            <a:endParaRPr sz="1600" b="1" i="0">
              <a:solidFill>
                <a:srgbClr val="0F172A"/>
              </a:solidFill>
              <a:latin typeface="Calibri" panose="020F0502020204030204"/>
            </a:endParaRPr>
          </a:p>
        </p:txBody>
      </p:sp>
      <p:sp>
        <p:nvSpPr>
          <p:cNvPr id="13" name="Rectangle 12"/>
          <p:cNvSpPr/>
          <p:nvPr/>
        </p:nvSpPr>
        <p:spPr>
          <a:xfrm>
            <a:off x="566928" y="2907792"/>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2907792"/>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935224"/>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2953512"/>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kubectl rollout history deployment my-nginx
kubectl rollout undo deployment my-nginx --to-revision=1
kubectl describe deployment my-nginx | grep Image</a:t>
            </a:r>
            <a:endParaRPr sz="900" b="0" i="0">
              <a:solidFill>
                <a:srgbClr val="FFFFFF"/>
              </a:solidFill>
              <a:latin typeface="Courier New" panose="02070309020205020404"/>
            </a:endParaRPr>
          </a:p>
        </p:txBody>
      </p:sp>
      <p:sp>
        <p:nvSpPr>
          <p:cNvPr id="17" name="TextBox 16"/>
          <p:cNvSpPr txBox="1"/>
          <p:nvPr/>
        </p:nvSpPr>
        <p:spPr>
          <a:xfrm>
            <a:off x="640080" y="380847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Declarative approach — edit deployment.yaml and apply:</a:t>
            </a:r>
            <a:endParaRPr sz="1600" b="1" i="0">
              <a:solidFill>
                <a:srgbClr val="0F172A"/>
              </a:solidFill>
              <a:latin typeface="Calibri" panose="020F0502020204030204"/>
            </a:endParaRPr>
          </a:p>
        </p:txBody>
      </p:sp>
      <p:sp>
        <p:nvSpPr>
          <p:cNvPr id="18" name="Rectangle 17"/>
          <p:cNvSpPr/>
          <p:nvPr/>
        </p:nvSpPr>
        <p:spPr>
          <a:xfrm>
            <a:off x="566928" y="4128516"/>
            <a:ext cx="11119104" cy="138074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128516"/>
            <a:ext cx="256032" cy="138074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155948"/>
            <a:ext cx="256032" cy="138074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174236"/>
            <a:ext cx="10771632" cy="1380744"/>
          </a:xfrm>
          <a:prstGeom prst="rect">
            <a:avLst/>
          </a:prstGeom>
          <a:noFill/>
        </p:spPr>
        <p:txBody>
          <a:bodyPr wrap="square">
            <a:spAutoFit/>
          </a:bodyPr>
          <a:lstStyle/>
          <a:p>
            <a:pPr algn="l">
              <a:buNone/>
            </a:pPr>
            <a:r>
              <a:rPr sz="900" b="0" i="0">
                <a:solidFill>
                  <a:srgbClr val="FFFFFF"/>
                </a:solidFill>
                <a:latin typeface="Courier New" panose="02070309020205020404"/>
              </a:rPr>
              <a:t># Change image: nginx:1.24 -&gt; nginx:1.25 in deployment.yaml
kubectl apply -f deployment.yaml
kubectl rollout status deployment my-app
kubectl rollout undo deployment my-app
kubectl delete deployment my-nginx
kubectl delete -f deployment.yaml</a:t>
            </a:r>
            <a:endParaRPr sz="900" b="0" i="0">
              <a:solidFill>
                <a:srgbClr val="FFFFFF"/>
              </a:solidFill>
              <a:latin typeface="Courier New" panose="02070309020205020404"/>
            </a:endParaRPr>
          </a:p>
        </p:txBody>
      </p:sp>
      <p:sp>
        <p:nvSpPr>
          <p:cNvPr id="22" name="TextBox 21"/>
          <p:cNvSpPr txBox="1"/>
          <p:nvPr/>
        </p:nvSpPr>
        <p:spPr>
          <a:xfrm>
            <a:off x="640080" y="5646420"/>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rollout undo is instant — K8s switches to the previous ReplicaSet, no rebuild.</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https://killercoda.com/tertiary-labs/course/killercoda/day2-03-k8s-rollouts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112</a:t>
            </a:r>
            <a:endParaRPr sz="900" b="0" i="0">
              <a:solidFill>
                <a:srgbClr val="718596"/>
              </a:solidFill>
              <a:latin typeface="Calibri" panose="020F0502020204030204"/>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5</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Services &amp; Networking</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 17 — ClusterIP and NodePort</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Why Services?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ClusterIP</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NodePort</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17a: ClusterIP</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17b: NodePort</a:t>
            </a:r>
            <a:endParaRPr sz="1800" b="0" i="0">
              <a:solidFill>
                <a:srgbClr val="CBD5E1"/>
              </a:solidFill>
              <a:latin typeface="Calibri" panose="020F0502020204030204"/>
            </a:endParaRPr>
          </a:p>
        </p:txBody>
      </p:sp>
      <p:sp>
        <p:nvSpPr>
          <p:cNvPr id="21" name="Rectangle 20"/>
          <p:cNvSpPr/>
          <p:nvPr/>
        </p:nvSpPr>
        <p:spPr>
          <a:xfrm>
            <a:off x="8778240" y="4846320"/>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778240" y="493776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6</a:t>
            </a:r>
            <a:endParaRPr sz="1800" b="1" i="0">
              <a:solidFill>
                <a:srgbClr val="2496ED"/>
              </a:solidFill>
              <a:latin typeface="Cambria" panose="02040503050406030204"/>
            </a:endParaRPr>
          </a:p>
        </p:txBody>
      </p:sp>
      <p:sp>
        <p:nvSpPr>
          <p:cNvPr id="23" name="TextBox 22"/>
          <p:cNvSpPr txBox="1"/>
          <p:nvPr/>
        </p:nvSpPr>
        <p:spPr>
          <a:xfrm>
            <a:off x="9281160" y="493776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17c: Service YAML</a:t>
            </a:r>
            <a:endParaRPr sz="1800" b="0" i="0">
              <a:solidFill>
                <a:srgbClr val="CBD5E1"/>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113</a:t>
            </a:r>
            <a:endParaRPr sz="900" b="0" i="0">
              <a:solidFill>
                <a:srgbClr val="718596"/>
              </a:solidFill>
              <a:latin typeface="Calibri" panose="020F0502020204030204"/>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SERVICES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Why Do We Need Services?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Pod IPs are ephemeral. Every time a Pod is recreated (crash, update, scale), it gets a new IP.</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Problem without Services: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Your frontend must discover the backend IP dynamically</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- 3 backend replicas = 3 different IPs to track</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Rolling update changes IPs mid-request</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What a Service provides:</a:t>
            </a:r>
            <a:endParaRPr sz="1600" b="1"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Stable virtual IP (ClusterIP) that never changes</a:t>
            </a:r>
            <a:endParaRPr sz="1600" b="0" i="0">
              <a:solidFill>
                <a:srgbClr val="0F172A"/>
              </a:solidFill>
              <a:latin typeface="Calibri" panose="020F0502020204030204"/>
            </a:endParaRPr>
          </a:p>
        </p:txBody>
      </p:sp>
      <p:sp>
        <p:nvSpPr>
          <p:cNvPr id="14" name="TextBox 13"/>
          <p:cNvSpPr txBox="1"/>
          <p:nvPr/>
        </p:nvSpPr>
        <p:spPr>
          <a:xfrm>
            <a:off x="640080" y="453542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DNS name: &lt;service-name&gt;.&lt;namespace&gt;.svc.cluster.local</a:t>
            </a:r>
            <a:endParaRPr sz="1600" b="0" i="0">
              <a:solidFill>
                <a:srgbClr val="0F172A"/>
              </a:solidFill>
              <a:latin typeface="Calibri" panose="020F0502020204030204"/>
            </a:endParaRPr>
          </a:p>
        </p:txBody>
      </p:sp>
      <p:sp>
        <p:nvSpPr>
          <p:cNvPr id="15" name="TextBox 14"/>
          <p:cNvSpPr txBox="1"/>
          <p:nvPr/>
        </p:nvSpPr>
        <p:spPr>
          <a:xfrm>
            <a:off x="640080" y="490118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Load balancing across all matching Pods</a:t>
            </a:r>
            <a:endParaRPr sz="1600" b="0" i="0">
              <a:solidFill>
                <a:srgbClr val="0F172A"/>
              </a:solidFill>
              <a:latin typeface="Calibri" panose="020F0502020204030204"/>
            </a:endParaRPr>
          </a:p>
        </p:txBody>
      </p:sp>
      <p:sp>
        <p:nvSpPr>
          <p:cNvPr id="16" name="TextBox 15"/>
          <p:cNvSpPr txBox="1"/>
          <p:nvPr/>
        </p:nvSpPr>
        <p:spPr>
          <a:xfrm>
            <a:off x="640080" y="546811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Services select Pods via labels — they automatically track which Pods are healthy.</a:t>
            </a:r>
            <a:endParaRPr sz="1400" b="0" i="1">
              <a:solidFill>
                <a:srgbClr val="2496ED"/>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114</a:t>
            </a:r>
            <a:endParaRPr sz="900" b="0" i="0">
              <a:solidFill>
                <a:srgbClr val="718596"/>
              </a:solidFill>
              <a:latin typeface="Calibri" panose="020F0502020204030204"/>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SERVICES — TYPES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Service Types Overview</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ClusterIP  (default)</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Internal-only. Reachable only from within the cluster. Best for service-to-service calls.</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NodePort</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Exposes service on each node's IP at a static port (30000-32767). Reachable from outside the cluster. Good for testing.</a:t>
            </a:r>
            <a:endParaRPr sz="1600" b="0" i="0">
              <a:solidFill>
                <a:srgbClr val="0F172A"/>
              </a:solidFill>
              <a:latin typeface="Calibri" panose="020F0502020204030204"/>
            </a:endParaRPr>
          </a:p>
        </p:txBody>
      </p:sp>
      <p:sp>
        <p:nvSpPr>
          <p:cNvPr id="11" name="TextBox 10"/>
          <p:cNvSpPr txBox="1"/>
          <p:nvPr/>
        </p:nvSpPr>
        <p:spPr>
          <a:xfrm>
            <a:off x="640080" y="343814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LoadBalancer</a:t>
            </a:r>
            <a:endParaRPr sz="1600" b="1"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Creates an external cloud load balancer (AWS ELB, GCP LB). Production use on managed K8s (AKS, EKS, GKE).</a:t>
            </a:r>
            <a:endParaRPr sz="1600" b="0" i="0">
              <a:solidFill>
                <a:srgbClr val="0F172A"/>
              </a:solidFill>
              <a:latin typeface="Calibri" panose="020F0502020204030204"/>
            </a:endParaRPr>
          </a:p>
        </p:txBody>
      </p:sp>
      <p:sp>
        <p:nvSpPr>
          <p:cNvPr id="13" name="TextBox 12"/>
          <p:cNvSpPr txBox="1"/>
          <p:nvPr/>
        </p:nvSpPr>
        <p:spPr>
          <a:xfrm>
            <a:off x="640080" y="43708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ExternalName</a:t>
            </a:r>
            <a:endParaRPr sz="1600" b="1" i="0">
              <a:solidFill>
                <a:srgbClr val="0F172A"/>
              </a:solidFill>
              <a:latin typeface="Calibri" panose="020F0502020204030204"/>
            </a:endParaRPr>
          </a:p>
        </p:txBody>
      </p:sp>
      <p:sp>
        <p:nvSpPr>
          <p:cNvPr id="14" name="TextBox 13"/>
          <p:cNvSpPr txBox="1"/>
          <p:nvPr/>
        </p:nvSpPr>
        <p:spPr>
          <a:xfrm>
            <a:off x="640080" y="4736592"/>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Maps a service to a DNS name outside the cluster (e.g. an external database).</a:t>
            </a:r>
            <a:endParaRPr sz="1600" b="0" i="0">
              <a:solidFill>
                <a:srgbClr val="0F172A"/>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115</a:t>
            </a:r>
            <a:endParaRPr sz="900" b="0" i="0">
              <a:solidFill>
                <a:srgbClr val="718596"/>
              </a:solidFill>
              <a:latin typeface="Calibri" panose="020F0502020204030204"/>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SERVICES — TYPES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Service Types: ClusterIP / NodePort / LoadBalancer</a:t>
            </a:r>
            <a:endParaRPr sz="2600" b="1" i="0">
              <a:solidFill>
                <a:srgbClr val="FFFFFF"/>
              </a:solidFill>
              <a:latin typeface="Cambria" panose="02040503050406030204"/>
            </a:endParaRPr>
          </a:p>
        </p:txBody>
      </p:sp>
      <p:sp>
        <p:nvSpPr>
          <p:cNvPr id="7" name="Rectangle 6"/>
          <p:cNvSpPr/>
          <p:nvPr/>
        </p:nvSpPr>
        <p:spPr>
          <a:xfrm>
            <a:off x="502920" y="1828800"/>
            <a:ext cx="11064240" cy="548640"/>
          </a:xfrm>
          <a:prstGeom prst="rect">
            <a:avLst/>
          </a:prstGeom>
          <a:solidFill>
            <a:srgbClr val="3D3C38"/>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920240"/>
            <a:ext cx="10972800" cy="310896"/>
          </a:xfrm>
          <a:prstGeom prst="rect">
            <a:avLst/>
          </a:prstGeom>
          <a:noFill/>
        </p:spPr>
        <p:txBody>
          <a:bodyPr wrap="square">
            <a:spAutoFit/>
          </a:bodyPr>
          <a:lstStyle/>
          <a:p>
            <a:pPr algn="ctr">
              <a:buNone/>
            </a:pPr>
            <a:r>
              <a:rPr sz="1200" b="1" i="0">
                <a:solidFill>
                  <a:srgbClr val="FFFFFF"/>
                </a:solidFill>
                <a:latin typeface="Calibri" panose="020F0502020204030204"/>
              </a:rPr>
              <a:t>Internet  /  External Users</a:t>
            </a:r>
            <a:endParaRPr sz="1200" b="1" i="0">
              <a:solidFill>
                <a:srgbClr val="FFFFFF"/>
              </a:solidFill>
              <a:latin typeface="Calibri" panose="020F0502020204030204"/>
            </a:endParaRPr>
          </a:p>
        </p:txBody>
      </p:sp>
      <p:sp>
        <p:nvSpPr>
          <p:cNvPr id="9" name="Rectangle 8"/>
          <p:cNvSpPr/>
          <p:nvPr/>
        </p:nvSpPr>
        <p:spPr>
          <a:xfrm>
            <a:off x="502920" y="2450592"/>
            <a:ext cx="11064240" cy="60350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560320"/>
            <a:ext cx="10972800" cy="329184"/>
          </a:xfrm>
          <a:prstGeom prst="rect">
            <a:avLst/>
          </a:prstGeom>
          <a:noFill/>
        </p:spPr>
        <p:txBody>
          <a:bodyPr wrap="square">
            <a:spAutoFit/>
          </a:bodyPr>
          <a:lstStyle/>
          <a:p>
            <a:pPr algn="ctr">
              <a:buNone/>
            </a:pPr>
            <a:r>
              <a:rPr sz="1100" b="1" i="0">
                <a:solidFill>
                  <a:srgbClr val="FFFFFF"/>
                </a:solidFill>
                <a:latin typeface="Calibri" panose="020F0502020204030204"/>
              </a:rPr>
              <a:t>LoadBalancer  (cloud LB — AWS ELB / GCP / Azure)  |  External IP : 80  →  NodePort  →  ClusterIP  →  Pods</a:t>
            </a:r>
            <a:endParaRPr sz="1100" b="1" i="0">
              <a:solidFill>
                <a:srgbClr val="FFFFFF"/>
              </a:solidFill>
              <a:latin typeface="Calibri" panose="020F0502020204030204"/>
            </a:endParaRPr>
          </a:p>
        </p:txBody>
      </p:sp>
      <p:sp>
        <p:nvSpPr>
          <p:cNvPr id="11" name="Rectangle 10"/>
          <p:cNvSpPr/>
          <p:nvPr/>
        </p:nvSpPr>
        <p:spPr>
          <a:xfrm>
            <a:off x="502920" y="3127248"/>
            <a:ext cx="11064240" cy="603504"/>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236976"/>
            <a:ext cx="10972800" cy="329184"/>
          </a:xfrm>
          <a:prstGeom prst="rect">
            <a:avLst/>
          </a:prstGeom>
          <a:noFill/>
        </p:spPr>
        <p:txBody>
          <a:bodyPr wrap="square">
            <a:spAutoFit/>
          </a:bodyPr>
          <a:lstStyle/>
          <a:p>
            <a:pPr algn="ctr">
              <a:buNone/>
            </a:pPr>
            <a:r>
              <a:rPr sz="1100" b="1" i="0">
                <a:solidFill>
                  <a:srgbClr val="FFFFFF"/>
                </a:solidFill>
                <a:latin typeface="Calibri" panose="020F0502020204030204"/>
              </a:rPr>
              <a:t>NodePort  |  Node IP : 30080  |  Range 30000-32767  |  Reachable from outside cluster without cloud LB</a:t>
            </a:r>
            <a:endParaRPr sz="1100" b="1" i="0">
              <a:solidFill>
                <a:srgbClr val="FFFFFF"/>
              </a:solidFill>
              <a:latin typeface="Calibri" panose="020F0502020204030204"/>
            </a:endParaRPr>
          </a:p>
        </p:txBody>
      </p:sp>
      <p:sp>
        <p:nvSpPr>
          <p:cNvPr id="13" name="Rectangle 12"/>
          <p:cNvSpPr/>
          <p:nvPr/>
        </p:nvSpPr>
        <p:spPr>
          <a:xfrm>
            <a:off x="502920" y="3803904"/>
            <a:ext cx="11064240" cy="603504"/>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3913632"/>
            <a:ext cx="10972800" cy="329184"/>
          </a:xfrm>
          <a:prstGeom prst="rect">
            <a:avLst/>
          </a:prstGeom>
          <a:noFill/>
        </p:spPr>
        <p:txBody>
          <a:bodyPr wrap="square">
            <a:spAutoFit/>
          </a:bodyPr>
          <a:lstStyle/>
          <a:p>
            <a:pPr algn="ctr">
              <a:buNone/>
            </a:pPr>
            <a:r>
              <a:rPr sz="1100" b="1" i="0">
                <a:solidFill>
                  <a:srgbClr val="FFFFFF"/>
                </a:solidFill>
                <a:latin typeface="Calibri" panose="020F0502020204030204"/>
              </a:rPr>
              <a:t>ClusterIP  |  10.96.0.1 : 80  |  Internal only  |  DNS: my-svc.default.svc.cluster.local  |  Load balances across Pods</a:t>
            </a:r>
            <a:endParaRPr sz="1100" b="1" i="0">
              <a:solidFill>
                <a:srgbClr val="FFFFFF"/>
              </a:solidFill>
              <a:latin typeface="Calibri" panose="020F0502020204030204"/>
            </a:endParaRPr>
          </a:p>
        </p:txBody>
      </p:sp>
      <p:sp>
        <p:nvSpPr>
          <p:cNvPr id="15" name="TextBox 14"/>
          <p:cNvSpPr txBox="1"/>
          <p:nvPr/>
        </p:nvSpPr>
        <p:spPr>
          <a:xfrm>
            <a:off x="502920" y="4480560"/>
            <a:ext cx="1097280" cy="274320"/>
          </a:xfrm>
          <a:prstGeom prst="rect">
            <a:avLst/>
          </a:prstGeom>
          <a:noFill/>
        </p:spPr>
        <p:txBody>
          <a:bodyPr wrap="square">
            <a:spAutoFit/>
          </a:bodyPr>
          <a:lstStyle/>
          <a:p>
            <a:pPr algn="l">
              <a:buNone/>
            </a:pPr>
            <a:r>
              <a:rPr sz="1000" b="0" i="0">
                <a:solidFill>
                  <a:srgbClr val="64748B"/>
                </a:solidFill>
                <a:latin typeface="Calibri" panose="020F0502020204030204"/>
              </a:rPr>
              <a:t>Pods  ↓</a:t>
            </a:r>
            <a:endParaRPr sz="1000" b="0" i="0">
              <a:solidFill>
                <a:srgbClr val="64748B"/>
              </a:solidFill>
              <a:latin typeface="Calibri" panose="020F0502020204030204"/>
            </a:endParaRPr>
          </a:p>
        </p:txBody>
      </p:sp>
      <p:sp>
        <p:nvSpPr>
          <p:cNvPr id="16" name="Rectangle 15"/>
          <p:cNvSpPr/>
          <p:nvPr/>
        </p:nvSpPr>
        <p:spPr>
          <a:xfrm>
            <a:off x="1737360" y="4480560"/>
            <a:ext cx="2377440" cy="621792"/>
          </a:xfrm>
          <a:prstGeom prst="rect">
            <a:avLst/>
          </a:prstGeom>
          <a:solidFill>
            <a:srgbClr val="1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783080" y="4663440"/>
            <a:ext cx="2286000" cy="310896"/>
          </a:xfrm>
          <a:prstGeom prst="rect">
            <a:avLst/>
          </a:prstGeom>
          <a:noFill/>
        </p:spPr>
        <p:txBody>
          <a:bodyPr wrap="square">
            <a:spAutoFit/>
          </a:bodyPr>
          <a:lstStyle/>
          <a:p>
            <a:pPr algn="ctr">
              <a:buNone/>
            </a:pPr>
            <a:r>
              <a:rPr sz="1100" b="1" i="0">
                <a:solidFill>
                  <a:srgbClr val="FFFFFF"/>
                </a:solidFill>
                <a:latin typeface="Calibri" panose="020F0502020204030204"/>
              </a:rPr>
              <a:t>Pod 1  :8080</a:t>
            </a:r>
            <a:endParaRPr sz="1100" b="1" i="0">
              <a:solidFill>
                <a:srgbClr val="FFFFFF"/>
              </a:solidFill>
              <a:latin typeface="Calibri" panose="020F0502020204030204"/>
            </a:endParaRPr>
          </a:p>
        </p:txBody>
      </p:sp>
      <p:sp>
        <p:nvSpPr>
          <p:cNvPr id="18" name="Rectangle 17"/>
          <p:cNvSpPr/>
          <p:nvPr/>
        </p:nvSpPr>
        <p:spPr>
          <a:xfrm>
            <a:off x="4572000" y="4480560"/>
            <a:ext cx="2377440" cy="621792"/>
          </a:xfrm>
          <a:prstGeom prst="rect">
            <a:avLst/>
          </a:prstGeom>
          <a:solidFill>
            <a:srgbClr val="1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617720" y="4663440"/>
            <a:ext cx="2286000" cy="310896"/>
          </a:xfrm>
          <a:prstGeom prst="rect">
            <a:avLst/>
          </a:prstGeom>
          <a:noFill/>
        </p:spPr>
        <p:txBody>
          <a:bodyPr wrap="square">
            <a:spAutoFit/>
          </a:bodyPr>
          <a:lstStyle/>
          <a:p>
            <a:pPr algn="ctr">
              <a:buNone/>
            </a:pPr>
            <a:r>
              <a:rPr sz="1100" b="1" i="0">
                <a:solidFill>
                  <a:srgbClr val="FFFFFF"/>
                </a:solidFill>
                <a:latin typeface="Calibri" panose="020F0502020204030204"/>
              </a:rPr>
              <a:t>Pod 2  :8080</a:t>
            </a:r>
            <a:endParaRPr sz="1100" b="1" i="0">
              <a:solidFill>
                <a:srgbClr val="FFFFFF"/>
              </a:solidFill>
              <a:latin typeface="Calibri" panose="020F0502020204030204"/>
            </a:endParaRPr>
          </a:p>
        </p:txBody>
      </p:sp>
      <p:sp>
        <p:nvSpPr>
          <p:cNvPr id="20" name="Rectangle 19"/>
          <p:cNvSpPr/>
          <p:nvPr/>
        </p:nvSpPr>
        <p:spPr>
          <a:xfrm>
            <a:off x="7406640" y="4480560"/>
            <a:ext cx="2377440" cy="621792"/>
          </a:xfrm>
          <a:prstGeom prst="rect">
            <a:avLst/>
          </a:prstGeom>
          <a:solidFill>
            <a:srgbClr val="1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2360" y="4663440"/>
            <a:ext cx="2286000" cy="310896"/>
          </a:xfrm>
          <a:prstGeom prst="rect">
            <a:avLst/>
          </a:prstGeom>
          <a:noFill/>
        </p:spPr>
        <p:txBody>
          <a:bodyPr wrap="square">
            <a:spAutoFit/>
          </a:bodyPr>
          <a:lstStyle/>
          <a:p>
            <a:pPr algn="ctr">
              <a:buNone/>
            </a:pPr>
            <a:r>
              <a:rPr sz="1100" b="1" i="0">
                <a:solidFill>
                  <a:srgbClr val="FFFFFF"/>
                </a:solidFill>
                <a:latin typeface="Calibri" panose="020F0502020204030204"/>
              </a:rPr>
              <a:t>Pod 3  :8080</a:t>
            </a:r>
            <a:endParaRPr sz="1100" b="1" i="0">
              <a:solidFill>
                <a:srgbClr val="FFFFFF"/>
              </a:solidFill>
              <a:latin typeface="Calibri" panose="020F0502020204030204"/>
            </a:endParaRPr>
          </a:p>
        </p:txBody>
      </p:sp>
      <p:sp>
        <p:nvSpPr>
          <p:cNvPr id="22" name="TextBox 21"/>
          <p:cNvSpPr txBox="1"/>
          <p:nvPr/>
        </p:nvSpPr>
        <p:spPr>
          <a:xfrm>
            <a:off x="548640" y="5230368"/>
            <a:ext cx="1463040" cy="219456"/>
          </a:xfrm>
          <a:prstGeom prst="rect">
            <a:avLst/>
          </a:prstGeom>
          <a:noFill/>
        </p:spPr>
        <p:txBody>
          <a:bodyPr wrap="square">
            <a:spAutoFit/>
          </a:bodyPr>
          <a:lstStyle/>
          <a:p>
            <a:pPr algn="l">
              <a:buNone/>
            </a:pPr>
            <a:r>
              <a:rPr sz="1000" b="1" i="0">
                <a:solidFill>
                  <a:srgbClr val="0F172A"/>
                </a:solidFill>
                <a:latin typeface="Calibri" panose="020F0502020204030204"/>
              </a:rPr>
              <a:t>ClusterIP:</a:t>
            </a:r>
            <a:endParaRPr sz="1000" b="1" i="0">
              <a:solidFill>
                <a:srgbClr val="0F172A"/>
              </a:solidFill>
              <a:latin typeface="Calibri" panose="020F0502020204030204"/>
            </a:endParaRPr>
          </a:p>
        </p:txBody>
      </p:sp>
      <p:sp>
        <p:nvSpPr>
          <p:cNvPr id="23" name="TextBox 22"/>
          <p:cNvSpPr txBox="1"/>
          <p:nvPr/>
        </p:nvSpPr>
        <p:spPr>
          <a:xfrm>
            <a:off x="2057400" y="5230368"/>
            <a:ext cx="9144000" cy="219456"/>
          </a:xfrm>
          <a:prstGeom prst="rect">
            <a:avLst/>
          </a:prstGeom>
          <a:noFill/>
        </p:spPr>
        <p:txBody>
          <a:bodyPr wrap="square">
            <a:spAutoFit/>
          </a:bodyPr>
          <a:lstStyle/>
          <a:p>
            <a:pPr algn="l">
              <a:buNone/>
            </a:pPr>
            <a:r>
              <a:rPr sz="1000" b="0" i="0">
                <a:solidFill>
                  <a:srgbClr val="64748B"/>
                </a:solidFill>
                <a:latin typeface="Calibri" panose="020F0502020204030204"/>
              </a:rPr>
              <a:t>Internal service-to-service calls (default type)</a:t>
            </a:r>
            <a:endParaRPr sz="1000" b="0" i="0">
              <a:solidFill>
                <a:srgbClr val="64748B"/>
              </a:solidFill>
              <a:latin typeface="Calibri" panose="020F0502020204030204"/>
            </a:endParaRPr>
          </a:p>
        </p:txBody>
      </p:sp>
      <p:sp>
        <p:nvSpPr>
          <p:cNvPr id="24" name="TextBox 23"/>
          <p:cNvSpPr txBox="1"/>
          <p:nvPr/>
        </p:nvSpPr>
        <p:spPr>
          <a:xfrm>
            <a:off x="548640" y="5468112"/>
            <a:ext cx="1463040" cy="219456"/>
          </a:xfrm>
          <a:prstGeom prst="rect">
            <a:avLst/>
          </a:prstGeom>
          <a:noFill/>
        </p:spPr>
        <p:txBody>
          <a:bodyPr wrap="square">
            <a:spAutoFit/>
          </a:bodyPr>
          <a:lstStyle/>
          <a:p>
            <a:pPr algn="l">
              <a:buNone/>
            </a:pPr>
            <a:r>
              <a:rPr sz="1000" b="1" i="0">
                <a:solidFill>
                  <a:srgbClr val="0F172A"/>
                </a:solidFill>
                <a:latin typeface="Calibri" panose="020F0502020204030204"/>
              </a:rPr>
              <a:t>NodePort:</a:t>
            </a:r>
            <a:endParaRPr sz="1000" b="1" i="0">
              <a:solidFill>
                <a:srgbClr val="0F172A"/>
              </a:solidFill>
              <a:latin typeface="Calibri" panose="020F0502020204030204"/>
            </a:endParaRPr>
          </a:p>
        </p:txBody>
      </p:sp>
      <p:sp>
        <p:nvSpPr>
          <p:cNvPr id="25" name="TextBox 24"/>
          <p:cNvSpPr txBox="1"/>
          <p:nvPr/>
        </p:nvSpPr>
        <p:spPr>
          <a:xfrm>
            <a:off x="2057400" y="5468112"/>
            <a:ext cx="9144000" cy="219456"/>
          </a:xfrm>
          <a:prstGeom prst="rect">
            <a:avLst/>
          </a:prstGeom>
          <a:noFill/>
        </p:spPr>
        <p:txBody>
          <a:bodyPr wrap="square">
            <a:spAutoFit/>
          </a:bodyPr>
          <a:lstStyle/>
          <a:p>
            <a:pPr algn="l">
              <a:buNone/>
            </a:pPr>
            <a:r>
              <a:rPr sz="1000" b="0" i="0">
                <a:solidFill>
                  <a:srgbClr val="64748B"/>
                </a:solidFill>
                <a:latin typeface="Calibri" panose="020F0502020204030204"/>
              </a:rPr>
              <a:t>External access without cloud — testing / on-prem</a:t>
            </a:r>
            <a:endParaRPr sz="1000" b="0" i="0">
              <a:solidFill>
                <a:srgbClr val="64748B"/>
              </a:solidFill>
              <a:latin typeface="Calibri" panose="020F0502020204030204"/>
            </a:endParaRPr>
          </a:p>
        </p:txBody>
      </p:sp>
      <p:sp>
        <p:nvSpPr>
          <p:cNvPr id="26" name="TextBox 25"/>
          <p:cNvSpPr txBox="1"/>
          <p:nvPr/>
        </p:nvSpPr>
        <p:spPr>
          <a:xfrm>
            <a:off x="548640" y="5705856"/>
            <a:ext cx="1463040" cy="219456"/>
          </a:xfrm>
          <a:prstGeom prst="rect">
            <a:avLst/>
          </a:prstGeom>
          <a:noFill/>
        </p:spPr>
        <p:txBody>
          <a:bodyPr wrap="square">
            <a:spAutoFit/>
          </a:bodyPr>
          <a:lstStyle/>
          <a:p>
            <a:pPr algn="l">
              <a:buNone/>
            </a:pPr>
            <a:r>
              <a:rPr sz="1000" b="1" i="0">
                <a:solidFill>
                  <a:srgbClr val="0F172A"/>
                </a:solidFill>
                <a:latin typeface="Calibri" panose="020F0502020204030204"/>
              </a:rPr>
              <a:t>LoadBalancer:</a:t>
            </a:r>
            <a:endParaRPr sz="1000" b="1" i="0">
              <a:solidFill>
                <a:srgbClr val="0F172A"/>
              </a:solidFill>
              <a:latin typeface="Calibri" panose="020F0502020204030204"/>
            </a:endParaRPr>
          </a:p>
        </p:txBody>
      </p:sp>
      <p:sp>
        <p:nvSpPr>
          <p:cNvPr id="27" name="TextBox 26"/>
          <p:cNvSpPr txBox="1"/>
          <p:nvPr/>
        </p:nvSpPr>
        <p:spPr>
          <a:xfrm>
            <a:off x="2057400" y="5705856"/>
            <a:ext cx="9144000" cy="219456"/>
          </a:xfrm>
          <a:prstGeom prst="rect">
            <a:avLst/>
          </a:prstGeom>
          <a:noFill/>
        </p:spPr>
        <p:txBody>
          <a:bodyPr wrap="square">
            <a:spAutoFit/>
          </a:bodyPr>
          <a:lstStyle/>
          <a:p>
            <a:pPr algn="l">
              <a:buNone/>
            </a:pPr>
            <a:r>
              <a:rPr sz="1000" b="0" i="0">
                <a:solidFill>
                  <a:srgbClr val="64748B"/>
                </a:solidFill>
                <a:latin typeface="Calibri" panose="020F0502020204030204"/>
              </a:rPr>
              <a:t>Production on managed K8s (AKS, EKS, GKE)</a:t>
            </a:r>
            <a:endParaRPr sz="1000" b="0" i="0">
              <a:solidFill>
                <a:srgbClr val="64748B"/>
              </a:solidFill>
              <a:latin typeface="Calibri" panose="020F0502020204030204"/>
            </a:endParaRPr>
          </a:p>
        </p:txBody>
      </p:sp>
      <p:sp>
        <p:nvSpPr>
          <p:cNvPr id="28" name="TextBox 2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9" name="TextBox 2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0" name="TextBox 2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116</a:t>
            </a:r>
            <a:endParaRPr sz="900" b="0" i="0">
              <a:solidFill>
                <a:srgbClr val="718596"/>
              </a:solidFill>
              <a:latin typeface="Calibri" panose="020F0502020204030204"/>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17</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Services — ClusterIP &amp; NodePort</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https://killercoda.com/tertiary-labs/course/killercoda/day2-04-k8s-services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117</a:t>
            </a:r>
            <a:endParaRPr sz="900" b="0" i="0">
              <a:solidFill>
                <a:srgbClr val="718596"/>
              </a:solidFill>
              <a:latin typeface="Calibri" panose="020F05020202040302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17 — SERVICES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ClusterIP — Internal Service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a deployment and expose it with ClusterIP:</a:t>
            </a:r>
            <a:endParaRPr sz="1600" b="1" i="0">
              <a:solidFill>
                <a:srgbClr val="0F172A"/>
              </a:solidFill>
              <a:latin typeface="Calibri" panose="020F0502020204030204"/>
            </a:endParaRPr>
          </a:p>
        </p:txBody>
      </p:sp>
      <p:sp>
        <p:nvSpPr>
          <p:cNvPr id="8" name="Rectangle 7"/>
          <p:cNvSpPr/>
          <p:nvPr/>
        </p:nvSpPr>
        <p:spPr>
          <a:xfrm>
            <a:off x="566928" y="1892808"/>
            <a:ext cx="11119104" cy="117500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17500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17500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175004"/>
          </a:xfrm>
          <a:prstGeom prst="rect">
            <a:avLst/>
          </a:prstGeom>
          <a:noFill/>
        </p:spPr>
        <p:txBody>
          <a:bodyPr wrap="square">
            <a:spAutoFit/>
          </a:bodyPr>
          <a:lstStyle/>
          <a:p>
            <a:pPr algn="l">
              <a:buNone/>
            </a:pPr>
            <a:r>
              <a:rPr sz="900" b="0" i="0">
                <a:solidFill>
                  <a:srgbClr val="FFFFFF"/>
                </a:solidFill>
                <a:latin typeface="Courier New" panose="02070309020205020404"/>
              </a:rPr>
              <a:t>kubectl create deployment my-nginx --image=nginx --replicas=2
kubectl expose deployment my-nginx --port=80 --target-port=80
kubectl get services
kubectl describe service my-nginx
kubectl get endpoints my-nginx</a:t>
            </a:r>
            <a:endParaRPr sz="900" b="0" i="0">
              <a:solidFill>
                <a:srgbClr val="FFFFFF"/>
              </a:solidFill>
              <a:latin typeface="Courier New" panose="02070309020205020404"/>
            </a:endParaRPr>
          </a:p>
        </p:txBody>
      </p:sp>
      <p:sp>
        <p:nvSpPr>
          <p:cNvPr id="12" name="TextBox 11"/>
          <p:cNvSpPr txBox="1"/>
          <p:nvPr/>
        </p:nvSpPr>
        <p:spPr>
          <a:xfrm>
            <a:off x="640080" y="320497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Test from inside the cluster (temp pod):</a:t>
            </a:r>
            <a:endParaRPr sz="1600" b="1" i="0">
              <a:solidFill>
                <a:srgbClr val="0F172A"/>
              </a:solidFill>
              <a:latin typeface="Calibri" panose="020F0502020204030204"/>
            </a:endParaRPr>
          </a:p>
        </p:txBody>
      </p:sp>
      <p:sp>
        <p:nvSpPr>
          <p:cNvPr id="13" name="Rectangle 12"/>
          <p:cNvSpPr/>
          <p:nvPr/>
        </p:nvSpPr>
        <p:spPr>
          <a:xfrm>
            <a:off x="566928" y="352501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2501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55244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57073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run test-pod --image=busybox --rm -it --restart=Never \
  -- wget -O- my-nginx:80</a:t>
            </a:r>
            <a:endParaRPr sz="900" b="0" i="0">
              <a:solidFill>
                <a:srgbClr val="FFFFFF"/>
              </a:solidFill>
              <a:latin typeface="Courier New" panose="02070309020205020404"/>
            </a:endParaRPr>
          </a:p>
        </p:txBody>
      </p:sp>
      <p:sp>
        <p:nvSpPr>
          <p:cNvPr id="17" name="TextBox 16"/>
          <p:cNvSpPr txBox="1"/>
          <p:nvPr/>
        </p:nvSpPr>
        <p:spPr>
          <a:xfrm>
            <a:off x="640080" y="42199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18" name="Rectangle 17"/>
          <p:cNvSpPr/>
          <p:nvPr/>
        </p:nvSpPr>
        <p:spPr>
          <a:xfrm>
            <a:off x="566928" y="453999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53999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56742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58571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delete service my-nginx
kubectl delete deployment my-nginx</a:t>
            </a:r>
            <a:endParaRPr sz="900" b="0" i="0">
              <a:solidFill>
                <a:srgbClr val="FFFFFF"/>
              </a:solidFill>
              <a:latin typeface="Courier New" panose="02070309020205020404"/>
            </a:endParaRPr>
          </a:p>
        </p:txBody>
      </p:sp>
      <p:sp>
        <p:nvSpPr>
          <p:cNvPr id="22" name="TextBox 21"/>
          <p:cNvSpPr txBox="1"/>
          <p:nvPr/>
        </p:nvSpPr>
        <p:spPr>
          <a:xfrm>
            <a:off x="640080" y="5234940"/>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ClusterIP provides a stable virtual IP and DNS name. Service load-balances across all matching Pods.</a:t>
            </a:r>
            <a:endParaRPr sz="1400" b="0" i="1">
              <a:solidFill>
                <a:srgbClr val="2496ED"/>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https://killercoda.com/tertiary-labs/course/killercoda/day2-04-k8s-services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118</a:t>
            </a:r>
            <a:endParaRPr sz="900" b="0" i="0">
              <a:solidFill>
                <a:srgbClr val="718596"/>
              </a:solidFill>
              <a:latin typeface="Calibri" panose="020F0502020204030204"/>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17 — SERVICES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NodePort — External Access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Expose deployment as NodePort:</a:t>
            </a:r>
            <a:endParaRPr sz="1600" b="1" i="0">
              <a:solidFill>
                <a:srgbClr val="0F172A"/>
              </a:solidFill>
              <a:latin typeface="Calibri" panose="020F0502020204030204"/>
            </a:endParaRPr>
          </a:p>
        </p:txBody>
      </p:sp>
      <p:sp>
        <p:nvSpPr>
          <p:cNvPr id="8" name="Rectangle 7"/>
          <p:cNvSpPr/>
          <p:nvPr/>
        </p:nvSpPr>
        <p:spPr>
          <a:xfrm>
            <a:off x="566928" y="189280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kubectl create deployment my-nginx --image=nginx --replicas=2
kubectl expose deployment my-nginx \
  --type=NodePort --port=80 --target-port=80
kubectl get service my-nginx   # note the 30xxx port</a:t>
            </a:r>
            <a:endParaRPr sz="900" b="0" i="0">
              <a:solidFill>
                <a:srgbClr val="FFFFFF"/>
              </a:solidFill>
              <a:latin typeface="Courier New" panose="02070309020205020404"/>
            </a:endParaRPr>
          </a:p>
        </p:txBody>
      </p:sp>
      <p:sp>
        <p:nvSpPr>
          <p:cNvPr id="12" name="TextBox 11"/>
          <p:cNvSpPr txBox="1"/>
          <p:nvPr/>
        </p:nvSpPr>
        <p:spPr>
          <a:xfrm>
            <a:off x="640080" y="29992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Access via node IP and port:</a:t>
            </a:r>
            <a:endParaRPr sz="1600" b="1" i="0">
              <a:solidFill>
                <a:srgbClr val="0F172A"/>
              </a:solidFill>
              <a:latin typeface="Calibri" panose="020F0502020204030204"/>
            </a:endParaRPr>
          </a:p>
        </p:txBody>
      </p:sp>
      <p:sp>
        <p:nvSpPr>
          <p:cNvPr id="13" name="Rectangle 12"/>
          <p:cNvSpPr/>
          <p:nvPr/>
        </p:nvSpPr>
        <p:spPr>
          <a:xfrm>
            <a:off x="566928" y="331927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31927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4670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36499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get nodes -o wide
curl http://$(kubectl get nodes -o jsonpath='{.items[0].status.addresses[0].address}'):$(kubectl get svc my-nginx -o jsonpath='{.spec.ports[0].nodePort}')</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18" name="Rectangle 17"/>
          <p:cNvSpPr/>
          <p:nvPr/>
        </p:nvSpPr>
        <p:spPr>
          <a:xfrm>
            <a:off x="566928" y="4334256"/>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delete service my-nginx
kubectl delete deployment my-nginx</a:t>
            </a:r>
            <a:endParaRPr sz="900" b="0" i="0">
              <a:solidFill>
                <a:srgbClr val="FFFFFF"/>
              </a:solidFill>
              <a:latin typeface="Courier New" panose="02070309020205020404"/>
            </a:endParaRPr>
          </a:p>
        </p:txBody>
      </p:sp>
      <p:sp>
        <p:nvSpPr>
          <p:cNvPr id="22" name="TextBox 21"/>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https://killercoda.com/tertiary-labs/course/killercoda/day2-04-k8s-services</a:t>
            </a:r>
            <a:endParaRPr sz="1100" b="0" i="1">
              <a:solidFill>
                <a:srgbClr val="2496ED"/>
              </a:solidFill>
              <a:latin typeface="Calibri" panose="020F0502020204030204"/>
            </a:endParaRPr>
          </a:p>
        </p:txBody>
      </p:sp>
      <p:sp>
        <p:nvSpPr>
          <p:cNvPr id="23" name="TextBox 2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4" name="TextBox 2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5" name="TextBox 2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119</a:t>
            </a:r>
            <a:endParaRPr sz="900" b="0" i="0">
              <a:solidFill>
                <a:srgbClr val="718596"/>
              </a:solidFill>
              <a:latin typeface="Calibri" panose="020F0502020204030204"/>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17 — SERVICES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Service + Deployment — YAML</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service.yaml</a:t>
            </a:r>
            <a:endParaRPr sz="1600" b="1" i="0">
              <a:solidFill>
                <a:srgbClr val="0F172A"/>
              </a:solidFill>
              <a:latin typeface="Calibri" panose="020F0502020204030204"/>
            </a:endParaRPr>
          </a:p>
        </p:txBody>
      </p:sp>
      <p:sp>
        <p:nvSpPr>
          <p:cNvPr id="8" name="Rectangle 7"/>
          <p:cNvSpPr/>
          <p:nvPr/>
        </p:nvSpPr>
        <p:spPr>
          <a:xfrm>
            <a:off x="566928" y="1892808"/>
            <a:ext cx="11119104" cy="26151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26151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26151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2615184"/>
          </a:xfrm>
          <a:prstGeom prst="rect">
            <a:avLst/>
          </a:prstGeom>
          <a:noFill/>
        </p:spPr>
        <p:txBody>
          <a:bodyPr wrap="square">
            <a:spAutoFit/>
          </a:bodyPr>
          <a:lstStyle/>
          <a:p>
            <a:pPr algn="l">
              <a:buNone/>
            </a:pPr>
            <a:r>
              <a:rPr sz="900" b="0" i="0">
                <a:solidFill>
                  <a:srgbClr val="FFFFFF"/>
                </a:solidFill>
                <a:latin typeface="Courier New" panose="02070309020205020404"/>
              </a:rPr>
              <a:t>apiVersion: v1
kind: Service
metadata:
  name: my-app-svc
spec:
  type: NodePort
  selector:
    app: my-app
  ports:
    - port: 80
      targetPort: 80
      nodePort: 30080</a:t>
            </a:r>
            <a:endParaRPr sz="900" b="0" i="0">
              <a:solidFill>
                <a:srgbClr val="FFFFFF"/>
              </a:solidFill>
              <a:latin typeface="Courier New" panose="02070309020205020404"/>
            </a:endParaRPr>
          </a:p>
        </p:txBody>
      </p:sp>
      <p:sp>
        <p:nvSpPr>
          <p:cNvPr id="12" name="TextBox 11"/>
          <p:cNvSpPr txBox="1"/>
          <p:nvPr/>
        </p:nvSpPr>
        <p:spPr>
          <a:xfrm>
            <a:off x="640080" y="46451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Apply and test:</a:t>
            </a:r>
            <a:endParaRPr sz="1600" b="1" i="0">
              <a:solidFill>
                <a:srgbClr val="0F172A"/>
              </a:solidFill>
              <a:latin typeface="Calibri" panose="020F0502020204030204"/>
            </a:endParaRPr>
          </a:p>
        </p:txBody>
      </p:sp>
      <p:sp>
        <p:nvSpPr>
          <p:cNvPr id="13" name="Rectangle 12"/>
          <p:cNvSpPr/>
          <p:nvPr/>
        </p:nvSpPr>
        <p:spPr>
          <a:xfrm>
            <a:off x="566928" y="4965192"/>
            <a:ext cx="11119104" cy="84124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965192"/>
            <a:ext cx="256032" cy="841248"/>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992624"/>
            <a:ext cx="256032" cy="841248"/>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5010912"/>
            <a:ext cx="10771632" cy="841248"/>
          </a:xfrm>
          <a:prstGeom prst="rect">
            <a:avLst/>
          </a:prstGeom>
          <a:noFill/>
        </p:spPr>
        <p:txBody>
          <a:bodyPr wrap="square">
            <a:spAutoFit/>
          </a:bodyPr>
          <a:lstStyle/>
          <a:p>
            <a:pPr algn="l">
              <a:buNone/>
            </a:pPr>
            <a:r>
              <a:rPr sz="900" b="0" i="0">
                <a:solidFill>
                  <a:srgbClr val="FFFFFF"/>
                </a:solidFill>
                <a:latin typeface="Courier New" panose="02070309020205020404"/>
              </a:rPr>
              <a:t>kubectl apply -f deployment.yaml
kubectl apply -f service.yaml
kubectl get services
kubectl get endpoints my-app-svc
curl http://localhost:30080
kubectl delete -f service.yaml
kubectl delete -f deployment.yaml</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https://killercoda.com/tertiary-labs/course/killercoda/day2-04-k8s-services</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120</a:t>
            </a:r>
            <a:endParaRPr sz="900" b="0" i="0">
              <a:solidFill>
                <a:srgbClr val="718596"/>
              </a:solidFill>
              <a:latin typeface="Calibri" panose="020F0502020204030204"/>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7ED"/>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KNOWLEDGE CHECK  2</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Quick Review — Rollouts &amp; Services</a:t>
            </a:r>
            <a:endParaRPr sz="3000" b="1" i="0">
              <a:solidFill>
                <a:srgbClr val="0F172A"/>
              </a:solidFill>
              <a:latin typeface="Cambria" panose="02040503050406030204"/>
            </a:endParaRPr>
          </a:p>
        </p:txBody>
      </p:sp>
      <p:sp>
        <p:nvSpPr>
          <p:cNvPr id="4" name="TextBox 3"/>
          <p:cNvSpPr txBox="1"/>
          <p:nvPr/>
        </p:nvSpPr>
        <p:spPr>
          <a:xfrm>
            <a:off x="640080" y="16459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Q1.  What is the default Deployment update strategy?</a:t>
            </a:r>
            <a:endParaRPr sz="1600" b="1" i="0">
              <a:solidFill>
                <a:srgbClr val="0F172A"/>
              </a:solidFill>
              <a:latin typeface="Calibri" panose="020F0502020204030204"/>
            </a:endParaRPr>
          </a:p>
        </p:txBody>
      </p:sp>
      <p:sp>
        <p:nvSpPr>
          <p:cNvPr id="5" name="Rectangle 4"/>
          <p:cNvSpPr/>
          <p:nvPr/>
        </p:nvSpPr>
        <p:spPr>
          <a:xfrm>
            <a:off x="566928" y="196596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1168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Recreate     B) RollingUpdate     C) BlueGreen     D) Canary</a:t>
            </a:r>
            <a:endParaRPr sz="900" b="0" i="0">
              <a:solidFill>
                <a:srgbClr val="0F172A"/>
              </a:solidFill>
              <a:latin typeface="Courier New" panose="02070309020205020404"/>
            </a:endParaRPr>
          </a:p>
        </p:txBody>
      </p:sp>
      <p:sp>
        <p:nvSpPr>
          <p:cNvPr id="7" name="TextBox 6"/>
          <p:cNvSpPr txBox="1"/>
          <p:nvPr/>
        </p:nvSpPr>
        <p:spPr>
          <a:xfrm>
            <a:off x="640080" y="26563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Q2.  Which command rolls back a Deployment to a specific revision?</a:t>
            </a:r>
            <a:endParaRPr sz="1600" b="1" i="0">
              <a:solidFill>
                <a:srgbClr val="0F172A"/>
              </a:solidFill>
              <a:latin typeface="Calibri" panose="020F0502020204030204"/>
            </a:endParaRPr>
          </a:p>
        </p:txBody>
      </p:sp>
      <p:sp>
        <p:nvSpPr>
          <p:cNvPr id="8" name="TextBox 7"/>
          <p:cNvSpPr txBox="1"/>
          <p:nvPr/>
        </p:nvSpPr>
        <p:spPr>
          <a:xfrm>
            <a:off x="640080" y="32232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Q3.  True / False:  A ClusterIP service is accessible from outside the cluster.</a:t>
            </a:r>
            <a:endParaRPr sz="1600" b="1" i="0">
              <a:solidFill>
                <a:srgbClr val="0F172A"/>
              </a:solidFill>
              <a:latin typeface="Calibri" panose="020F0502020204030204"/>
            </a:endParaRPr>
          </a:p>
        </p:txBody>
      </p:sp>
      <p:sp>
        <p:nvSpPr>
          <p:cNvPr id="9" name="TextBox 8"/>
          <p:cNvSpPr txBox="1"/>
          <p:nvPr/>
        </p:nvSpPr>
        <p:spPr>
          <a:xfrm>
            <a:off x="640080" y="37901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Q4.  NodePort values must be in what range?</a:t>
            </a:r>
            <a:endParaRPr sz="1600" b="1" i="0">
              <a:solidFill>
                <a:srgbClr val="0F172A"/>
              </a:solidFill>
              <a:latin typeface="Calibri" panose="020F0502020204030204"/>
            </a:endParaRPr>
          </a:p>
        </p:txBody>
      </p:sp>
      <p:sp>
        <p:nvSpPr>
          <p:cNvPr id="10" name="Rectangle 9"/>
          <p:cNvSpPr/>
          <p:nvPr/>
        </p:nvSpPr>
        <p:spPr>
          <a:xfrm>
            <a:off x="566928" y="411022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5594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1-1024     B) 8000-9000     C) 30000-32767     D) Any free port</a:t>
            </a:r>
            <a:endParaRPr sz="900" b="0" i="0">
              <a:solidFill>
                <a:srgbClr val="0F172A"/>
              </a:solidFill>
              <a:latin typeface="Courier New" panose="02070309020205020404"/>
            </a:endParaRPr>
          </a:p>
        </p:txBody>
      </p:sp>
      <p:sp>
        <p:nvSpPr>
          <p:cNvPr id="12" name="TextBox 11"/>
          <p:cNvSpPr txBox="1"/>
          <p:nvPr/>
        </p:nvSpPr>
        <p:spPr>
          <a:xfrm>
            <a:off x="640080" y="48006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Q5.  How does a Service know which Pods to send traffic to?</a:t>
            </a:r>
            <a:endParaRPr sz="1600" b="1"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121</a:t>
            </a:r>
            <a:endParaRPr sz="900" b="0" i="0">
              <a:solidFill>
                <a:srgbClr val="718596"/>
              </a:solidFill>
              <a:latin typeface="Calibri" panose="020F0502020204030204"/>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0"/>
            <a:ext cx="2496312" cy="109728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7772400" cy="457200"/>
          </a:xfrm>
          <a:prstGeom prst="rect">
            <a:avLst/>
          </a:prstGeom>
          <a:noFill/>
        </p:spPr>
        <p:txBody>
          <a:bodyPr wrap="square">
            <a:spAutoFit/>
          </a:bodyPr>
          <a:lstStyle/>
          <a:p>
            <a:pPr algn="l">
              <a:buNone/>
            </a:pPr>
            <a:r>
              <a:rPr sz="1400" b="1" i="0">
                <a:solidFill>
                  <a:srgbClr val="2496ED"/>
                </a:solidFill>
                <a:latin typeface="Calibri" panose="020F0502020204030204"/>
              </a:rPr>
              <a:t>SECTION 6</a:t>
            </a:r>
            <a:endParaRPr sz="1400" b="1" i="0">
              <a:solidFill>
                <a:srgbClr val="2496ED"/>
              </a:solidFill>
              <a:latin typeface="Calibri" panose="020F0502020204030204"/>
            </a:endParaRPr>
          </a:p>
        </p:txBody>
      </p:sp>
      <p:sp>
        <p:nvSpPr>
          <p:cNvPr id="5" name="TextBox 4"/>
          <p:cNvSpPr txBox="1"/>
          <p:nvPr/>
        </p:nvSpPr>
        <p:spPr>
          <a:xfrm>
            <a:off x="685800" y="2331720"/>
            <a:ext cx="8046720" cy="1645920"/>
          </a:xfrm>
          <a:prstGeom prst="rect">
            <a:avLst/>
          </a:prstGeom>
          <a:noFill/>
        </p:spPr>
        <p:txBody>
          <a:bodyPr wrap="square">
            <a:spAutoFit/>
          </a:bodyPr>
          <a:lstStyle/>
          <a:p>
            <a:pPr algn="l">
              <a:buNone/>
            </a:pPr>
            <a:r>
              <a:rPr sz="4200" b="1" i="0">
                <a:solidFill>
                  <a:srgbClr val="FFFFFF"/>
                </a:solidFill>
                <a:latin typeface="Cambria" panose="02040503050406030204"/>
              </a:rPr>
              <a:t>Storage &amp; Jobs</a:t>
            </a:r>
            <a:endParaRPr sz="4200" b="1" i="0">
              <a:solidFill>
                <a:srgbClr val="FFFFFF"/>
              </a:solidFill>
              <a:latin typeface="Cambria" panose="02040503050406030204"/>
            </a:endParaRPr>
          </a:p>
        </p:txBody>
      </p:sp>
      <p:sp>
        <p:nvSpPr>
          <p:cNvPr id="6" name="TextBox 5"/>
          <p:cNvSpPr txBox="1"/>
          <p:nvPr/>
        </p:nvSpPr>
        <p:spPr>
          <a:xfrm>
            <a:off x="731520" y="4133087"/>
            <a:ext cx="7772400" cy="457200"/>
          </a:xfrm>
          <a:prstGeom prst="rect">
            <a:avLst/>
          </a:prstGeom>
          <a:noFill/>
        </p:spPr>
        <p:txBody>
          <a:bodyPr wrap="square">
            <a:spAutoFit/>
          </a:bodyPr>
          <a:lstStyle/>
          <a:p>
            <a:pPr algn="l">
              <a:buNone/>
            </a:pPr>
            <a:r>
              <a:rPr sz="1600" b="0" i="0">
                <a:solidFill>
                  <a:srgbClr val="CBD5E1"/>
                </a:solidFill>
                <a:latin typeface="Calibri" panose="020F0502020204030204"/>
              </a:rPr>
              <a:t>Labs 18 &amp; 19 — PV/PVC, Jobs, CronJobs</a:t>
            </a:r>
            <a:endParaRPr sz="1600" b="0" i="0">
              <a:solidFill>
                <a:srgbClr val="CBD5E1"/>
              </a:solidFill>
              <a:latin typeface="Calibri" panose="020F0502020204030204"/>
            </a:endParaRPr>
          </a:p>
        </p:txBody>
      </p:sp>
      <p:sp>
        <p:nvSpPr>
          <p:cNvPr id="7" name="TextBox 6"/>
          <p:cNvSpPr txBox="1"/>
          <p:nvPr/>
        </p:nvSpPr>
        <p:spPr>
          <a:xfrm>
            <a:off x="8778240" y="1828800"/>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1</a:t>
            </a:r>
            <a:endParaRPr sz="1800" b="1" i="0">
              <a:solidFill>
                <a:srgbClr val="2496ED"/>
              </a:solidFill>
              <a:latin typeface="Cambria" panose="02040503050406030204"/>
            </a:endParaRPr>
          </a:p>
        </p:txBody>
      </p:sp>
      <p:sp>
        <p:nvSpPr>
          <p:cNvPr id="8" name="TextBox 7"/>
          <p:cNvSpPr txBox="1"/>
          <p:nvPr/>
        </p:nvSpPr>
        <p:spPr>
          <a:xfrm>
            <a:off x="9281160" y="1828800"/>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emptyDir volumes</a:t>
            </a:r>
            <a:endParaRPr sz="1800" b="0" i="0">
              <a:solidFill>
                <a:srgbClr val="CBD5E1"/>
              </a:solidFill>
              <a:latin typeface="Calibri" panose="020F0502020204030204"/>
            </a:endParaRPr>
          </a:p>
        </p:txBody>
      </p:sp>
      <p:sp>
        <p:nvSpPr>
          <p:cNvPr id="9" name="Rectangle 8"/>
          <p:cNvSpPr/>
          <p:nvPr/>
        </p:nvSpPr>
        <p:spPr>
          <a:xfrm>
            <a:off x="8778240" y="2359152"/>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78240" y="2450592"/>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2</a:t>
            </a:r>
            <a:endParaRPr sz="1800" b="1" i="0">
              <a:solidFill>
                <a:srgbClr val="2496ED"/>
              </a:solidFill>
              <a:latin typeface="Cambria" panose="02040503050406030204"/>
            </a:endParaRPr>
          </a:p>
        </p:txBody>
      </p:sp>
      <p:sp>
        <p:nvSpPr>
          <p:cNvPr id="11" name="TextBox 10"/>
          <p:cNvSpPr txBox="1"/>
          <p:nvPr/>
        </p:nvSpPr>
        <p:spPr>
          <a:xfrm>
            <a:off x="9281160" y="2450592"/>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PersistentVolume &amp; PVC</a:t>
            </a:r>
            <a:endParaRPr sz="1800" b="0" i="0">
              <a:solidFill>
                <a:srgbClr val="CBD5E1"/>
              </a:solidFill>
              <a:latin typeface="Calibri" panose="020F0502020204030204"/>
            </a:endParaRPr>
          </a:p>
        </p:txBody>
      </p:sp>
      <p:sp>
        <p:nvSpPr>
          <p:cNvPr id="12" name="Rectangle 11"/>
          <p:cNvSpPr/>
          <p:nvPr/>
        </p:nvSpPr>
        <p:spPr>
          <a:xfrm>
            <a:off x="8778240" y="2980944"/>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778240" y="3072384"/>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3</a:t>
            </a:r>
            <a:endParaRPr sz="1800" b="1" i="0">
              <a:solidFill>
                <a:srgbClr val="2496ED"/>
              </a:solidFill>
              <a:latin typeface="Cambria" panose="02040503050406030204"/>
            </a:endParaRPr>
          </a:p>
        </p:txBody>
      </p:sp>
      <p:sp>
        <p:nvSpPr>
          <p:cNvPr id="14" name="TextBox 13"/>
          <p:cNvSpPr txBox="1"/>
          <p:nvPr/>
        </p:nvSpPr>
        <p:spPr>
          <a:xfrm>
            <a:off x="9281160" y="3072384"/>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18: Storage</a:t>
            </a:r>
            <a:endParaRPr sz="1800" b="0" i="0">
              <a:solidFill>
                <a:srgbClr val="CBD5E1"/>
              </a:solidFill>
              <a:latin typeface="Calibri" panose="020F0502020204030204"/>
            </a:endParaRPr>
          </a:p>
        </p:txBody>
      </p:sp>
      <p:sp>
        <p:nvSpPr>
          <p:cNvPr id="15" name="Rectangle 14"/>
          <p:cNvSpPr/>
          <p:nvPr/>
        </p:nvSpPr>
        <p:spPr>
          <a:xfrm>
            <a:off x="8778240" y="3602736"/>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778240" y="3694176"/>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4</a:t>
            </a:r>
            <a:endParaRPr sz="1800" b="1" i="0">
              <a:solidFill>
                <a:srgbClr val="2496ED"/>
              </a:solidFill>
              <a:latin typeface="Cambria" panose="02040503050406030204"/>
            </a:endParaRPr>
          </a:p>
        </p:txBody>
      </p:sp>
      <p:sp>
        <p:nvSpPr>
          <p:cNvPr id="17" name="TextBox 16"/>
          <p:cNvSpPr txBox="1"/>
          <p:nvPr/>
        </p:nvSpPr>
        <p:spPr>
          <a:xfrm>
            <a:off x="9281160" y="3694176"/>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Jobs &amp; CronJobs</a:t>
            </a:r>
            <a:endParaRPr sz="1800" b="0" i="0">
              <a:solidFill>
                <a:srgbClr val="CBD5E1"/>
              </a:solidFill>
              <a:latin typeface="Calibri" panose="020F0502020204030204"/>
            </a:endParaRPr>
          </a:p>
        </p:txBody>
      </p:sp>
      <p:sp>
        <p:nvSpPr>
          <p:cNvPr id="18" name="Rectangle 17"/>
          <p:cNvSpPr/>
          <p:nvPr/>
        </p:nvSpPr>
        <p:spPr>
          <a:xfrm>
            <a:off x="8778240" y="4224528"/>
            <a:ext cx="2880360" cy="13716"/>
          </a:xfrm>
          <a:prstGeom prst="rect">
            <a:avLst/>
          </a:prstGeom>
          <a:solidFill>
            <a:srgbClr val="4A5C6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78240" y="4315968"/>
            <a:ext cx="457200" cy="420624"/>
          </a:xfrm>
          <a:prstGeom prst="rect">
            <a:avLst/>
          </a:prstGeom>
          <a:noFill/>
        </p:spPr>
        <p:txBody>
          <a:bodyPr wrap="square">
            <a:spAutoFit/>
          </a:bodyPr>
          <a:lstStyle/>
          <a:p>
            <a:pPr algn="l">
              <a:buNone/>
            </a:pPr>
            <a:r>
              <a:rPr sz="1800" b="1" i="0">
                <a:solidFill>
                  <a:srgbClr val="2496ED"/>
                </a:solidFill>
                <a:latin typeface="Cambria" panose="02040503050406030204"/>
              </a:rPr>
              <a:t>5</a:t>
            </a:r>
            <a:endParaRPr sz="1800" b="1" i="0">
              <a:solidFill>
                <a:srgbClr val="2496ED"/>
              </a:solidFill>
              <a:latin typeface="Cambria" panose="02040503050406030204"/>
            </a:endParaRPr>
          </a:p>
        </p:txBody>
      </p:sp>
      <p:sp>
        <p:nvSpPr>
          <p:cNvPr id="20" name="TextBox 19"/>
          <p:cNvSpPr txBox="1"/>
          <p:nvPr/>
        </p:nvSpPr>
        <p:spPr>
          <a:xfrm>
            <a:off x="9281160" y="4315968"/>
            <a:ext cx="2560320" cy="420624"/>
          </a:xfrm>
          <a:prstGeom prst="rect">
            <a:avLst/>
          </a:prstGeom>
          <a:noFill/>
        </p:spPr>
        <p:txBody>
          <a:bodyPr wrap="square">
            <a:spAutoFit/>
          </a:bodyPr>
          <a:lstStyle/>
          <a:p>
            <a:pPr algn="l">
              <a:buNone/>
            </a:pPr>
            <a:r>
              <a:rPr sz="1800" b="0" i="0">
                <a:solidFill>
                  <a:srgbClr val="CBD5E1"/>
                </a:solidFill>
                <a:latin typeface="Calibri" panose="020F0502020204030204"/>
              </a:rPr>
              <a:t>Lab 19: Jobs</a:t>
            </a:r>
            <a:endParaRPr sz="1800" b="0" i="0">
              <a:solidFill>
                <a:srgbClr val="CBD5E1"/>
              </a:solidFill>
              <a:latin typeface="Calibri" panose="020F0502020204030204"/>
            </a:endParaRPr>
          </a:p>
        </p:txBody>
      </p:sp>
      <p:sp>
        <p:nvSpPr>
          <p:cNvPr id="21" name="TextBox 20"/>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2" name="TextBox 21"/>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3" name="TextBox 22"/>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122</a:t>
            </a:r>
            <a:endParaRPr sz="900" b="0" i="0">
              <a:solidFill>
                <a:srgbClr val="718596"/>
              </a:solidFill>
              <a:latin typeface="Calibri" panose="020F0502020204030204"/>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Storage in Kubernetes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Container storage is ephemeral — files written inside a container are lost when it restarts. K8s offers several volume types to persist data.</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Volume types used in this course:</a:t>
            </a:r>
            <a:endParaRPr sz="1600" b="1" i="0">
              <a:solidFill>
                <a:srgbClr val="0F172A"/>
              </a:solidFill>
              <a:latin typeface="Calibri" panose="020F0502020204030204"/>
            </a:endParaRPr>
          </a:p>
        </p:txBody>
      </p:sp>
      <p:sp>
        <p:nvSpPr>
          <p:cNvPr id="9" name="TextBox 8"/>
          <p:cNvSpPr txBox="1"/>
          <p:nvPr/>
        </p:nvSpPr>
        <p:spPr>
          <a:xfrm>
            <a:off x="640080" y="270662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emptyDir</a:t>
            </a:r>
            <a:endParaRPr sz="1600" b="1" i="0">
              <a:solidFill>
                <a:srgbClr val="0F172A"/>
              </a:solidFill>
              <a:latin typeface="Calibri" panose="020F0502020204030204"/>
            </a:endParaRPr>
          </a:p>
        </p:txBody>
      </p:sp>
      <p:sp>
        <p:nvSpPr>
          <p:cNvPr id="10" name="TextBox 9"/>
          <p:cNvSpPr txBox="1"/>
          <p:nvPr/>
        </p:nvSpPr>
        <p:spPr>
          <a:xfrm>
            <a:off x="640080" y="307238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Temporary directory shared between containers in the same Pod. Deleted when the Pod is removed.</a:t>
            </a:r>
            <a:endParaRPr sz="1600" b="0" i="0">
              <a:solidFill>
                <a:srgbClr val="0F172A"/>
              </a:solidFill>
              <a:latin typeface="Calibri" panose="020F0502020204030204"/>
            </a:endParaRPr>
          </a:p>
        </p:txBody>
      </p:sp>
      <p:sp>
        <p:nvSpPr>
          <p:cNvPr id="11" name="TextBox 10"/>
          <p:cNvSpPr txBox="1"/>
          <p:nvPr/>
        </p:nvSpPr>
        <p:spPr>
          <a:xfrm>
            <a:off x="640080" y="363931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PersistentVolume  (PV)  +  PersistentVolumeClaim  (PVC)</a:t>
            </a:r>
            <a:endParaRPr sz="1600" b="1" i="0">
              <a:solidFill>
                <a:srgbClr val="0F172A"/>
              </a:solidFill>
              <a:latin typeface="Calibri" panose="020F0502020204030204"/>
            </a:endParaRPr>
          </a:p>
        </p:txBody>
      </p:sp>
      <p:sp>
        <p:nvSpPr>
          <p:cNvPr id="12" name="TextBox 11"/>
          <p:cNvSpPr txBox="1"/>
          <p:nvPr/>
        </p:nvSpPr>
        <p:spPr>
          <a:xfrm>
            <a:off x="640080" y="4005072"/>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Decouple storage from Pod lifecycle. Data persists across Pod restarts and deletions.</a:t>
            </a:r>
            <a:endParaRPr sz="1600" b="0"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123</a:t>
            </a:r>
            <a:endParaRPr sz="900" b="0" i="0">
              <a:solidFill>
                <a:srgbClr val="718596"/>
              </a:solidFill>
              <a:latin typeface="Calibri" panose="020F0502020204030204"/>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emptyDir — Shared Temporary Storage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emptyDir is created when a Pod is assigned to a node and deleted when the Pod is removed. All containers in the Pod can read/write the same directory.</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Common use cases: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Share files between a main container and a sidecar</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Cache data that can be recomputed</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Scratch space for batch processing</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Key point: emptyDir survives container restarts (crash/liveness probe), but is deleted when the whole Pod is removed.</a:t>
            </a:r>
            <a:endParaRPr sz="1600" b="1"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124</a:t>
            </a:r>
            <a:endParaRPr sz="900" b="0" i="0">
              <a:solidFill>
                <a:srgbClr val="718596"/>
              </a:solidFill>
              <a:latin typeface="Calibri" panose="020F0502020204030204"/>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PersistentVolume &amp; PVC</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PersistentVolume  (PV)  — cluster resource</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A piece of storage provisioned by an admin (hostPath, NFS, cloud disk). Exists independently of any Pod.</a:t>
            </a:r>
            <a:endParaRPr sz="1600" b="0"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PersistentVolumeClaim  (PVC)  — Pod's storage request</a:t>
            </a:r>
            <a:endParaRPr sz="1600" b="1"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A request for storage: "I need 500Mi with ReadWriteOnce access."</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K8s binds the PVC to a matching PV automatically.</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Lifecycle:</a:t>
            </a:r>
            <a:endParaRPr sz="1600" b="1"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PV created -&gt; PVC created -&gt; PVC binds to PV -&gt; Pod mounts PVC -&gt; data persists across pod restarts</a:t>
            </a:r>
            <a:endParaRPr sz="1600" b="0" i="0">
              <a:solidFill>
                <a:srgbClr val="0F172A"/>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125</a:t>
            </a:r>
            <a:endParaRPr sz="900" b="0" i="0">
              <a:solidFill>
                <a:srgbClr val="718596"/>
              </a:solidFill>
              <a:latin typeface="Calibri" panose="020F0502020204030204"/>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KUBERNETES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PV → PVC → Pod: Storage Binding Chain</a:t>
            </a:r>
            <a:endParaRPr sz="2600" b="1" i="0">
              <a:solidFill>
                <a:srgbClr val="FFFFFF"/>
              </a:solidFill>
              <a:latin typeface="Cambria" panose="02040503050406030204"/>
            </a:endParaRPr>
          </a:p>
        </p:txBody>
      </p:sp>
      <p:sp>
        <p:nvSpPr>
          <p:cNvPr id="7" name="Rectangle 6"/>
          <p:cNvSpPr/>
          <p:nvPr/>
        </p:nvSpPr>
        <p:spPr>
          <a:xfrm>
            <a:off x="548640" y="2231136"/>
            <a:ext cx="2560320" cy="1737360"/>
          </a:xfrm>
          <a:prstGeom prst="rect">
            <a:avLst/>
          </a:prstGeom>
          <a:solidFill>
            <a:srgbClr val="7B54A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2322576"/>
            <a:ext cx="2377439" cy="475488"/>
          </a:xfrm>
          <a:prstGeom prst="rect">
            <a:avLst/>
          </a:prstGeom>
          <a:noFill/>
        </p:spPr>
        <p:txBody>
          <a:bodyPr wrap="square">
            <a:spAutoFit/>
          </a:bodyPr>
          <a:lstStyle/>
          <a:p>
            <a:pPr algn="ctr">
              <a:buNone/>
            </a:pPr>
            <a:r>
              <a:rPr sz="1300" b="1" i="0">
                <a:solidFill>
                  <a:srgbClr val="FFFFFF"/>
                </a:solidFill>
                <a:latin typeface="Cambria" panose="02040503050406030204"/>
              </a:rPr>
              <a:t>PersistentVolume
(PV)</a:t>
            </a:r>
            <a:endParaRPr sz="1300" b="1" i="0">
              <a:solidFill>
                <a:srgbClr val="FFFFFF"/>
              </a:solidFill>
              <a:latin typeface="Cambria" panose="02040503050406030204"/>
            </a:endParaRPr>
          </a:p>
        </p:txBody>
      </p:sp>
      <p:sp>
        <p:nvSpPr>
          <p:cNvPr id="9" name="TextBox 8"/>
          <p:cNvSpPr txBox="1"/>
          <p:nvPr/>
        </p:nvSpPr>
        <p:spPr>
          <a:xfrm>
            <a:off x="658368" y="2852928"/>
            <a:ext cx="2340863" cy="877824"/>
          </a:xfrm>
          <a:prstGeom prst="rect">
            <a:avLst/>
          </a:prstGeom>
          <a:noFill/>
        </p:spPr>
        <p:txBody>
          <a:bodyPr wrap="square">
            <a:spAutoFit/>
          </a:bodyPr>
          <a:lstStyle/>
          <a:p>
            <a:pPr algn="l">
              <a:buNone/>
            </a:pPr>
            <a:r>
              <a:rPr sz="1100" b="0" i="0">
                <a:solidFill>
                  <a:srgbClr val="94A3B8"/>
                </a:solidFill>
                <a:latin typeface="Calibri" panose="020F0502020204030204"/>
              </a:rPr>
              <a:t>Cluster Admin creates
1Gi hostPath storage
ReclaimPolicy: Retain</a:t>
            </a:r>
            <a:endParaRPr sz="1100" b="0" i="0">
              <a:solidFill>
                <a:srgbClr val="94A3B8"/>
              </a:solidFill>
              <a:latin typeface="Calibri" panose="020F0502020204030204"/>
            </a:endParaRPr>
          </a:p>
        </p:txBody>
      </p:sp>
      <p:sp>
        <p:nvSpPr>
          <p:cNvPr id="10" name="TextBox 9"/>
          <p:cNvSpPr txBox="1"/>
          <p:nvPr/>
        </p:nvSpPr>
        <p:spPr>
          <a:xfrm>
            <a:off x="640080" y="3749039"/>
            <a:ext cx="2377439" cy="237744"/>
          </a:xfrm>
          <a:prstGeom prst="rect">
            <a:avLst/>
          </a:prstGeom>
          <a:noFill/>
        </p:spPr>
        <p:txBody>
          <a:bodyPr wrap="square">
            <a:spAutoFit/>
          </a:bodyPr>
          <a:lstStyle/>
          <a:p>
            <a:pPr algn="ctr">
              <a:buNone/>
            </a:pPr>
            <a:r>
              <a:rPr sz="900" b="0" i="1">
                <a:solidFill>
                  <a:srgbClr val="FFFFFF"/>
                </a:solidFill>
                <a:latin typeface="Calibri" panose="020F0502020204030204"/>
              </a:rPr>
              <a:t>Role: Cluster Resource</a:t>
            </a:r>
            <a:endParaRPr sz="900" b="0" i="1">
              <a:solidFill>
                <a:srgbClr val="FFFFFF"/>
              </a:solidFill>
              <a:latin typeface="Calibri" panose="020F0502020204030204"/>
            </a:endParaRPr>
          </a:p>
        </p:txBody>
      </p:sp>
      <p:sp>
        <p:nvSpPr>
          <p:cNvPr id="11" name="TextBox 10"/>
          <p:cNvSpPr txBox="1"/>
          <p:nvPr/>
        </p:nvSpPr>
        <p:spPr>
          <a:xfrm>
            <a:off x="3310128" y="2779776"/>
            <a:ext cx="694944" cy="585216"/>
          </a:xfrm>
          <a:prstGeom prst="rect">
            <a:avLst/>
          </a:prstGeom>
          <a:noFill/>
        </p:spPr>
        <p:txBody>
          <a:bodyPr wrap="square">
            <a:spAutoFit/>
          </a:bodyPr>
          <a:lstStyle/>
          <a:p>
            <a:pPr algn="ctr">
              <a:buNone/>
            </a:pPr>
            <a:r>
              <a:rPr sz="1600" b="1" i="0">
                <a:solidFill>
                  <a:srgbClr val="2496ED"/>
                </a:solidFill>
                <a:latin typeface="Calibri" panose="020F0502020204030204"/>
              </a:rPr>
              <a:t>→
binds</a:t>
            </a:r>
            <a:endParaRPr sz="1600" b="1" i="0">
              <a:solidFill>
                <a:srgbClr val="2496ED"/>
              </a:solidFill>
              <a:latin typeface="Calibri" panose="020F0502020204030204"/>
            </a:endParaRPr>
          </a:p>
        </p:txBody>
      </p:sp>
      <p:sp>
        <p:nvSpPr>
          <p:cNvPr id="12" name="Rectangle 11"/>
          <p:cNvSpPr/>
          <p:nvPr/>
        </p:nvSpPr>
        <p:spPr>
          <a:xfrm>
            <a:off x="4370831" y="2231136"/>
            <a:ext cx="2560320" cy="1737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62271" y="2322576"/>
            <a:ext cx="2377439" cy="475488"/>
          </a:xfrm>
          <a:prstGeom prst="rect">
            <a:avLst/>
          </a:prstGeom>
          <a:noFill/>
        </p:spPr>
        <p:txBody>
          <a:bodyPr wrap="square">
            <a:spAutoFit/>
          </a:bodyPr>
          <a:lstStyle/>
          <a:p>
            <a:pPr algn="ctr">
              <a:buNone/>
            </a:pPr>
            <a:r>
              <a:rPr sz="1300" b="1" i="0">
                <a:solidFill>
                  <a:srgbClr val="FFFFFF"/>
                </a:solidFill>
                <a:latin typeface="Cambria" panose="02040503050406030204"/>
              </a:rPr>
              <a:t>PersistentVolume
Claim (PVC)</a:t>
            </a:r>
            <a:endParaRPr sz="1300" b="1" i="0">
              <a:solidFill>
                <a:srgbClr val="FFFFFF"/>
              </a:solidFill>
              <a:latin typeface="Cambria" panose="02040503050406030204"/>
            </a:endParaRPr>
          </a:p>
        </p:txBody>
      </p:sp>
      <p:sp>
        <p:nvSpPr>
          <p:cNvPr id="14" name="TextBox 13"/>
          <p:cNvSpPr txBox="1"/>
          <p:nvPr/>
        </p:nvSpPr>
        <p:spPr>
          <a:xfrm>
            <a:off x="4480559" y="2852928"/>
            <a:ext cx="2340863" cy="877824"/>
          </a:xfrm>
          <a:prstGeom prst="rect">
            <a:avLst/>
          </a:prstGeom>
          <a:noFill/>
        </p:spPr>
        <p:txBody>
          <a:bodyPr wrap="square">
            <a:spAutoFit/>
          </a:bodyPr>
          <a:lstStyle/>
          <a:p>
            <a:pPr algn="l">
              <a:buNone/>
            </a:pPr>
            <a:r>
              <a:rPr sz="1100" b="0" i="0">
                <a:solidFill>
                  <a:srgbClr val="94A3B8"/>
                </a:solidFill>
                <a:latin typeface="Calibri" panose="020F0502020204030204"/>
              </a:rPr>
              <a:t>Developer requests
500Mi ReadWriteOnce
K8s finds matching PV</a:t>
            </a:r>
            <a:endParaRPr sz="1100" b="0" i="0">
              <a:solidFill>
                <a:srgbClr val="94A3B8"/>
              </a:solidFill>
              <a:latin typeface="Calibri" panose="020F0502020204030204"/>
            </a:endParaRPr>
          </a:p>
        </p:txBody>
      </p:sp>
      <p:sp>
        <p:nvSpPr>
          <p:cNvPr id="15" name="TextBox 14"/>
          <p:cNvSpPr txBox="1"/>
          <p:nvPr/>
        </p:nvSpPr>
        <p:spPr>
          <a:xfrm>
            <a:off x="4462271" y="3749039"/>
            <a:ext cx="2377439" cy="237744"/>
          </a:xfrm>
          <a:prstGeom prst="rect">
            <a:avLst/>
          </a:prstGeom>
          <a:noFill/>
        </p:spPr>
        <p:txBody>
          <a:bodyPr wrap="square">
            <a:spAutoFit/>
          </a:bodyPr>
          <a:lstStyle/>
          <a:p>
            <a:pPr algn="ctr">
              <a:buNone/>
            </a:pPr>
            <a:r>
              <a:rPr sz="900" b="0" i="1">
                <a:solidFill>
                  <a:srgbClr val="FFFFFF"/>
                </a:solidFill>
                <a:latin typeface="Calibri" panose="020F0502020204030204"/>
              </a:rPr>
              <a:t>Role: Pod’s Storage Request</a:t>
            </a:r>
            <a:endParaRPr sz="900" b="0" i="1">
              <a:solidFill>
                <a:srgbClr val="FFFFFF"/>
              </a:solidFill>
              <a:latin typeface="Calibri" panose="020F0502020204030204"/>
            </a:endParaRPr>
          </a:p>
        </p:txBody>
      </p:sp>
      <p:sp>
        <p:nvSpPr>
          <p:cNvPr id="16" name="TextBox 15"/>
          <p:cNvSpPr txBox="1"/>
          <p:nvPr/>
        </p:nvSpPr>
        <p:spPr>
          <a:xfrm>
            <a:off x="7132319" y="2779776"/>
            <a:ext cx="694944" cy="585216"/>
          </a:xfrm>
          <a:prstGeom prst="rect">
            <a:avLst/>
          </a:prstGeom>
          <a:noFill/>
        </p:spPr>
        <p:txBody>
          <a:bodyPr wrap="square">
            <a:spAutoFit/>
          </a:bodyPr>
          <a:lstStyle/>
          <a:p>
            <a:pPr algn="ctr">
              <a:buNone/>
            </a:pPr>
            <a:r>
              <a:rPr sz="1600" b="1" i="0">
                <a:solidFill>
                  <a:srgbClr val="2496ED"/>
                </a:solidFill>
                <a:latin typeface="Calibri" panose="020F0502020204030204"/>
              </a:rPr>
              <a:t>→
binds</a:t>
            </a:r>
            <a:endParaRPr sz="1600" b="1" i="0">
              <a:solidFill>
                <a:srgbClr val="2496ED"/>
              </a:solidFill>
              <a:latin typeface="Calibri" panose="020F0502020204030204"/>
            </a:endParaRPr>
          </a:p>
        </p:txBody>
      </p:sp>
      <p:sp>
        <p:nvSpPr>
          <p:cNvPr id="17" name="Rectangle 16"/>
          <p:cNvSpPr/>
          <p:nvPr/>
        </p:nvSpPr>
        <p:spPr>
          <a:xfrm>
            <a:off x="8193023" y="2231136"/>
            <a:ext cx="2560320" cy="173736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84463" y="2322576"/>
            <a:ext cx="2377439" cy="475488"/>
          </a:xfrm>
          <a:prstGeom prst="rect">
            <a:avLst/>
          </a:prstGeom>
          <a:noFill/>
        </p:spPr>
        <p:txBody>
          <a:bodyPr wrap="square">
            <a:spAutoFit/>
          </a:bodyPr>
          <a:lstStyle/>
          <a:p>
            <a:pPr algn="ctr">
              <a:buNone/>
            </a:pPr>
            <a:r>
              <a:rPr sz="1300" b="1" i="0">
                <a:solidFill>
                  <a:srgbClr val="FFFFFF"/>
                </a:solidFill>
                <a:latin typeface="Cambria" panose="02040503050406030204"/>
              </a:rPr>
              <a:t>Pod</a:t>
            </a:r>
            <a:endParaRPr sz="1300" b="1" i="0">
              <a:solidFill>
                <a:srgbClr val="FFFFFF"/>
              </a:solidFill>
              <a:latin typeface="Cambria" panose="02040503050406030204"/>
            </a:endParaRPr>
          </a:p>
        </p:txBody>
      </p:sp>
      <p:sp>
        <p:nvSpPr>
          <p:cNvPr id="19" name="TextBox 18"/>
          <p:cNvSpPr txBox="1"/>
          <p:nvPr/>
        </p:nvSpPr>
        <p:spPr>
          <a:xfrm>
            <a:off x="8302751" y="2852928"/>
            <a:ext cx="2340863" cy="877824"/>
          </a:xfrm>
          <a:prstGeom prst="rect">
            <a:avLst/>
          </a:prstGeom>
          <a:noFill/>
        </p:spPr>
        <p:txBody>
          <a:bodyPr wrap="square">
            <a:spAutoFit/>
          </a:bodyPr>
          <a:lstStyle/>
          <a:p>
            <a:pPr algn="l">
              <a:buNone/>
            </a:pPr>
            <a:r>
              <a:rPr sz="1100" b="0" i="0">
                <a:solidFill>
                  <a:srgbClr val="94A3B8"/>
                </a:solidFill>
                <a:latin typeface="Calibri" panose="020F0502020204030204"/>
              </a:rPr>
              <a:t>Mounts PVC at /data
Reads &amp; writes files
Data survives pod restart</a:t>
            </a:r>
            <a:endParaRPr sz="1100" b="0" i="0">
              <a:solidFill>
                <a:srgbClr val="94A3B8"/>
              </a:solidFill>
              <a:latin typeface="Calibri" panose="020F0502020204030204"/>
            </a:endParaRPr>
          </a:p>
        </p:txBody>
      </p:sp>
      <p:sp>
        <p:nvSpPr>
          <p:cNvPr id="20" name="TextBox 19"/>
          <p:cNvSpPr txBox="1"/>
          <p:nvPr/>
        </p:nvSpPr>
        <p:spPr>
          <a:xfrm>
            <a:off x="8284463" y="3749039"/>
            <a:ext cx="2377439" cy="237744"/>
          </a:xfrm>
          <a:prstGeom prst="rect">
            <a:avLst/>
          </a:prstGeom>
          <a:noFill/>
        </p:spPr>
        <p:txBody>
          <a:bodyPr wrap="square">
            <a:spAutoFit/>
          </a:bodyPr>
          <a:lstStyle/>
          <a:p>
            <a:pPr algn="ctr">
              <a:buNone/>
            </a:pPr>
            <a:r>
              <a:rPr sz="900" b="0" i="1">
                <a:solidFill>
                  <a:srgbClr val="FFFFFF"/>
                </a:solidFill>
                <a:latin typeface="Calibri" panose="020F0502020204030204"/>
              </a:rPr>
              <a:t>Role: App Container</a:t>
            </a:r>
            <a:endParaRPr sz="900" b="0" i="1">
              <a:solidFill>
                <a:srgbClr val="FFFFFF"/>
              </a:solidFill>
              <a:latin typeface="Calibri" panose="020F0502020204030204"/>
            </a:endParaRPr>
          </a:p>
        </p:txBody>
      </p:sp>
      <p:sp>
        <p:nvSpPr>
          <p:cNvPr id="21" name="Rectangle 20"/>
          <p:cNvSpPr/>
          <p:nvPr/>
        </p:nvSpPr>
        <p:spPr>
          <a:xfrm>
            <a:off x="8778240" y="2231136"/>
            <a:ext cx="2926080" cy="1737360"/>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23960" y="2322576"/>
            <a:ext cx="2834640" cy="329184"/>
          </a:xfrm>
          <a:prstGeom prst="rect">
            <a:avLst/>
          </a:prstGeom>
          <a:noFill/>
        </p:spPr>
        <p:txBody>
          <a:bodyPr wrap="square">
            <a:spAutoFit/>
          </a:bodyPr>
          <a:lstStyle/>
          <a:p>
            <a:pPr algn="l">
              <a:buNone/>
            </a:pPr>
            <a:r>
              <a:rPr sz="1300" b="1" i="0">
                <a:solidFill>
                  <a:srgbClr val="0F172A"/>
                </a:solidFill>
                <a:latin typeface="Cambria" panose="02040503050406030204"/>
              </a:rPr>
              <a:t>Storage Backends</a:t>
            </a:r>
            <a:endParaRPr sz="1300" b="1" i="0">
              <a:solidFill>
                <a:srgbClr val="0F172A"/>
              </a:solidFill>
              <a:latin typeface="Cambria" panose="02040503050406030204"/>
            </a:endParaRPr>
          </a:p>
        </p:txBody>
      </p:sp>
      <p:sp>
        <p:nvSpPr>
          <p:cNvPr id="23" name="TextBox 22"/>
          <p:cNvSpPr txBox="1"/>
          <p:nvPr/>
        </p:nvSpPr>
        <p:spPr>
          <a:xfrm>
            <a:off x="8851392" y="2724912"/>
            <a:ext cx="2779776" cy="237744"/>
          </a:xfrm>
          <a:prstGeom prst="rect">
            <a:avLst/>
          </a:prstGeom>
          <a:noFill/>
        </p:spPr>
        <p:txBody>
          <a:bodyPr wrap="square">
            <a:spAutoFit/>
          </a:bodyPr>
          <a:lstStyle/>
          <a:p>
            <a:pPr algn="l">
              <a:buNone/>
            </a:pPr>
            <a:r>
              <a:rPr sz="1000" b="0" i="0">
                <a:solidFill>
                  <a:srgbClr val="0F172A"/>
                </a:solidFill>
                <a:latin typeface="Calibri" panose="020F0502020204030204"/>
              </a:rPr>
              <a:t>hostPath  (single node / dev)</a:t>
            </a:r>
            <a:endParaRPr sz="1000" b="0" i="0">
              <a:solidFill>
                <a:srgbClr val="0F172A"/>
              </a:solidFill>
              <a:latin typeface="Calibri" panose="020F0502020204030204"/>
            </a:endParaRPr>
          </a:p>
        </p:txBody>
      </p:sp>
      <p:sp>
        <p:nvSpPr>
          <p:cNvPr id="24" name="TextBox 23"/>
          <p:cNvSpPr txBox="1"/>
          <p:nvPr/>
        </p:nvSpPr>
        <p:spPr>
          <a:xfrm>
            <a:off x="8851392" y="2980944"/>
            <a:ext cx="2779776" cy="237744"/>
          </a:xfrm>
          <a:prstGeom prst="rect">
            <a:avLst/>
          </a:prstGeom>
          <a:noFill/>
        </p:spPr>
        <p:txBody>
          <a:bodyPr wrap="square">
            <a:spAutoFit/>
          </a:bodyPr>
          <a:lstStyle/>
          <a:p>
            <a:pPr algn="l">
              <a:buNone/>
            </a:pPr>
            <a:r>
              <a:rPr sz="1000" b="0" i="0">
                <a:solidFill>
                  <a:srgbClr val="0F172A"/>
                </a:solidFill>
                <a:latin typeface="Calibri" panose="020F0502020204030204"/>
              </a:rPr>
              <a:t>NFS  (shared across nodes)</a:t>
            </a:r>
            <a:endParaRPr sz="1000" b="0" i="0">
              <a:solidFill>
                <a:srgbClr val="0F172A"/>
              </a:solidFill>
              <a:latin typeface="Calibri" panose="020F0502020204030204"/>
            </a:endParaRPr>
          </a:p>
        </p:txBody>
      </p:sp>
      <p:sp>
        <p:nvSpPr>
          <p:cNvPr id="25" name="TextBox 24"/>
          <p:cNvSpPr txBox="1"/>
          <p:nvPr/>
        </p:nvSpPr>
        <p:spPr>
          <a:xfrm>
            <a:off x="8851392" y="3236976"/>
            <a:ext cx="2779776" cy="237744"/>
          </a:xfrm>
          <a:prstGeom prst="rect">
            <a:avLst/>
          </a:prstGeom>
          <a:noFill/>
        </p:spPr>
        <p:txBody>
          <a:bodyPr wrap="square">
            <a:spAutoFit/>
          </a:bodyPr>
          <a:lstStyle/>
          <a:p>
            <a:pPr algn="l">
              <a:buNone/>
            </a:pPr>
            <a:r>
              <a:rPr sz="1000" b="0" i="0">
                <a:solidFill>
                  <a:srgbClr val="0F172A"/>
                </a:solidFill>
                <a:latin typeface="Calibri" panose="020F0502020204030204"/>
              </a:rPr>
              <a:t>AWS EBS / Azure Disk</a:t>
            </a:r>
            <a:endParaRPr sz="1000" b="0" i="0">
              <a:solidFill>
                <a:srgbClr val="0F172A"/>
              </a:solidFill>
              <a:latin typeface="Calibri" panose="020F0502020204030204"/>
            </a:endParaRPr>
          </a:p>
        </p:txBody>
      </p:sp>
      <p:sp>
        <p:nvSpPr>
          <p:cNvPr id="26" name="TextBox 25"/>
          <p:cNvSpPr txBox="1"/>
          <p:nvPr/>
        </p:nvSpPr>
        <p:spPr>
          <a:xfrm>
            <a:off x="8851392" y="3493008"/>
            <a:ext cx="2779776" cy="237744"/>
          </a:xfrm>
          <a:prstGeom prst="rect">
            <a:avLst/>
          </a:prstGeom>
          <a:noFill/>
        </p:spPr>
        <p:txBody>
          <a:bodyPr wrap="square">
            <a:spAutoFit/>
          </a:bodyPr>
          <a:lstStyle/>
          <a:p>
            <a:pPr algn="l">
              <a:buNone/>
            </a:pPr>
            <a:r>
              <a:rPr sz="1000" b="0" i="0">
                <a:solidFill>
                  <a:srgbClr val="0F172A"/>
                </a:solidFill>
                <a:latin typeface="Calibri" panose="020F0502020204030204"/>
              </a:rPr>
              <a:t>GCP Persistent Disk</a:t>
            </a:r>
            <a:endParaRPr sz="1000" b="0" i="0">
              <a:solidFill>
                <a:srgbClr val="0F172A"/>
              </a:solidFill>
              <a:latin typeface="Calibri" panose="020F0502020204030204"/>
            </a:endParaRPr>
          </a:p>
        </p:txBody>
      </p:sp>
      <p:sp>
        <p:nvSpPr>
          <p:cNvPr id="27" name="TextBox 26"/>
          <p:cNvSpPr txBox="1"/>
          <p:nvPr/>
        </p:nvSpPr>
        <p:spPr>
          <a:xfrm>
            <a:off x="8851392" y="3749039"/>
            <a:ext cx="2779776" cy="237744"/>
          </a:xfrm>
          <a:prstGeom prst="rect">
            <a:avLst/>
          </a:prstGeom>
          <a:noFill/>
        </p:spPr>
        <p:txBody>
          <a:bodyPr wrap="square">
            <a:spAutoFit/>
          </a:bodyPr>
          <a:lstStyle/>
          <a:p>
            <a:pPr algn="l">
              <a:buNone/>
            </a:pPr>
            <a:r>
              <a:rPr sz="1000" b="0" i="0">
                <a:solidFill>
                  <a:srgbClr val="0F172A"/>
                </a:solidFill>
                <a:latin typeface="Calibri" panose="020F0502020204030204"/>
              </a:rPr>
              <a:t>Ceph / Rook  (on-prem)</a:t>
            </a:r>
            <a:endParaRPr sz="1000" b="0" i="0">
              <a:solidFill>
                <a:srgbClr val="0F172A"/>
              </a:solidFill>
              <a:latin typeface="Calibri" panose="020F0502020204030204"/>
            </a:endParaRPr>
          </a:p>
        </p:txBody>
      </p:sp>
      <p:sp>
        <p:nvSpPr>
          <p:cNvPr id="28" name="TextBox 27"/>
          <p:cNvSpPr txBox="1"/>
          <p:nvPr/>
        </p:nvSpPr>
        <p:spPr>
          <a:xfrm>
            <a:off x="548640" y="4169663"/>
            <a:ext cx="11064240" cy="310896"/>
          </a:xfrm>
          <a:prstGeom prst="rect">
            <a:avLst/>
          </a:prstGeom>
          <a:noFill/>
        </p:spPr>
        <p:txBody>
          <a:bodyPr wrap="square">
            <a:spAutoFit/>
          </a:bodyPr>
          <a:lstStyle/>
          <a:p>
            <a:pPr algn="l">
              <a:buNone/>
            </a:pPr>
            <a:r>
              <a:rPr sz="1100" b="0" i="1">
                <a:solidFill>
                  <a:srgbClr val="64748B"/>
                </a:solidFill>
                <a:latin typeface="Calibri" panose="020F0502020204030204"/>
              </a:rPr>
              <a:t>Data survives:  pod restart  •  pod deletion  •  node reboot  (depending on storage backend and ReclaimPolicy)</a:t>
            </a:r>
            <a:endParaRPr sz="1100" b="0" i="1">
              <a:solidFill>
                <a:srgbClr val="64748B"/>
              </a:solidFill>
              <a:latin typeface="Calibri" panose="020F0502020204030204"/>
            </a:endParaRPr>
          </a:p>
        </p:txBody>
      </p:sp>
      <p:sp>
        <p:nvSpPr>
          <p:cNvPr id="29" name="TextBox 28"/>
          <p:cNvSpPr txBox="1"/>
          <p:nvPr/>
        </p:nvSpPr>
        <p:spPr>
          <a:xfrm>
            <a:off x="548640" y="4517136"/>
            <a:ext cx="11064240" cy="310896"/>
          </a:xfrm>
          <a:prstGeom prst="rect">
            <a:avLst/>
          </a:prstGeom>
          <a:noFill/>
        </p:spPr>
        <p:txBody>
          <a:bodyPr wrap="square">
            <a:spAutoFit/>
          </a:bodyPr>
          <a:lstStyle/>
          <a:p>
            <a:pPr algn="l">
              <a:buNone/>
            </a:pPr>
            <a:r>
              <a:rPr sz="1000" b="0" i="0">
                <a:solidFill>
                  <a:srgbClr val="0F172A"/>
                </a:solidFill>
                <a:latin typeface="Calibri" panose="020F0502020204030204"/>
              </a:rPr>
              <a:t>Static: Admin creates PV manually.   Dynamic: StorageClass auto-creates PV when PVC is submitted.</a:t>
            </a:r>
            <a:endParaRPr sz="1000" b="0" i="0">
              <a:solidFill>
                <a:srgbClr val="0F172A"/>
              </a:solidFill>
              <a:latin typeface="Calibri" panose="020F0502020204030204"/>
            </a:endParaRPr>
          </a:p>
        </p:txBody>
      </p:sp>
      <p:sp>
        <p:nvSpPr>
          <p:cNvPr id="30" name="TextBox 29"/>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1" name="TextBox 30"/>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2" name="TextBox 31"/>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126</a:t>
            </a:r>
            <a:endParaRPr sz="900" b="0" i="0">
              <a:solidFill>
                <a:srgbClr val="718596"/>
              </a:solidFill>
              <a:latin typeface="Calibri" panose="020F0502020204030204"/>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18</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Storage — emptyDir &amp; PV/PVC</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https://killercoda.com/tertiary-labs/course/killercoda/day2-05-k8s-storage-jobs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127</a:t>
            </a:r>
            <a:endParaRPr sz="900" b="0" i="0">
              <a:solidFill>
                <a:srgbClr val="718596"/>
              </a:solidFill>
              <a:latin typeface="Calibri" panose="020F0502020204030204"/>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18 —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emptyDir — Shared Pod Volume</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File: emptydir-pod.yaml — two containers sharing /data:</a:t>
            </a:r>
            <a:endParaRPr sz="1600" b="1" i="0">
              <a:solidFill>
                <a:srgbClr val="0F172A"/>
              </a:solidFill>
              <a:latin typeface="Calibri" panose="020F0502020204030204"/>
            </a:endParaRPr>
          </a:p>
        </p:txBody>
      </p:sp>
      <p:sp>
        <p:nvSpPr>
          <p:cNvPr id="8" name="Rectangle 7"/>
          <p:cNvSpPr/>
          <p:nvPr/>
        </p:nvSpPr>
        <p:spPr>
          <a:xfrm>
            <a:off x="566928" y="1892808"/>
            <a:ext cx="11119104" cy="36438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36438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364388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3643884"/>
          </a:xfrm>
          <a:prstGeom prst="rect">
            <a:avLst/>
          </a:prstGeom>
          <a:noFill/>
        </p:spPr>
        <p:txBody>
          <a:bodyPr wrap="square">
            <a:spAutoFit/>
          </a:bodyPr>
          <a:lstStyle/>
          <a:p>
            <a:pPr algn="l">
              <a:buNone/>
            </a:pPr>
            <a:r>
              <a:rPr sz="900" b="0" i="0">
                <a:solidFill>
                  <a:srgbClr val="FFFFFF"/>
                </a:solidFill>
                <a:latin typeface="Courier New" panose="02070309020205020404"/>
              </a:rPr>
              <a:t>spec:
  containers:
    - name: writer
      image: busybox
      command: ["sh","-c","echo 'hello from writer' &gt; /data/message.txt &amp;&amp; sleep 3600"]
      volumeMounts:
        - name: shared-data
          mountPath: /data
    - name: reader
      image: busybox
      command: ["sh","-c","sleep 5 &amp;&amp; cat /data/message.txt &amp;&amp; sleep 3600"]
      volumeMounts:
        - name: shared-data
          mountPath: /data
  volumes:
    - name: shared-data
      emptyDir: {}</a:t>
            </a:r>
            <a:endParaRPr sz="900" b="0" i="0">
              <a:solidFill>
                <a:srgbClr val="FFFFFF"/>
              </a:solidFill>
              <a:latin typeface="Courier New" panose="02070309020205020404"/>
            </a:endParaRPr>
          </a:p>
        </p:txBody>
      </p:sp>
      <p:sp>
        <p:nvSpPr>
          <p:cNvPr id="12" name="TextBox 11"/>
          <p:cNvSpPr txBox="1"/>
          <p:nvPr/>
        </p:nvSpPr>
        <p:spPr>
          <a:xfrm>
            <a:off x="640080" y="567385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Apply and verify:</a:t>
            </a:r>
            <a:endParaRPr sz="1600" b="1" i="0">
              <a:solidFill>
                <a:srgbClr val="0F172A"/>
              </a:solidFill>
              <a:latin typeface="Calibri" panose="020F0502020204030204"/>
            </a:endParaRPr>
          </a:p>
        </p:txBody>
      </p:sp>
      <p:sp>
        <p:nvSpPr>
          <p:cNvPr id="13" name="TextBox 1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https://killercoda.com/tertiary-labs/course/killercoda/day2-05-k8s-storage-jobs</a:t>
            </a:r>
            <a:endParaRPr sz="11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128</a:t>
            </a:r>
            <a:endParaRPr sz="900" b="0" i="0">
              <a:solidFill>
                <a:srgbClr val="718596"/>
              </a:solidFill>
              <a:latin typeface="Calibri" panose="020F0502020204030204"/>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18 — STORAGE</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PV &amp; PVC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Create PV (1Gi hostPath) and PVC (requests 500Mi):</a:t>
            </a:r>
            <a:endParaRPr sz="1600" b="1" i="0">
              <a:solidFill>
                <a:srgbClr val="0F172A"/>
              </a:solidFill>
              <a:latin typeface="Calibri" panose="020F0502020204030204"/>
            </a:endParaRPr>
          </a:p>
        </p:txBody>
      </p:sp>
      <p:sp>
        <p:nvSpPr>
          <p:cNvPr id="8" name="Rectangle 7"/>
          <p:cNvSpPr/>
          <p:nvPr/>
        </p:nvSpPr>
        <p:spPr>
          <a:xfrm>
            <a:off x="566928" y="1892808"/>
            <a:ext cx="11119104" cy="96926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9692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96926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969264"/>
          </a:xfrm>
          <a:prstGeom prst="rect">
            <a:avLst/>
          </a:prstGeom>
          <a:noFill/>
        </p:spPr>
        <p:txBody>
          <a:bodyPr wrap="square">
            <a:spAutoFit/>
          </a:bodyPr>
          <a:lstStyle/>
          <a:p>
            <a:pPr algn="l">
              <a:buNone/>
            </a:pPr>
            <a:r>
              <a:rPr sz="900" b="0" i="0">
                <a:solidFill>
                  <a:srgbClr val="FFFFFF"/>
                </a:solidFill>
                <a:latin typeface="Courier New" panose="02070309020205020404"/>
              </a:rPr>
              <a:t>kubectl apply -f pv.yaml
kubectl apply -f pvc.yaml
kubectl get pv
kubectl get pvc    # both should show Bound</a:t>
            </a:r>
            <a:endParaRPr sz="900" b="0" i="0">
              <a:solidFill>
                <a:srgbClr val="FFFFFF"/>
              </a:solidFill>
              <a:latin typeface="Courier New" panose="02070309020205020404"/>
            </a:endParaRPr>
          </a:p>
        </p:txBody>
      </p:sp>
      <p:sp>
        <p:nvSpPr>
          <p:cNvPr id="12" name="TextBox 11"/>
          <p:cNvSpPr txBox="1"/>
          <p:nvPr/>
        </p:nvSpPr>
        <p:spPr>
          <a:xfrm>
            <a:off x="640080" y="29992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Pod uses PVC:</a:t>
            </a:r>
            <a:endParaRPr sz="1600" b="1" i="0">
              <a:solidFill>
                <a:srgbClr val="0F172A"/>
              </a:solidFill>
              <a:latin typeface="Calibri" panose="020F0502020204030204"/>
            </a:endParaRPr>
          </a:p>
        </p:txBody>
      </p:sp>
      <p:sp>
        <p:nvSpPr>
          <p:cNvPr id="13" name="Rectangle 12"/>
          <p:cNvSpPr/>
          <p:nvPr/>
        </p:nvSpPr>
        <p:spPr>
          <a:xfrm>
            <a:off x="566928" y="3319272"/>
            <a:ext cx="11119104" cy="55778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319272"/>
            <a:ext cx="256032" cy="55778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46704"/>
            <a:ext cx="256032" cy="55778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364992"/>
            <a:ext cx="10771632" cy="557784"/>
          </a:xfrm>
          <a:prstGeom prst="rect">
            <a:avLst/>
          </a:prstGeom>
          <a:noFill/>
        </p:spPr>
        <p:txBody>
          <a:bodyPr wrap="square">
            <a:spAutoFit/>
          </a:bodyPr>
          <a:lstStyle/>
          <a:p>
            <a:pPr algn="l">
              <a:buNone/>
            </a:pPr>
            <a:r>
              <a:rPr sz="900" b="0" i="0">
                <a:solidFill>
                  <a:srgbClr val="FFFFFF"/>
                </a:solidFill>
                <a:latin typeface="Courier New" panose="02070309020205020404"/>
              </a:rPr>
              <a:t>kubectl apply -f pod-with-pvc.yaml
kubectl exec pvc-pod -- cat /data/file.txt</a:t>
            </a:r>
            <a:endParaRPr sz="900" b="0" i="0">
              <a:solidFill>
                <a:srgbClr val="FFFFFF"/>
              </a:solidFill>
              <a:latin typeface="Courier New" panose="02070309020205020404"/>
            </a:endParaRPr>
          </a:p>
        </p:txBody>
      </p:sp>
      <p:sp>
        <p:nvSpPr>
          <p:cNvPr id="17" name="TextBox 16"/>
          <p:cNvSpPr txBox="1"/>
          <p:nvPr/>
        </p:nvSpPr>
        <p:spPr>
          <a:xfrm>
            <a:off x="640080" y="4014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Prove data survives pod deletion:</a:t>
            </a:r>
            <a:endParaRPr sz="1600" b="1" i="0">
              <a:solidFill>
                <a:srgbClr val="0F172A"/>
              </a:solidFill>
              <a:latin typeface="Calibri" panose="020F0502020204030204"/>
            </a:endParaRPr>
          </a:p>
        </p:txBody>
      </p:sp>
      <p:sp>
        <p:nvSpPr>
          <p:cNvPr id="18" name="Rectangle 17"/>
          <p:cNvSpPr/>
          <p:nvPr/>
        </p:nvSpPr>
        <p:spPr>
          <a:xfrm>
            <a:off x="566928" y="4334256"/>
            <a:ext cx="11119104" cy="7635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34256"/>
            <a:ext cx="256032" cy="7635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361688"/>
            <a:ext cx="256032" cy="763524"/>
          </a:xfrm>
          <a:prstGeom prst="rect">
            <a:avLst/>
          </a:prstGeom>
          <a:noFill/>
        </p:spPr>
        <p:txBody>
          <a:bodyPr wrap="square">
            <a:spAutoFit/>
          </a:bodyPr>
          <a:lstStyle/>
          <a:p>
            <a:pPr algn="ctr">
              <a:buNone/>
            </a:pPr>
            <a:r>
              <a:rPr sz="1100" b="1" i="0">
                <a:solidFill>
                  <a:srgbClr val="FFFFFF"/>
                </a:solidFill>
                <a:latin typeface="Calibri" panose="020F0502020204030204"/>
              </a:rPr>
              <a:t>3</a:t>
            </a:r>
            <a:endParaRPr sz="1100" b="1" i="0">
              <a:solidFill>
                <a:srgbClr val="FFFFFF"/>
              </a:solidFill>
              <a:latin typeface="Calibri" panose="020F0502020204030204"/>
            </a:endParaRPr>
          </a:p>
        </p:txBody>
      </p:sp>
      <p:sp>
        <p:nvSpPr>
          <p:cNvPr id="21" name="TextBox 20"/>
          <p:cNvSpPr txBox="1"/>
          <p:nvPr/>
        </p:nvSpPr>
        <p:spPr>
          <a:xfrm>
            <a:off x="841248" y="4379976"/>
            <a:ext cx="10771632" cy="763524"/>
          </a:xfrm>
          <a:prstGeom prst="rect">
            <a:avLst/>
          </a:prstGeom>
          <a:noFill/>
        </p:spPr>
        <p:txBody>
          <a:bodyPr wrap="square">
            <a:spAutoFit/>
          </a:bodyPr>
          <a:lstStyle/>
          <a:p>
            <a:pPr algn="l">
              <a:buNone/>
            </a:pPr>
            <a:r>
              <a:rPr sz="900" b="0" i="0">
                <a:solidFill>
                  <a:srgbClr val="FFFFFF"/>
                </a:solidFill>
                <a:latin typeface="Courier New" panose="02070309020205020404"/>
              </a:rPr>
              <a:t>kubectl delete pod pvc-pod
kubectl apply -f pod-with-pvc.yaml
kubectl exec pvc-pod -- cat /data/file.txt   # still there!</a:t>
            </a:r>
            <a:endParaRPr sz="900" b="0" i="0">
              <a:solidFill>
                <a:srgbClr val="FFFFFF"/>
              </a:solidFill>
              <a:latin typeface="Courier New" panose="02070309020205020404"/>
            </a:endParaRPr>
          </a:p>
        </p:txBody>
      </p:sp>
      <p:sp>
        <p:nvSpPr>
          <p:cNvPr id="22" name="TextBox 21"/>
          <p:cNvSpPr txBox="1"/>
          <p:nvPr/>
        </p:nvSpPr>
        <p:spPr>
          <a:xfrm>
            <a:off x="640080" y="523494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Clean up:</a:t>
            </a:r>
            <a:endParaRPr sz="1600" b="1" i="0">
              <a:solidFill>
                <a:srgbClr val="0F172A"/>
              </a:solidFill>
              <a:latin typeface="Calibri" panose="020F0502020204030204"/>
            </a:endParaRPr>
          </a:p>
        </p:txBody>
      </p:sp>
      <p:sp>
        <p:nvSpPr>
          <p:cNvPr id="23" name="TextBox 22"/>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https://killercoda.com/tertiary-labs/course/killercoda/day2-05-k8s-storage-jobs</a:t>
            </a:r>
            <a:endParaRPr sz="1100" b="0" i="1">
              <a:solidFill>
                <a:srgbClr val="2496ED"/>
              </a:solidFill>
              <a:latin typeface="Calibri" panose="020F0502020204030204"/>
            </a:endParaRP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129</a:t>
            </a:r>
            <a:endParaRPr sz="900" b="0" i="0">
              <a:solidFill>
                <a:srgbClr val="718596"/>
              </a:solidFill>
              <a:latin typeface="Calibri" panose="020F0502020204030204"/>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JOBS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Kubernetes Job?</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Job creates one or more Pods and ensures they run to successful completion. Unlike a Deployment, a Job does not restart Pods after they succeed.</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Key Job parameters:</a:t>
            </a:r>
            <a:endParaRPr sz="1600" b="1" i="0">
              <a:solidFill>
                <a:srgbClr val="0F172A"/>
              </a:solidFill>
              <a:latin typeface="Calibri" panose="020F0502020204030204"/>
            </a:endParaRPr>
          </a:p>
        </p:txBody>
      </p:sp>
      <p:sp>
        <p:nvSpPr>
          <p:cNvPr id="9" name="TextBox 8"/>
          <p:cNvSpPr txBox="1"/>
          <p:nvPr/>
        </p:nvSpPr>
        <p:spPr>
          <a:xfrm>
            <a:off x="640080" y="250545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completions   — total number of successful Pod runs required</a:t>
            </a:r>
            <a:endParaRPr sz="1600" b="0" i="0">
              <a:solidFill>
                <a:srgbClr val="0F172A"/>
              </a:solidFill>
              <a:latin typeface="Calibri" panose="020F0502020204030204"/>
            </a:endParaRPr>
          </a:p>
        </p:txBody>
      </p:sp>
      <p:sp>
        <p:nvSpPr>
          <p:cNvPr id="10" name="TextBox 9"/>
          <p:cNvSpPr txBox="1"/>
          <p:nvPr/>
        </p:nvSpPr>
        <p:spPr>
          <a:xfrm>
            <a:off x="640080" y="287121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parallelism   — how many Pods can run simultaneously</a:t>
            </a:r>
            <a:endParaRPr sz="1600" b="0" i="0">
              <a:solidFill>
                <a:srgbClr val="0F172A"/>
              </a:solidFill>
              <a:latin typeface="Calibri" panose="020F0502020204030204"/>
            </a:endParaRPr>
          </a:p>
        </p:txBody>
      </p:sp>
      <p:sp>
        <p:nvSpPr>
          <p:cNvPr id="11" name="TextBox 10"/>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restartPolicy — must be Never or OnFailure for Jobs</a:t>
            </a:r>
            <a:endParaRPr sz="1600" b="0" i="0">
              <a:solidFill>
                <a:srgbClr val="0F172A"/>
              </a:solidFill>
              <a:latin typeface="Calibri" panose="020F0502020204030204"/>
            </a:endParaRPr>
          </a:p>
        </p:txBody>
      </p:sp>
      <p:sp>
        <p:nvSpPr>
          <p:cNvPr id="12" name="TextBox 11"/>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Common use cases:</a:t>
            </a:r>
            <a:endParaRPr sz="1600" b="1" i="0">
              <a:solidFill>
                <a:srgbClr val="0F172A"/>
              </a:solidFill>
              <a:latin typeface="Calibri" panose="020F0502020204030204"/>
            </a:endParaRPr>
          </a:p>
        </p:txBody>
      </p:sp>
      <p:sp>
        <p:nvSpPr>
          <p:cNvPr id="13" name="TextBox 12"/>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Database migrations, batch data processing, report generation, one-time setup tasks</a:t>
            </a:r>
            <a:endParaRPr sz="1600" b="0" i="0">
              <a:solidFill>
                <a:srgbClr val="0F172A"/>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130</a:t>
            </a:r>
            <a:endParaRPr sz="900" b="0" i="0">
              <a:solidFill>
                <a:srgbClr val="718596"/>
              </a:solidFill>
              <a:latin typeface="Calibri" panose="020F0502020204030204"/>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JOBS &amp; CRONJOBS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CronJob → Job → Pods: Execution Flow</a:t>
            </a:r>
            <a:endParaRPr sz="2600" b="1" i="0">
              <a:solidFill>
                <a:srgbClr val="FFFFFF"/>
              </a:solidFill>
              <a:latin typeface="Cambria" panose="02040503050406030204"/>
            </a:endParaRPr>
          </a:p>
        </p:txBody>
      </p:sp>
      <p:sp>
        <p:nvSpPr>
          <p:cNvPr id="7" name="Rectangle 6"/>
          <p:cNvSpPr/>
          <p:nvPr/>
        </p:nvSpPr>
        <p:spPr>
          <a:xfrm>
            <a:off x="548640" y="2048256"/>
            <a:ext cx="2560320" cy="1664208"/>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94360" y="2103120"/>
            <a:ext cx="2468880" cy="365760"/>
          </a:xfrm>
          <a:prstGeom prst="rect">
            <a:avLst/>
          </a:prstGeom>
          <a:noFill/>
        </p:spPr>
        <p:txBody>
          <a:bodyPr wrap="square">
            <a:spAutoFit/>
          </a:bodyPr>
          <a:lstStyle/>
          <a:p>
            <a:pPr algn="ctr">
              <a:buNone/>
            </a:pPr>
            <a:r>
              <a:rPr sz="1600" b="1" i="0">
                <a:solidFill>
                  <a:srgbClr val="FFFFFF"/>
                </a:solidFill>
                <a:latin typeface="Cambria" panose="02040503050406030204"/>
              </a:rPr>
              <a:t>CronJob</a:t>
            </a:r>
            <a:endParaRPr sz="1600" b="1" i="0">
              <a:solidFill>
                <a:srgbClr val="FFFFFF"/>
              </a:solidFill>
              <a:latin typeface="Cambria" panose="02040503050406030204"/>
            </a:endParaRPr>
          </a:p>
        </p:txBody>
      </p:sp>
      <p:sp>
        <p:nvSpPr>
          <p:cNvPr id="9" name="TextBox 8"/>
          <p:cNvSpPr txBox="1"/>
          <p:nvPr/>
        </p:nvSpPr>
        <p:spPr>
          <a:xfrm>
            <a:off x="594360" y="2523744"/>
            <a:ext cx="2468880" cy="804672"/>
          </a:xfrm>
          <a:prstGeom prst="rect">
            <a:avLst/>
          </a:prstGeom>
          <a:noFill/>
        </p:spPr>
        <p:txBody>
          <a:bodyPr wrap="square">
            <a:spAutoFit/>
          </a:bodyPr>
          <a:lstStyle/>
          <a:p>
            <a:pPr algn="l">
              <a:buNone/>
            </a:pPr>
            <a:r>
              <a:rPr sz="900" b="0" i="0">
                <a:solidFill>
                  <a:srgbClr val="94A3B8"/>
                </a:solidFill>
                <a:latin typeface="Courier New" panose="02070309020205020404"/>
              </a:rPr>
              <a:t>schedule:
  "*/5 * * * *"
Runs every 5 min</a:t>
            </a:r>
            <a:endParaRPr sz="900" b="0" i="0">
              <a:solidFill>
                <a:srgbClr val="94A3B8"/>
              </a:solidFill>
              <a:latin typeface="Courier New" panose="02070309020205020404"/>
            </a:endParaRPr>
          </a:p>
        </p:txBody>
      </p:sp>
      <p:sp>
        <p:nvSpPr>
          <p:cNvPr id="10" name="TextBox 9"/>
          <p:cNvSpPr txBox="1"/>
          <p:nvPr/>
        </p:nvSpPr>
        <p:spPr>
          <a:xfrm>
            <a:off x="3182112" y="2450592"/>
            <a:ext cx="1188720" cy="658368"/>
          </a:xfrm>
          <a:prstGeom prst="rect">
            <a:avLst/>
          </a:prstGeom>
          <a:noFill/>
        </p:spPr>
        <p:txBody>
          <a:bodyPr wrap="square">
            <a:spAutoFit/>
          </a:bodyPr>
          <a:lstStyle/>
          <a:p>
            <a:pPr algn="ctr">
              <a:buNone/>
            </a:pPr>
            <a:r>
              <a:rPr sz="1300" b="0" i="0">
                <a:solidFill>
                  <a:srgbClr val="0F172A"/>
                </a:solidFill>
                <a:latin typeface="Calibri" panose="020F0502020204030204"/>
              </a:rPr>
              <a:t>→
Triggers</a:t>
            </a:r>
            <a:endParaRPr sz="1300" b="0" i="0">
              <a:solidFill>
                <a:srgbClr val="0F172A"/>
              </a:solidFill>
              <a:latin typeface="Calibri" panose="020F0502020204030204"/>
            </a:endParaRPr>
          </a:p>
        </p:txBody>
      </p:sp>
      <p:sp>
        <p:nvSpPr>
          <p:cNvPr id="11" name="Rectangle 10"/>
          <p:cNvSpPr/>
          <p:nvPr/>
        </p:nvSpPr>
        <p:spPr>
          <a:xfrm>
            <a:off x="4434840" y="2048256"/>
            <a:ext cx="2560320" cy="166420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80560" y="2103120"/>
            <a:ext cx="2468880" cy="365760"/>
          </a:xfrm>
          <a:prstGeom prst="rect">
            <a:avLst/>
          </a:prstGeom>
          <a:noFill/>
        </p:spPr>
        <p:txBody>
          <a:bodyPr wrap="square">
            <a:spAutoFit/>
          </a:bodyPr>
          <a:lstStyle/>
          <a:p>
            <a:pPr algn="ctr">
              <a:buNone/>
            </a:pPr>
            <a:r>
              <a:rPr sz="1600" b="1" i="0">
                <a:solidFill>
                  <a:srgbClr val="FFFFFF"/>
                </a:solidFill>
                <a:latin typeface="Cambria" panose="02040503050406030204"/>
              </a:rPr>
              <a:t>Job</a:t>
            </a:r>
            <a:endParaRPr sz="1600" b="1" i="0">
              <a:solidFill>
                <a:srgbClr val="FFFFFF"/>
              </a:solidFill>
              <a:latin typeface="Cambria" panose="02040503050406030204"/>
            </a:endParaRPr>
          </a:p>
        </p:txBody>
      </p:sp>
      <p:sp>
        <p:nvSpPr>
          <p:cNvPr id="13" name="TextBox 12"/>
          <p:cNvSpPr txBox="1"/>
          <p:nvPr/>
        </p:nvSpPr>
        <p:spPr>
          <a:xfrm>
            <a:off x="4480560" y="2523744"/>
            <a:ext cx="2468880" cy="804672"/>
          </a:xfrm>
          <a:prstGeom prst="rect">
            <a:avLst/>
          </a:prstGeom>
          <a:noFill/>
        </p:spPr>
        <p:txBody>
          <a:bodyPr wrap="square">
            <a:spAutoFit/>
          </a:bodyPr>
          <a:lstStyle/>
          <a:p>
            <a:pPr algn="l">
              <a:buNone/>
            </a:pPr>
            <a:r>
              <a:rPr sz="900" b="0" i="0">
                <a:solidFill>
                  <a:srgbClr val="94A3B8"/>
                </a:solidFill>
                <a:latin typeface="Courier New" panose="02070309020205020404"/>
              </a:rPr>
              <a:t>completions: 3
parallelism: 2
restartPolicy:
  Never</a:t>
            </a:r>
            <a:endParaRPr sz="900" b="0" i="0">
              <a:solidFill>
                <a:srgbClr val="94A3B8"/>
              </a:solidFill>
              <a:latin typeface="Courier New" panose="02070309020205020404"/>
            </a:endParaRPr>
          </a:p>
        </p:txBody>
      </p:sp>
      <p:sp>
        <p:nvSpPr>
          <p:cNvPr id="14" name="TextBox 13"/>
          <p:cNvSpPr txBox="1"/>
          <p:nvPr/>
        </p:nvSpPr>
        <p:spPr>
          <a:xfrm>
            <a:off x="7068312" y="2450592"/>
            <a:ext cx="914400" cy="658368"/>
          </a:xfrm>
          <a:prstGeom prst="rect">
            <a:avLst/>
          </a:prstGeom>
          <a:noFill/>
        </p:spPr>
        <p:txBody>
          <a:bodyPr wrap="square">
            <a:spAutoFit/>
          </a:bodyPr>
          <a:lstStyle/>
          <a:p>
            <a:pPr algn="ctr">
              <a:buNone/>
            </a:pPr>
            <a:r>
              <a:rPr sz="1300" b="0" i="0">
                <a:solidFill>
                  <a:srgbClr val="0F172A"/>
                </a:solidFill>
                <a:latin typeface="Calibri" panose="020F0502020204030204"/>
              </a:rPr>
              <a:t>→
Creates</a:t>
            </a:r>
            <a:endParaRPr sz="1300" b="0" i="0">
              <a:solidFill>
                <a:srgbClr val="0F172A"/>
              </a:solidFill>
              <a:latin typeface="Calibri" panose="020F0502020204030204"/>
            </a:endParaRPr>
          </a:p>
        </p:txBody>
      </p:sp>
      <p:sp>
        <p:nvSpPr>
          <p:cNvPr id="15" name="Rectangle 14"/>
          <p:cNvSpPr/>
          <p:nvPr/>
        </p:nvSpPr>
        <p:spPr>
          <a:xfrm>
            <a:off x="8092440" y="1920240"/>
            <a:ext cx="1920240" cy="603504"/>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38160" y="2084832"/>
            <a:ext cx="1828800" cy="274320"/>
          </a:xfrm>
          <a:prstGeom prst="rect">
            <a:avLst/>
          </a:prstGeom>
          <a:noFill/>
        </p:spPr>
        <p:txBody>
          <a:bodyPr wrap="square">
            <a:spAutoFit/>
          </a:bodyPr>
          <a:lstStyle/>
          <a:p>
            <a:pPr algn="ctr">
              <a:buNone/>
            </a:pPr>
            <a:r>
              <a:rPr sz="1000" b="1" i="0">
                <a:solidFill>
                  <a:srgbClr val="FFFFFF"/>
                </a:solidFill>
                <a:latin typeface="Calibri" panose="020F0502020204030204"/>
              </a:rPr>
              <a:t>Pod 1  Running</a:t>
            </a:r>
            <a:endParaRPr sz="1000" b="1" i="0">
              <a:solidFill>
                <a:srgbClr val="FFFFFF"/>
              </a:solidFill>
              <a:latin typeface="Calibri" panose="020F0502020204030204"/>
            </a:endParaRPr>
          </a:p>
        </p:txBody>
      </p:sp>
      <p:sp>
        <p:nvSpPr>
          <p:cNvPr id="17" name="Rectangle 16"/>
          <p:cNvSpPr/>
          <p:nvPr/>
        </p:nvSpPr>
        <p:spPr>
          <a:xfrm>
            <a:off x="8092440" y="2651760"/>
            <a:ext cx="1920240" cy="603504"/>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38160" y="2816352"/>
            <a:ext cx="1828800" cy="274320"/>
          </a:xfrm>
          <a:prstGeom prst="rect">
            <a:avLst/>
          </a:prstGeom>
          <a:noFill/>
        </p:spPr>
        <p:txBody>
          <a:bodyPr wrap="square">
            <a:spAutoFit/>
          </a:bodyPr>
          <a:lstStyle/>
          <a:p>
            <a:pPr algn="ctr">
              <a:buNone/>
            </a:pPr>
            <a:r>
              <a:rPr sz="1000" b="1" i="0">
                <a:solidFill>
                  <a:srgbClr val="FFFFFF"/>
                </a:solidFill>
                <a:latin typeface="Calibri" panose="020F0502020204030204"/>
              </a:rPr>
              <a:t>Pod 2  Running</a:t>
            </a:r>
            <a:endParaRPr sz="1000" b="1" i="0">
              <a:solidFill>
                <a:srgbClr val="FFFFFF"/>
              </a:solidFill>
              <a:latin typeface="Calibri" panose="020F0502020204030204"/>
            </a:endParaRPr>
          </a:p>
        </p:txBody>
      </p:sp>
      <p:sp>
        <p:nvSpPr>
          <p:cNvPr id="19" name="Rectangle 18"/>
          <p:cNvSpPr/>
          <p:nvPr/>
        </p:nvSpPr>
        <p:spPr>
          <a:xfrm>
            <a:off x="8092440" y="3383280"/>
            <a:ext cx="1920240" cy="603504"/>
          </a:xfrm>
          <a:prstGeom prst="rect">
            <a:avLst/>
          </a:prstGeom>
          <a:solidFill>
            <a:srgbClr val="8A86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38160" y="3547872"/>
            <a:ext cx="1828800" cy="274320"/>
          </a:xfrm>
          <a:prstGeom prst="rect">
            <a:avLst/>
          </a:prstGeom>
          <a:noFill/>
        </p:spPr>
        <p:txBody>
          <a:bodyPr wrap="square">
            <a:spAutoFit/>
          </a:bodyPr>
          <a:lstStyle/>
          <a:p>
            <a:pPr algn="ctr">
              <a:buNone/>
            </a:pPr>
            <a:r>
              <a:rPr sz="1000" b="1" i="0">
                <a:solidFill>
                  <a:srgbClr val="FFFFFF"/>
                </a:solidFill>
                <a:latin typeface="Calibri" panose="020F0502020204030204"/>
              </a:rPr>
              <a:t>Pod 3  Completed ✓</a:t>
            </a:r>
            <a:endParaRPr sz="1000" b="1" i="0">
              <a:solidFill>
                <a:srgbClr val="FFFFFF"/>
              </a:solidFill>
              <a:latin typeface="Calibri" panose="020F0502020204030204"/>
            </a:endParaRPr>
          </a:p>
        </p:txBody>
      </p:sp>
      <p:sp>
        <p:nvSpPr>
          <p:cNvPr id="21" name="TextBox 20"/>
          <p:cNvSpPr txBox="1"/>
          <p:nvPr/>
        </p:nvSpPr>
        <p:spPr>
          <a:xfrm>
            <a:off x="8092440" y="4069080"/>
            <a:ext cx="3657600" cy="256032"/>
          </a:xfrm>
          <a:prstGeom prst="rect">
            <a:avLst/>
          </a:prstGeom>
          <a:noFill/>
        </p:spPr>
        <p:txBody>
          <a:bodyPr wrap="square">
            <a:spAutoFit/>
          </a:bodyPr>
          <a:lstStyle/>
          <a:p>
            <a:pPr algn="l">
              <a:buNone/>
            </a:pPr>
            <a:r>
              <a:rPr sz="900" b="0" i="1">
                <a:solidFill>
                  <a:srgbClr val="64748B"/>
                </a:solidFill>
                <a:latin typeface="Calibri" panose="020F0502020204030204"/>
              </a:rPr>
              <a:t>parallelism: 2 → Pods 1 &amp; 2 run simultaneously</a:t>
            </a:r>
            <a:endParaRPr sz="900" b="0" i="1">
              <a:solidFill>
                <a:srgbClr val="64748B"/>
              </a:solidFill>
              <a:latin typeface="Calibri" panose="020F0502020204030204"/>
            </a:endParaRPr>
          </a:p>
        </p:txBody>
      </p:sp>
      <p:sp>
        <p:nvSpPr>
          <p:cNvPr id="22" name="Rectangle 21"/>
          <p:cNvSpPr/>
          <p:nvPr/>
        </p:nvSpPr>
        <p:spPr>
          <a:xfrm>
            <a:off x="548640" y="4096512"/>
            <a:ext cx="7406640" cy="1627632"/>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94360" y="4151376"/>
            <a:ext cx="7223760" cy="329184"/>
          </a:xfrm>
          <a:prstGeom prst="rect">
            <a:avLst/>
          </a:prstGeom>
          <a:noFill/>
        </p:spPr>
        <p:txBody>
          <a:bodyPr wrap="square">
            <a:spAutoFit/>
          </a:bodyPr>
          <a:lstStyle/>
          <a:p>
            <a:pPr algn="l">
              <a:buNone/>
            </a:pPr>
            <a:r>
              <a:rPr sz="1300" b="1" i="0">
                <a:solidFill>
                  <a:srgbClr val="0F172A"/>
                </a:solidFill>
                <a:latin typeface="Cambria" panose="02040503050406030204"/>
              </a:rPr>
              <a:t>Workload Comparison</a:t>
            </a:r>
            <a:endParaRPr sz="1300" b="1" i="0">
              <a:solidFill>
                <a:srgbClr val="0F172A"/>
              </a:solidFill>
              <a:latin typeface="Cambria" panose="02040503050406030204"/>
            </a:endParaRPr>
          </a:p>
        </p:txBody>
      </p:sp>
      <p:sp>
        <p:nvSpPr>
          <p:cNvPr id="24" name="TextBox 23"/>
          <p:cNvSpPr txBox="1"/>
          <p:nvPr/>
        </p:nvSpPr>
        <p:spPr>
          <a:xfrm>
            <a:off x="640080" y="4553712"/>
            <a:ext cx="1280160" cy="310896"/>
          </a:xfrm>
          <a:prstGeom prst="rect">
            <a:avLst/>
          </a:prstGeom>
          <a:noFill/>
        </p:spPr>
        <p:txBody>
          <a:bodyPr wrap="square">
            <a:spAutoFit/>
          </a:bodyPr>
          <a:lstStyle/>
          <a:p>
            <a:pPr algn="l">
              <a:buNone/>
            </a:pPr>
            <a:r>
              <a:rPr sz="1100" b="1" i="0">
                <a:solidFill>
                  <a:srgbClr val="0F172A"/>
                </a:solidFill>
                <a:latin typeface="Calibri" panose="020F0502020204030204"/>
              </a:rPr>
              <a:t>Deployment:</a:t>
            </a:r>
            <a:endParaRPr sz="1100" b="1" i="0">
              <a:solidFill>
                <a:srgbClr val="0F172A"/>
              </a:solidFill>
              <a:latin typeface="Calibri" panose="020F0502020204030204"/>
            </a:endParaRPr>
          </a:p>
        </p:txBody>
      </p:sp>
      <p:sp>
        <p:nvSpPr>
          <p:cNvPr id="25" name="TextBox 24"/>
          <p:cNvSpPr txBox="1"/>
          <p:nvPr/>
        </p:nvSpPr>
        <p:spPr>
          <a:xfrm>
            <a:off x="1920240" y="4553712"/>
            <a:ext cx="3474720" cy="310896"/>
          </a:xfrm>
          <a:prstGeom prst="rect">
            <a:avLst/>
          </a:prstGeom>
          <a:noFill/>
        </p:spPr>
        <p:txBody>
          <a:bodyPr wrap="square">
            <a:spAutoFit/>
          </a:bodyPr>
          <a:lstStyle/>
          <a:p>
            <a:pPr algn="l">
              <a:buNone/>
            </a:pPr>
            <a:r>
              <a:rPr sz="1100" b="0" i="0">
                <a:solidFill>
                  <a:srgbClr val="0F172A"/>
                </a:solidFill>
                <a:latin typeface="Calibri" panose="020F0502020204030204"/>
              </a:rPr>
              <a:t>Keep N pods always running (self-healing)</a:t>
            </a:r>
            <a:endParaRPr sz="1100" b="0" i="0">
              <a:solidFill>
                <a:srgbClr val="0F172A"/>
              </a:solidFill>
              <a:latin typeface="Calibri" panose="020F0502020204030204"/>
            </a:endParaRPr>
          </a:p>
        </p:txBody>
      </p:sp>
      <p:sp>
        <p:nvSpPr>
          <p:cNvPr id="26" name="TextBox 25"/>
          <p:cNvSpPr txBox="1"/>
          <p:nvPr/>
        </p:nvSpPr>
        <p:spPr>
          <a:xfrm>
            <a:off x="5394960" y="4553712"/>
            <a:ext cx="2468880" cy="310896"/>
          </a:xfrm>
          <a:prstGeom prst="rect">
            <a:avLst/>
          </a:prstGeom>
          <a:noFill/>
        </p:spPr>
        <p:txBody>
          <a:bodyPr wrap="square">
            <a:spAutoFit/>
          </a:bodyPr>
          <a:lstStyle/>
          <a:p>
            <a:pPr algn="l">
              <a:buNone/>
            </a:pPr>
            <a:r>
              <a:rPr sz="1000" b="0" i="1">
                <a:solidFill>
                  <a:srgbClr val="64748B"/>
                </a:solidFill>
                <a:latin typeface="Calibri" panose="020F0502020204030204"/>
              </a:rPr>
              <a:t>e.g. Web server, API</a:t>
            </a:r>
            <a:endParaRPr sz="1000" b="0" i="1">
              <a:solidFill>
                <a:srgbClr val="64748B"/>
              </a:solidFill>
              <a:latin typeface="Calibri" panose="020F0502020204030204"/>
            </a:endParaRPr>
          </a:p>
        </p:txBody>
      </p:sp>
      <p:sp>
        <p:nvSpPr>
          <p:cNvPr id="27" name="TextBox 26"/>
          <p:cNvSpPr txBox="1"/>
          <p:nvPr/>
        </p:nvSpPr>
        <p:spPr>
          <a:xfrm>
            <a:off x="640080" y="4901184"/>
            <a:ext cx="1280160" cy="310896"/>
          </a:xfrm>
          <a:prstGeom prst="rect">
            <a:avLst/>
          </a:prstGeom>
          <a:noFill/>
        </p:spPr>
        <p:txBody>
          <a:bodyPr wrap="square">
            <a:spAutoFit/>
          </a:bodyPr>
          <a:lstStyle/>
          <a:p>
            <a:pPr algn="l">
              <a:buNone/>
            </a:pPr>
            <a:r>
              <a:rPr sz="1100" b="1" i="0">
                <a:solidFill>
                  <a:srgbClr val="0F172A"/>
                </a:solidFill>
                <a:latin typeface="Calibri" panose="020F0502020204030204"/>
              </a:rPr>
              <a:t>Job:</a:t>
            </a:r>
            <a:endParaRPr sz="1100" b="1" i="0">
              <a:solidFill>
                <a:srgbClr val="0F172A"/>
              </a:solidFill>
              <a:latin typeface="Calibri" panose="020F0502020204030204"/>
            </a:endParaRPr>
          </a:p>
        </p:txBody>
      </p:sp>
      <p:sp>
        <p:nvSpPr>
          <p:cNvPr id="28" name="TextBox 27"/>
          <p:cNvSpPr txBox="1"/>
          <p:nvPr/>
        </p:nvSpPr>
        <p:spPr>
          <a:xfrm>
            <a:off x="1920240" y="4901184"/>
            <a:ext cx="3474720" cy="310896"/>
          </a:xfrm>
          <a:prstGeom prst="rect">
            <a:avLst/>
          </a:prstGeom>
          <a:noFill/>
        </p:spPr>
        <p:txBody>
          <a:bodyPr wrap="square">
            <a:spAutoFit/>
          </a:bodyPr>
          <a:lstStyle/>
          <a:p>
            <a:pPr algn="l">
              <a:buNone/>
            </a:pPr>
            <a:r>
              <a:rPr sz="1100" b="0" i="0">
                <a:solidFill>
                  <a:srgbClr val="0F172A"/>
                </a:solidFill>
                <a:latin typeface="Calibri" panose="020F0502020204030204"/>
              </a:rPr>
              <a:t>Run pods until N completions succeed</a:t>
            </a:r>
            <a:endParaRPr sz="1100" b="0" i="0">
              <a:solidFill>
                <a:srgbClr val="0F172A"/>
              </a:solidFill>
              <a:latin typeface="Calibri" panose="020F0502020204030204"/>
            </a:endParaRPr>
          </a:p>
        </p:txBody>
      </p:sp>
      <p:sp>
        <p:nvSpPr>
          <p:cNvPr id="29" name="TextBox 28"/>
          <p:cNvSpPr txBox="1"/>
          <p:nvPr/>
        </p:nvSpPr>
        <p:spPr>
          <a:xfrm>
            <a:off x="5394960" y="4901184"/>
            <a:ext cx="2468880" cy="310896"/>
          </a:xfrm>
          <a:prstGeom prst="rect">
            <a:avLst/>
          </a:prstGeom>
          <a:noFill/>
        </p:spPr>
        <p:txBody>
          <a:bodyPr wrap="square">
            <a:spAutoFit/>
          </a:bodyPr>
          <a:lstStyle/>
          <a:p>
            <a:pPr algn="l">
              <a:buNone/>
            </a:pPr>
            <a:r>
              <a:rPr sz="1000" b="0" i="1">
                <a:solidFill>
                  <a:srgbClr val="64748B"/>
                </a:solidFill>
                <a:latin typeface="Calibri" panose="020F0502020204030204"/>
              </a:rPr>
              <a:t>e.g. DB migration, batch job</a:t>
            </a:r>
            <a:endParaRPr sz="1000" b="0" i="1">
              <a:solidFill>
                <a:srgbClr val="64748B"/>
              </a:solidFill>
              <a:latin typeface="Calibri" panose="020F0502020204030204"/>
            </a:endParaRPr>
          </a:p>
        </p:txBody>
      </p:sp>
      <p:sp>
        <p:nvSpPr>
          <p:cNvPr id="30" name="TextBox 29"/>
          <p:cNvSpPr txBox="1"/>
          <p:nvPr/>
        </p:nvSpPr>
        <p:spPr>
          <a:xfrm>
            <a:off x="640080" y="5248656"/>
            <a:ext cx="1280160" cy="310896"/>
          </a:xfrm>
          <a:prstGeom prst="rect">
            <a:avLst/>
          </a:prstGeom>
          <a:noFill/>
        </p:spPr>
        <p:txBody>
          <a:bodyPr wrap="square">
            <a:spAutoFit/>
          </a:bodyPr>
          <a:lstStyle/>
          <a:p>
            <a:pPr algn="l">
              <a:buNone/>
            </a:pPr>
            <a:r>
              <a:rPr sz="1100" b="1" i="0">
                <a:solidFill>
                  <a:srgbClr val="0F172A"/>
                </a:solidFill>
                <a:latin typeface="Calibri" panose="020F0502020204030204"/>
              </a:rPr>
              <a:t>CronJob:</a:t>
            </a:r>
            <a:endParaRPr sz="1100" b="1" i="0">
              <a:solidFill>
                <a:srgbClr val="0F172A"/>
              </a:solidFill>
              <a:latin typeface="Calibri" panose="020F0502020204030204"/>
            </a:endParaRPr>
          </a:p>
        </p:txBody>
      </p:sp>
      <p:sp>
        <p:nvSpPr>
          <p:cNvPr id="31" name="TextBox 30"/>
          <p:cNvSpPr txBox="1"/>
          <p:nvPr/>
        </p:nvSpPr>
        <p:spPr>
          <a:xfrm>
            <a:off x="1920240" y="5248656"/>
            <a:ext cx="3474720" cy="310896"/>
          </a:xfrm>
          <a:prstGeom prst="rect">
            <a:avLst/>
          </a:prstGeom>
          <a:noFill/>
        </p:spPr>
        <p:txBody>
          <a:bodyPr wrap="square">
            <a:spAutoFit/>
          </a:bodyPr>
          <a:lstStyle/>
          <a:p>
            <a:pPr algn="l">
              <a:buNone/>
            </a:pPr>
            <a:r>
              <a:rPr sz="1100" b="0" i="0">
                <a:solidFill>
                  <a:srgbClr val="0F172A"/>
                </a:solidFill>
                <a:latin typeface="Calibri" panose="020F0502020204030204"/>
              </a:rPr>
              <a:t>Create a Job on a cron schedule</a:t>
            </a:r>
            <a:endParaRPr sz="1100" b="0" i="0">
              <a:solidFill>
                <a:srgbClr val="0F172A"/>
              </a:solidFill>
              <a:latin typeface="Calibri" panose="020F0502020204030204"/>
            </a:endParaRPr>
          </a:p>
        </p:txBody>
      </p:sp>
      <p:sp>
        <p:nvSpPr>
          <p:cNvPr id="32" name="TextBox 31"/>
          <p:cNvSpPr txBox="1"/>
          <p:nvPr/>
        </p:nvSpPr>
        <p:spPr>
          <a:xfrm>
            <a:off x="5394960" y="5248656"/>
            <a:ext cx="2468880" cy="310896"/>
          </a:xfrm>
          <a:prstGeom prst="rect">
            <a:avLst/>
          </a:prstGeom>
          <a:noFill/>
        </p:spPr>
        <p:txBody>
          <a:bodyPr wrap="square">
            <a:spAutoFit/>
          </a:bodyPr>
          <a:lstStyle/>
          <a:p>
            <a:pPr algn="l">
              <a:buNone/>
            </a:pPr>
            <a:r>
              <a:rPr sz="1000" b="0" i="1">
                <a:solidFill>
                  <a:srgbClr val="64748B"/>
                </a:solidFill>
                <a:latin typeface="Calibri" panose="020F0502020204030204"/>
              </a:rPr>
              <a:t>e.g. Backup, cleanup, report</a:t>
            </a:r>
            <a:endParaRPr sz="1000" b="0" i="1">
              <a:solidFill>
                <a:srgbClr val="64748B"/>
              </a:solidFill>
              <a:latin typeface="Calibri" panose="020F0502020204030204"/>
            </a:endParaRPr>
          </a:p>
        </p:txBody>
      </p:sp>
      <p:sp>
        <p:nvSpPr>
          <p:cNvPr id="33" name="TextBox 3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34" name="TextBox 3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35" name="TextBox 3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131</a:t>
            </a:r>
            <a:endParaRPr sz="900" b="0" i="0">
              <a:solidFill>
                <a:srgbClr val="718596"/>
              </a:solidFill>
              <a:latin typeface="Calibri" panose="020F0502020204030204"/>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CRONJOBS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What is a CronJob?</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A CronJob creates Jobs on a repeating schedule defined in standard cron format.</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Cron schedule format:</a:t>
            </a:r>
            <a:endParaRPr sz="1600" b="1" i="0">
              <a:solidFill>
                <a:srgbClr val="0F172A"/>
              </a:solidFill>
              <a:latin typeface="Calibri" panose="020F0502020204030204"/>
            </a:endParaRPr>
          </a:p>
        </p:txBody>
      </p:sp>
      <p:sp>
        <p:nvSpPr>
          <p:cNvPr id="9" name="Rectangle 8"/>
          <p:cNvSpPr/>
          <p:nvPr/>
        </p:nvSpPr>
        <p:spPr>
          <a:xfrm>
            <a:off x="566928" y="2459736"/>
            <a:ext cx="11119104" cy="117500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1175004"/>
          </a:xfrm>
          <a:prstGeom prst="rect">
            <a:avLst/>
          </a:prstGeom>
          <a:noFill/>
        </p:spPr>
        <p:txBody>
          <a:bodyPr wrap="square">
            <a:spAutoFit/>
          </a:bodyPr>
          <a:lstStyle/>
          <a:p>
            <a:pPr algn="l">
              <a:buNone/>
            </a:pPr>
            <a:r>
              <a:rPr sz="900" b="0" i="0">
                <a:solidFill>
                  <a:srgbClr val="0F172A"/>
                </a:solidFill>
                <a:latin typeface="Courier New" panose="02070309020205020404"/>
              </a:rPr>
              <a:t># minute  hour  day-of-month  month  day-of-week
*/1 * * * *    # every minute
0 2 * * *      # every day at 2 AM
0 0 * * 0      # every Sunday midnight
*/5 * * * 1-5  # every 5 min, Mon-Fri</a:t>
            </a:r>
            <a:endParaRPr sz="900" b="0" i="0">
              <a:solidFill>
                <a:srgbClr val="0F172A"/>
              </a:solidFill>
              <a:latin typeface="Courier New" panose="02070309020205020404"/>
            </a:endParaRPr>
          </a:p>
        </p:txBody>
      </p:sp>
      <p:sp>
        <p:nvSpPr>
          <p:cNvPr id="11" name="TextBox 10"/>
          <p:cNvSpPr txBox="1"/>
          <p:nvPr/>
        </p:nvSpPr>
        <p:spPr>
          <a:xfrm>
            <a:off x="640080" y="39730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Common use cases:</a:t>
            </a:r>
            <a:endParaRPr sz="1600" b="1" i="0">
              <a:solidFill>
                <a:srgbClr val="0F172A"/>
              </a:solidFill>
              <a:latin typeface="Calibri" panose="020F0502020204030204"/>
            </a:endParaRPr>
          </a:p>
        </p:txBody>
      </p:sp>
      <p:sp>
        <p:nvSpPr>
          <p:cNvPr id="12" name="TextBox 11"/>
          <p:cNvSpPr txBox="1"/>
          <p:nvPr/>
        </p:nvSpPr>
        <p:spPr>
          <a:xfrm>
            <a:off x="640080" y="43388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Scheduled backups, cleanup jobs, report emails, cache invalidation</a:t>
            </a:r>
            <a:endParaRPr sz="1600" b="0" i="0">
              <a:solidFill>
                <a:srgbClr val="0F172A"/>
              </a:solidFill>
              <a:latin typeface="Calibri" panose="020F0502020204030204"/>
            </a:endParaRPr>
          </a:p>
        </p:txBody>
      </p:sp>
      <p:sp>
        <p:nvSpPr>
          <p:cNvPr id="13" name="TextBox 12"/>
          <p:cNvSpPr txBox="1"/>
          <p:nvPr/>
        </p:nvSpPr>
        <p:spPr>
          <a:xfrm>
            <a:off x="640080" y="490575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CronJob -&gt; creates a Job -&gt; Job creates Pods -&gt; Pods run to completion.</a:t>
            </a:r>
            <a:endParaRPr sz="1400" b="0" i="1">
              <a:solidFill>
                <a:srgbClr val="2496ED"/>
              </a:solidFill>
              <a:latin typeface="Calibri" panose="020F0502020204030204"/>
            </a:endParaRPr>
          </a:p>
        </p:txBody>
      </p:sp>
      <p:sp>
        <p:nvSpPr>
          <p:cNvPr id="14" name="TextBox 1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5" name="TextBox 1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6" name="TextBox 1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132</a:t>
            </a:r>
            <a:endParaRPr sz="900" b="0" i="0">
              <a:solidFill>
                <a:srgbClr val="718596"/>
              </a:solidFill>
              <a:latin typeface="Calibri" panose="020F0502020204030204"/>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0" y="0"/>
            <a:ext cx="347472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474720" y="0"/>
            <a:ext cx="8714232" cy="109728"/>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37160" y="2377440"/>
            <a:ext cx="3200400" cy="502920"/>
          </a:xfrm>
          <a:prstGeom prst="rect">
            <a:avLst/>
          </a:prstGeom>
          <a:noFill/>
        </p:spPr>
        <p:txBody>
          <a:bodyPr wrap="square">
            <a:spAutoFit/>
          </a:bodyPr>
          <a:lstStyle/>
          <a:p>
            <a:pPr algn="ctr">
              <a:buNone/>
            </a:pPr>
            <a:r>
              <a:rPr sz="2000" b="1" i="0">
                <a:solidFill>
                  <a:srgbClr val="FFFFFF"/>
                </a:solidFill>
                <a:latin typeface="Calibri" panose="020F0502020204030204"/>
              </a:rPr>
              <a:t>LAB 19</a:t>
            </a:r>
            <a:endParaRPr sz="2000" b="1" i="0">
              <a:solidFill>
                <a:srgbClr val="FFFFFF"/>
              </a:solidFill>
              <a:latin typeface="Calibri" panose="020F0502020204030204"/>
            </a:endParaRPr>
          </a:p>
        </p:txBody>
      </p:sp>
      <p:sp>
        <p:nvSpPr>
          <p:cNvPr id="5" name="TextBox 4"/>
          <p:cNvSpPr txBox="1"/>
          <p:nvPr/>
        </p:nvSpPr>
        <p:spPr>
          <a:xfrm>
            <a:off x="137160" y="2907792"/>
            <a:ext cx="3200400" cy="320040"/>
          </a:xfrm>
          <a:prstGeom prst="rect">
            <a:avLst/>
          </a:prstGeom>
          <a:noFill/>
        </p:spPr>
        <p:txBody>
          <a:bodyPr wrap="square">
            <a:spAutoFit/>
          </a:bodyPr>
          <a:lstStyle/>
          <a:p>
            <a:pPr algn="ctr">
              <a:buNone/>
            </a:pPr>
            <a:r>
              <a:rPr sz="1200" b="1" i="0">
                <a:solidFill>
                  <a:srgbClr val="FFFFFF"/>
                </a:solidFill>
                <a:latin typeface="Calibri" panose="020F0502020204030204"/>
              </a:rPr>
              <a:t>HANDS-ON LAB</a:t>
            </a:r>
            <a:endParaRPr sz="1200" b="1" i="0">
              <a:solidFill>
                <a:srgbClr val="FFFFFF"/>
              </a:solidFill>
              <a:latin typeface="Calibri" panose="020F0502020204030204"/>
            </a:endParaRPr>
          </a:p>
        </p:txBody>
      </p:sp>
      <p:sp>
        <p:nvSpPr>
          <p:cNvPr id="6" name="TextBox 5"/>
          <p:cNvSpPr txBox="1"/>
          <p:nvPr/>
        </p:nvSpPr>
        <p:spPr>
          <a:xfrm>
            <a:off x="3749039" y="1463040"/>
            <a:ext cx="8229600" cy="1645920"/>
          </a:xfrm>
          <a:prstGeom prst="rect">
            <a:avLst/>
          </a:prstGeom>
          <a:noFill/>
        </p:spPr>
        <p:txBody>
          <a:bodyPr wrap="square">
            <a:spAutoFit/>
          </a:bodyPr>
          <a:lstStyle/>
          <a:p>
            <a:pPr algn="l">
              <a:buNone/>
            </a:pPr>
            <a:r>
              <a:rPr sz="3600" b="1" i="0">
                <a:solidFill>
                  <a:srgbClr val="FFFFFF"/>
                </a:solidFill>
                <a:latin typeface="Cambria" panose="02040503050406030204"/>
              </a:rPr>
              <a:t>Jobs &amp; CronJobs</a:t>
            </a:r>
            <a:endParaRPr sz="3600" b="1" i="0">
              <a:solidFill>
                <a:srgbClr val="FFFFFF"/>
              </a:solidFill>
              <a:latin typeface="Cambria" panose="02040503050406030204"/>
            </a:endParaRPr>
          </a:p>
        </p:txBody>
      </p:sp>
      <p:sp>
        <p:nvSpPr>
          <p:cNvPr id="7" name="TextBox 6"/>
          <p:cNvSpPr txBox="1"/>
          <p:nvPr/>
        </p:nvSpPr>
        <p:spPr>
          <a:xfrm>
            <a:off x="3749039" y="3291840"/>
            <a:ext cx="8229600" cy="365760"/>
          </a:xfrm>
          <a:prstGeom prst="rect">
            <a:avLst/>
          </a:prstGeom>
          <a:noFill/>
        </p:spPr>
        <p:txBody>
          <a:bodyPr wrap="square">
            <a:spAutoFit/>
          </a:bodyPr>
          <a:lstStyle/>
          <a:p>
            <a:pPr algn="l">
              <a:buNone/>
            </a:pPr>
            <a:r>
              <a:rPr sz="1400" b="0" i="1">
                <a:solidFill>
                  <a:srgbClr val="2496ED"/>
                </a:solidFill>
                <a:latin typeface="Calibri" panose="020F0502020204030204"/>
              </a:rPr>
              <a:t>KillerCoda  →  https://killercoda.com/tertiary-labs/course/killercoda/day2-05-k8s-storage-jobs</a:t>
            </a:r>
            <a:endParaRPr sz="1400" b="0" i="1">
              <a:solidFill>
                <a:srgbClr val="2496ED"/>
              </a:solidFill>
              <a:latin typeface="Calibri" panose="020F0502020204030204"/>
            </a:endParaRPr>
          </a:p>
        </p:txBody>
      </p:sp>
      <p:sp>
        <p:nvSpPr>
          <p:cNvPr id="8" name="TextBox 7"/>
          <p:cNvSpPr txBox="1"/>
          <p:nvPr/>
        </p:nvSpPr>
        <p:spPr>
          <a:xfrm>
            <a:off x="3749039" y="3749039"/>
            <a:ext cx="8229600" cy="365760"/>
          </a:xfrm>
          <a:prstGeom prst="rect">
            <a:avLst/>
          </a:prstGeom>
          <a:noFill/>
        </p:spPr>
        <p:txBody>
          <a:bodyPr wrap="square">
            <a:spAutoFit/>
          </a:bodyPr>
          <a:lstStyle/>
          <a:p>
            <a:pPr algn="l">
              <a:buNone/>
            </a:pPr>
            <a:r>
              <a:rPr sz="1300" b="0" i="0">
                <a:solidFill>
                  <a:srgbClr val="94A3B8"/>
                </a:solidFill>
                <a:latin typeface="Calibri" panose="020F0502020204030204"/>
              </a:rPr>
              <a:t>Follow the steps on KillerCoda — commands run in the browser terminal.</a:t>
            </a:r>
            <a:endParaRPr sz="1300" b="0" i="0">
              <a:solidFill>
                <a:srgbClr val="94A3B8"/>
              </a:solidFill>
              <a:latin typeface="Calibri" panose="020F0502020204030204"/>
            </a:endParaRPr>
          </a:p>
        </p:txBody>
      </p:sp>
      <p:sp>
        <p:nvSpPr>
          <p:cNvPr id="9" name="TextBox 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0" name="TextBox 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1" name="TextBox 1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133</a:t>
            </a:r>
            <a:endParaRPr sz="900" b="0" i="0">
              <a:solidFill>
                <a:srgbClr val="718596"/>
              </a:solidFill>
              <a:latin typeface="Calibri" panose="020F0502020204030204"/>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19 — JOBS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Jobs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Imperative one-shot job:</a:t>
            </a:r>
            <a:endParaRPr sz="1600" b="1" i="0">
              <a:solidFill>
                <a:srgbClr val="0F172A"/>
              </a:solidFill>
              <a:latin typeface="Calibri" panose="020F0502020204030204"/>
            </a:endParaRPr>
          </a:p>
        </p:txBody>
      </p:sp>
      <p:sp>
        <p:nvSpPr>
          <p:cNvPr id="8" name="Rectangle 7"/>
          <p:cNvSpPr/>
          <p:nvPr/>
        </p:nvSpPr>
        <p:spPr>
          <a:xfrm>
            <a:off x="566928" y="1892808"/>
            <a:ext cx="11119104" cy="117500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117500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117500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1175004"/>
          </a:xfrm>
          <a:prstGeom prst="rect">
            <a:avLst/>
          </a:prstGeom>
          <a:noFill/>
        </p:spPr>
        <p:txBody>
          <a:bodyPr wrap="square">
            <a:spAutoFit/>
          </a:bodyPr>
          <a:lstStyle/>
          <a:p>
            <a:pPr algn="l">
              <a:buNone/>
            </a:pPr>
            <a:r>
              <a:rPr sz="900" b="0" i="0">
                <a:solidFill>
                  <a:srgbClr val="FFFFFF"/>
                </a:solidFill>
                <a:latin typeface="Courier New" panose="02070309020205020404"/>
              </a:rPr>
              <a:t>kubectl create job my-job --image=busybox -- echo "Hello from Job!"
kubectl get jobs
kubectl get pods
kubectl logs job/my-job
kubectl delete job my-job</a:t>
            </a:r>
            <a:endParaRPr sz="900" b="0" i="0">
              <a:solidFill>
                <a:srgbClr val="FFFFFF"/>
              </a:solidFill>
              <a:latin typeface="Courier New" panose="02070309020205020404"/>
            </a:endParaRPr>
          </a:p>
        </p:txBody>
      </p:sp>
      <p:sp>
        <p:nvSpPr>
          <p:cNvPr id="12" name="TextBox 11"/>
          <p:cNvSpPr txBox="1"/>
          <p:nvPr/>
        </p:nvSpPr>
        <p:spPr>
          <a:xfrm>
            <a:off x="640080" y="320497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Declarative — 3 completions, 2 in parallel (job.yaml):</a:t>
            </a:r>
            <a:endParaRPr sz="1600" b="1" i="0">
              <a:solidFill>
                <a:srgbClr val="0F172A"/>
              </a:solidFill>
              <a:latin typeface="Calibri" panose="020F0502020204030204"/>
            </a:endParaRPr>
          </a:p>
        </p:txBody>
      </p:sp>
      <p:sp>
        <p:nvSpPr>
          <p:cNvPr id="13" name="Rectangle 12"/>
          <p:cNvSpPr/>
          <p:nvPr/>
        </p:nvSpPr>
        <p:spPr>
          <a:xfrm>
            <a:off x="566928" y="3525012"/>
            <a:ext cx="11119104" cy="179222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25012"/>
            <a:ext cx="256032" cy="179222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552444"/>
            <a:ext cx="256032" cy="1792224"/>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3570732"/>
            <a:ext cx="10771632" cy="1792224"/>
          </a:xfrm>
          <a:prstGeom prst="rect">
            <a:avLst/>
          </a:prstGeom>
          <a:noFill/>
        </p:spPr>
        <p:txBody>
          <a:bodyPr wrap="square">
            <a:spAutoFit/>
          </a:bodyPr>
          <a:lstStyle/>
          <a:p>
            <a:pPr algn="l">
              <a:buNone/>
            </a:pPr>
            <a:r>
              <a:rPr sz="900" b="0" i="0">
                <a:solidFill>
                  <a:srgbClr val="FFFFFF"/>
                </a:solidFill>
                <a:latin typeface="Courier New" panose="02070309020205020404"/>
              </a:rPr>
              <a:t># spec: completions: 3  parallelism: 2
# containers: command: ["sh","-c","echo 'Processing...' &amp;&amp; sleep 3 &amp;&amp; echo 'Done!'"]
# restartPolicy: Never
kubectl apply -f job.yaml
kubectl get pods -w
kubectl get jobs
kubectl logs job/countdown
kubectl delete -f job.yaml</a:t>
            </a:r>
            <a:endParaRPr sz="900" b="0" i="0">
              <a:solidFill>
                <a:srgbClr val="FFFFFF"/>
              </a:solidFill>
              <a:latin typeface="Courier New" panose="02070309020205020404"/>
            </a:endParaRPr>
          </a:p>
        </p:txBody>
      </p:sp>
      <p:sp>
        <p:nvSpPr>
          <p:cNvPr id="17" name="TextBox 16"/>
          <p:cNvSpPr txBox="1"/>
          <p:nvPr/>
        </p:nvSpPr>
        <p:spPr>
          <a:xfrm>
            <a:off x="640080" y="545439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completions: 3 = 3 successful runs total. parallelism: 2 = 2 Pods run at the same time.</a:t>
            </a:r>
            <a:endParaRPr sz="1400" b="0" i="1">
              <a:solidFill>
                <a:srgbClr val="2496ED"/>
              </a:solidFill>
              <a:latin typeface="Calibri" panose="020F0502020204030204"/>
            </a:endParaRPr>
          </a:p>
        </p:txBody>
      </p:sp>
      <p:sp>
        <p:nvSpPr>
          <p:cNvPr id="18" name="TextBox 17"/>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https://killercoda.com/tertiary-labs/course/killercoda/day2-05-k8s-storage-jobs</a:t>
            </a:r>
            <a:endParaRPr sz="1100" b="0" i="1">
              <a:solidFill>
                <a:srgbClr val="2496ED"/>
              </a:solidFill>
              <a:latin typeface="Calibri" panose="020F0502020204030204"/>
            </a:endParaRPr>
          </a:p>
        </p:txBody>
      </p:sp>
      <p:sp>
        <p:nvSpPr>
          <p:cNvPr id="19" name="TextBox 18"/>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20" name="TextBox 19"/>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1" name="TextBox 20"/>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134</a:t>
            </a:r>
            <a:endParaRPr sz="900" b="0" i="0">
              <a:solidFill>
                <a:srgbClr val="718596"/>
              </a:solidFill>
              <a:latin typeface="Calibri" panose="020F0502020204030204"/>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LAB 19 — CRONJOBS</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CronJobs — Commands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Imperative — every minute:</a:t>
            </a:r>
            <a:endParaRPr sz="1600" b="1" i="0">
              <a:solidFill>
                <a:srgbClr val="0F172A"/>
              </a:solidFill>
              <a:latin typeface="Calibri" panose="020F0502020204030204"/>
            </a:endParaRPr>
          </a:p>
        </p:txBody>
      </p:sp>
      <p:sp>
        <p:nvSpPr>
          <p:cNvPr id="8" name="Rectangle 7"/>
          <p:cNvSpPr/>
          <p:nvPr/>
        </p:nvSpPr>
        <p:spPr>
          <a:xfrm>
            <a:off x="566928" y="1892808"/>
            <a:ext cx="11119104" cy="2203704"/>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892808"/>
            <a:ext cx="256032" cy="220370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920240"/>
            <a:ext cx="256032" cy="2203704"/>
          </a:xfrm>
          <a:prstGeom prst="rect">
            <a:avLst/>
          </a:prstGeom>
          <a:noFill/>
        </p:spPr>
        <p:txBody>
          <a:bodyPr wrap="square">
            <a:spAutoFit/>
          </a:bodyPr>
          <a:lstStyle/>
          <a:p>
            <a:pPr algn="ctr">
              <a:buNone/>
            </a:pPr>
            <a:r>
              <a:rPr sz="1100" b="1" i="0">
                <a:solidFill>
                  <a:srgbClr val="FFFFFF"/>
                </a:solidFill>
                <a:latin typeface="Calibri" panose="020F0502020204030204"/>
              </a:rPr>
              <a:t>1</a:t>
            </a:r>
            <a:endParaRPr sz="1100" b="1" i="0">
              <a:solidFill>
                <a:srgbClr val="FFFFFF"/>
              </a:solidFill>
              <a:latin typeface="Calibri" panose="020F0502020204030204"/>
            </a:endParaRPr>
          </a:p>
        </p:txBody>
      </p:sp>
      <p:sp>
        <p:nvSpPr>
          <p:cNvPr id="11" name="TextBox 10"/>
          <p:cNvSpPr txBox="1"/>
          <p:nvPr/>
        </p:nvSpPr>
        <p:spPr>
          <a:xfrm>
            <a:off x="841248" y="1938528"/>
            <a:ext cx="10771632" cy="2203704"/>
          </a:xfrm>
          <a:prstGeom prst="rect">
            <a:avLst/>
          </a:prstGeom>
          <a:noFill/>
        </p:spPr>
        <p:txBody>
          <a:bodyPr wrap="square">
            <a:spAutoFit/>
          </a:bodyPr>
          <a:lstStyle/>
          <a:p>
            <a:pPr algn="l">
              <a:buNone/>
            </a:pPr>
            <a:r>
              <a:rPr sz="900" b="0" i="0">
                <a:solidFill>
                  <a:srgbClr val="FFFFFF"/>
                </a:solidFill>
                <a:latin typeface="Courier New" panose="02070309020205020404"/>
              </a:rPr>
              <a:t>kubectl create cronjob my-cron \
  --image=busybox \
  --schedule="*/1 * * * *" \
  -- echo "Hello from CronJob!"
kubectl get cronjobs
# Wait 1-2 minutes for a Job to appear
kubectl get jobs
kubectl logs job/$(kubectl get jobs --sort-by=.metadata.creationTimestamp \
  -o jsonpath='{.items[-1].metadata.name}')
kubectl delete cronjob my-cron</a:t>
            </a:r>
            <a:endParaRPr sz="900" b="0" i="0">
              <a:solidFill>
                <a:srgbClr val="FFFFFF"/>
              </a:solidFill>
              <a:latin typeface="Courier New" panose="02070309020205020404"/>
            </a:endParaRPr>
          </a:p>
        </p:txBody>
      </p:sp>
      <p:sp>
        <p:nvSpPr>
          <p:cNvPr id="12" name="TextBox 11"/>
          <p:cNvSpPr txBox="1"/>
          <p:nvPr/>
        </p:nvSpPr>
        <p:spPr>
          <a:xfrm>
            <a:off x="640080" y="423367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Declarative — every 2 minutes (cronjob.yaml):</a:t>
            </a:r>
            <a:endParaRPr sz="1600" b="1" i="0">
              <a:solidFill>
                <a:srgbClr val="0F172A"/>
              </a:solidFill>
              <a:latin typeface="Calibri" panose="020F0502020204030204"/>
            </a:endParaRPr>
          </a:p>
        </p:txBody>
      </p:sp>
      <p:sp>
        <p:nvSpPr>
          <p:cNvPr id="13" name="Rectangle 12"/>
          <p:cNvSpPr/>
          <p:nvPr/>
        </p:nvSpPr>
        <p:spPr>
          <a:xfrm>
            <a:off x="566928" y="4553712"/>
            <a:ext cx="11119104" cy="125272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4553712"/>
            <a:ext cx="256032" cy="1252728"/>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4581144"/>
            <a:ext cx="256032" cy="1252728"/>
          </a:xfrm>
          <a:prstGeom prst="rect">
            <a:avLst/>
          </a:prstGeom>
          <a:noFill/>
        </p:spPr>
        <p:txBody>
          <a:bodyPr wrap="square">
            <a:spAutoFit/>
          </a:bodyPr>
          <a:lstStyle/>
          <a:p>
            <a:pPr algn="ctr">
              <a:buNone/>
            </a:pPr>
            <a:r>
              <a:rPr sz="1100" b="1" i="0">
                <a:solidFill>
                  <a:srgbClr val="FFFFFF"/>
                </a:solidFill>
                <a:latin typeface="Calibri" panose="020F0502020204030204"/>
              </a:rPr>
              <a:t>2</a:t>
            </a:r>
            <a:endParaRPr sz="1100" b="1" i="0">
              <a:solidFill>
                <a:srgbClr val="FFFFFF"/>
              </a:solidFill>
              <a:latin typeface="Calibri" panose="020F0502020204030204"/>
            </a:endParaRPr>
          </a:p>
        </p:txBody>
      </p:sp>
      <p:sp>
        <p:nvSpPr>
          <p:cNvPr id="16" name="TextBox 15"/>
          <p:cNvSpPr txBox="1"/>
          <p:nvPr/>
        </p:nvSpPr>
        <p:spPr>
          <a:xfrm>
            <a:off x="841248" y="4599432"/>
            <a:ext cx="10771632" cy="1252728"/>
          </a:xfrm>
          <a:prstGeom prst="rect">
            <a:avLst/>
          </a:prstGeom>
          <a:noFill/>
        </p:spPr>
        <p:txBody>
          <a:bodyPr wrap="square">
            <a:spAutoFit/>
          </a:bodyPr>
          <a:lstStyle/>
          <a:p>
            <a:pPr algn="l">
              <a:buNone/>
            </a:pPr>
            <a:r>
              <a:rPr sz="900" b="0" i="0">
                <a:solidFill>
                  <a:srgbClr val="FFFFFF"/>
                </a:solidFill>
                <a:latin typeface="Courier New" panose="02070309020205020404"/>
              </a:rPr>
              <a:t># schedule: "*/2 * * * *"
# command: ["sh","-c","echo 'Backup at $(date)' &amp;&amp; sleep 3 &amp;&amp; echo 'Done!'"]
kubectl apply -f cronjob.yaml
kubectl get cronjobs
# Wait 2-4 minutes
kubectl get jobs
kubectl delete -f cronjob.yaml</a:t>
            </a:r>
            <a:endParaRPr sz="900" b="0" i="0">
              <a:solidFill>
                <a:srgbClr val="FFFFFF"/>
              </a:solidFill>
              <a:latin typeface="Courier New" panose="02070309020205020404"/>
            </a:endParaRPr>
          </a:p>
        </p:txBody>
      </p:sp>
      <p:sp>
        <p:nvSpPr>
          <p:cNvPr id="17" name="TextBox 16"/>
          <p:cNvSpPr txBox="1"/>
          <p:nvPr/>
        </p:nvSpPr>
        <p:spPr>
          <a:xfrm>
            <a:off x="640080" y="5989320"/>
            <a:ext cx="10972800" cy="320040"/>
          </a:xfrm>
          <a:prstGeom prst="rect">
            <a:avLst/>
          </a:prstGeom>
          <a:noFill/>
        </p:spPr>
        <p:txBody>
          <a:bodyPr wrap="square">
            <a:spAutoFit/>
          </a:bodyPr>
          <a:lstStyle/>
          <a:p>
            <a:pPr algn="l">
              <a:buNone/>
            </a:pPr>
            <a:r>
              <a:rPr sz="1100" b="0" i="1">
                <a:solidFill>
                  <a:srgbClr val="2496ED"/>
                </a:solidFill>
                <a:latin typeface="Calibri" panose="020F0502020204030204"/>
              </a:rPr>
              <a:t>KillerCoda  -&gt;  https://killercoda.com/tertiary-labs/course/killercoda/day2-05-k8s-storage-jobs</a:t>
            </a:r>
            <a:endParaRPr sz="1100" b="0" i="1">
              <a:solidFill>
                <a:srgbClr val="2496ED"/>
              </a:solidFill>
              <a:latin typeface="Calibri" panose="020F0502020204030204"/>
            </a:endParaRPr>
          </a:p>
        </p:txBody>
      </p:sp>
      <p:sp>
        <p:nvSpPr>
          <p:cNvPr id="18" name="TextBox 17"/>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9" name="TextBox 18"/>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20" name="TextBox 19"/>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135</a:t>
            </a:r>
            <a:endParaRPr sz="900" b="0" i="0">
              <a:solidFill>
                <a:srgbClr val="718596"/>
              </a:solidFill>
              <a:latin typeface="Calibri" panose="020F0502020204030204"/>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7ED"/>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KNOWLEDGE CHECK  3</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Quick Review — Storage &amp; Jobs</a:t>
            </a:r>
            <a:endParaRPr sz="3000" b="1" i="0">
              <a:solidFill>
                <a:srgbClr val="0F172A"/>
              </a:solidFill>
              <a:latin typeface="Cambria" panose="02040503050406030204"/>
            </a:endParaRPr>
          </a:p>
        </p:txBody>
      </p:sp>
      <p:sp>
        <p:nvSpPr>
          <p:cNvPr id="4" name="TextBox 3"/>
          <p:cNvSpPr txBox="1"/>
          <p:nvPr/>
        </p:nvSpPr>
        <p:spPr>
          <a:xfrm>
            <a:off x="640080" y="164592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Q1.  Which volume type is shared between containers in the same Pod but lost when the Pod is deleted?</a:t>
            </a:r>
            <a:endParaRPr sz="1600" b="1" i="0">
              <a:solidFill>
                <a:srgbClr val="0F172A"/>
              </a:solidFill>
              <a:latin typeface="Calibri" panose="020F0502020204030204"/>
            </a:endParaRPr>
          </a:p>
        </p:txBody>
      </p:sp>
      <p:sp>
        <p:nvSpPr>
          <p:cNvPr id="5" name="Rectangle 4"/>
          <p:cNvSpPr/>
          <p:nvPr/>
        </p:nvSpPr>
        <p:spPr>
          <a:xfrm>
            <a:off x="566928" y="1965960"/>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011680"/>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PV     B) PVC     C) emptyDir     D) hostPath</a:t>
            </a:r>
            <a:endParaRPr sz="900" b="0" i="0">
              <a:solidFill>
                <a:srgbClr val="0F172A"/>
              </a:solidFill>
              <a:latin typeface="Courier New" panose="02070309020205020404"/>
            </a:endParaRPr>
          </a:p>
        </p:txBody>
      </p:sp>
      <p:sp>
        <p:nvSpPr>
          <p:cNvPr id="7" name="TextBox 6"/>
          <p:cNvSpPr txBox="1"/>
          <p:nvPr/>
        </p:nvSpPr>
        <p:spPr>
          <a:xfrm>
            <a:off x="640080" y="2656332"/>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Q2.  What K8s resource stores state that persists across Pod deletions?</a:t>
            </a:r>
            <a:endParaRPr sz="1600" b="1" i="0">
              <a:solidFill>
                <a:srgbClr val="0F172A"/>
              </a:solidFill>
              <a:latin typeface="Calibri" panose="020F0502020204030204"/>
            </a:endParaRPr>
          </a:p>
        </p:txBody>
      </p:sp>
      <p:sp>
        <p:nvSpPr>
          <p:cNvPr id="8" name="TextBox 7"/>
          <p:cNvSpPr txBox="1"/>
          <p:nvPr/>
        </p:nvSpPr>
        <p:spPr>
          <a:xfrm>
            <a:off x="640080" y="322326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Q3.  True / False:  A Job restarts Pods after they complete successfully.</a:t>
            </a:r>
            <a:endParaRPr sz="1600" b="1" i="0">
              <a:solidFill>
                <a:srgbClr val="0F172A"/>
              </a:solidFill>
              <a:latin typeface="Calibri" panose="020F0502020204030204"/>
            </a:endParaRPr>
          </a:p>
        </p:txBody>
      </p:sp>
      <p:sp>
        <p:nvSpPr>
          <p:cNvPr id="9" name="TextBox 8"/>
          <p:cNvSpPr txBox="1"/>
          <p:nvPr/>
        </p:nvSpPr>
        <p:spPr>
          <a:xfrm>
            <a:off x="640080" y="379018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Q4.  What cron expression runs a job every day at midnight?</a:t>
            </a:r>
            <a:endParaRPr sz="1600" b="1" i="0">
              <a:solidFill>
                <a:srgbClr val="0F172A"/>
              </a:solidFill>
              <a:latin typeface="Calibri" panose="020F0502020204030204"/>
            </a:endParaRPr>
          </a:p>
        </p:txBody>
      </p:sp>
      <p:sp>
        <p:nvSpPr>
          <p:cNvPr id="10" name="Rectangle 9"/>
          <p:cNvSpPr/>
          <p:nvPr/>
        </p:nvSpPr>
        <p:spPr>
          <a:xfrm>
            <a:off x="566928" y="4110228"/>
            <a:ext cx="11119104" cy="35204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155948"/>
            <a:ext cx="10972800" cy="352044"/>
          </a:xfrm>
          <a:prstGeom prst="rect">
            <a:avLst/>
          </a:prstGeom>
          <a:noFill/>
        </p:spPr>
        <p:txBody>
          <a:bodyPr wrap="square">
            <a:spAutoFit/>
          </a:bodyPr>
          <a:lstStyle/>
          <a:p>
            <a:pPr algn="l">
              <a:buNone/>
            </a:pPr>
            <a:r>
              <a:rPr sz="900" b="0" i="0">
                <a:solidFill>
                  <a:srgbClr val="0F172A"/>
                </a:solidFill>
                <a:latin typeface="Courier New" panose="02070309020205020404"/>
              </a:rPr>
              <a:t>A) * * * * *     B) 0 0 * * *     C) */1 0 * * *     D) 0 * * * 0</a:t>
            </a:r>
            <a:endParaRPr sz="900" b="0" i="0">
              <a:solidFill>
                <a:srgbClr val="0F172A"/>
              </a:solidFill>
              <a:latin typeface="Courier New" panose="02070309020205020404"/>
            </a:endParaRPr>
          </a:p>
        </p:txBody>
      </p:sp>
      <p:sp>
        <p:nvSpPr>
          <p:cNvPr id="12" name="TextBox 11"/>
          <p:cNvSpPr txBox="1"/>
          <p:nvPr/>
        </p:nvSpPr>
        <p:spPr>
          <a:xfrm>
            <a:off x="640080" y="480060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Q5.  What does  parallelism: 2  mean in a Job spec?</a:t>
            </a:r>
            <a:endParaRPr sz="1600" b="1" i="0">
              <a:solidFill>
                <a:srgbClr val="0F172A"/>
              </a:solidFill>
              <a:latin typeface="Calibri" panose="020F0502020204030204"/>
            </a:endParaRPr>
          </a:p>
        </p:txBody>
      </p:sp>
      <p:sp>
        <p:nvSpPr>
          <p:cNvPr id="13" name="TextBox 1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4" name="TextBox 1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5" name="TextBox 1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136</a:t>
            </a:r>
            <a:endParaRPr sz="900" b="0" i="0">
              <a:solidFill>
                <a:srgbClr val="718596"/>
              </a:solidFill>
              <a:latin typeface="Calibri" panose="020F0502020204030204"/>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CONFIGURATION</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ConfigMaps &amp; Secrets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ConfigMap — non-sensitive configuration</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Decouple config from image. Mount as env vars or files inside Pods.</a:t>
            </a:r>
            <a:endParaRPr sz="1600" b="0" i="0">
              <a:solidFill>
                <a:srgbClr val="0F172A"/>
              </a:solidFill>
              <a:latin typeface="Calibri" panose="020F0502020204030204"/>
            </a:endParaRPr>
          </a:p>
        </p:txBody>
      </p:sp>
      <p:sp>
        <p:nvSpPr>
          <p:cNvPr id="9" name="Rectangle 8"/>
          <p:cNvSpPr/>
          <p:nvPr/>
        </p:nvSpPr>
        <p:spPr>
          <a:xfrm>
            <a:off x="566928" y="2258568"/>
            <a:ext cx="11119104" cy="5577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304288"/>
            <a:ext cx="10972800" cy="557784"/>
          </a:xfrm>
          <a:prstGeom prst="rect">
            <a:avLst/>
          </a:prstGeom>
          <a:noFill/>
        </p:spPr>
        <p:txBody>
          <a:bodyPr wrap="square">
            <a:spAutoFit/>
          </a:bodyPr>
          <a:lstStyle/>
          <a:p>
            <a:pPr algn="l">
              <a:buNone/>
            </a:pPr>
            <a:r>
              <a:rPr sz="900" b="0" i="0">
                <a:solidFill>
                  <a:srgbClr val="0F172A"/>
                </a:solidFill>
                <a:latin typeface="Courier New" panose="02070309020205020404"/>
              </a:rPr>
              <a:t>kubectl create configmap app-config --from-literal=APP_ENV=production
kubectl get configmap app-config -o yaml</a:t>
            </a:r>
            <a:endParaRPr sz="900" b="0" i="0">
              <a:solidFill>
                <a:srgbClr val="0F172A"/>
              </a:solidFill>
              <a:latin typeface="Courier New" panose="02070309020205020404"/>
            </a:endParaRPr>
          </a:p>
        </p:txBody>
      </p:sp>
      <p:sp>
        <p:nvSpPr>
          <p:cNvPr id="11" name="TextBox 10"/>
          <p:cNvSpPr txBox="1"/>
          <p:nvPr/>
        </p:nvSpPr>
        <p:spPr>
          <a:xfrm>
            <a:off x="640080" y="3154680"/>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Secret — sensitive data (base64-encoded, not encrypted by default)</a:t>
            </a:r>
            <a:endParaRPr sz="1600" b="1" i="0">
              <a:solidFill>
                <a:srgbClr val="0F172A"/>
              </a:solidFill>
              <a:latin typeface="Calibri" panose="020F0502020204030204"/>
            </a:endParaRPr>
          </a:p>
        </p:txBody>
      </p:sp>
      <p:sp>
        <p:nvSpPr>
          <p:cNvPr id="12" name="TextBox 11"/>
          <p:cNvSpPr txBox="1"/>
          <p:nvPr/>
        </p:nvSpPr>
        <p:spPr>
          <a:xfrm>
            <a:off x="640080" y="3520440"/>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Passwords, API keys, TLS certs. Referenced by Pods via env vars or mounted files.</a:t>
            </a:r>
            <a:endParaRPr sz="1600" b="0" i="0">
              <a:solidFill>
                <a:srgbClr val="0F172A"/>
              </a:solidFill>
              <a:latin typeface="Calibri" panose="020F0502020204030204"/>
            </a:endParaRPr>
          </a:p>
        </p:txBody>
      </p:sp>
      <p:sp>
        <p:nvSpPr>
          <p:cNvPr id="13" name="Rectangle 12"/>
          <p:cNvSpPr/>
          <p:nvPr/>
        </p:nvSpPr>
        <p:spPr>
          <a:xfrm>
            <a:off x="566928" y="3840480"/>
            <a:ext cx="11119104" cy="76352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3886200"/>
            <a:ext cx="10972800" cy="763524"/>
          </a:xfrm>
          <a:prstGeom prst="rect">
            <a:avLst/>
          </a:prstGeom>
          <a:noFill/>
        </p:spPr>
        <p:txBody>
          <a:bodyPr wrap="square">
            <a:spAutoFit/>
          </a:bodyPr>
          <a:lstStyle/>
          <a:p>
            <a:pPr algn="l">
              <a:buNone/>
            </a:pPr>
            <a:r>
              <a:rPr sz="900" b="0" i="0">
                <a:solidFill>
                  <a:srgbClr val="0F172A"/>
                </a:solidFill>
                <a:latin typeface="Courier New" panose="02070309020205020404"/>
              </a:rPr>
              <a:t>kubectl create secret generic db-secret \
  --from-literal=DB_PASSWORD=secret123
kubectl get secret db-secret -o yaml</a:t>
            </a:r>
            <a:endParaRPr sz="900" b="0" i="0">
              <a:solidFill>
                <a:srgbClr val="0F172A"/>
              </a:solidFill>
              <a:latin typeface="Courier New" panose="02070309020205020404"/>
            </a:endParaRPr>
          </a:p>
        </p:txBody>
      </p:sp>
      <p:sp>
        <p:nvSpPr>
          <p:cNvPr id="15" name="TextBox 14"/>
          <p:cNvSpPr txBox="1"/>
          <p:nvPr/>
        </p:nvSpPr>
        <p:spPr>
          <a:xfrm>
            <a:off x="640080" y="494233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For production: use external secret managers (Vault, AWS Secrets Manager) with K8s.</a:t>
            </a:r>
            <a:endParaRPr sz="1400" b="0" i="1">
              <a:solidFill>
                <a:srgbClr val="2496ED"/>
              </a:solidFill>
              <a:latin typeface="Calibri" panose="020F0502020204030204"/>
            </a:endParaRPr>
          </a:p>
        </p:txBody>
      </p:sp>
      <p:sp>
        <p:nvSpPr>
          <p:cNvPr id="16" name="TextBox 15"/>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7" name="TextBox 16"/>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8" name="TextBox 17"/>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137</a:t>
            </a:r>
            <a:endParaRPr sz="900" b="0" i="0">
              <a:solidFill>
                <a:srgbClr val="718596"/>
              </a:solidFill>
              <a:latin typeface="Calibri" panose="020F0502020204030204"/>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RESOURCE MANAGEMENT</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Resource Requests &amp; Limits</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Define how much CPU and memory a container needs and can use.</a:t>
            </a:r>
            <a:endParaRPr sz="1600" b="0" i="0">
              <a:solidFill>
                <a:srgbClr val="0F172A"/>
              </a:solidFill>
              <a:latin typeface="Calibri" panose="020F0502020204030204"/>
            </a:endParaRPr>
          </a:p>
        </p:txBody>
      </p:sp>
      <p:sp>
        <p:nvSpPr>
          <p:cNvPr id="8" name="TextBox 7"/>
          <p:cNvSpPr txBox="1"/>
          <p:nvPr/>
        </p:nvSpPr>
        <p:spPr>
          <a:xfrm>
            <a:off x="640080" y="213969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In your container spec:</a:t>
            </a:r>
            <a:endParaRPr sz="1600" b="1" i="0">
              <a:solidFill>
                <a:srgbClr val="0F172A"/>
              </a:solidFill>
              <a:latin typeface="Calibri" panose="020F0502020204030204"/>
            </a:endParaRPr>
          </a:p>
        </p:txBody>
      </p:sp>
      <p:sp>
        <p:nvSpPr>
          <p:cNvPr id="9" name="Rectangle 8"/>
          <p:cNvSpPr/>
          <p:nvPr/>
        </p:nvSpPr>
        <p:spPr>
          <a:xfrm>
            <a:off x="566928" y="2459736"/>
            <a:ext cx="11119104" cy="15864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05456"/>
            <a:ext cx="10972800" cy="1586484"/>
          </a:xfrm>
          <a:prstGeom prst="rect">
            <a:avLst/>
          </a:prstGeom>
          <a:noFill/>
        </p:spPr>
        <p:txBody>
          <a:bodyPr wrap="square">
            <a:spAutoFit/>
          </a:bodyPr>
          <a:lstStyle/>
          <a:p>
            <a:pPr algn="l">
              <a:buNone/>
            </a:pPr>
            <a:r>
              <a:rPr sz="900" b="0" i="0">
                <a:solidFill>
                  <a:srgbClr val="0F172A"/>
                </a:solidFill>
                <a:latin typeface="Courier New" panose="02070309020205020404"/>
              </a:rPr>
              <a:t>resources:
  requests:
    memory: "64Mi"    # minimum to schedule
    cpu: "250m"       # 250 millicores = 0.25 CPU
  limits:
    memory: "128Mi"   # container OOM-killed if exceeded
    cpu: "500m"       # throttled if exceeded</a:t>
            </a:r>
            <a:endParaRPr sz="900" b="0" i="0">
              <a:solidFill>
                <a:srgbClr val="0F172A"/>
              </a:solidFill>
              <a:latin typeface="Courier New" panose="02070309020205020404"/>
            </a:endParaRPr>
          </a:p>
        </p:txBody>
      </p:sp>
      <p:sp>
        <p:nvSpPr>
          <p:cNvPr id="11" name="TextBox 10"/>
          <p:cNvSpPr txBox="1"/>
          <p:nvPr/>
        </p:nvSpPr>
        <p:spPr>
          <a:xfrm>
            <a:off x="640080" y="438454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Why it matters:</a:t>
            </a:r>
            <a:endParaRPr sz="1600" b="1" i="0">
              <a:solidFill>
                <a:srgbClr val="0F172A"/>
              </a:solidFill>
              <a:latin typeface="Calibri" panose="020F0502020204030204"/>
            </a:endParaRPr>
          </a:p>
        </p:txBody>
      </p:sp>
      <p:sp>
        <p:nvSpPr>
          <p:cNvPr id="12" name="TextBox 11"/>
          <p:cNvSpPr txBox="1"/>
          <p:nvPr/>
        </p:nvSpPr>
        <p:spPr>
          <a:xfrm>
            <a:off x="640080" y="47503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requests: used by scheduler to find a Node with enough capacity</a:t>
            </a:r>
            <a:endParaRPr sz="1600" b="0" i="0">
              <a:solidFill>
                <a:srgbClr val="0F172A"/>
              </a:solidFill>
              <a:latin typeface="Calibri" panose="020F0502020204030204"/>
            </a:endParaRPr>
          </a:p>
        </p:txBody>
      </p:sp>
      <p:sp>
        <p:nvSpPr>
          <p:cNvPr id="13" name="TextBox 12"/>
          <p:cNvSpPr txBox="1"/>
          <p:nvPr/>
        </p:nvSpPr>
        <p:spPr>
          <a:xfrm>
            <a:off x="640080" y="51160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limits: prevents a greedy container from starving others</a:t>
            </a:r>
            <a:endParaRPr sz="1600" b="0" i="0">
              <a:solidFill>
                <a:srgbClr val="0F172A"/>
              </a:solidFill>
              <a:latin typeface="Calibri" panose="020F0502020204030204"/>
            </a:endParaRPr>
          </a:p>
        </p:txBody>
      </p:sp>
      <p:sp>
        <p:nvSpPr>
          <p:cNvPr id="14" name="TextBox 13"/>
          <p:cNvSpPr txBox="1"/>
          <p:nvPr/>
        </p:nvSpPr>
        <p:spPr>
          <a:xfrm>
            <a:off x="640080" y="5682996"/>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Always set requests and limits in production. No limits = noisy neighbour problem.</a:t>
            </a:r>
            <a:endParaRPr sz="1400" b="0" i="1">
              <a:solidFill>
                <a:srgbClr val="2496ED"/>
              </a:solidFill>
              <a:latin typeface="Calibri" panose="020F0502020204030204"/>
            </a:endParaRPr>
          </a:p>
        </p:txBody>
      </p:sp>
      <p:sp>
        <p:nvSpPr>
          <p:cNvPr id="15" name="TextBox 1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6" name="TextBox 1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7" name="TextBox 1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138</a:t>
            </a:r>
            <a:endParaRPr sz="900" b="0" i="0">
              <a:solidFill>
                <a:srgbClr val="718596"/>
              </a:solidFill>
              <a:latin typeface="Calibri" panose="020F0502020204030204"/>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panose="020F0502020204030204"/>
              </a:rPr>
              <a:t>WRAP UP</a:t>
            </a:r>
            <a:endParaRPr sz="1100" b="1" i="0">
              <a:solidFill>
                <a:srgbClr val="FFFFFF"/>
              </a:solidFill>
              <a:latin typeface="Calibri" panose="020F0502020204030204"/>
            </a:endParaRP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panose="02040503050406030204"/>
              </a:rPr>
              <a:t>Day 2 — Summary</a:t>
            </a:r>
            <a:endParaRPr sz="2600" b="1" i="0">
              <a:solidFill>
                <a:srgbClr val="FFFFFF"/>
              </a:solidFill>
              <a:latin typeface="Cambria" panose="02040503050406030204"/>
            </a:endParaRPr>
          </a:p>
        </p:txBody>
      </p:sp>
      <p:sp>
        <p:nvSpPr>
          <p:cNvPr id="7" name="TextBox 6"/>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What we covered today:</a:t>
            </a:r>
            <a:endParaRPr sz="1600" b="1" i="0">
              <a:solidFill>
                <a:srgbClr val="0F172A"/>
              </a:solidFill>
              <a:latin typeface="Calibri" panose="020F0502020204030204"/>
            </a:endParaRPr>
          </a:p>
        </p:txBody>
      </p:sp>
      <p:sp>
        <p:nvSpPr>
          <p:cNvPr id="8" name="TextBox 7"/>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Kubernetes architecture: control plane, worker nodes, kubectl</a:t>
            </a:r>
            <a:endParaRPr sz="1600" b="0" i="0">
              <a:solidFill>
                <a:srgbClr val="0F172A"/>
              </a:solidFill>
              <a:latin typeface="Calibri" panose="020F0502020204030204"/>
            </a:endParaRPr>
          </a:p>
        </p:txBody>
      </p:sp>
      <p:sp>
        <p:nvSpPr>
          <p:cNvPr id="9" name="TextBox 8"/>
          <p:cNvSpPr txBox="1"/>
          <p:nvPr/>
        </p:nvSpPr>
        <p:spPr>
          <a:xfrm>
            <a:off x="640080" y="23042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Pods: smallest unit, lifecycle, imperative &amp; declarative (Labs 13)</a:t>
            </a:r>
            <a:endParaRPr sz="1600" b="0" i="0">
              <a:solidFill>
                <a:srgbClr val="0F172A"/>
              </a:solidFill>
              <a:latin typeface="Calibri" panose="020F0502020204030204"/>
            </a:endParaRPr>
          </a:p>
        </p:txBody>
      </p:sp>
      <p:sp>
        <p:nvSpPr>
          <p:cNvPr id="10" name="TextBox 9"/>
          <p:cNvSpPr txBox="1"/>
          <p:nvPr/>
        </p:nvSpPr>
        <p:spPr>
          <a:xfrm>
            <a:off x="640080" y="26700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Namespaces: environment isolation  (Lab 14)</a:t>
            </a:r>
            <a:endParaRPr sz="1600" b="0" i="0">
              <a:solidFill>
                <a:srgbClr val="0F172A"/>
              </a:solidFill>
              <a:latin typeface="Calibri" panose="020F0502020204030204"/>
            </a:endParaRPr>
          </a:p>
        </p:txBody>
      </p:sp>
      <p:sp>
        <p:nvSpPr>
          <p:cNvPr id="11" name="TextBox 10"/>
          <p:cNvSpPr txBox="1"/>
          <p:nvPr/>
        </p:nvSpPr>
        <p:spPr>
          <a:xfrm>
            <a:off x="640080" y="30358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Deployments: self-healing, scaling, ReplicaSets  (Lab 15)</a:t>
            </a:r>
            <a:endParaRPr sz="1600" b="0" i="0">
              <a:solidFill>
                <a:srgbClr val="0F172A"/>
              </a:solidFill>
              <a:latin typeface="Calibri" panose="020F0502020204030204"/>
            </a:endParaRPr>
          </a:p>
        </p:txBody>
      </p:sp>
      <p:sp>
        <p:nvSpPr>
          <p:cNvPr id="12" name="TextBox 11"/>
          <p:cNvSpPr txBox="1"/>
          <p:nvPr/>
        </p:nvSpPr>
        <p:spPr>
          <a:xfrm>
            <a:off x="640080" y="340156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Rolling updates &amp; rollbacks: zero-downtime deploys  (Lab 16)</a:t>
            </a:r>
            <a:endParaRPr sz="1600" b="0" i="0">
              <a:solidFill>
                <a:srgbClr val="0F172A"/>
              </a:solidFill>
              <a:latin typeface="Calibri" panose="020F0502020204030204"/>
            </a:endParaRPr>
          </a:p>
        </p:txBody>
      </p:sp>
      <p:sp>
        <p:nvSpPr>
          <p:cNvPr id="13" name="TextBox 12"/>
          <p:cNvSpPr txBox="1"/>
          <p:nvPr/>
        </p:nvSpPr>
        <p:spPr>
          <a:xfrm>
            <a:off x="640080" y="37673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Services: ClusterIP (internal) and NodePort (external)  (Lab 17)</a:t>
            </a:r>
            <a:endParaRPr sz="1600" b="0" i="0">
              <a:solidFill>
                <a:srgbClr val="0F172A"/>
              </a:solidFill>
              <a:latin typeface="Calibri" panose="020F0502020204030204"/>
            </a:endParaRPr>
          </a:p>
        </p:txBody>
      </p:sp>
      <p:sp>
        <p:nvSpPr>
          <p:cNvPr id="14" name="TextBox 13"/>
          <p:cNvSpPr txBox="1"/>
          <p:nvPr/>
        </p:nvSpPr>
        <p:spPr>
          <a:xfrm>
            <a:off x="640080" y="41330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Storage: emptyDir, PersistentVolume &amp; PVC  (Lab 18)</a:t>
            </a:r>
            <a:endParaRPr sz="1600" b="0" i="0">
              <a:solidFill>
                <a:srgbClr val="0F172A"/>
              </a:solidFill>
              <a:latin typeface="Calibri" panose="020F0502020204030204"/>
            </a:endParaRPr>
          </a:p>
        </p:txBody>
      </p:sp>
      <p:sp>
        <p:nvSpPr>
          <p:cNvPr id="15" name="TextBox 14"/>
          <p:cNvSpPr txBox="1"/>
          <p:nvPr/>
        </p:nvSpPr>
        <p:spPr>
          <a:xfrm>
            <a:off x="640080" y="449884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Jobs &amp; CronJobs: batch and scheduled tasks  (Lab 19)</a:t>
            </a:r>
            <a:endParaRPr sz="1600" b="0" i="0">
              <a:solidFill>
                <a:srgbClr val="0F172A"/>
              </a:solidFill>
              <a:latin typeface="Calibri" panose="020F0502020204030204"/>
            </a:endParaRPr>
          </a:p>
        </p:txBody>
      </p:sp>
      <p:sp>
        <p:nvSpPr>
          <p:cNvPr id="16" name="TextBox 15"/>
          <p:cNvSpPr txBox="1"/>
          <p:nvPr/>
        </p:nvSpPr>
        <p:spPr>
          <a:xfrm>
            <a:off x="640080" y="486460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 ConfigMaps, Secrets, Resource Requests &amp; Limits</a:t>
            </a:r>
            <a:endParaRPr sz="1600" b="0" i="0">
              <a:solidFill>
                <a:srgbClr val="0F172A"/>
              </a:solidFill>
              <a:latin typeface="Calibri" panose="020F0502020204030204"/>
            </a:endParaRPr>
          </a:p>
        </p:txBody>
      </p:sp>
      <p:sp>
        <p:nvSpPr>
          <p:cNvPr id="17" name="TextBox 16"/>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8" name="TextBox 17"/>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9" name="TextBox 18"/>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139</a:t>
            </a:r>
            <a:endParaRPr sz="900" b="0" i="0">
              <a:solidFill>
                <a:srgbClr val="718596"/>
              </a:solidFill>
              <a:latin typeface="Calibri" panose="020F0502020204030204"/>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EFF6FF"/>
        </a:solidFill>
        <a:effectLst/>
      </p:bgPr>
    </p:bg>
    <p:spTree>
      <p:nvGrpSpPr>
        <p:cNvPr id="1" name=""/>
        <p:cNvGrpSpPr/>
        <p:nvPr/>
      </p:nvGrpSpPr>
      <p:grpSpPr/>
      <p:sp>
        <p:nvSpPr>
          <p:cNvPr id="2" name="TextBox 1"/>
          <p:cNvSpPr txBox="1"/>
          <p:nvPr/>
        </p:nvSpPr>
        <p:spPr>
          <a:xfrm>
            <a:off x="548640" y="219456"/>
            <a:ext cx="10058400" cy="292608"/>
          </a:xfrm>
          <a:prstGeom prst="rect">
            <a:avLst/>
          </a:prstGeom>
          <a:noFill/>
        </p:spPr>
        <p:txBody>
          <a:bodyPr wrap="square">
            <a:spAutoFit/>
          </a:bodyPr>
          <a:lstStyle/>
          <a:p>
            <a:pPr algn="l">
              <a:buNone/>
            </a:pPr>
            <a:r>
              <a:rPr sz="1200" b="1" i="0">
                <a:solidFill>
                  <a:srgbClr val="0F172A"/>
                </a:solidFill>
                <a:latin typeface="Calibri" panose="020F0502020204030204"/>
              </a:rPr>
              <a:t>ASSESSMENT</a:t>
            </a:r>
            <a:endParaRPr sz="1200" b="1" i="0">
              <a:solidFill>
                <a:srgbClr val="0F172A"/>
              </a:solidFill>
              <a:latin typeface="Calibri" panose="020F0502020204030204"/>
            </a:endParaRPr>
          </a:p>
        </p:txBody>
      </p:sp>
      <p:sp>
        <p:nvSpPr>
          <p:cNvPr id="3" name="TextBox 2"/>
          <p:cNvSpPr txBox="1"/>
          <p:nvPr/>
        </p:nvSpPr>
        <p:spPr>
          <a:xfrm>
            <a:off x="548640" y="548640"/>
            <a:ext cx="11064240" cy="777240"/>
          </a:xfrm>
          <a:prstGeom prst="rect">
            <a:avLst/>
          </a:prstGeom>
          <a:noFill/>
        </p:spPr>
        <p:txBody>
          <a:bodyPr wrap="square">
            <a:spAutoFit/>
          </a:bodyPr>
          <a:lstStyle/>
          <a:p>
            <a:pPr algn="l">
              <a:buNone/>
            </a:pPr>
            <a:r>
              <a:rPr sz="3000" b="1" i="0">
                <a:solidFill>
                  <a:srgbClr val="0F172A"/>
                </a:solidFill>
                <a:latin typeface="Cambria" panose="02040503050406030204"/>
              </a:rPr>
              <a:t>Assessment &amp; Funding</a:t>
            </a:r>
            <a:endParaRPr sz="3000" b="1" i="0">
              <a:solidFill>
                <a:srgbClr val="0F172A"/>
              </a:solidFill>
              <a:latin typeface="Cambria" panose="02040503050406030204"/>
            </a:endParaRPr>
          </a:p>
        </p:txBody>
      </p:sp>
      <p:sp>
        <p:nvSpPr>
          <p:cNvPr id="4" name="TextBox 3"/>
          <p:cNvSpPr txBox="1"/>
          <p:nvPr/>
        </p:nvSpPr>
        <p:spPr>
          <a:xfrm>
            <a:off x="640080" y="1572768"/>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Final Assessment (now):</a:t>
            </a:r>
            <a:endParaRPr sz="1600" b="1" i="0">
              <a:solidFill>
                <a:srgbClr val="0F172A"/>
              </a:solidFill>
              <a:latin typeface="Calibri" panose="020F0502020204030204"/>
            </a:endParaRPr>
          </a:p>
        </p:txBody>
      </p:sp>
      <p:sp>
        <p:nvSpPr>
          <p:cNvPr id="5" name="TextBox 4"/>
          <p:cNvSpPr txBox="1"/>
          <p:nvPr/>
        </p:nvSpPr>
        <p:spPr>
          <a:xfrm>
            <a:off x="640080" y="193852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Short written / MCQ assessment — must be attempted for SSG funding</a:t>
            </a:r>
            <a:endParaRPr sz="1600" b="0" i="0">
              <a:solidFill>
                <a:srgbClr val="0F172A"/>
              </a:solidFill>
              <a:latin typeface="Calibri" panose="020F0502020204030204"/>
            </a:endParaRPr>
          </a:p>
        </p:txBody>
      </p:sp>
      <p:sp>
        <p:nvSpPr>
          <p:cNvPr id="6" name="TextBox 5"/>
          <p:cNvSpPr txBox="1"/>
          <p:nvPr/>
        </p:nvSpPr>
        <p:spPr>
          <a:xfrm>
            <a:off x="640080" y="2304288"/>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Assessment is on the LMS: https://lms.tertiaryinfotech.com</a:t>
            </a:r>
            <a:endParaRPr sz="1600" b="0" i="0">
              <a:solidFill>
                <a:srgbClr val="0F172A"/>
              </a:solidFill>
              <a:latin typeface="Calibri" panose="020F0502020204030204"/>
            </a:endParaRPr>
          </a:p>
        </p:txBody>
      </p:sp>
      <p:sp>
        <p:nvSpPr>
          <p:cNvPr id="7" name="TextBox 6"/>
          <p:cNvSpPr txBox="1"/>
          <p:nvPr/>
        </p:nvSpPr>
        <p:spPr>
          <a:xfrm>
            <a:off x="640080" y="2871216"/>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SSG Attendance:</a:t>
            </a:r>
            <a:endParaRPr sz="1600" b="1" i="0">
              <a:solidFill>
                <a:srgbClr val="0F172A"/>
              </a:solidFill>
              <a:latin typeface="Calibri" panose="020F0502020204030204"/>
            </a:endParaRPr>
          </a:p>
        </p:txBody>
      </p:sp>
      <p:sp>
        <p:nvSpPr>
          <p:cNvPr id="8" name="TextBox 7"/>
          <p:cNvSpPr txBox="1"/>
          <p:nvPr/>
        </p:nvSpPr>
        <p:spPr>
          <a:xfrm>
            <a:off x="640080" y="3236976"/>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Minimum 75% attendance across all sessions (AM + PM each day)</a:t>
            </a:r>
            <a:endParaRPr sz="1600" b="0" i="0">
              <a:solidFill>
                <a:srgbClr val="0F172A"/>
              </a:solidFill>
              <a:latin typeface="Calibri" panose="020F0502020204030204"/>
            </a:endParaRPr>
          </a:p>
        </p:txBody>
      </p:sp>
      <p:sp>
        <p:nvSpPr>
          <p:cNvPr id="9" name="TextBox 8"/>
          <p:cNvSpPr txBox="1"/>
          <p:nvPr/>
        </p:nvSpPr>
        <p:spPr>
          <a:xfrm>
            <a:off x="640080" y="3803904"/>
            <a:ext cx="10972800" cy="365760"/>
          </a:xfrm>
          <a:prstGeom prst="rect">
            <a:avLst/>
          </a:prstGeom>
          <a:noFill/>
        </p:spPr>
        <p:txBody>
          <a:bodyPr wrap="square">
            <a:spAutoFit/>
          </a:bodyPr>
          <a:lstStyle/>
          <a:p>
            <a:pPr algn="l">
              <a:buNone/>
            </a:pPr>
            <a:r>
              <a:rPr sz="1600" b="1" i="0">
                <a:solidFill>
                  <a:srgbClr val="0F172A"/>
                </a:solidFill>
                <a:latin typeface="Calibri" panose="020F0502020204030204"/>
              </a:rPr>
              <a:t>TRAQOM Survey (mandatory before you leave):</a:t>
            </a:r>
            <a:endParaRPr sz="1600" b="1" i="0">
              <a:solidFill>
                <a:srgbClr val="0F172A"/>
              </a:solidFill>
              <a:latin typeface="Calibri" panose="020F0502020204030204"/>
            </a:endParaRPr>
          </a:p>
        </p:txBody>
      </p:sp>
      <p:sp>
        <p:nvSpPr>
          <p:cNvPr id="10" name="TextBox 9"/>
          <p:cNvSpPr txBox="1"/>
          <p:nvPr/>
        </p:nvSpPr>
        <p:spPr>
          <a:xfrm>
            <a:off x="640080" y="4169664"/>
            <a:ext cx="10972800" cy="365760"/>
          </a:xfrm>
          <a:prstGeom prst="rect">
            <a:avLst/>
          </a:prstGeom>
          <a:noFill/>
        </p:spPr>
        <p:txBody>
          <a:bodyPr wrap="square">
            <a:spAutoFit/>
          </a:bodyPr>
          <a:lstStyle/>
          <a:p>
            <a:pPr algn="l">
              <a:buNone/>
            </a:pPr>
            <a:r>
              <a:rPr sz="1600" b="0" i="0">
                <a:solidFill>
                  <a:srgbClr val="0F172A"/>
                </a:solidFill>
                <a:latin typeface="Calibri" panose="020F0502020204030204"/>
              </a:rPr>
              <a:t>  Complete the survey — link on the LMS. Required for course completion.</a:t>
            </a:r>
            <a:endParaRPr sz="1600" b="0" i="0">
              <a:solidFill>
                <a:srgbClr val="0F172A"/>
              </a:solidFill>
              <a:latin typeface="Calibri" panose="020F0502020204030204"/>
            </a:endParaRPr>
          </a:p>
        </p:txBody>
      </p:sp>
      <p:sp>
        <p:nvSpPr>
          <p:cNvPr id="11" name="TextBox 10"/>
          <p:cNvSpPr txBox="1"/>
          <p:nvPr/>
        </p:nvSpPr>
        <p:spPr>
          <a:xfrm>
            <a:off x="640080" y="4736592"/>
            <a:ext cx="10972800" cy="347472"/>
          </a:xfrm>
          <a:prstGeom prst="rect">
            <a:avLst/>
          </a:prstGeom>
          <a:noFill/>
        </p:spPr>
        <p:txBody>
          <a:bodyPr wrap="square">
            <a:spAutoFit/>
          </a:bodyPr>
          <a:lstStyle/>
          <a:p>
            <a:pPr algn="l">
              <a:buNone/>
            </a:pPr>
            <a:r>
              <a:rPr sz="1400" b="0" i="1">
                <a:solidFill>
                  <a:srgbClr val="2496ED"/>
                </a:solidFill>
                <a:latin typeface="Calibri" panose="020F0502020204030204"/>
              </a:rPr>
              <a:t>Certificate of Attendance will be issued via email within 2 weeks.</a:t>
            </a:r>
            <a:endParaRPr sz="1400" b="0" i="1">
              <a:solidFill>
                <a:srgbClr val="2496ED"/>
              </a:solidFill>
              <a:latin typeface="Calibri" panose="020F0502020204030204"/>
            </a:endParaRPr>
          </a:p>
        </p:txBody>
      </p:sp>
      <p:sp>
        <p:nvSpPr>
          <p:cNvPr id="12" name="TextBox 11"/>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3" name="TextBox 12"/>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4" name="TextBox 13"/>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140</a:t>
            </a:r>
            <a:endParaRPr sz="900" b="0" i="0">
              <a:solidFill>
                <a:srgbClr val="718596"/>
              </a:solidFill>
              <a:latin typeface="Calibri" panose="020F0502020204030204"/>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8503920" y="-1645919"/>
            <a:ext cx="4206240" cy="4206240"/>
          </a:xfrm>
          <a:prstGeom prst="ellipse">
            <a:avLst/>
          </a:prstGeom>
          <a:solidFill>
            <a:srgbClr val="2496ED">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692640" y="2651759"/>
            <a:ext cx="3108960" cy="3108960"/>
          </a:xfrm>
          <a:prstGeom prst="ellipse">
            <a:avLst/>
          </a:prstGeom>
          <a:solidFill>
            <a:srgbClr val="2496ED">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645920"/>
            <a:ext cx="10058400" cy="365760"/>
          </a:xfrm>
          <a:prstGeom prst="rect">
            <a:avLst/>
          </a:prstGeom>
          <a:noFill/>
        </p:spPr>
        <p:txBody>
          <a:bodyPr wrap="square">
            <a:spAutoFit/>
          </a:bodyPr>
          <a:lstStyle/>
          <a:p>
            <a:pPr algn="l">
              <a:buNone/>
            </a:pPr>
            <a:r>
              <a:rPr sz="1400" b="1" i="0">
                <a:solidFill>
                  <a:srgbClr val="2496ED"/>
                </a:solidFill>
                <a:latin typeface="Calibri" panose="020F0502020204030204"/>
              </a:rPr>
              <a:t>END OF COURSE</a:t>
            </a:r>
            <a:endParaRPr sz="1400" b="1" i="0">
              <a:solidFill>
                <a:srgbClr val="2496ED"/>
              </a:solidFill>
              <a:latin typeface="Calibri" panose="020F0502020204030204"/>
            </a:endParaRPr>
          </a:p>
        </p:txBody>
      </p:sp>
      <p:sp>
        <p:nvSpPr>
          <p:cNvPr id="5" name="TextBox 4"/>
          <p:cNvSpPr txBox="1"/>
          <p:nvPr/>
        </p:nvSpPr>
        <p:spPr>
          <a:xfrm>
            <a:off x="777240" y="2103120"/>
            <a:ext cx="10058400" cy="1005840"/>
          </a:xfrm>
          <a:prstGeom prst="rect">
            <a:avLst/>
          </a:prstGeom>
          <a:noFill/>
        </p:spPr>
        <p:txBody>
          <a:bodyPr wrap="square">
            <a:spAutoFit/>
          </a:bodyPr>
          <a:lstStyle/>
          <a:p>
            <a:pPr algn="l">
              <a:buNone/>
            </a:pPr>
            <a:r>
              <a:rPr sz="5200" b="1" i="0">
                <a:solidFill>
                  <a:srgbClr val="FFFFFF"/>
                </a:solidFill>
                <a:latin typeface="Cambria" panose="02040503050406030204"/>
              </a:rPr>
              <a:t>Thank You!</a:t>
            </a:r>
            <a:endParaRPr sz="5200" b="1" i="0">
              <a:solidFill>
                <a:srgbClr val="FFFFFF"/>
              </a:solidFill>
              <a:latin typeface="Cambria" panose="02040503050406030204"/>
            </a:endParaRPr>
          </a:p>
        </p:txBody>
      </p:sp>
      <p:sp>
        <p:nvSpPr>
          <p:cNvPr id="6" name="TextBox 5"/>
          <p:cNvSpPr txBox="1"/>
          <p:nvPr/>
        </p:nvSpPr>
        <p:spPr>
          <a:xfrm>
            <a:off x="822960" y="3291840"/>
            <a:ext cx="10058400" cy="457200"/>
          </a:xfrm>
          <a:prstGeom prst="rect">
            <a:avLst/>
          </a:prstGeom>
          <a:noFill/>
        </p:spPr>
        <p:txBody>
          <a:bodyPr wrap="square">
            <a:spAutoFit/>
          </a:bodyPr>
          <a:lstStyle/>
          <a:p>
            <a:pPr algn="l">
              <a:buNone/>
            </a:pPr>
            <a:r>
              <a:rPr sz="1800" b="0" i="0">
                <a:solidFill>
                  <a:srgbClr val="94A3B8"/>
                </a:solidFill>
                <a:latin typeface="Calibri" panose="020F0502020204030204"/>
              </a:rPr>
              <a:t>Keep building — containers are only the beginning.</a:t>
            </a:r>
            <a:endParaRPr sz="1800" b="0" i="0">
              <a:solidFill>
                <a:srgbClr val="94A3B8"/>
              </a:solidFill>
              <a:latin typeface="Calibri" panose="020F0502020204030204"/>
            </a:endParaRPr>
          </a:p>
        </p:txBody>
      </p:sp>
      <p:sp>
        <p:nvSpPr>
          <p:cNvPr id="7" name="TextBox 6"/>
          <p:cNvSpPr txBox="1"/>
          <p:nvPr/>
        </p:nvSpPr>
        <p:spPr>
          <a:xfrm>
            <a:off x="822960" y="3840480"/>
            <a:ext cx="10058400" cy="320040"/>
          </a:xfrm>
          <a:prstGeom prst="rect">
            <a:avLst/>
          </a:prstGeom>
          <a:noFill/>
        </p:spPr>
        <p:txBody>
          <a:bodyPr wrap="square">
            <a:spAutoFit/>
          </a:bodyPr>
          <a:lstStyle/>
          <a:p>
            <a:pPr algn="l">
              <a:buNone/>
            </a:pPr>
            <a:r>
              <a:rPr sz="1400" b="0" i="0">
                <a:solidFill>
                  <a:srgbClr val="64748B"/>
                </a:solidFill>
                <a:latin typeface="Calibri" panose="020F0502020204030204"/>
              </a:rPr>
              <a:t>Mohan Pothula   |   Tertiary Infotech Pte. Ltd.</a:t>
            </a:r>
            <a:endParaRPr sz="1400" b="0" i="0">
              <a:solidFill>
                <a:srgbClr val="64748B"/>
              </a:solidFill>
              <a:latin typeface="Calibri" panose="020F0502020204030204"/>
            </a:endParaRPr>
          </a:p>
        </p:txBody>
      </p:sp>
      <p:sp>
        <p:nvSpPr>
          <p:cNvPr id="8" name="TextBox 7"/>
          <p:cNvSpPr txBox="1"/>
          <p:nvPr/>
        </p:nvSpPr>
        <p:spPr>
          <a:xfrm>
            <a:off x="822960" y="4187952"/>
            <a:ext cx="10058400" cy="292608"/>
          </a:xfrm>
          <a:prstGeom prst="rect">
            <a:avLst/>
          </a:prstGeom>
          <a:noFill/>
        </p:spPr>
        <p:txBody>
          <a:bodyPr wrap="square">
            <a:spAutoFit/>
          </a:bodyPr>
          <a:lstStyle/>
          <a:p>
            <a:pPr algn="l">
              <a:buNone/>
            </a:pPr>
            <a:r>
              <a:rPr sz="1300" b="0" i="1">
                <a:solidFill>
                  <a:srgbClr val="2496ED"/>
                </a:solidFill>
                <a:latin typeface="Calibri" panose="020F0502020204030204"/>
              </a:rPr>
              <a:t>linkedin.com/in/mohanpothula   |   mohanpothula@gmail.com</a:t>
            </a:r>
            <a:endParaRPr sz="1300" b="0" i="1">
              <a:solidFill>
                <a:srgbClr val="2496ED"/>
              </a:solidFill>
              <a:latin typeface="Calibri" panose="020F0502020204030204"/>
            </a:endParaRPr>
          </a:p>
        </p:txBody>
      </p:sp>
      <p:sp>
        <p:nvSpPr>
          <p:cNvPr id="9" name="TextBox 8"/>
          <p:cNvSpPr txBox="1"/>
          <p:nvPr/>
        </p:nvSpPr>
        <p:spPr>
          <a:xfrm>
            <a:off x="822960" y="4517136"/>
            <a:ext cx="10058400" cy="320040"/>
          </a:xfrm>
          <a:prstGeom prst="rect">
            <a:avLst/>
          </a:prstGeom>
          <a:noFill/>
        </p:spPr>
        <p:txBody>
          <a:bodyPr wrap="square">
            <a:spAutoFit/>
          </a:bodyPr>
          <a:lstStyle/>
          <a:p>
            <a:pPr algn="l">
              <a:buNone/>
            </a:pPr>
            <a:r>
              <a:rPr sz="1300" b="0" i="0">
                <a:solidFill>
                  <a:srgbClr val="64748B"/>
                </a:solidFill>
                <a:latin typeface="Calibri" panose="020F0502020204030204"/>
              </a:rPr>
              <a:t>enquiry@tertiaryinfotech.com   |   +65 6100 0613   |   www.tertiarycourses.com.sg</a:t>
            </a:r>
            <a:endParaRPr sz="1300" b="0" i="0">
              <a:solidFill>
                <a:srgbClr val="64748B"/>
              </a:solidFill>
              <a:latin typeface="Calibri" panose="020F0502020204030204"/>
            </a:endParaRPr>
          </a:p>
        </p:txBody>
      </p:sp>
      <p:sp>
        <p:nvSpPr>
          <p:cNvPr id="10" name="TextBox 9"/>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panose="020F0502020204030204"/>
              </a:rPr>
              <a:t>© Tertiary Infotech Pte. Ltd.</a:t>
            </a:r>
            <a:endParaRPr sz="900" b="0" i="0">
              <a:solidFill>
                <a:srgbClr val="718596"/>
              </a:solidFill>
              <a:latin typeface="Calibri" panose="020F0502020204030204"/>
            </a:endParaRPr>
          </a:p>
        </p:txBody>
      </p:sp>
      <p:sp>
        <p:nvSpPr>
          <p:cNvPr id="11" name="TextBox 10"/>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panose="020F0502020204030204"/>
              </a:rPr>
              <a:t>Application Integration with Docker and Kubernetes</a:t>
            </a:r>
            <a:endParaRPr sz="900" b="0" i="0">
              <a:solidFill>
                <a:srgbClr val="718596"/>
              </a:solidFill>
              <a:latin typeface="Calibri" panose="020F0502020204030204"/>
            </a:endParaRPr>
          </a:p>
        </p:txBody>
      </p:sp>
      <p:sp>
        <p:nvSpPr>
          <p:cNvPr id="12" name="TextBox 11"/>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panose="020F0502020204030204"/>
              </a:rPr>
              <a:t>141</a:t>
            </a:r>
            <a:endParaRPr sz="900" b="0" i="0">
              <a:solidFill>
                <a:srgbClr val="718596"/>
              </a:solidFill>
              <a:latin typeface="Calibri" panose="020F0502020204030204"/>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a:rPr>
              <a:t>DOCKER — OVERVIEW</a:t>
            </a: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a:rPr>
              <a:t>Core Concepts at a Glance</a:t>
            </a:r>
          </a:p>
        </p:txBody>
      </p:sp>
      <p:sp>
        <p:nvSpPr>
          <p:cNvPr id="7" name="Rectangle 6"/>
          <p:cNvSpPr/>
          <p:nvPr/>
        </p:nvSpPr>
        <p:spPr>
          <a:xfrm>
            <a:off x="502920" y="1719072"/>
            <a:ext cx="2651760" cy="402336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19072"/>
            <a:ext cx="2651760" cy="40233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76072" y="1764792"/>
            <a:ext cx="2505456" cy="310896"/>
          </a:xfrm>
          <a:prstGeom prst="rect">
            <a:avLst/>
          </a:prstGeom>
          <a:noFill/>
        </p:spPr>
        <p:txBody>
          <a:bodyPr wrap="square">
            <a:spAutoFit/>
          </a:bodyPr>
          <a:lstStyle/>
          <a:p>
            <a:pPr algn="ctr">
              <a:buNone/>
            </a:pPr>
            <a:r>
              <a:rPr sz="1500" b="1" i="0">
                <a:solidFill>
                  <a:srgbClr val="FFFFFF"/>
                </a:solidFill>
                <a:latin typeface="Cambria"/>
              </a:rPr>
              <a:t>Image</a:t>
            </a:r>
          </a:p>
        </p:txBody>
      </p:sp>
      <p:sp>
        <p:nvSpPr>
          <p:cNvPr id="10" name="TextBox 9"/>
          <p:cNvSpPr txBox="1"/>
          <p:nvPr/>
        </p:nvSpPr>
        <p:spPr>
          <a:xfrm>
            <a:off x="612648" y="2212848"/>
            <a:ext cx="2432304" cy="1225296"/>
          </a:xfrm>
          <a:prstGeom prst="rect">
            <a:avLst/>
          </a:prstGeom>
          <a:noFill/>
        </p:spPr>
        <p:txBody>
          <a:bodyPr wrap="square">
            <a:spAutoFit/>
          </a:bodyPr>
          <a:lstStyle/>
          <a:p>
            <a:pPr algn="l">
              <a:buNone/>
            </a:pPr>
            <a:r>
              <a:rPr sz="1100" b="0" i="0">
                <a:solidFill>
                  <a:srgbClr val="0F172A"/>
                </a:solidFill>
                <a:latin typeface="Calibri"/>
              </a:rPr>
              <a:t>Standardised package with
all files, binaries, libraries
and config needed to run.</a:t>
            </a:r>
          </a:p>
        </p:txBody>
      </p:sp>
      <p:sp>
        <p:nvSpPr>
          <p:cNvPr id="11" name="Rectangle 10"/>
          <p:cNvSpPr/>
          <p:nvPr/>
        </p:nvSpPr>
        <p:spPr>
          <a:xfrm>
            <a:off x="612648" y="3493008"/>
            <a:ext cx="2432304" cy="1828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3584448"/>
            <a:ext cx="2432304" cy="1444752"/>
          </a:xfrm>
          <a:prstGeom prst="rect">
            <a:avLst/>
          </a:prstGeom>
          <a:noFill/>
        </p:spPr>
        <p:txBody>
          <a:bodyPr wrap="square">
            <a:spAutoFit/>
          </a:bodyPr>
          <a:lstStyle/>
          <a:p>
            <a:pPr algn="l">
              <a:buNone/>
            </a:pPr>
            <a:r>
              <a:rPr sz="1000" b="0" i="0">
                <a:solidFill>
                  <a:srgbClr val="64748B"/>
                </a:solidFill>
                <a:latin typeface="Calibri"/>
              </a:rPr>
              <a:t>Immutable. Use  docker pull  to
download or  docker build  to create.</a:t>
            </a:r>
          </a:p>
        </p:txBody>
      </p:sp>
      <p:sp>
        <p:nvSpPr>
          <p:cNvPr id="13" name="TextBox 12"/>
          <p:cNvSpPr txBox="1"/>
          <p:nvPr/>
        </p:nvSpPr>
        <p:spPr>
          <a:xfrm>
            <a:off x="576072" y="5102352"/>
            <a:ext cx="2505456" cy="274320"/>
          </a:xfrm>
          <a:prstGeom prst="rect">
            <a:avLst/>
          </a:prstGeom>
          <a:noFill/>
        </p:spPr>
        <p:txBody>
          <a:bodyPr wrap="square">
            <a:spAutoFit/>
          </a:bodyPr>
          <a:lstStyle/>
          <a:p>
            <a:pPr algn="ctr">
              <a:buNone/>
            </a:pPr>
            <a:r>
              <a:rPr sz="800" b="0" i="1">
                <a:solidFill>
                  <a:srgbClr val="94A3B8"/>
                </a:solidFill>
                <a:latin typeface="Calibri"/>
              </a:rPr>
              <a:t>Source: docs.docker.com</a:t>
            </a:r>
          </a:p>
        </p:txBody>
      </p:sp>
      <p:sp>
        <p:nvSpPr>
          <p:cNvPr id="14" name="Rectangle 13"/>
          <p:cNvSpPr/>
          <p:nvPr/>
        </p:nvSpPr>
        <p:spPr>
          <a:xfrm>
            <a:off x="3383280" y="1719072"/>
            <a:ext cx="2651760" cy="402336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83280" y="1719072"/>
            <a:ext cx="2651760" cy="40233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56432" y="1764792"/>
            <a:ext cx="2505456" cy="310896"/>
          </a:xfrm>
          <a:prstGeom prst="rect">
            <a:avLst/>
          </a:prstGeom>
          <a:noFill/>
        </p:spPr>
        <p:txBody>
          <a:bodyPr wrap="square">
            <a:spAutoFit/>
          </a:bodyPr>
          <a:lstStyle/>
          <a:p>
            <a:pPr algn="ctr">
              <a:buNone/>
            </a:pPr>
            <a:r>
              <a:rPr sz="1500" b="1" i="0">
                <a:solidFill>
                  <a:srgbClr val="FFFFFF"/>
                </a:solidFill>
                <a:latin typeface="Cambria"/>
              </a:rPr>
              <a:t>Container</a:t>
            </a:r>
          </a:p>
        </p:txBody>
      </p:sp>
      <p:sp>
        <p:nvSpPr>
          <p:cNvPr id="17" name="TextBox 16"/>
          <p:cNvSpPr txBox="1"/>
          <p:nvPr/>
        </p:nvSpPr>
        <p:spPr>
          <a:xfrm>
            <a:off x="3493008" y="2212848"/>
            <a:ext cx="2432304" cy="1225296"/>
          </a:xfrm>
          <a:prstGeom prst="rect">
            <a:avLst/>
          </a:prstGeom>
          <a:noFill/>
        </p:spPr>
        <p:txBody>
          <a:bodyPr wrap="square">
            <a:spAutoFit/>
          </a:bodyPr>
          <a:lstStyle/>
          <a:p>
            <a:pPr algn="l">
              <a:buNone/>
            </a:pPr>
            <a:r>
              <a:rPr sz="1100" b="0" i="0">
                <a:solidFill>
                  <a:srgbClr val="0F172A"/>
                </a:solidFill>
                <a:latin typeface="Calibri"/>
              </a:rPr>
              <a:t>Isolated process for one
app component — self-contained,
portable, and independent.</a:t>
            </a:r>
          </a:p>
        </p:txBody>
      </p:sp>
      <p:sp>
        <p:nvSpPr>
          <p:cNvPr id="18" name="Rectangle 17"/>
          <p:cNvSpPr/>
          <p:nvPr/>
        </p:nvSpPr>
        <p:spPr>
          <a:xfrm>
            <a:off x="3493008" y="3493008"/>
            <a:ext cx="2432304" cy="1828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93008" y="3584448"/>
            <a:ext cx="2432304" cy="1444752"/>
          </a:xfrm>
          <a:prstGeom prst="rect">
            <a:avLst/>
          </a:prstGeom>
          <a:noFill/>
        </p:spPr>
        <p:txBody>
          <a:bodyPr wrap="square">
            <a:spAutoFit/>
          </a:bodyPr>
          <a:lstStyle/>
          <a:p>
            <a:pPr algn="l">
              <a:buNone/>
            </a:pPr>
            <a:r>
              <a:rPr sz="1000" b="0" i="0">
                <a:solidFill>
                  <a:srgbClr val="64748B"/>
                </a:solidFill>
                <a:latin typeface="Calibri"/>
              </a:rPr>
              <a:t>Runs from an image. Use
docker run  to start,  docker stop
to stop,  docker rm  to delete.</a:t>
            </a:r>
          </a:p>
        </p:txBody>
      </p:sp>
      <p:sp>
        <p:nvSpPr>
          <p:cNvPr id="20" name="TextBox 19"/>
          <p:cNvSpPr txBox="1"/>
          <p:nvPr/>
        </p:nvSpPr>
        <p:spPr>
          <a:xfrm>
            <a:off x="3456432" y="5102352"/>
            <a:ext cx="2505456" cy="274320"/>
          </a:xfrm>
          <a:prstGeom prst="rect">
            <a:avLst/>
          </a:prstGeom>
          <a:noFill/>
        </p:spPr>
        <p:txBody>
          <a:bodyPr wrap="square">
            <a:spAutoFit/>
          </a:bodyPr>
          <a:lstStyle/>
          <a:p>
            <a:pPr algn="ctr">
              <a:buNone/>
            </a:pPr>
            <a:r>
              <a:rPr sz="800" b="0" i="1">
                <a:solidFill>
                  <a:srgbClr val="94A3B8"/>
                </a:solidFill>
                <a:latin typeface="Calibri"/>
              </a:rPr>
              <a:t>Source: docs.docker.com</a:t>
            </a:r>
          </a:p>
        </p:txBody>
      </p:sp>
      <p:sp>
        <p:nvSpPr>
          <p:cNvPr id="21" name="Rectangle 20"/>
          <p:cNvSpPr/>
          <p:nvPr/>
        </p:nvSpPr>
        <p:spPr>
          <a:xfrm>
            <a:off x="6263640" y="1719072"/>
            <a:ext cx="2651760" cy="402336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63640" y="1719072"/>
            <a:ext cx="2651760" cy="402336"/>
          </a:xfrm>
          <a:prstGeom prst="rect">
            <a:avLst/>
          </a:prstGeom>
          <a:solidFill>
            <a:srgbClr val="7B54A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36792" y="1764792"/>
            <a:ext cx="2505456" cy="310896"/>
          </a:xfrm>
          <a:prstGeom prst="rect">
            <a:avLst/>
          </a:prstGeom>
          <a:noFill/>
        </p:spPr>
        <p:txBody>
          <a:bodyPr wrap="square">
            <a:spAutoFit/>
          </a:bodyPr>
          <a:lstStyle/>
          <a:p>
            <a:pPr algn="ctr">
              <a:buNone/>
            </a:pPr>
            <a:r>
              <a:rPr sz="1500" b="1" i="0">
                <a:solidFill>
                  <a:srgbClr val="FFFFFF"/>
                </a:solidFill>
                <a:latin typeface="Cambria"/>
              </a:rPr>
              <a:t>Volume</a:t>
            </a:r>
          </a:p>
        </p:txBody>
      </p:sp>
      <p:sp>
        <p:nvSpPr>
          <p:cNvPr id="24" name="TextBox 23"/>
          <p:cNvSpPr txBox="1"/>
          <p:nvPr/>
        </p:nvSpPr>
        <p:spPr>
          <a:xfrm>
            <a:off x="6373368" y="2212848"/>
            <a:ext cx="2432304" cy="1225296"/>
          </a:xfrm>
          <a:prstGeom prst="rect">
            <a:avLst/>
          </a:prstGeom>
          <a:noFill/>
        </p:spPr>
        <p:txBody>
          <a:bodyPr wrap="square">
            <a:spAutoFit/>
          </a:bodyPr>
          <a:lstStyle/>
          <a:p>
            <a:pPr algn="l">
              <a:buNone/>
            </a:pPr>
            <a:r>
              <a:rPr sz="1100" b="0" i="0">
                <a:solidFill>
                  <a:srgbClr val="0F172A"/>
                </a:solidFill>
                <a:latin typeface="Calibri"/>
              </a:rPr>
              <a:t>Persistent data store managed
by Docker. Data survives even
if the container is removed.</a:t>
            </a:r>
          </a:p>
        </p:txBody>
      </p:sp>
      <p:sp>
        <p:nvSpPr>
          <p:cNvPr id="25" name="Rectangle 24"/>
          <p:cNvSpPr/>
          <p:nvPr/>
        </p:nvSpPr>
        <p:spPr>
          <a:xfrm>
            <a:off x="6373368" y="3493008"/>
            <a:ext cx="2432304" cy="1828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73368" y="3584448"/>
            <a:ext cx="2432304" cy="1444752"/>
          </a:xfrm>
          <a:prstGeom prst="rect">
            <a:avLst/>
          </a:prstGeom>
          <a:noFill/>
        </p:spPr>
        <p:txBody>
          <a:bodyPr wrap="square">
            <a:spAutoFit/>
          </a:bodyPr>
          <a:lstStyle/>
          <a:p>
            <a:pPr algn="l">
              <a:buNone/>
            </a:pPr>
            <a:r>
              <a:rPr sz="1000" b="0" i="0">
                <a:solidFill>
                  <a:srgbClr val="64748B"/>
                </a:solidFill>
                <a:latin typeface="Calibri"/>
              </a:rPr>
              <a:t>Use  -v  flag or  docker volume
create. Best for databases and
production workloads.</a:t>
            </a:r>
          </a:p>
        </p:txBody>
      </p:sp>
      <p:sp>
        <p:nvSpPr>
          <p:cNvPr id="27" name="TextBox 26"/>
          <p:cNvSpPr txBox="1"/>
          <p:nvPr/>
        </p:nvSpPr>
        <p:spPr>
          <a:xfrm>
            <a:off x="6336792" y="5102352"/>
            <a:ext cx="2505456" cy="274320"/>
          </a:xfrm>
          <a:prstGeom prst="rect">
            <a:avLst/>
          </a:prstGeom>
          <a:noFill/>
        </p:spPr>
        <p:txBody>
          <a:bodyPr wrap="square">
            <a:spAutoFit/>
          </a:bodyPr>
          <a:lstStyle/>
          <a:p>
            <a:pPr algn="ctr">
              <a:buNone/>
            </a:pPr>
            <a:r>
              <a:rPr sz="800" b="0" i="1">
                <a:solidFill>
                  <a:srgbClr val="94A3B8"/>
                </a:solidFill>
                <a:latin typeface="Calibri"/>
              </a:rPr>
              <a:t>Source: docs.docker.com/engine/storage</a:t>
            </a:r>
          </a:p>
        </p:txBody>
      </p:sp>
      <p:sp>
        <p:nvSpPr>
          <p:cNvPr id="28" name="Rectangle 27"/>
          <p:cNvSpPr/>
          <p:nvPr/>
        </p:nvSpPr>
        <p:spPr>
          <a:xfrm>
            <a:off x="9144000" y="1719072"/>
            <a:ext cx="2651760" cy="4023360"/>
          </a:xfrm>
          <a:prstGeom prst="rect">
            <a:avLst/>
          </a:prstGeom>
          <a:solidFill>
            <a:srgbClr val="F4F8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44000" y="1719072"/>
            <a:ext cx="2651760" cy="402336"/>
          </a:xfrm>
          <a:prstGeom prst="rect">
            <a:avLst/>
          </a:prstGeom>
          <a:solidFill>
            <a:srgbClr val="C0552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17152" y="1764792"/>
            <a:ext cx="2505456" cy="310896"/>
          </a:xfrm>
          <a:prstGeom prst="rect">
            <a:avLst/>
          </a:prstGeom>
          <a:noFill/>
        </p:spPr>
        <p:txBody>
          <a:bodyPr wrap="square">
            <a:spAutoFit/>
          </a:bodyPr>
          <a:lstStyle/>
          <a:p>
            <a:pPr algn="ctr">
              <a:buNone/>
            </a:pPr>
            <a:r>
              <a:rPr sz="1500" b="1" i="0">
                <a:solidFill>
                  <a:srgbClr val="FFFFFF"/>
                </a:solidFill>
                <a:latin typeface="Cambria"/>
              </a:rPr>
              <a:t>Network</a:t>
            </a:r>
          </a:p>
        </p:txBody>
      </p:sp>
      <p:sp>
        <p:nvSpPr>
          <p:cNvPr id="31" name="TextBox 30"/>
          <p:cNvSpPr txBox="1"/>
          <p:nvPr/>
        </p:nvSpPr>
        <p:spPr>
          <a:xfrm>
            <a:off x="9253728" y="2212848"/>
            <a:ext cx="2432304" cy="1225296"/>
          </a:xfrm>
          <a:prstGeom prst="rect">
            <a:avLst/>
          </a:prstGeom>
          <a:noFill/>
        </p:spPr>
        <p:txBody>
          <a:bodyPr wrap="square">
            <a:spAutoFit/>
          </a:bodyPr>
          <a:lstStyle/>
          <a:p>
            <a:pPr algn="l">
              <a:buNone/>
            </a:pPr>
            <a:r>
              <a:rPr sz="1100" b="0" i="0">
                <a:solidFill>
                  <a:srgbClr val="0F172A"/>
                </a:solidFill>
                <a:latin typeface="Calibri"/>
              </a:rPr>
              <a:t>Virtual network connecting
containers. Custom bridge nets
provide automatic DNS.</a:t>
            </a:r>
          </a:p>
        </p:txBody>
      </p:sp>
      <p:sp>
        <p:nvSpPr>
          <p:cNvPr id="32" name="Rectangle 31"/>
          <p:cNvSpPr/>
          <p:nvPr/>
        </p:nvSpPr>
        <p:spPr>
          <a:xfrm>
            <a:off x="9253728" y="3493008"/>
            <a:ext cx="2432304" cy="1828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253728" y="3584448"/>
            <a:ext cx="2432304" cy="1444752"/>
          </a:xfrm>
          <a:prstGeom prst="rect">
            <a:avLst/>
          </a:prstGeom>
          <a:noFill/>
        </p:spPr>
        <p:txBody>
          <a:bodyPr wrap="square">
            <a:spAutoFit/>
          </a:bodyPr>
          <a:lstStyle/>
          <a:p>
            <a:pPr algn="l">
              <a:buNone/>
            </a:pPr>
            <a:r>
              <a:rPr sz="1000" b="0" i="0">
                <a:solidFill>
                  <a:srgbClr val="64748B"/>
                </a:solidFill>
                <a:latin typeface="Calibri"/>
              </a:rPr>
              <a:t>Use  docker network create.
Containers on same network
reach each other by name.</a:t>
            </a:r>
          </a:p>
        </p:txBody>
      </p:sp>
      <p:sp>
        <p:nvSpPr>
          <p:cNvPr id="34" name="TextBox 33"/>
          <p:cNvSpPr txBox="1"/>
          <p:nvPr/>
        </p:nvSpPr>
        <p:spPr>
          <a:xfrm>
            <a:off x="9217152" y="5102352"/>
            <a:ext cx="2505456" cy="274320"/>
          </a:xfrm>
          <a:prstGeom prst="rect">
            <a:avLst/>
          </a:prstGeom>
          <a:noFill/>
        </p:spPr>
        <p:txBody>
          <a:bodyPr wrap="square">
            <a:spAutoFit/>
          </a:bodyPr>
          <a:lstStyle/>
          <a:p>
            <a:pPr algn="ctr">
              <a:buNone/>
            </a:pPr>
            <a:r>
              <a:rPr sz="800" b="0" i="1">
                <a:solidFill>
                  <a:srgbClr val="94A3B8"/>
                </a:solidFill>
                <a:latin typeface="Calibri"/>
              </a:rPr>
              <a:t>Source: docs.docker.com/engine/network</a:t>
            </a:r>
          </a:p>
        </p:txBody>
      </p:sp>
      <p:sp>
        <p:nvSpPr>
          <p:cNvPr id="35" name="TextBox 34"/>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a:rPr>
              <a:t>© Tertiary Infotech Pte. Ltd.</a:t>
            </a:r>
          </a:p>
        </p:txBody>
      </p:sp>
      <p:sp>
        <p:nvSpPr>
          <p:cNvPr id="36" name="TextBox 35"/>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a:rPr>
              <a:t>Application Integration with Docker and Kubernetes</a:t>
            </a:r>
          </a:p>
        </p:txBody>
      </p:sp>
      <p:sp>
        <p:nvSpPr>
          <p:cNvPr id="37" name="TextBox 36"/>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a:rPr>
              <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a:rPr>
              <a:t>DOCKER — FUNDAMENTALS</a:t>
            </a: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a:rPr>
              <a:t>Container Lifecycle</a:t>
            </a:r>
          </a:p>
        </p:txBody>
      </p:sp>
      <p:sp>
        <p:nvSpPr>
          <p:cNvPr id="7" name="Rectangle 6"/>
          <p:cNvSpPr/>
          <p:nvPr/>
        </p:nvSpPr>
        <p:spPr>
          <a:xfrm>
            <a:off x="594360" y="2103120"/>
            <a:ext cx="2103120" cy="1499616"/>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 y="2212848"/>
            <a:ext cx="1956815" cy="329184"/>
          </a:xfrm>
          <a:prstGeom prst="rect">
            <a:avLst/>
          </a:prstGeom>
          <a:noFill/>
        </p:spPr>
        <p:txBody>
          <a:bodyPr wrap="square">
            <a:spAutoFit/>
          </a:bodyPr>
          <a:lstStyle/>
          <a:p>
            <a:pPr algn="ctr">
              <a:buNone/>
            </a:pPr>
            <a:r>
              <a:rPr sz="1300" b="1" i="0">
                <a:solidFill>
                  <a:srgbClr val="FFFFFF"/>
                </a:solidFill>
                <a:latin typeface="Calibri"/>
              </a:rPr>
              <a:t>IMAGE</a:t>
            </a:r>
          </a:p>
        </p:txBody>
      </p:sp>
      <p:sp>
        <p:nvSpPr>
          <p:cNvPr id="9" name="TextBox 8"/>
          <p:cNvSpPr txBox="1"/>
          <p:nvPr/>
        </p:nvSpPr>
        <p:spPr>
          <a:xfrm>
            <a:off x="704088" y="2615184"/>
            <a:ext cx="1883663" cy="804672"/>
          </a:xfrm>
          <a:prstGeom prst="rect">
            <a:avLst/>
          </a:prstGeom>
          <a:noFill/>
        </p:spPr>
        <p:txBody>
          <a:bodyPr wrap="square">
            <a:spAutoFit/>
          </a:bodyPr>
          <a:lstStyle/>
          <a:p>
            <a:pPr algn="l">
              <a:buNone/>
            </a:pPr>
            <a:r>
              <a:rPr sz="1000" b="0" i="0">
                <a:solidFill>
                  <a:srgbClr val="FFFFFF"/>
                </a:solidFill>
                <a:latin typeface="Calibri"/>
              </a:rPr>
              <a:t>Read-only blueprint.
Exists in image store.</a:t>
            </a:r>
          </a:p>
        </p:txBody>
      </p:sp>
      <p:sp>
        <p:nvSpPr>
          <p:cNvPr id="10" name="Rectangle 9"/>
          <p:cNvSpPr/>
          <p:nvPr/>
        </p:nvSpPr>
        <p:spPr>
          <a:xfrm>
            <a:off x="3200400" y="2103120"/>
            <a:ext cx="2103120" cy="149961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73552" y="2212848"/>
            <a:ext cx="1956815" cy="329184"/>
          </a:xfrm>
          <a:prstGeom prst="rect">
            <a:avLst/>
          </a:prstGeom>
          <a:noFill/>
        </p:spPr>
        <p:txBody>
          <a:bodyPr wrap="square">
            <a:spAutoFit/>
          </a:bodyPr>
          <a:lstStyle/>
          <a:p>
            <a:pPr algn="ctr">
              <a:buNone/>
            </a:pPr>
            <a:r>
              <a:rPr sz="1300" b="1" i="0">
                <a:solidFill>
                  <a:srgbClr val="FFFFFF"/>
                </a:solidFill>
                <a:latin typeface="Calibri"/>
              </a:rPr>
              <a:t>CREATED</a:t>
            </a:r>
          </a:p>
        </p:txBody>
      </p:sp>
      <p:sp>
        <p:nvSpPr>
          <p:cNvPr id="12" name="TextBox 11"/>
          <p:cNvSpPr txBox="1"/>
          <p:nvPr/>
        </p:nvSpPr>
        <p:spPr>
          <a:xfrm>
            <a:off x="3310128" y="2615184"/>
            <a:ext cx="1883663" cy="804672"/>
          </a:xfrm>
          <a:prstGeom prst="rect">
            <a:avLst/>
          </a:prstGeom>
          <a:noFill/>
        </p:spPr>
        <p:txBody>
          <a:bodyPr wrap="square">
            <a:spAutoFit/>
          </a:bodyPr>
          <a:lstStyle/>
          <a:p>
            <a:pPr algn="l">
              <a:buNone/>
            </a:pPr>
            <a:r>
              <a:rPr sz="1000" b="0" i="0">
                <a:solidFill>
                  <a:srgbClr val="FFFFFF"/>
                </a:solidFill>
                <a:latin typeface="Calibri"/>
              </a:rPr>
              <a:t>Container object created.
Not yet started.</a:t>
            </a:r>
          </a:p>
        </p:txBody>
      </p:sp>
      <p:sp>
        <p:nvSpPr>
          <p:cNvPr id="13" name="Rectangle 12"/>
          <p:cNvSpPr/>
          <p:nvPr/>
        </p:nvSpPr>
        <p:spPr>
          <a:xfrm>
            <a:off x="5806440" y="2103120"/>
            <a:ext cx="2103120" cy="1499616"/>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879592" y="2212848"/>
            <a:ext cx="1956815" cy="329184"/>
          </a:xfrm>
          <a:prstGeom prst="rect">
            <a:avLst/>
          </a:prstGeom>
          <a:noFill/>
        </p:spPr>
        <p:txBody>
          <a:bodyPr wrap="square">
            <a:spAutoFit/>
          </a:bodyPr>
          <a:lstStyle/>
          <a:p>
            <a:pPr algn="ctr">
              <a:buNone/>
            </a:pPr>
            <a:r>
              <a:rPr sz="1300" b="1" i="0">
                <a:solidFill>
                  <a:srgbClr val="FFFFFF"/>
                </a:solidFill>
                <a:latin typeface="Calibri"/>
              </a:rPr>
              <a:t>RUNNING</a:t>
            </a:r>
          </a:p>
        </p:txBody>
      </p:sp>
      <p:sp>
        <p:nvSpPr>
          <p:cNvPr id="15" name="TextBox 14"/>
          <p:cNvSpPr txBox="1"/>
          <p:nvPr/>
        </p:nvSpPr>
        <p:spPr>
          <a:xfrm>
            <a:off x="5916168" y="2615184"/>
            <a:ext cx="1883663" cy="804672"/>
          </a:xfrm>
          <a:prstGeom prst="rect">
            <a:avLst/>
          </a:prstGeom>
          <a:noFill/>
        </p:spPr>
        <p:txBody>
          <a:bodyPr wrap="square">
            <a:spAutoFit/>
          </a:bodyPr>
          <a:lstStyle/>
          <a:p>
            <a:pPr algn="l">
              <a:buNone/>
            </a:pPr>
            <a:r>
              <a:rPr sz="1000" b="0" i="0">
                <a:solidFill>
                  <a:srgbClr val="FFFFFF"/>
                </a:solidFill>
                <a:latin typeface="Calibri"/>
              </a:rPr>
              <a:t>Process is active.
App is serving requests.</a:t>
            </a:r>
          </a:p>
        </p:txBody>
      </p:sp>
      <p:sp>
        <p:nvSpPr>
          <p:cNvPr id="16" name="Rectangle 15"/>
          <p:cNvSpPr/>
          <p:nvPr/>
        </p:nvSpPr>
        <p:spPr>
          <a:xfrm>
            <a:off x="8412480" y="2103120"/>
            <a:ext cx="2103120" cy="1499616"/>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85632" y="2212848"/>
            <a:ext cx="1956815" cy="329184"/>
          </a:xfrm>
          <a:prstGeom prst="rect">
            <a:avLst/>
          </a:prstGeom>
          <a:noFill/>
        </p:spPr>
        <p:txBody>
          <a:bodyPr wrap="square">
            <a:spAutoFit/>
          </a:bodyPr>
          <a:lstStyle/>
          <a:p>
            <a:pPr algn="ctr">
              <a:buNone/>
            </a:pPr>
            <a:r>
              <a:rPr sz="1300" b="1" i="0">
                <a:solidFill>
                  <a:srgbClr val="FFFFFF"/>
                </a:solidFill>
                <a:latin typeface="Calibri"/>
              </a:rPr>
              <a:t>STOPPED</a:t>
            </a:r>
          </a:p>
        </p:txBody>
      </p:sp>
      <p:sp>
        <p:nvSpPr>
          <p:cNvPr id="18" name="TextBox 17"/>
          <p:cNvSpPr txBox="1"/>
          <p:nvPr/>
        </p:nvSpPr>
        <p:spPr>
          <a:xfrm>
            <a:off x="8522207" y="2615184"/>
            <a:ext cx="1883663" cy="804672"/>
          </a:xfrm>
          <a:prstGeom prst="rect">
            <a:avLst/>
          </a:prstGeom>
          <a:noFill/>
        </p:spPr>
        <p:txBody>
          <a:bodyPr wrap="square">
            <a:spAutoFit/>
          </a:bodyPr>
          <a:lstStyle/>
          <a:p>
            <a:pPr algn="l">
              <a:buNone/>
            </a:pPr>
            <a:r>
              <a:rPr sz="1000" b="0" i="0">
                <a:solidFill>
                  <a:srgbClr val="FFFFFF"/>
                </a:solidFill>
                <a:latin typeface="Calibri"/>
              </a:rPr>
              <a:t>Process exited or stopped.
Filesystem still exists.</a:t>
            </a:r>
          </a:p>
        </p:txBody>
      </p:sp>
      <p:sp>
        <p:nvSpPr>
          <p:cNvPr id="19" name="TextBox 18"/>
          <p:cNvSpPr txBox="1"/>
          <p:nvPr/>
        </p:nvSpPr>
        <p:spPr>
          <a:xfrm>
            <a:off x="2697480" y="2798064"/>
            <a:ext cx="502920" cy="402336"/>
          </a:xfrm>
          <a:prstGeom prst="rect">
            <a:avLst/>
          </a:prstGeom>
          <a:noFill/>
        </p:spPr>
        <p:txBody>
          <a:bodyPr wrap="square">
            <a:spAutoFit/>
          </a:bodyPr>
          <a:lstStyle/>
          <a:p>
            <a:pPr algn="ctr">
              <a:buNone/>
            </a:pPr>
            <a:r>
              <a:rPr sz="2600" b="1" i="0">
                <a:solidFill>
                  <a:srgbClr val="2496ED"/>
                </a:solidFill>
                <a:latin typeface="Calibri"/>
              </a:rPr>
              <a:t>→</a:t>
            </a:r>
          </a:p>
        </p:txBody>
      </p:sp>
      <p:sp>
        <p:nvSpPr>
          <p:cNvPr id="20" name="TextBox 19"/>
          <p:cNvSpPr txBox="1"/>
          <p:nvPr/>
        </p:nvSpPr>
        <p:spPr>
          <a:xfrm>
            <a:off x="2651760" y="2286000"/>
            <a:ext cx="585216" cy="457200"/>
          </a:xfrm>
          <a:prstGeom prst="rect">
            <a:avLst/>
          </a:prstGeom>
          <a:noFill/>
        </p:spPr>
        <p:txBody>
          <a:bodyPr wrap="square">
            <a:spAutoFit/>
          </a:bodyPr>
          <a:lstStyle/>
          <a:p>
            <a:pPr algn="ctr">
              <a:buNone/>
            </a:pPr>
            <a:r>
              <a:rPr sz="800" b="0" i="0">
                <a:solidFill>
                  <a:srgbClr val="0F172A"/>
                </a:solidFill>
                <a:latin typeface="Courier New"/>
              </a:rPr>
              <a:t>docker create</a:t>
            </a:r>
          </a:p>
        </p:txBody>
      </p:sp>
      <p:sp>
        <p:nvSpPr>
          <p:cNvPr id="21" name="TextBox 20"/>
          <p:cNvSpPr txBox="1"/>
          <p:nvPr/>
        </p:nvSpPr>
        <p:spPr>
          <a:xfrm>
            <a:off x="5303520" y="2798064"/>
            <a:ext cx="502920" cy="402336"/>
          </a:xfrm>
          <a:prstGeom prst="rect">
            <a:avLst/>
          </a:prstGeom>
          <a:noFill/>
        </p:spPr>
        <p:txBody>
          <a:bodyPr wrap="square">
            <a:spAutoFit/>
          </a:bodyPr>
          <a:lstStyle/>
          <a:p>
            <a:pPr algn="ctr">
              <a:buNone/>
            </a:pPr>
            <a:r>
              <a:rPr sz="2600" b="1" i="0">
                <a:solidFill>
                  <a:srgbClr val="2496ED"/>
                </a:solidFill>
                <a:latin typeface="Calibri"/>
              </a:rPr>
              <a:t>→</a:t>
            </a:r>
          </a:p>
        </p:txBody>
      </p:sp>
      <p:sp>
        <p:nvSpPr>
          <p:cNvPr id="22" name="TextBox 21"/>
          <p:cNvSpPr txBox="1"/>
          <p:nvPr/>
        </p:nvSpPr>
        <p:spPr>
          <a:xfrm>
            <a:off x="5257800" y="2286000"/>
            <a:ext cx="585216" cy="457200"/>
          </a:xfrm>
          <a:prstGeom prst="rect">
            <a:avLst/>
          </a:prstGeom>
          <a:noFill/>
        </p:spPr>
        <p:txBody>
          <a:bodyPr wrap="square">
            <a:spAutoFit/>
          </a:bodyPr>
          <a:lstStyle/>
          <a:p>
            <a:pPr algn="ctr">
              <a:buNone/>
            </a:pPr>
            <a:r>
              <a:rPr sz="800" b="0" i="0">
                <a:solidFill>
                  <a:srgbClr val="0F172A"/>
                </a:solidFill>
                <a:latin typeface="Courier New"/>
              </a:rPr>
              <a:t>docker start /
docker run</a:t>
            </a:r>
          </a:p>
        </p:txBody>
      </p:sp>
      <p:sp>
        <p:nvSpPr>
          <p:cNvPr id="23" name="TextBox 22"/>
          <p:cNvSpPr txBox="1"/>
          <p:nvPr/>
        </p:nvSpPr>
        <p:spPr>
          <a:xfrm>
            <a:off x="7909560" y="2798064"/>
            <a:ext cx="502920" cy="402336"/>
          </a:xfrm>
          <a:prstGeom prst="rect">
            <a:avLst/>
          </a:prstGeom>
          <a:noFill/>
        </p:spPr>
        <p:txBody>
          <a:bodyPr wrap="square">
            <a:spAutoFit/>
          </a:bodyPr>
          <a:lstStyle/>
          <a:p>
            <a:pPr algn="ctr">
              <a:buNone/>
            </a:pPr>
            <a:r>
              <a:rPr sz="2600" b="1" i="0">
                <a:solidFill>
                  <a:srgbClr val="2496ED"/>
                </a:solidFill>
                <a:latin typeface="Calibri"/>
              </a:rPr>
              <a:t>→</a:t>
            </a:r>
          </a:p>
        </p:txBody>
      </p:sp>
      <p:sp>
        <p:nvSpPr>
          <p:cNvPr id="24" name="TextBox 23"/>
          <p:cNvSpPr txBox="1"/>
          <p:nvPr/>
        </p:nvSpPr>
        <p:spPr>
          <a:xfrm>
            <a:off x="7863840" y="2286000"/>
            <a:ext cx="585216" cy="457200"/>
          </a:xfrm>
          <a:prstGeom prst="rect">
            <a:avLst/>
          </a:prstGeom>
          <a:noFill/>
        </p:spPr>
        <p:txBody>
          <a:bodyPr wrap="square">
            <a:spAutoFit/>
          </a:bodyPr>
          <a:lstStyle/>
          <a:p>
            <a:pPr algn="ctr">
              <a:buNone/>
            </a:pPr>
            <a:r>
              <a:rPr sz="800" b="0" i="0">
                <a:solidFill>
                  <a:srgbClr val="0F172A"/>
                </a:solidFill>
                <a:latin typeface="Courier New"/>
              </a:rPr>
              <a:t>docker stop /
docker kill</a:t>
            </a:r>
          </a:p>
        </p:txBody>
      </p:sp>
      <p:sp>
        <p:nvSpPr>
          <p:cNvPr id="25" name="Rectangle 24"/>
          <p:cNvSpPr/>
          <p:nvPr/>
        </p:nvSpPr>
        <p:spPr>
          <a:xfrm>
            <a:off x="5806440" y="4206240"/>
            <a:ext cx="2103120" cy="80467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806440" y="4279392"/>
            <a:ext cx="2103120" cy="329184"/>
          </a:xfrm>
          <a:prstGeom prst="rect">
            <a:avLst/>
          </a:prstGeom>
          <a:noFill/>
        </p:spPr>
        <p:txBody>
          <a:bodyPr wrap="square">
            <a:spAutoFit/>
          </a:bodyPr>
          <a:lstStyle/>
          <a:p>
            <a:pPr algn="ctr">
              <a:buNone/>
            </a:pPr>
            <a:r>
              <a:rPr sz="1300" b="1" i="0">
                <a:solidFill>
                  <a:srgbClr val="FFFFFF"/>
                </a:solidFill>
                <a:latin typeface="Calibri"/>
              </a:rPr>
              <a:t>REMOVED</a:t>
            </a:r>
          </a:p>
        </p:txBody>
      </p:sp>
      <p:sp>
        <p:nvSpPr>
          <p:cNvPr id="27" name="TextBox 26"/>
          <p:cNvSpPr txBox="1"/>
          <p:nvPr/>
        </p:nvSpPr>
        <p:spPr>
          <a:xfrm>
            <a:off x="5879592" y="4626864"/>
            <a:ext cx="1956816" cy="310896"/>
          </a:xfrm>
          <a:prstGeom prst="rect">
            <a:avLst/>
          </a:prstGeom>
          <a:noFill/>
        </p:spPr>
        <p:txBody>
          <a:bodyPr wrap="square">
            <a:spAutoFit/>
          </a:bodyPr>
          <a:lstStyle/>
          <a:p>
            <a:pPr algn="ctr">
              <a:buNone/>
            </a:pPr>
            <a:r>
              <a:rPr sz="900" b="0" i="0">
                <a:solidFill>
                  <a:srgbClr val="94A3B8"/>
                </a:solidFill>
                <a:latin typeface="Calibri"/>
              </a:rPr>
              <a:t>Container deleted.
Image still available.</a:t>
            </a:r>
          </a:p>
        </p:txBody>
      </p:sp>
      <p:sp>
        <p:nvSpPr>
          <p:cNvPr id="28" name="TextBox 27"/>
          <p:cNvSpPr txBox="1"/>
          <p:nvPr/>
        </p:nvSpPr>
        <p:spPr>
          <a:xfrm>
            <a:off x="8412480" y="3749039"/>
            <a:ext cx="2103120" cy="365760"/>
          </a:xfrm>
          <a:prstGeom prst="rect">
            <a:avLst/>
          </a:prstGeom>
          <a:noFill/>
        </p:spPr>
        <p:txBody>
          <a:bodyPr wrap="square">
            <a:spAutoFit/>
          </a:bodyPr>
          <a:lstStyle/>
          <a:p>
            <a:pPr algn="ctr">
              <a:buNone/>
            </a:pPr>
            <a:r>
              <a:rPr sz="900" b="0" i="0">
                <a:solidFill>
                  <a:srgbClr val="0F172A"/>
                </a:solidFill>
                <a:latin typeface="Courier New"/>
              </a:rPr>
              <a:t>↓  docker rm</a:t>
            </a:r>
          </a:p>
        </p:txBody>
      </p:sp>
      <p:sp>
        <p:nvSpPr>
          <p:cNvPr id="29" name="TextBox 28"/>
          <p:cNvSpPr txBox="1"/>
          <p:nvPr/>
        </p:nvSpPr>
        <p:spPr>
          <a:xfrm>
            <a:off x="5577840" y="3840480"/>
            <a:ext cx="2560320" cy="329184"/>
          </a:xfrm>
          <a:prstGeom prst="rect">
            <a:avLst/>
          </a:prstGeom>
          <a:noFill/>
        </p:spPr>
        <p:txBody>
          <a:bodyPr wrap="square">
            <a:spAutoFit/>
          </a:bodyPr>
          <a:lstStyle/>
          <a:p>
            <a:pPr algn="ctr">
              <a:buNone/>
            </a:pPr>
            <a:r>
              <a:rPr sz="800" b="0" i="0">
                <a:solidFill>
                  <a:srgbClr val="0F172A"/>
                </a:solidFill>
                <a:latin typeface="Courier New"/>
              </a:rPr>
              <a:t>docker rm  (stopped containers only)</a:t>
            </a:r>
          </a:p>
        </p:txBody>
      </p:sp>
      <p:sp>
        <p:nvSpPr>
          <p:cNvPr id="30" name="Rectangle 29"/>
          <p:cNvSpPr/>
          <p:nvPr/>
        </p:nvSpPr>
        <p:spPr>
          <a:xfrm>
            <a:off x="594360" y="4206240"/>
            <a:ext cx="5029200" cy="62179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8368" y="4370832"/>
            <a:ext cx="4901184" cy="310896"/>
          </a:xfrm>
          <a:prstGeom prst="rect">
            <a:avLst/>
          </a:prstGeom>
          <a:noFill/>
        </p:spPr>
        <p:txBody>
          <a:bodyPr wrap="square">
            <a:spAutoFit/>
          </a:bodyPr>
          <a:lstStyle/>
          <a:p>
            <a:pPr algn="l">
              <a:buNone/>
            </a:pPr>
            <a:r>
              <a:rPr sz="900" b="0" i="0">
                <a:solidFill>
                  <a:srgbClr val="FFFFFF"/>
                </a:solidFill>
                <a:latin typeface="Courier New"/>
              </a:rPr>
              <a:t>docker run  =  docker create  +  docker start  (shortcut to RUNNING in one step)</a:t>
            </a:r>
          </a:p>
        </p:txBody>
      </p:sp>
      <p:sp>
        <p:nvSpPr>
          <p:cNvPr id="32" name="TextBox 31"/>
          <p:cNvSpPr txBox="1"/>
          <p:nvPr/>
        </p:nvSpPr>
        <p:spPr>
          <a:xfrm>
            <a:off x="594360" y="5669280"/>
            <a:ext cx="4572000" cy="256032"/>
          </a:xfrm>
          <a:prstGeom prst="rect">
            <a:avLst/>
          </a:prstGeom>
          <a:noFill/>
        </p:spPr>
        <p:txBody>
          <a:bodyPr wrap="square">
            <a:spAutoFit/>
          </a:bodyPr>
          <a:lstStyle/>
          <a:p>
            <a:pPr algn="l">
              <a:buNone/>
            </a:pPr>
            <a:r>
              <a:rPr sz="900" b="0" i="1">
                <a:solidFill>
                  <a:srgbClr val="94A3B8"/>
                </a:solidFill>
                <a:latin typeface="Calibri"/>
              </a:rPr>
              <a:t>Source: docs.docker.com</a:t>
            </a:r>
          </a:p>
        </p:txBody>
      </p:sp>
      <p:sp>
        <p:nvSpPr>
          <p:cNvPr id="33" name="TextBox 32"/>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a:rPr>
              <a:t>© Tertiary Infotech Pte. Ltd.</a:t>
            </a:r>
          </a:p>
        </p:txBody>
      </p:sp>
      <p:sp>
        <p:nvSpPr>
          <p:cNvPr id="34" name="TextBox 33"/>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a:rPr>
              <a:t>Application Integration with Docker and Kubernetes</a:t>
            </a:r>
          </a:p>
        </p:txBody>
      </p:sp>
      <p:sp>
        <p:nvSpPr>
          <p:cNvPr id="35" name="TextBox 34"/>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a:rPr>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 cy="68580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91440" y="0"/>
            <a:ext cx="12097512" cy="137160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1417320"/>
            <a:ext cx="45720" cy="4846320"/>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8600" y="219456"/>
            <a:ext cx="11704320" cy="292608"/>
          </a:xfrm>
          <a:prstGeom prst="rect">
            <a:avLst/>
          </a:prstGeom>
          <a:noFill/>
        </p:spPr>
        <p:txBody>
          <a:bodyPr wrap="square">
            <a:spAutoFit/>
          </a:bodyPr>
          <a:lstStyle/>
          <a:p>
            <a:pPr algn="l">
              <a:buNone/>
            </a:pPr>
            <a:r>
              <a:rPr sz="1100" b="1" i="0">
                <a:solidFill>
                  <a:srgbClr val="FFFFFF"/>
                </a:solidFill>
                <a:latin typeface="Calibri"/>
              </a:rPr>
              <a:t>DOCKER HUB</a:t>
            </a:r>
          </a:p>
        </p:txBody>
      </p:sp>
      <p:sp>
        <p:nvSpPr>
          <p:cNvPr id="6" name="TextBox 5"/>
          <p:cNvSpPr txBox="1"/>
          <p:nvPr/>
        </p:nvSpPr>
        <p:spPr>
          <a:xfrm>
            <a:off x="201168" y="548640"/>
            <a:ext cx="11704320" cy="731520"/>
          </a:xfrm>
          <a:prstGeom prst="rect">
            <a:avLst/>
          </a:prstGeom>
          <a:noFill/>
        </p:spPr>
        <p:txBody>
          <a:bodyPr wrap="square">
            <a:spAutoFit/>
          </a:bodyPr>
          <a:lstStyle/>
          <a:p>
            <a:pPr algn="l">
              <a:buNone/>
            </a:pPr>
            <a:r>
              <a:rPr sz="2600" b="1" i="0">
                <a:solidFill>
                  <a:srgbClr val="FFFFFF"/>
                </a:solidFill>
                <a:latin typeface="Cambria"/>
              </a:rPr>
              <a:t>Docker Hub — Build, Push &amp; Pull Workflow</a:t>
            </a:r>
          </a:p>
        </p:txBody>
      </p:sp>
      <p:sp>
        <p:nvSpPr>
          <p:cNvPr id="7" name="Rectangle 6"/>
          <p:cNvSpPr/>
          <p:nvPr/>
        </p:nvSpPr>
        <p:spPr>
          <a:xfrm>
            <a:off x="502920" y="1828800"/>
            <a:ext cx="2743200" cy="192024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901952"/>
            <a:ext cx="2651760" cy="347472"/>
          </a:xfrm>
          <a:prstGeom prst="rect">
            <a:avLst/>
          </a:prstGeom>
          <a:noFill/>
        </p:spPr>
        <p:txBody>
          <a:bodyPr wrap="square">
            <a:spAutoFit/>
          </a:bodyPr>
          <a:lstStyle/>
          <a:p>
            <a:pPr algn="ctr">
              <a:buNone/>
            </a:pPr>
            <a:r>
              <a:rPr sz="1500" b="1" i="0">
                <a:solidFill>
                  <a:srgbClr val="FFFFFF"/>
                </a:solidFill>
                <a:latin typeface="Cambria"/>
              </a:rPr>
              <a:t>Developer</a:t>
            </a:r>
          </a:p>
        </p:txBody>
      </p:sp>
      <p:sp>
        <p:nvSpPr>
          <p:cNvPr id="9" name="TextBox 8"/>
          <p:cNvSpPr txBox="1"/>
          <p:nvPr/>
        </p:nvSpPr>
        <p:spPr>
          <a:xfrm>
            <a:off x="594360" y="2340864"/>
            <a:ext cx="2560320" cy="1261872"/>
          </a:xfrm>
          <a:prstGeom prst="rect">
            <a:avLst/>
          </a:prstGeom>
          <a:noFill/>
        </p:spPr>
        <p:txBody>
          <a:bodyPr wrap="square">
            <a:spAutoFit/>
          </a:bodyPr>
          <a:lstStyle/>
          <a:p>
            <a:pPr algn="l">
              <a:buNone/>
            </a:pPr>
            <a:r>
              <a:rPr sz="800" b="0" i="0">
                <a:solidFill>
                  <a:srgbClr val="94A3B8"/>
                </a:solidFill>
                <a:latin typeface="Courier New"/>
              </a:rPr>
              <a:t>1.  docker build -t myapp:v1 .
2.  docker tag myapp:v1
      user/myapp:v1
3.  docker push user/myapp:v1</a:t>
            </a:r>
          </a:p>
        </p:txBody>
      </p:sp>
      <p:sp>
        <p:nvSpPr>
          <p:cNvPr id="10" name="TextBox 9"/>
          <p:cNvSpPr txBox="1"/>
          <p:nvPr/>
        </p:nvSpPr>
        <p:spPr>
          <a:xfrm>
            <a:off x="3337560" y="2542032"/>
            <a:ext cx="548640" cy="402336"/>
          </a:xfrm>
          <a:prstGeom prst="rect">
            <a:avLst/>
          </a:prstGeom>
          <a:noFill/>
        </p:spPr>
        <p:txBody>
          <a:bodyPr wrap="square">
            <a:spAutoFit/>
          </a:bodyPr>
          <a:lstStyle/>
          <a:p>
            <a:pPr algn="ctr">
              <a:buNone/>
            </a:pPr>
            <a:r>
              <a:rPr sz="2800" b="1" i="0">
                <a:solidFill>
                  <a:srgbClr val="2496ED"/>
                </a:solidFill>
                <a:latin typeface="Calibri"/>
              </a:rPr>
              <a:t>→</a:t>
            </a:r>
          </a:p>
        </p:txBody>
      </p:sp>
      <p:sp>
        <p:nvSpPr>
          <p:cNvPr id="11" name="TextBox 10"/>
          <p:cNvSpPr txBox="1"/>
          <p:nvPr/>
        </p:nvSpPr>
        <p:spPr>
          <a:xfrm>
            <a:off x="3236976" y="2980944"/>
            <a:ext cx="749808" cy="256032"/>
          </a:xfrm>
          <a:prstGeom prst="rect">
            <a:avLst/>
          </a:prstGeom>
          <a:noFill/>
        </p:spPr>
        <p:txBody>
          <a:bodyPr wrap="square">
            <a:spAutoFit/>
          </a:bodyPr>
          <a:lstStyle/>
          <a:p>
            <a:pPr algn="ctr">
              <a:buNone/>
            </a:pPr>
            <a:r>
              <a:rPr sz="800" b="0" i="0">
                <a:solidFill>
                  <a:srgbClr val="0F172A"/>
                </a:solidFill>
                <a:latin typeface="Courier New"/>
              </a:rPr>
              <a:t>docker push</a:t>
            </a:r>
          </a:p>
        </p:txBody>
      </p:sp>
      <p:sp>
        <p:nvSpPr>
          <p:cNvPr id="12" name="Rectangle 11"/>
          <p:cNvSpPr/>
          <p:nvPr/>
        </p:nvSpPr>
        <p:spPr>
          <a:xfrm>
            <a:off x="3977639" y="1828800"/>
            <a:ext cx="3291840" cy="1920240"/>
          </a:xfrm>
          <a:prstGeom prst="rect">
            <a:avLst/>
          </a:prstGeom>
          <a:solidFill>
            <a:srgbClr val="2496E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23359" y="1901952"/>
            <a:ext cx="3200400" cy="347472"/>
          </a:xfrm>
          <a:prstGeom prst="rect">
            <a:avLst/>
          </a:prstGeom>
          <a:noFill/>
        </p:spPr>
        <p:txBody>
          <a:bodyPr wrap="square">
            <a:spAutoFit/>
          </a:bodyPr>
          <a:lstStyle/>
          <a:p>
            <a:pPr algn="ctr">
              <a:buNone/>
            </a:pPr>
            <a:r>
              <a:rPr sz="1500" b="1" i="0">
                <a:solidFill>
                  <a:srgbClr val="FFFFFF"/>
                </a:solidFill>
                <a:latin typeface="Cambria"/>
              </a:rPr>
              <a:t>Docker Hub</a:t>
            </a:r>
          </a:p>
        </p:txBody>
      </p:sp>
      <p:sp>
        <p:nvSpPr>
          <p:cNvPr id="14" name="TextBox 13"/>
          <p:cNvSpPr txBox="1"/>
          <p:nvPr/>
        </p:nvSpPr>
        <p:spPr>
          <a:xfrm>
            <a:off x="4114800" y="2340864"/>
            <a:ext cx="3017520" cy="1261872"/>
          </a:xfrm>
          <a:prstGeom prst="rect">
            <a:avLst/>
          </a:prstGeom>
          <a:noFill/>
        </p:spPr>
        <p:txBody>
          <a:bodyPr wrap="square">
            <a:spAutoFit/>
          </a:bodyPr>
          <a:lstStyle/>
          <a:p>
            <a:pPr algn="l">
              <a:buNone/>
            </a:pPr>
            <a:r>
              <a:rPr sz="1000" b="0" i="0">
                <a:solidFill>
                  <a:srgbClr val="FFFFFF"/>
                </a:solidFill>
                <a:latin typeface="Calibri"/>
              </a:rPr>
              <a:t>hub.docker.com
Public &amp; private repositories.
100,000+ images including
Official Images and
Verified Publishers.</a:t>
            </a:r>
          </a:p>
        </p:txBody>
      </p:sp>
      <p:sp>
        <p:nvSpPr>
          <p:cNvPr id="15" name="TextBox 14"/>
          <p:cNvSpPr txBox="1"/>
          <p:nvPr/>
        </p:nvSpPr>
        <p:spPr>
          <a:xfrm>
            <a:off x="7406640" y="2542032"/>
            <a:ext cx="548640" cy="402336"/>
          </a:xfrm>
          <a:prstGeom prst="rect">
            <a:avLst/>
          </a:prstGeom>
          <a:noFill/>
        </p:spPr>
        <p:txBody>
          <a:bodyPr wrap="square">
            <a:spAutoFit/>
          </a:bodyPr>
          <a:lstStyle/>
          <a:p>
            <a:pPr algn="ctr">
              <a:buNone/>
            </a:pPr>
            <a:r>
              <a:rPr sz="2800" b="1" i="0">
                <a:solidFill>
                  <a:srgbClr val="2496ED"/>
                </a:solidFill>
                <a:latin typeface="Calibri"/>
              </a:rPr>
              <a:t>→</a:t>
            </a:r>
          </a:p>
        </p:txBody>
      </p:sp>
      <p:sp>
        <p:nvSpPr>
          <p:cNvPr id="16" name="TextBox 15"/>
          <p:cNvSpPr txBox="1"/>
          <p:nvPr/>
        </p:nvSpPr>
        <p:spPr>
          <a:xfrm>
            <a:off x="7306056" y="2980944"/>
            <a:ext cx="749808" cy="256032"/>
          </a:xfrm>
          <a:prstGeom prst="rect">
            <a:avLst/>
          </a:prstGeom>
          <a:noFill/>
        </p:spPr>
        <p:txBody>
          <a:bodyPr wrap="square">
            <a:spAutoFit/>
          </a:bodyPr>
          <a:lstStyle/>
          <a:p>
            <a:pPr algn="ctr">
              <a:buNone/>
            </a:pPr>
            <a:r>
              <a:rPr sz="800" b="0" i="0">
                <a:solidFill>
                  <a:srgbClr val="0F172A"/>
                </a:solidFill>
                <a:latin typeface="Courier New"/>
              </a:rPr>
              <a:t>docker pull</a:t>
            </a:r>
          </a:p>
        </p:txBody>
      </p:sp>
      <p:sp>
        <p:nvSpPr>
          <p:cNvPr id="17" name="Rectangle 16"/>
          <p:cNvSpPr/>
          <p:nvPr/>
        </p:nvSpPr>
        <p:spPr>
          <a:xfrm>
            <a:off x="8046720" y="1828800"/>
            <a:ext cx="3474720" cy="1920240"/>
          </a:xfrm>
          <a:prstGeom prst="rect">
            <a:avLst/>
          </a:prstGeom>
          <a:solidFill>
            <a:srgbClr val="1078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92440" y="1901952"/>
            <a:ext cx="3383280" cy="347472"/>
          </a:xfrm>
          <a:prstGeom prst="rect">
            <a:avLst/>
          </a:prstGeom>
          <a:noFill/>
        </p:spPr>
        <p:txBody>
          <a:bodyPr wrap="square">
            <a:spAutoFit/>
          </a:bodyPr>
          <a:lstStyle/>
          <a:p>
            <a:pPr algn="ctr">
              <a:buNone/>
            </a:pPr>
            <a:r>
              <a:rPr sz="1300" b="1" i="0">
                <a:solidFill>
                  <a:srgbClr val="FFFFFF"/>
                </a:solidFill>
                <a:latin typeface="Cambria"/>
              </a:rPr>
              <a:t>Server / CI / Cloud</a:t>
            </a:r>
          </a:p>
        </p:txBody>
      </p:sp>
      <p:sp>
        <p:nvSpPr>
          <p:cNvPr id="19" name="TextBox 18"/>
          <p:cNvSpPr txBox="1"/>
          <p:nvPr/>
        </p:nvSpPr>
        <p:spPr>
          <a:xfrm>
            <a:off x="8183880" y="2340864"/>
            <a:ext cx="3200400" cy="1261872"/>
          </a:xfrm>
          <a:prstGeom prst="rect">
            <a:avLst/>
          </a:prstGeom>
          <a:noFill/>
        </p:spPr>
        <p:txBody>
          <a:bodyPr wrap="square">
            <a:spAutoFit/>
          </a:bodyPr>
          <a:lstStyle/>
          <a:p>
            <a:pPr algn="l">
              <a:buNone/>
            </a:pPr>
            <a:r>
              <a:rPr sz="800" b="0" i="0">
                <a:solidFill>
                  <a:srgbClr val="94A3B8"/>
                </a:solidFill>
                <a:latin typeface="Courier New"/>
              </a:rPr>
              <a:t>4.  docker pull user/myapp:v1
5.  docker run -d -p 80:5000
      user/myapp:v1
Any machine, any cloud.</a:t>
            </a:r>
          </a:p>
        </p:txBody>
      </p:sp>
      <p:sp>
        <p:nvSpPr>
          <p:cNvPr id="20" name="Rectangle 19"/>
          <p:cNvSpPr/>
          <p:nvPr/>
        </p:nvSpPr>
        <p:spPr>
          <a:xfrm>
            <a:off x="502920" y="3986784"/>
            <a:ext cx="11173968" cy="1463040"/>
          </a:xfrm>
          <a:prstGeom prst="rect">
            <a:avLst/>
          </a:prstGeom>
          <a:solidFill>
            <a:srgbClr val="ECEBE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4360" y="4059936"/>
            <a:ext cx="4572000" cy="329184"/>
          </a:xfrm>
          <a:prstGeom prst="rect">
            <a:avLst/>
          </a:prstGeom>
          <a:noFill/>
        </p:spPr>
        <p:txBody>
          <a:bodyPr wrap="square">
            <a:spAutoFit/>
          </a:bodyPr>
          <a:lstStyle/>
          <a:p>
            <a:pPr algn="l">
              <a:buNone/>
            </a:pPr>
            <a:r>
              <a:rPr sz="1400" b="1" i="0">
                <a:solidFill>
                  <a:srgbClr val="0F172A"/>
                </a:solidFill>
                <a:latin typeface="Cambria"/>
              </a:rPr>
              <a:t>Why use a registry?</a:t>
            </a:r>
          </a:p>
        </p:txBody>
      </p:sp>
      <p:sp>
        <p:nvSpPr>
          <p:cNvPr id="22" name="TextBox 21"/>
          <p:cNvSpPr txBox="1"/>
          <p:nvPr/>
        </p:nvSpPr>
        <p:spPr>
          <a:xfrm>
            <a:off x="594360" y="4443984"/>
            <a:ext cx="10789920" cy="786384"/>
          </a:xfrm>
          <a:prstGeom prst="rect">
            <a:avLst/>
          </a:prstGeom>
          <a:noFill/>
        </p:spPr>
        <p:txBody>
          <a:bodyPr wrap="square">
            <a:spAutoFit/>
          </a:bodyPr>
          <a:lstStyle/>
          <a:p>
            <a:pPr algn="l">
              <a:buNone/>
            </a:pPr>
            <a:r>
              <a:rPr sz="1100" b="0" i="0">
                <a:solidFill>
                  <a:srgbClr val="0F172A"/>
                </a:solidFill>
                <a:latin typeface="Calibri"/>
              </a:rPr>
              <a:t>Registry  =  the overall system (Docker Hub, AWS ECR, Azure ACR, GitHub Container Registry)
Repository  =  a collection of related images within a registry (one repo per app, multiple tags)
Share the same image across dev, CI, staging, and production — guaranteed consistency everywhere.</a:t>
            </a:r>
          </a:p>
        </p:txBody>
      </p:sp>
      <p:sp>
        <p:nvSpPr>
          <p:cNvPr id="23" name="TextBox 22"/>
          <p:cNvSpPr txBox="1"/>
          <p:nvPr/>
        </p:nvSpPr>
        <p:spPr>
          <a:xfrm>
            <a:off x="594360" y="5669280"/>
            <a:ext cx="5486400" cy="256032"/>
          </a:xfrm>
          <a:prstGeom prst="rect">
            <a:avLst/>
          </a:prstGeom>
          <a:noFill/>
        </p:spPr>
        <p:txBody>
          <a:bodyPr wrap="square">
            <a:spAutoFit/>
          </a:bodyPr>
          <a:lstStyle/>
          <a:p>
            <a:pPr algn="l">
              <a:buNone/>
            </a:pPr>
            <a:r>
              <a:rPr sz="900" b="0" i="1">
                <a:solidFill>
                  <a:srgbClr val="94A3B8"/>
                </a:solidFill>
                <a:latin typeface="Calibri"/>
              </a:rPr>
              <a:t>Source: aws.amazon.com/docker  |  docs.docker.com</a:t>
            </a:r>
          </a:p>
        </p:txBody>
      </p:sp>
      <p:sp>
        <p:nvSpPr>
          <p:cNvPr id="24" name="TextBox 23"/>
          <p:cNvSpPr txBox="1"/>
          <p:nvPr/>
        </p:nvSpPr>
        <p:spPr>
          <a:xfrm>
            <a:off x="457200" y="6473952"/>
            <a:ext cx="4114800" cy="274320"/>
          </a:xfrm>
          <a:prstGeom prst="rect">
            <a:avLst/>
          </a:prstGeom>
          <a:noFill/>
        </p:spPr>
        <p:txBody>
          <a:bodyPr wrap="square">
            <a:spAutoFit/>
          </a:bodyPr>
          <a:lstStyle/>
          <a:p>
            <a:pPr algn="l">
              <a:buNone/>
            </a:pPr>
            <a:r>
              <a:rPr sz="900" b="0" i="0">
                <a:solidFill>
                  <a:srgbClr val="718596"/>
                </a:solidFill>
                <a:latin typeface="Calibri"/>
              </a:rPr>
              <a:t>© Tertiary Infotech Pte. Ltd.</a:t>
            </a:r>
          </a:p>
        </p:txBody>
      </p:sp>
      <p:sp>
        <p:nvSpPr>
          <p:cNvPr id="25" name="TextBox 24"/>
          <p:cNvSpPr txBox="1"/>
          <p:nvPr/>
        </p:nvSpPr>
        <p:spPr>
          <a:xfrm>
            <a:off x="3657600" y="6473952"/>
            <a:ext cx="5029200" cy="274320"/>
          </a:xfrm>
          <a:prstGeom prst="rect">
            <a:avLst/>
          </a:prstGeom>
          <a:noFill/>
        </p:spPr>
        <p:txBody>
          <a:bodyPr wrap="square">
            <a:spAutoFit/>
          </a:bodyPr>
          <a:lstStyle/>
          <a:p>
            <a:pPr algn="ctr">
              <a:buNone/>
            </a:pPr>
            <a:r>
              <a:rPr sz="900" b="0" i="0">
                <a:solidFill>
                  <a:srgbClr val="718596"/>
                </a:solidFill>
                <a:latin typeface="Calibri"/>
              </a:rPr>
              <a:t>Application Integration with Docker and Kubernetes</a:t>
            </a:r>
          </a:p>
        </p:txBody>
      </p:sp>
      <p:sp>
        <p:nvSpPr>
          <p:cNvPr id="26" name="TextBox 25"/>
          <p:cNvSpPr txBox="1"/>
          <p:nvPr/>
        </p:nvSpPr>
        <p:spPr>
          <a:xfrm>
            <a:off x="11365992" y="6473952"/>
            <a:ext cx="457200" cy="274320"/>
          </a:xfrm>
          <a:prstGeom prst="rect">
            <a:avLst/>
          </a:prstGeom>
          <a:noFill/>
        </p:spPr>
        <p:txBody>
          <a:bodyPr wrap="square">
            <a:spAutoFit/>
          </a:bodyPr>
          <a:lstStyle/>
          <a:p>
            <a:pPr algn="r">
              <a:buNone/>
            </a:pPr>
            <a:r>
              <a:rPr sz="900" b="0" i="0">
                <a:solidFill>
                  <a:srgbClr val="718596"/>
                </a:solidFill>
                <a:latin typeface="Calibri"/>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75886</Words>
  <Application>WPS Presentation</Application>
  <PresentationFormat>On-screen Show (4:3)</PresentationFormat>
  <Paragraphs>3926</Paragraphs>
  <Slides>141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141</vt:i4>
      </vt:variant>
    </vt:vector>
  </HeadingPairs>
  <TitlesOfParts>
    <vt:vector size="151" baseType="lpstr">
      <vt:lpstr>Arial</vt:lpstr>
      <vt:lpstr>SimSun</vt:lpstr>
      <vt:lpstr>Wingdings</vt:lpstr>
      <vt:lpstr>Arial</vt:lpstr>
      <vt:lpstr>Calibri</vt:lpstr>
      <vt:lpstr>Cambria</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mohan</cp:lastModifiedBy>
  <cp:revision>5</cp:revision>
  <dcterms:created xsi:type="dcterms:W3CDTF">2013-01-27T09:14:00Z</dcterms:created>
  <dcterms:modified xsi:type="dcterms:W3CDTF">2026-06-29T00:07:34Z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ED893F2FFC934259B1A825C6CF51AE21_12</vt:lpwstr>
  </property>
</Properties>
</file>