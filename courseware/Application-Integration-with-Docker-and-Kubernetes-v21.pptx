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391" r:id="rId142"/>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docker-k8s-course-logo.png"/>
          <p:cNvPicPr>
            <a:picLocks noChangeAspect="1"/>
          </p:cNvPicPr>
          <p:nvPr/>
        </p:nvPicPr>
        <p:blipFill>
          <a:blip r:embed="rId3"/>
          <a:stretch>
            <a:fillRect/>
          </a:stretch>
        </p:blipFill>
        <p:spPr>
          <a:xfrm>
            <a:off x="10515600" y="566928"/>
            <a:ext cx="1051560" cy="105156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8" name="TextBox 7"/>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Application Integration with Docker and Kubernetes</a:t>
            </a:r>
          </a:p>
        </p:txBody>
      </p:sp>
      <p:sp>
        <p:nvSpPr>
          <p:cNvPr id="9" name="Rectangle 8"/>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TGS-2021010366</a:t>
            </a:r>
          </a:p>
          <a:p>
            <a:pPr algn="l">
              <a:spcBef>
                <a:spcPts val="0"/>
              </a:spcBef>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10058400" y="5989320"/>
            <a:ext cx="1691640" cy="310896"/>
          </a:xfrm>
          <a:prstGeom prst="rect">
            <a:avLst/>
          </a:prstGeom>
          <a:noFill/>
        </p:spPr>
        <p:txBody>
          <a:bodyPr wrap="square" anchor="t" lIns="0" rIns="0" tIns="0" bIns="0">
            <a:spAutoFit/>
          </a:bodyPr>
          <a:lstStyle/>
          <a:p>
            <a:pPr algn="r">
              <a:spcBef>
                <a:spcPts val="0"/>
              </a:spcBef>
              <a:spcAft>
                <a:spcPts val="400"/>
              </a:spcAft>
            </a:pPr>
            <a:r>
              <a:rPr sz="1300" b="1">
                <a:solidFill>
                  <a:srgbClr val="1F6FEB"/>
                </a:solidFill>
                <a:latin typeface="Arial"/>
              </a:rPr>
              <a:t>Version 21</a:t>
            </a:r>
          </a:p>
        </p:txBody>
      </p:sp>
      <p:sp>
        <p:nvSpPr>
          <p:cNvPr id="12" name="TextBox 11"/>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Mohan Pothula</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Enterprise DevOps &amp; Cloud Trainer</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grad.png"/>
          <p:cNvPicPr>
            <a:picLocks noChangeAspect="1"/>
          </p:cNvPicPr>
          <p:nvPr/>
        </p:nvPicPr>
        <p:blipFill>
          <a:blip r:embed="rId2"/>
          <a:stretch>
            <a:fillRect/>
          </a:stretch>
        </p:blipFill>
        <p:spPr>
          <a:xfrm>
            <a:off x="4607661" y="2001621"/>
            <a:ext cx="294438" cy="294438"/>
          </a:xfrm>
          <a:prstGeom prst="rect">
            <a:avLst/>
          </a:prstGeom>
        </p:spPr>
      </p:pic>
      <p:sp>
        <p:nvSpPr>
          <p:cNvPr id="14" name="TextBox 13"/>
          <p:cNvSpPr txBox="1"/>
          <p:nvPr/>
        </p:nvSpPr>
        <p:spPr>
          <a:xfrm>
            <a:off x="5349240" y="17830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Role</a:t>
            </a:r>
          </a:p>
          <a:p>
            <a:pPr algn="l">
              <a:spcBef>
                <a:spcPts val="0"/>
              </a:spcBef>
              <a:spcAft>
                <a:spcPts val="200"/>
              </a:spcAft>
            </a:pPr>
            <a:r>
              <a:rPr sz="1300" b="0">
                <a:solidFill>
                  <a:srgbClr val="5B6372"/>
                </a:solidFill>
                <a:latin typeface="Arial"/>
              </a:rPr>
              <a:t>Principal DevOps &amp; Cloud trainer at Tertiary Infotech Academy.</a:t>
            </a:r>
          </a:p>
        </p:txBody>
      </p:sp>
      <p:sp>
        <p:nvSpPr>
          <p:cNvPr id="15" name="Oval 14"/>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laptop.png"/>
          <p:cNvPicPr>
            <a:picLocks noChangeAspect="1"/>
          </p:cNvPicPr>
          <p:nvPr/>
        </p:nvPicPr>
        <p:blipFill>
          <a:blip r:embed="rId3"/>
          <a:stretch>
            <a:fillRect/>
          </a:stretch>
        </p:blipFill>
        <p:spPr>
          <a:xfrm>
            <a:off x="4607661" y="2916021"/>
            <a:ext cx="294438" cy="294438"/>
          </a:xfrm>
          <a:prstGeom prst="rect">
            <a:avLst/>
          </a:prstGeom>
        </p:spPr>
      </p:pic>
      <p:sp>
        <p:nvSpPr>
          <p:cNvPr id="17" name="TextBox 16"/>
          <p:cNvSpPr txBox="1"/>
          <p:nvPr/>
        </p:nvSpPr>
        <p:spPr>
          <a:xfrm>
            <a:off x="5349240" y="26974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Qualifications</a:t>
            </a:r>
          </a:p>
          <a:p>
            <a:pPr algn="l">
              <a:spcBef>
                <a:spcPts val="0"/>
              </a:spcBef>
              <a:spcAft>
                <a:spcPts val="200"/>
              </a:spcAft>
            </a:pPr>
            <a:r>
              <a:rPr sz="1300" b="0">
                <a:solidFill>
                  <a:srgbClr val="5B6372"/>
                </a:solidFill>
                <a:latin typeface="Arial"/>
              </a:rPr>
              <a:t>Certified Kubernetes Administrator (CKA) · Docker Certified Associate (DCA) · AWS Solutions Architect.</a:t>
            </a:r>
          </a:p>
        </p:txBody>
      </p:sp>
      <p:sp>
        <p:nvSpPr>
          <p:cNvPr id="18" name="Oval 17"/>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person.png"/>
          <p:cNvPicPr>
            <a:picLocks noChangeAspect="1"/>
          </p:cNvPicPr>
          <p:nvPr/>
        </p:nvPicPr>
        <p:blipFill>
          <a:blip r:embed="rId4"/>
          <a:stretch>
            <a:fillRect/>
          </a:stretch>
        </p:blipFill>
        <p:spPr>
          <a:xfrm>
            <a:off x="4607661" y="3830421"/>
            <a:ext cx="294438" cy="294438"/>
          </a:xfrm>
          <a:prstGeom prst="rect">
            <a:avLst/>
          </a:prstGeom>
        </p:spPr>
      </p:pic>
      <p:sp>
        <p:nvSpPr>
          <p:cNvPr id="20" name="TextBox 19"/>
          <p:cNvSpPr txBox="1"/>
          <p:nvPr/>
        </p:nvSpPr>
        <p:spPr>
          <a:xfrm>
            <a:off x="5349240" y="36118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Expertise</a:t>
            </a:r>
          </a:p>
          <a:p>
            <a:pPr algn="l">
              <a:spcBef>
                <a:spcPts val="0"/>
              </a:spcBef>
              <a:spcAft>
                <a:spcPts val="200"/>
              </a:spcAft>
            </a:pPr>
            <a:r>
              <a:rPr sz="1300" b="0">
                <a:solidFill>
                  <a:srgbClr val="5B6372"/>
                </a:solidFill>
                <a:latin typeface="Arial"/>
              </a:rPr>
              <a:t>Docker · Kubernetes · CI/CD · Cloud (AWS) · platform engineering.</a:t>
            </a:r>
          </a:p>
        </p:txBody>
      </p:sp>
      <p:sp>
        <p:nvSpPr>
          <p:cNvPr id="21" name="Oval 20"/>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brief.png"/>
          <p:cNvPicPr>
            <a:picLocks noChangeAspect="1"/>
          </p:cNvPicPr>
          <p:nvPr/>
        </p:nvPicPr>
        <p:blipFill>
          <a:blip r:embed="rId5"/>
          <a:stretch>
            <a:fillRect/>
          </a:stretch>
        </p:blipFill>
        <p:spPr>
          <a:xfrm>
            <a:off x="4607661" y="4744821"/>
            <a:ext cx="294438" cy="294438"/>
          </a:xfrm>
          <a:prstGeom prst="rect">
            <a:avLst/>
          </a:prstGeom>
        </p:spPr>
      </p:pic>
      <p:sp>
        <p:nvSpPr>
          <p:cNvPr id="23" name="TextBox 22"/>
          <p:cNvSpPr txBox="1"/>
          <p:nvPr/>
        </p:nvSpPr>
        <p:spPr>
          <a:xfrm>
            <a:off x="5349240" y="45262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Experience</a:t>
            </a:r>
          </a:p>
          <a:p>
            <a:pPr algn="l">
              <a:spcBef>
                <a:spcPts val="0"/>
              </a:spcBef>
              <a:spcAft>
                <a:spcPts val="200"/>
              </a:spcAft>
            </a:pPr>
            <a:r>
              <a:rPr sz="1300" b="0">
                <a:solidFill>
                  <a:srgbClr val="5B6372"/>
                </a:solidFill>
                <a:latin typeface="Arial"/>
              </a:rPr>
              <a:t>20+ years across DBS Bank, SingTel, Mediacorp and SPH Media.</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 Trainer Name ]</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 Title / Role ]</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laptop.png"/>
          <p:cNvPicPr>
            <a:picLocks noChangeAspect="1"/>
          </p:cNvPicPr>
          <p:nvPr/>
        </p:nvPicPr>
        <p:blipFill>
          <a:blip r:embed="rId3"/>
          <a:stretch>
            <a:fillRect/>
          </a:stretch>
        </p:blipFill>
        <p:spPr>
          <a:xfrm>
            <a:off x="4607661" y="2001621"/>
            <a:ext cx="294438" cy="294438"/>
          </a:xfrm>
          <a:prstGeom prst="rect">
            <a:avLst/>
          </a:prstGeom>
        </p:spPr>
      </p:pic>
      <p:sp>
        <p:nvSpPr>
          <p:cNvPr id="14" name="TextBox 13"/>
          <p:cNvSpPr txBox="1"/>
          <p:nvPr/>
        </p:nvSpPr>
        <p:spPr>
          <a:xfrm>
            <a:off x="5349240" y="18288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Qualifications:</a:t>
            </a:r>
          </a:p>
        </p:txBody>
      </p:sp>
      <p:sp>
        <p:nvSpPr>
          <p:cNvPr id="15" name="Rectangle 14"/>
          <p:cNvSpPr/>
          <p:nvPr/>
        </p:nvSpPr>
        <p:spPr>
          <a:xfrm>
            <a:off x="7360920" y="21361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person.png"/>
          <p:cNvPicPr>
            <a:picLocks noChangeAspect="1"/>
          </p:cNvPicPr>
          <p:nvPr/>
        </p:nvPicPr>
        <p:blipFill>
          <a:blip r:embed="rId4"/>
          <a:stretch>
            <a:fillRect/>
          </a:stretch>
        </p:blipFill>
        <p:spPr>
          <a:xfrm>
            <a:off x="4607661" y="2916021"/>
            <a:ext cx="294438" cy="294438"/>
          </a:xfrm>
          <a:prstGeom prst="rect">
            <a:avLst/>
          </a:prstGeom>
        </p:spPr>
      </p:pic>
      <p:sp>
        <p:nvSpPr>
          <p:cNvPr id="18" name="TextBox 17"/>
          <p:cNvSpPr txBox="1"/>
          <p:nvPr/>
        </p:nvSpPr>
        <p:spPr>
          <a:xfrm>
            <a:off x="5349240" y="27432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Expertise:</a:t>
            </a:r>
          </a:p>
        </p:txBody>
      </p:sp>
      <p:sp>
        <p:nvSpPr>
          <p:cNvPr id="19" name="Rectangle 18"/>
          <p:cNvSpPr/>
          <p:nvPr/>
        </p:nvSpPr>
        <p:spPr>
          <a:xfrm>
            <a:off x="7360920" y="30505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rief.png"/>
          <p:cNvPicPr>
            <a:picLocks noChangeAspect="1"/>
          </p:cNvPicPr>
          <p:nvPr/>
        </p:nvPicPr>
        <p:blipFill>
          <a:blip r:embed="rId5"/>
          <a:stretch>
            <a:fillRect/>
          </a:stretch>
        </p:blipFill>
        <p:spPr>
          <a:xfrm>
            <a:off x="4607661" y="3830421"/>
            <a:ext cx="294438" cy="294438"/>
          </a:xfrm>
          <a:prstGeom prst="rect">
            <a:avLst/>
          </a:prstGeom>
        </p:spPr>
      </p:pic>
      <p:sp>
        <p:nvSpPr>
          <p:cNvPr id="22" name="TextBox 21"/>
          <p:cNvSpPr txBox="1"/>
          <p:nvPr/>
        </p:nvSpPr>
        <p:spPr>
          <a:xfrm>
            <a:off x="5349240" y="36576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Experience:</a:t>
            </a:r>
          </a:p>
        </p:txBody>
      </p:sp>
      <p:sp>
        <p:nvSpPr>
          <p:cNvPr id="23" name="Rectangle 22"/>
          <p:cNvSpPr/>
          <p:nvPr/>
        </p:nvSpPr>
        <p:spPr>
          <a:xfrm>
            <a:off x="7360920" y="39649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link.png"/>
          <p:cNvPicPr>
            <a:picLocks noChangeAspect="1"/>
          </p:cNvPicPr>
          <p:nvPr/>
        </p:nvPicPr>
        <p:blipFill>
          <a:blip r:embed="rId6"/>
          <a:stretch>
            <a:fillRect/>
          </a:stretch>
        </p:blipFill>
        <p:spPr>
          <a:xfrm>
            <a:off x="4607661" y="4744821"/>
            <a:ext cx="294438" cy="294438"/>
          </a:xfrm>
          <a:prstGeom prst="rect">
            <a:avLst/>
          </a:prstGeom>
        </p:spPr>
      </p:pic>
      <p:sp>
        <p:nvSpPr>
          <p:cNvPr id="26" name="TextBox 25"/>
          <p:cNvSpPr txBox="1"/>
          <p:nvPr/>
        </p:nvSpPr>
        <p:spPr>
          <a:xfrm>
            <a:off x="5349240" y="45720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Contact / Profile:</a:t>
            </a:r>
          </a:p>
        </p:txBody>
      </p:sp>
      <p:sp>
        <p:nvSpPr>
          <p:cNvPr id="27" name="Rectangle 26"/>
          <p:cNvSpPr/>
          <p:nvPr/>
        </p:nvSpPr>
        <p:spPr>
          <a:xfrm>
            <a:off x="7360920" y="48793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Take a minute to introduce yourself to the class:</a:t>
            </a:r>
          </a:p>
        </p:txBody>
      </p:sp>
      <p:sp>
        <p:nvSpPr>
          <p:cNvPr id="8" name="Rounded Rectangle 7"/>
          <p:cNvSpPr/>
          <p:nvPr/>
        </p:nvSpPr>
        <p:spPr>
          <a:xfrm>
            <a:off x="77724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63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person2.png"/>
          <p:cNvPicPr>
            <a:picLocks noChangeAspect="1"/>
          </p:cNvPicPr>
          <p:nvPr/>
        </p:nvPicPr>
        <p:blipFill>
          <a:blip r:embed="rId2"/>
          <a:stretch>
            <a:fillRect/>
          </a:stretch>
        </p:blipFill>
        <p:spPr>
          <a:xfrm>
            <a:off x="2267772" y="2439984"/>
            <a:ext cx="386976" cy="386976"/>
          </a:xfrm>
          <a:prstGeom prst="rect">
            <a:avLst/>
          </a:prstGeom>
        </p:spPr>
      </p:pic>
      <p:sp>
        <p:nvSpPr>
          <p:cNvPr id="11" name="TextBox 10"/>
          <p:cNvSpPr txBox="1"/>
          <p:nvPr/>
        </p:nvSpPr>
        <p:spPr>
          <a:xfrm>
            <a:off x="96012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role</a:t>
            </a:r>
          </a:p>
        </p:txBody>
      </p:sp>
      <p:sp>
        <p:nvSpPr>
          <p:cNvPr id="12" name="TextBox 11"/>
          <p:cNvSpPr txBox="1"/>
          <p:nvPr/>
        </p:nvSpPr>
        <p:spPr>
          <a:xfrm>
            <a:off x="103327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Your name and organisation / role.</a:t>
            </a:r>
          </a:p>
        </p:txBody>
      </p:sp>
      <p:sp>
        <p:nvSpPr>
          <p:cNvPr id="13" name="Rounded Rectangle 12"/>
          <p:cNvSpPr/>
          <p:nvPr/>
        </p:nvSpPr>
        <p:spPr>
          <a:xfrm>
            <a:off x="441960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8299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de.png"/>
          <p:cNvPicPr>
            <a:picLocks noChangeAspect="1"/>
          </p:cNvPicPr>
          <p:nvPr/>
        </p:nvPicPr>
        <p:blipFill>
          <a:blip r:embed="rId3"/>
          <a:stretch>
            <a:fillRect/>
          </a:stretch>
        </p:blipFill>
        <p:spPr>
          <a:xfrm>
            <a:off x="5910132" y="2439984"/>
            <a:ext cx="386976" cy="386976"/>
          </a:xfrm>
          <a:prstGeom prst="rect">
            <a:avLst/>
          </a:prstGeom>
        </p:spPr>
      </p:pic>
      <p:sp>
        <p:nvSpPr>
          <p:cNvPr id="16" name="TextBox 15"/>
          <p:cNvSpPr txBox="1"/>
          <p:nvPr/>
        </p:nvSpPr>
        <p:spPr>
          <a:xfrm>
            <a:off x="460248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experience</a:t>
            </a:r>
          </a:p>
        </p:txBody>
      </p:sp>
      <p:sp>
        <p:nvSpPr>
          <p:cNvPr id="17" name="TextBox 16"/>
          <p:cNvSpPr txBox="1"/>
          <p:nvPr/>
        </p:nvSpPr>
        <p:spPr>
          <a:xfrm>
            <a:off x="467563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Any experience with Docker, servers or the cloud.</a:t>
            </a:r>
          </a:p>
        </p:txBody>
      </p:sp>
      <p:sp>
        <p:nvSpPr>
          <p:cNvPr id="18" name="Rounded Rectangle 17"/>
          <p:cNvSpPr/>
          <p:nvPr/>
        </p:nvSpPr>
        <p:spPr>
          <a:xfrm>
            <a:off x="806196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535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rget.png"/>
          <p:cNvPicPr>
            <a:picLocks noChangeAspect="1"/>
          </p:cNvPicPr>
          <p:nvPr/>
        </p:nvPicPr>
        <p:blipFill>
          <a:blip r:embed="rId4"/>
          <a:stretch>
            <a:fillRect/>
          </a:stretch>
        </p:blipFill>
        <p:spPr>
          <a:xfrm>
            <a:off x="9552492" y="2439984"/>
            <a:ext cx="386976" cy="386976"/>
          </a:xfrm>
          <a:prstGeom prst="rect">
            <a:avLst/>
          </a:prstGeom>
        </p:spPr>
      </p:pic>
      <p:sp>
        <p:nvSpPr>
          <p:cNvPr id="21" name="TextBox 20"/>
          <p:cNvSpPr txBox="1"/>
          <p:nvPr/>
        </p:nvSpPr>
        <p:spPr>
          <a:xfrm>
            <a:off x="824484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goal</a:t>
            </a:r>
          </a:p>
        </p:txBody>
      </p:sp>
      <p:sp>
        <p:nvSpPr>
          <p:cNvPr id="22" name="TextBox 21"/>
          <p:cNvSpPr txBox="1"/>
          <p:nvPr/>
        </p:nvSpPr>
        <p:spPr>
          <a:xfrm>
            <a:off x="831799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What you want to containerise or deploy after this course.</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Phones on silent</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Set your phone to silent mode.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Participate actively</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question is too small — ask freely.</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Mutual respect</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One conversation at a time.</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g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Be punctual</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Return from breaks on time.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6.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Step out quietly</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For calls or short breaks.</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gr5.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75% attendance</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Required for funding eligibility.</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2 Days, 8 hours/day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6984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1</a:t>
            </a:r>
          </a:p>
        </p:txBody>
      </p:sp>
      <p:sp>
        <p:nvSpPr>
          <p:cNvPr id="9" name="TextBox 8"/>
          <p:cNvSpPr txBox="1"/>
          <p:nvPr/>
        </p:nvSpPr>
        <p:spPr>
          <a:xfrm>
            <a:off x="196596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Day 1</a:t>
            </a:r>
          </a:p>
        </p:txBody>
      </p:sp>
      <p:sp>
        <p:nvSpPr>
          <p:cNvPr id="10" name="TextBox 9"/>
          <p:cNvSpPr txBox="1"/>
          <p:nvPr/>
        </p:nvSpPr>
        <p:spPr>
          <a:xfrm>
            <a:off x="106984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Docker</a:t>
            </a:r>
          </a:p>
          <a:p>
            <a:pPr algn="l">
              <a:spcBef>
                <a:spcPts val="0"/>
              </a:spcBef>
              <a:spcAft>
                <a:spcPts val="700"/>
              </a:spcAft>
            </a:pPr>
            <a:r>
              <a:rPr sz="1300" b="0">
                <a:solidFill>
                  <a:srgbClr val="5B6372"/>
                </a:solidFill>
                <a:latin typeface="Arial"/>
              </a:rPr>
              <a:t>· Fundamentals &amp; commands (Labs 1–2)</a:t>
            </a:r>
          </a:p>
          <a:p>
            <a:pPr algn="l">
              <a:spcBef>
                <a:spcPts val="0"/>
              </a:spcBef>
              <a:spcAft>
                <a:spcPts val="700"/>
              </a:spcAft>
            </a:pPr>
            <a:r>
              <a:rPr sz="1300" b="0">
                <a:solidFill>
                  <a:srgbClr val="5B6372"/>
                </a:solidFill>
                <a:latin typeface="Arial"/>
              </a:rPr>
              <a:t>· Dockerfile, build &amp; CMD/ENTRYPOINT (Labs 3–5)</a:t>
            </a:r>
          </a:p>
          <a:p>
            <a:pPr algn="l">
              <a:spcBef>
                <a:spcPts val="0"/>
              </a:spcBef>
              <a:spcAft>
                <a:spcPts val="700"/>
              </a:spcAft>
            </a:pPr>
            <a:r>
              <a:rPr sz="1300" b="0">
                <a:solidFill>
                  <a:srgbClr val="5B6372"/>
                </a:solidFill>
                <a:latin typeface="Arial"/>
              </a:rPr>
              <a:t>· Storage, networking, config (Labs 6–8)</a:t>
            </a:r>
          </a:p>
          <a:p>
            <a:pPr algn="l">
              <a:spcBef>
                <a:spcPts val="0"/>
              </a:spcBef>
              <a:spcAft>
                <a:spcPts val="700"/>
              </a:spcAft>
            </a:pPr>
            <a:r>
              <a:rPr sz="1300" b="0">
                <a:solidFill>
                  <a:srgbClr val="5B6372"/>
                </a:solidFill>
                <a:latin typeface="Arial"/>
              </a:rPr>
              <a:t>· Docker Hub &amp; Compose (Labs 9–12)</a:t>
            </a:r>
          </a:p>
        </p:txBody>
      </p:sp>
      <p:sp>
        <p:nvSpPr>
          <p:cNvPr id="11" name="Rounded Rectangle 10"/>
          <p:cNvSpPr/>
          <p:nvPr/>
        </p:nvSpPr>
        <p:spPr>
          <a:xfrm>
            <a:off x="628650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7910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2</a:t>
            </a:r>
          </a:p>
        </p:txBody>
      </p:sp>
      <p:sp>
        <p:nvSpPr>
          <p:cNvPr id="13" name="TextBox 12"/>
          <p:cNvSpPr txBox="1"/>
          <p:nvPr/>
        </p:nvSpPr>
        <p:spPr>
          <a:xfrm>
            <a:off x="747522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Day 2</a:t>
            </a:r>
          </a:p>
        </p:txBody>
      </p:sp>
      <p:sp>
        <p:nvSpPr>
          <p:cNvPr id="14" name="TextBox 13"/>
          <p:cNvSpPr txBox="1"/>
          <p:nvPr/>
        </p:nvSpPr>
        <p:spPr>
          <a:xfrm>
            <a:off x="657910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Kubernetes</a:t>
            </a:r>
          </a:p>
          <a:p>
            <a:pPr algn="l">
              <a:spcBef>
                <a:spcPts val="0"/>
              </a:spcBef>
              <a:spcAft>
                <a:spcPts val="700"/>
              </a:spcAft>
            </a:pPr>
            <a:r>
              <a:rPr sz="1300" b="0">
                <a:solidFill>
                  <a:srgbClr val="5B6372"/>
                </a:solidFill>
                <a:latin typeface="Arial"/>
              </a:rPr>
              <a:t>· Pods &amp; Namespaces (Labs 13–14)</a:t>
            </a:r>
          </a:p>
          <a:p>
            <a:pPr algn="l">
              <a:spcBef>
                <a:spcPts val="0"/>
              </a:spcBef>
              <a:spcAft>
                <a:spcPts val="700"/>
              </a:spcAft>
            </a:pPr>
            <a:r>
              <a:rPr sz="1300" b="0">
                <a:solidFill>
                  <a:srgbClr val="5B6372"/>
                </a:solidFill>
                <a:latin typeface="Arial"/>
              </a:rPr>
              <a:t>· Deployments &amp; Rollouts (Labs 15–16)</a:t>
            </a:r>
          </a:p>
          <a:p>
            <a:pPr algn="l">
              <a:spcBef>
                <a:spcPts val="0"/>
              </a:spcBef>
              <a:spcAft>
                <a:spcPts val="700"/>
              </a:spcAft>
            </a:pPr>
            <a:r>
              <a:rPr sz="1300" b="0">
                <a:solidFill>
                  <a:srgbClr val="5B6372"/>
                </a:solidFill>
                <a:latin typeface="Arial"/>
              </a:rPr>
              <a:t>· Services (Lab 17)</a:t>
            </a:r>
          </a:p>
          <a:p>
            <a:pPr algn="l">
              <a:spcBef>
                <a:spcPts val="0"/>
              </a:spcBef>
              <a:spcAft>
                <a:spcPts val="700"/>
              </a:spcAft>
            </a:pPr>
            <a:r>
              <a:rPr sz="1300" b="0">
                <a:solidFill>
                  <a:srgbClr val="5B6372"/>
                </a:solidFill>
                <a:latin typeface="Arial"/>
              </a:rPr>
              <a:t>· Storage, Jobs &amp; CronJobs (Labs 18–19)</a:t>
            </a:r>
          </a:p>
          <a:p>
            <a:pPr algn="l">
              <a:spcBef>
                <a:spcPts val="0"/>
              </a:spcBef>
              <a:spcAft>
                <a:spcPts val="700"/>
              </a:spcAft>
            </a:pPr>
            <a:r>
              <a:rPr sz="1300" b="0">
                <a:solidFill>
                  <a:srgbClr val="5B6372"/>
                </a:solidFill>
                <a:latin typeface="Arial"/>
              </a:rPr>
              <a:t>· Final assessment from 4:00 PM</a:t>
            </a:r>
          </a:p>
        </p:txBody>
      </p:sp>
      <p:sp>
        <p:nvSpPr>
          <p:cNvPr id="15" name="Rounded Rectangle 14"/>
          <p:cNvSpPr/>
          <p:nvPr/>
        </p:nvSpPr>
        <p:spPr>
          <a:xfrm>
            <a:off x="777240" y="5349240"/>
            <a:ext cx="10652760" cy="566928"/>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349240"/>
            <a:ext cx="10058400" cy="566928"/>
          </a:xfrm>
          <a:prstGeom prst="rect">
            <a:avLst/>
          </a:prstGeom>
          <a:noFill/>
        </p:spPr>
        <p:txBody>
          <a:bodyPr wrap="square" anchor="ctr" lIns="0" rIns="0" tIns="0" bIns="0">
            <a:spAutoFit/>
          </a:bodyPr>
          <a:lstStyle/>
          <a:p>
            <a:pPr algn="l">
              <a:spcBef>
                <a:spcPts val="0"/>
              </a:spcBef>
              <a:spcAft>
                <a:spcPts val="400"/>
              </a:spcAft>
            </a:pPr>
            <a:r>
              <a:rPr sz="1400" b="1">
                <a:solidFill>
                  <a:srgbClr val="1F6FEB"/>
                </a:solidFill>
                <a:latin typeface="Arial"/>
              </a:rPr>
              <a:t>Daily timing:   </a:t>
            </a:r>
            <a:r>
              <a:rPr sz="1400" b="0">
                <a:solidFill>
                  <a:srgbClr val="161B26"/>
                </a:solidFill>
                <a:latin typeface="Arial"/>
              </a:rPr>
              <a:t>9:00am – 6:00pm   ·   1-hour lunch   ·   short tea breaks within each day</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8" name="TextBox 7"/>
          <p:cNvSpPr txBox="1"/>
          <p:nvPr/>
        </p:nvSpPr>
        <p:spPr>
          <a:xfrm>
            <a:off x="1581912" y="169164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LO1   </a:t>
            </a:r>
            <a:r>
              <a:rPr sz="1500" b="0">
                <a:solidFill>
                  <a:srgbClr val="161B26"/>
                </a:solidFill>
                <a:latin typeface="Arial"/>
              </a:rPr>
              <a:t>Explain containerisation and manage containers with the Docker CLI.</a:t>
            </a:r>
          </a:p>
        </p:txBody>
      </p:sp>
      <p:sp>
        <p:nvSpPr>
          <p:cNvPr id="9" name="Oval 8"/>
          <p:cNvSpPr/>
          <p:nvPr/>
        </p:nvSpPr>
        <p:spPr>
          <a:xfrm>
            <a:off x="777240" y="24048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10" name="TextBox 9"/>
          <p:cNvSpPr txBox="1"/>
          <p:nvPr/>
        </p:nvSpPr>
        <p:spPr>
          <a:xfrm>
            <a:off x="1581912" y="2404872"/>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LO2   </a:t>
            </a:r>
            <a:r>
              <a:rPr sz="1500" b="0">
                <a:solidFill>
                  <a:srgbClr val="161B26"/>
                </a:solidFill>
                <a:latin typeface="Arial"/>
              </a:rPr>
              <a:t>Build images with a Dockerfile and use CMD vs ENTRYPOINT correctly.</a:t>
            </a:r>
          </a:p>
        </p:txBody>
      </p:sp>
      <p:sp>
        <p:nvSpPr>
          <p:cNvPr id="11" name="Oval 10"/>
          <p:cNvSpPr/>
          <p:nvPr/>
        </p:nvSpPr>
        <p:spPr>
          <a:xfrm>
            <a:off x="777240" y="311810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2" name="TextBox 11"/>
          <p:cNvSpPr txBox="1"/>
          <p:nvPr/>
        </p:nvSpPr>
        <p:spPr>
          <a:xfrm>
            <a:off x="1581912" y="3118104"/>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LO3   </a:t>
            </a:r>
            <a:r>
              <a:rPr sz="1500" b="0">
                <a:solidFill>
                  <a:srgbClr val="161B26"/>
                </a:solidFill>
                <a:latin typeface="Arial"/>
              </a:rPr>
              <a:t>Persist data with volumes and connect containers over custom networks.</a:t>
            </a:r>
          </a:p>
        </p:txBody>
      </p:sp>
      <p:sp>
        <p:nvSpPr>
          <p:cNvPr id="13" name="Oval 12"/>
          <p:cNvSpPr/>
          <p:nvPr/>
        </p:nvSpPr>
        <p:spPr>
          <a:xfrm>
            <a:off x="777240" y="38313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4</a:t>
            </a:r>
          </a:p>
        </p:txBody>
      </p:sp>
      <p:sp>
        <p:nvSpPr>
          <p:cNvPr id="14" name="TextBox 13"/>
          <p:cNvSpPr txBox="1"/>
          <p:nvPr/>
        </p:nvSpPr>
        <p:spPr>
          <a:xfrm>
            <a:off x="1581912" y="3831336"/>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LO4   </a:t>
            </a:r>
            <a:r>
              <a:rPr sz="1500" b="0">
                <a:solidFill>
                  <a:srgbClr val="161B26"/>
                </a:solidFill>
                <a:latin typeface="Arial"/>
              </a:rPr>
              <a:t>Run multi-service apps (web + cache + database) with Docker Compose.</a:t>
            </a:r>
          </a:p>
        </p:txBody>
      </p:sp>
      <p:sp>
        <p:nvSpPr>
          <p:cNvPr id="15" name="Oval 14"/>
          <p:cNvSpPr/>
          <p:nvPr/>
        </p:nvSpPr>
        <p:spPr>
          <a:xfrm>
            <a:off x="777240" y="45445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5</a:t>
            </a:r>
          </a:p>
        </p:txBody>
      </p:sp>
      <p:sp>
        <p:nvSpPr>
          <p:cNvPr id="16" name="TextBox 15"/>
          <p:cNvSpPr txBox="1"/>
          <p:nvPr/>
        </p:nvSpPr>
        <p:spPr>
          <a:xfrm>
            <a:off x="1581912" y="4544568"/>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LO5   </a:t>
            </a:r>
            <a:r>
              <a:rPr sz="1500" b="0">
                <a:solidFill>
                  <a:srgbClr val="161B26"/>
                </a:solidFill>
                <a:latin typeface="Arial"/>
              </a:rPr>
              <a:t>Deploy, scale and update applications on Kubernetes.</a:t>
            </a:r>
          </a:p>
        </p:txBody>
      </p:sp>
      <p:sp>
        <p:nvSpPr>
          <p:cNvPr id="17" name="Oval 16"/>
          <p:cNvSpPr/>
          <p:nvPr/>
        </p:nvSpPr>
        <p:spPr>
          <a:xfrm>
            <a:off x="777240" y="525780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6</a:t>
            </a:r>
          </a:p>
        </p:txBody>
      </p:sp>
      <p:sp>
        <p:nvSpPr>
          <p:cNvPr id="18" name="TextBox 17"/>
          <p:cNvSpPr txBox="1"/>
          <p:nvPr/>
        </p:nvSpPr>
        <p:spPr>
          <a:xfrm>
            <a:off x="1581912" y="525780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LO6   </a:t>
            </a:r>
            <a:r>
              <a:rPr sz="1500" b="0">
                <a:solidFill>
                  <a:srgbClr val="161B26"/>
                </a:solidFill>
                <a:latin typeface="Arial"/>
              </a:rPr>
              <a:t>Expose Services and persist data with PersistentVolumes &amp; Claims.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Held on Day 2 from 4:00 PM</a:t>
            </a:r>
          </a:p>
          <a:p>
            <a:pPr>
              <a:spcBef>
                <a:spcPts val="0"/>
              </a:spcBef>
              <a:spcAft>
                <a:spcPts val="1000"/>
              </a:spcAft>
            </a:pPr>
            <a:r>
              <a:rPr sz="1300" b="1">
                <a:solidFill>
                  <a:srgbClr val="1F6FEB"/>
                </a:solidFill>
                <a:latin typeface="Arial"/>
              </a:rPr>
              <a:t>•  </a:t>
            </a:r>
            <a:r>
              <a:rPr sz="1300">
                <a:solidFill>
                  <a:srgbClr val="161B26"/>
                </a:solidFill>
                <a:latin typeface="Arial"/>
              </a:rPr>
              <a:t>Covers Docker &amp; Kubernetes concepts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&amp; Learner Guide</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&amp; Learner Guide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 Images · Storage · Networking · Compose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the Docker engine &amp; core commands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Problem: 'It Works on My Machine'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Apps break when the environment differs — OS, language version, missing dependencies or config.</a:t>
            </a:r>
          </a:p>
          <a:p>
            <a:pPr>
              <a:spcBef>
                <a:spcPts val="0"/>
              </a:spcBef>
              <a:spcAft>
                <a:spcPts val="1000"/>
              </a:spcAft>
            </a:pPr>
            <a:r>
              <a:rPr sz="1900" b="1">
                <a:solidFill>
                  <a:srgbClr val="1F6FEB"/>
                </a:solidFill>
                <a:latin typeface="Arial"/>
              </a:rPr>
              <a:t>•  </a:t>
            </a:r>
            <a:r>
              <a:rPr sz="1900">
                <a:solidFill>
                  <a:srgbClr val="161B26"/>
                </a:solidFill>
                <a:latin typeface="Arial"/>
              </a:rPr>
              <a:t>Docker packages the app AND its environment into one portable image that runs identically everywhere.</a:t>
            </a:r>
          </a:p>
          <a:p>
            <a:pPr>
              <a:spcBef>
                <a:spcPts val="0"/>
              </a:spcBef>
              <a:spcAft>
                <a:spcPts val="1000"/>
              </a:spcAft>
            </a:pPr>
            <a:r>
              <a:rPr sz="1900" b="1">
                <a:solidFill>
                  <a:srgbClr val="1F6FEB"/>
                </a:solidFill>
                <a:latin typeface="Arial"/>
              </a:rPr>
              <a:t>•  </a:t>
            </a:r>
            <a:r>
              <a:rPr sz="1900">
                <a:solidFill>
                  <a:srgbClr val="161B26"/>
                </a:solidFill>
                <a:latin typeface="Arial"/>
              </a:rPr>
              <a:t>An image is a read-only blueprint; a container is a running instance of it.</a:t>
            </a:r>
          </a:p>
          <a:p>
            <a:pPr>
              <a:spcBef>
                <a:spcPts val="0"/>
              </a:spcBef>
              <a:spcAft>
                <a:spcPts val="1000"/>
              </a:spcAft>
            </a:pPr>
            <a:r>
              <a:rPr sz="1900" b="1">
                <a:solidFill>
                  <a:srgbClr val="1F6FEB"/>
                </a:solidFill>
                <a:latin typeface="Arial"/>
              </a:rPr>
              <a:t>•  </a:t>
            </a:r>
            <a:r>
              <a:rPr sz="1900">
                <a:solidFill>
                  <a:srgbClr val="161B26"/>
                </a:solidFill>
                <a:latin typeface="Arial"/>
              </a:rPr>
              <a:t>Containers are lightweight — they share the host kernel and start in milliseconds.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Virtual Machines vs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Virtual Machines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Containers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Full guest OS per VM</a:t>
            </a:r>
          </a:p>
          <a:p>
            <a:pPr>
              <a:spcBef>
                <a:spcPts val="0"/>
              </a:spcBef>
              <a:spcAft>
                <a:spcPts val="1000"/>
              </a:spcAft>
            </a:pPr>
            <a:r>
              <a:rPr sz="1600" b="1">
                <a:solidFill>
                  <a:srgbClr val="1F6FEB"/>
                </a:solidFill>
                <a:latin typeface="Arial"/>
              </a:rPr>
              <a:t>•  </a:t>
            </a:r>
            <a:r>
              <a:rPr sz="1600">
                <a:solidFill>
                  <a:srgbClr val="161B26"/>
                </a:solidFill>
                <a:latin typeface="Arial"/>
              </a:rPr>
              <a:t>Boot time: seconds–minutes</a:t>
            </a:r>
          </a:p>
          <a:p>
            <a:pPr>
              <a:spcBef>
                <a:spcPts val="0"/>
              </a:spcBef>
              <a:spcAft>
                <a:spcPts val="1000"/>
              </a:spcAft>
            </a:pPr>
            <a:r>
              <a:rPr sz="1600" b="1">
                <a:solidFill>
                  <a:srgbClr val="1F6FEB"/>
                </a:solidFill>
                <a:latin typeface="Arial"/>
              </a:rPr>
              <a:t>•  </a:t>
            </a:r>
            <a:r>
              <a:rPr sz="1600">
                <a:solidFill>
                  <a:srgbClr val="161B26"/>
                </a:solidFill>
                <a:latin typeface="Arial"/>
              </a:rPr>
              <a:t>Size: gigabytes</a:t>
            </a:r>
          </a:p>
          <a:p>
            <a:pPr>
              <a:spcBef>
                <a:spcPts val="0"/>
              </a:spcBef>
              <a:spcAft>
                <a:spcPts val="1000"/>
              </a:spcAft>
            </a:pPr>
            <a:r>
              <a:rPr sz="1600" b="1">
                <a:solidFill>
                  <a:srgbClr val="1F6FEB"/>
                </a:solidFill>
                <a:latin typeface="Arial"/>
              </a:rPr>
              <a:t>•  </a:t>
            </a:r>
            <a:r>
              <a:rPr sz="1600">
                <a:solidFill>
                  <a:srgbClr val="161B26"/>
                </a:solidFill>
                <a:latin typeface="Arial"/>
              </a:rPr>
              <a:t>Hypervisor overhead</a:t>
            </a:r>
          </a:p>
          <a:p>
            <a:pPr>
              <a:spcBef>
                <a:spcPts val="0"/>
              </a:spcBef>
              <a:spcAft>
                <a:spcPts val="1000"/>
              </a:spcAft>
            </a:pPr>
            <a:r>
              <a:rPr sz="1600" b="1">
                <a:solidFill>
                  <a:srgbClr val="1F6FEB"/>
                </a:solidFill>
                <a:latin typeface="Arial"/>
              </a:rPr>
              <a:t>•  </a:t>
            </a:r>
            <a:r>
              <a:rPr sz="1600">
                <a:solidFill>
                  <a:srgbClr val="161B26"/>
                </a:solidFill>
                <a:latin typeface="Arial"/>
              </a:rPr>
              <a:t>Examples: VMware, VirtualBox, EC2</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Share the host OS kernel</a:t>
            </a:r>
          </a:p>
          <a:p>
            <a:pPr>
              <a:spcBef>
                <a:spcPts val="0"/>
              </a:spcBef>
              <a:spcAft>
                <a:spcPts val="1000"/>
              </a:spcAft>
            </a:pPr>
            <a:r>
              <a:rPr sz="1600" b="1">
                <a:solidFill>
                  <a:srgbClr val="10B981"/>
                </a:solidFill>
                <a:latin typeface="Arial"/>
              </a:rPr>
              <a:t>•  </a:t>
            </a:r>
            <a:r>
              <a:rPr sz="1600">
                <a:solidFill>
                  <a:srgbClr val="161B26"/>
                </a:solidFill>
                <a:latin typeface="Arial"/>
              </a:rPr>
              <a:t>Start time: milliseconds</a:t>
            </a:r>
          </a:p>
          <a:p>
            <a:pPr>
              <a:spcBef>
                <a:spcPts val="0"/>
              </a:spcBef>
              <a:spcAft>
                <a:spcPts val="1000"/>
              </a:spcAft>
            </a:pPr>
            <a:r>
              <a:rPr sz="1600" b="1">
                <a:solidFill>
                  <a:srgbClr val="10B981"/>
                </a:solidFill>
                <a:latin typeface="Arial"/>
              </a:rPr>
              <a:t>•  </a:t>
            </a:r>
            <a:r>
              <a:rPr sz="1600">
                <a:solidFill>
                  <a:srgbClr val="161B26"/>
                </a:solidFill>
                <a:latin typeface="Arial"/>
              </a:rPr>
              <a:t>Size: megabytes</a:t>
            </a:r>
          </a:p>
          <a:p>
            <a:pPr>
              <a:spcBef>
                <a:spcPts val="0"/>
              </a:spcBef>
              <a:spcAft>
                <a:spcPts val="1000"/>
              </a:spcAft>
            </a:pPr>
            <a:r>
              <a:rPr sz="1600" b="1">
                <a:solidFill>
                  <a:srgbClr val="10B981"/>
                </a:solidFill>
                <a:latin typeface="Arial"/>
              </a:rPr>
              <a:t>•  </a:t>
            </a:r>
            <a:r>
              <a:rPr sz="1600">
                <a:solidFill>
                  <a:srgbClr val="161B26"/>
                </a:solidFill>
                <a:latin typeface="Arial"/>
              </a:rPr>
              <a:t>Minimal overhead</a:t>
            </a:r>
          </a:p>
          <a:p>
            <a:pPr>
              <a:spcBef>
                <a:spcPts val="0"/>
              </a:spcBef>
              <a:spcAft>
                <a:spcPts val="1000"/>
              </a:spcAft>
            </a:pPr>
            <a:r>
              <a:rPr sz="1600" b="1">
                <a:solidFill>
                  <a:srgbClr val="10B981"/>
                </a:solidFill>
                <a:latin typeface="Arial"/>
              </a:rPr>
              <a:t>•  </a:t>
            </a:r>
            <a:r>
              <a:rPr sz="1600">
                <a:solidFill>
                  <a:srgbClr val="161B26"/>
                </a:solidFill>
                <a:latin typeface="Arial"/>
              </a:rPr>
              <a:t>Examples: Docker, containerd</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Docker Client</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The CLI you type</a:t>
            </a:r>
          </a:p>
          <a:p>
            <a:pPr>
              <a:spcBef>
                <a:spcPts val="0"/>
              </a:spcBef>
              <a:spcAft>
                <a:spcPts val="900"/>
              </a:spcAft>
            </a:pPr>
            <a:r>
              <a:rPr sz="1400" b="1">
                <a:solidFill>
                  <a:srgbClr val="1F6FEB"/>
                </a:solidFill>
                <a:latin typeface="Arial"/>
              </a:rPr>
              <a:t>•  </a:t>
            </a:r>
            <a:r>
              <a:rPr sz="1400">
                <a:solidFill>
                  <a:srgbClr val="161B26"/>
                </a:solidFill>
                <a:latin typeface="Arial"/>
              </a:rPr>
              <a:t>docker run / build / ps</a:t>
            </a:r>
          </a:p>
          <a:p>
            <a:pPr>
              <a:spcBef>
                <a:spcPts val="0"/>
              </a:spcBef>
              <a:spcAft>
                <a:spcPts val="900"/>
              </a:spcAft>
            </a:pPr>
            <a:r>
              <a:rPr sz="1400" b="1">
                <a:solidFill>
                  <a:srgbClr val="1F6FEB"/>
                </a:solidFill>
                <a:latin typeface="Arial"/>
              </a:rPr>
              <a:t>•  </a:t>
            </a:r>
            <a:r>
              <a:rPr sz="1400">
                <a:solidFill>
                  <a:srgbClr val="161B26"/>
                </a:solidFill>
                <a:latin typeface="Arial"/>
              </a:rPr>
              <a:t>Talks to the daemon</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Docker Daemon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Runs on the host</a:t>
            </a:r>
          </a:p>
          <a:p>
            <a:pPr>
              <a:spcBef>
                <a:spcPts val="0"/>
              </a:spcBef>
              <a:spcAft>
                <a:spcPts val="900"/>
              </a:spcAft>
            </a:pPr>
            <a:r>
              <a:rPr sz="1400" b="1">
                <a:solidFill>
                  <a:srgbClr val="10B981"/>
                </a:solidFill>
                <a:latin typeface="Arial"/>
              </a:rPr>
              <a:t>•  </a:t>
            </a:r>
            <a:r>
              <a:rPr sz="1400">
                <a:solidFill>
                  <a:srgbClr val="161B26"/>
                </a:solidFill>
                <a:latin typeface="Arial"/>
              </a:rPr>
              <a:t>Manages images &amp; containers</a:t>
            </a:r>
          </a:p>
          <a:p>
            <a:pPr>
              <a:spcBef>
                <a:spcPts val="0"/>
              </a:spcBef>
              <a:spcAft>
                <a:spcPts val="900"/>
              </a:spcAft>
            </a:pPr>
            <a:r>
              <a:rPr sz="1400" b="1">
                <a:solidFill>
                  <a:srgbClr val="10B981"/>
                </a:solidFill>
                <a:latin typeface="Arial"/>
              </a:rPr>
              <a:t>•  </a:t>
            </a:r>
            <a:r>
              <a:rPr sz="1400">
                <a:solidFill>
                  <a:srgbClr val="161B26"/>
                </a:solidFill>
                <a:latin typeface="Arial"/>
              </a:rPr>
              <a:t>Networks &amp; volumes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Registry</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&amp; shares images</a:t>
            </a:r>
          </a:p>
          <a:p>
            <a:pPr>
              <a:spcBef>
                <a:spcPts val="0"/>
              </a:spcBef>
              <a:spcAft>
                <a:spcPts val="900"/>
              </a:spcAft>
            </a:pPr>
            <a:r>
              <a:rPr sz="1400" b="1">
                <a:solidFill>
                  <a:srgbClr val="7C3AED"/>
                </a:solidFill>
                <a:latin typeface="Arial"/>
              </a:rPr>
              <a:t>•  </a:t>
            </a:r>
            <a:r>
              <a:rPr sz="1400">
                <a:solidFill>
                  <a:srgbClr val="161B26"/>
                </a:solidFill>
                <a:latin typeface="Arial"/>
              </a:rPr>
              <a:t>Docker Hub = default</a:t>
            </a:r>
          </a:p>
          <a:p>
            <a:pPr>
              <a:spcBef>
                <a:spcPts val="0"/>
              </a:spcBef>
              <a:spcAft>
                <a:spcPts val="900"/>
              </a:spcAft>
            </a:pPr>
            <a:r>
              <a:rPr sz="1400" b="1">
                <a:solidFill>
                  <a:srgbClr val="7C3AED"/>
                </a:solidFill>
                <a:latin typeface="Arial"/>
              </a:rPr>
              <a:t>•  </a:t>
            </a:r>
            <a:r>
              <a:rPr sz="1400">
                <a:solidFill>
                  <a:srgbClr val="161B26"/>
                </a:solidFill>
                <a:latin typeface="Arial"/>
              </a:rPr>
              <a:t>pull / push images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CLI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 Docker Commands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 — create and start a container from an image.</a:t>
            </a:r>
          </a:p>
          <a:p>
            <a:pPr>
              <a:spcBef>
                <a:spcPts val="0"/>
              </a:spcBef>
              <a:spcAft>
                <a:spcPts val="1000"/>
              </a:spcAft>
            </a:pPr>
            <a:r>
              <a:rPr sz="1900" b="1">
                <a:solidFill>
                  <a:srgbClr val="1F6FEB"/>
                </a:solidFill>
                <a:latin typeface="Arial"/>
              </a:rPr>
              <a:t>•  </a:t>
            </a:r>
            <a:r>
              <a:rPr sz="1900">
                <a:solidFill>
                  <a:srgbClr val="161B26"/>
                </a:solidFill>
                <a:latin typeface="Arial"/>
              </a:rPr>
              <a:t>docker ps / ps -a — list running / all containers.</a:t>
            </a:r>
          </a:p>
          <a:p>
            <a:pPr>
              <a:spcBef>
                <a:spcPts val="0"/>
              </a:spcBef>
              <a:spcAft>
                <a:spcPts val="1000"/>
              </a:spcAft>
            </a:pPr>
            <a:r>
              <a:rPr sz="1900" b="1">
                <a:solidFill>
                  <a:srgbClr val="1F6FEB"/>
                </a:solidFill>
                <a:latin typeface="Arial"/>
              </a:rPr>
              <a:t>•  </a:t>
            </a:r>
            <a:r>
              <a:rPr sz="1900">
                <a:solidFill>
                  <a:srgbClr val="161B26"/>
                </a:solidFill>
                <a:latin typeface="Arial"/>
              </a:rPr>
              <a:t>docker logs / exec — read logs / run a command inside a container.</a:t>
            </a:r>
          </a:p>
          <a:p>
            <a:pPr>
              <a:spcBef>
                <a:spcPts val="0"/>
              </a:spcBef>
              <a:spcAft>
                <a:spcPts val="1000"/>
              </a:spcAft>
            </a:pPr>
            <a:r>
              <a:rPr sz="1900" b="1">
                <a:solidFill>
                  <a:srgbClr val="1F6FEB"/>
                </a:solidFill>
                <a:latin typeface="Arial"/>
              </a:rPr>
              <a:t>•  </a:t>
            </a:r>
            <a:r>
              <a:rPr sz="1900">
                <a:solidFill>
                  <a:srgbClr val="161B26"/>
                </a:solidFill>
                <a:latin typeface="Arial"/>
              </a:rPr>
              <a:t>docker stop / rm — stop / delete a container; docker images — list images.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Get comfortable with the core Docker commands by running a real web server (nginx) and managing its whole lifecycle: start it, list it, read its logs, run a command inside it, then stop and remove it.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and manage an nginx web server with docker run / ps / logs / exec / stop / rm.</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docker logs · docker stop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Run a web server in the background</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web -p 8080:80 nginx:latest</a:t>
            </a:r>
          </a:p>
          <a:p>
            <a:pPr>
              <a:spcBef>
                <a:spcPts val="0"/>
              </a:spcBef>
              <a:spcAft>
                <a:spcPts val="0"/>
              </a:spcAft>
            </a:pPr>
            <a:r>
              <a:rPr sz="1050">
                <a:solidFill>
                  <a:srgbClr val="161B26"/>
                </a:solidFill>
                <a:latin typeface="Consolas"/>
              </a:rPr>
              <a:t>docker ps                      # the container is running</a:t>
            </a:r>
          </a:p>
          <a:p>
            <a:pPr>
              <a:spcBef>
                <a:spcPts val="0"/>
              </a:spcBef>
              <a:spcAft>
                <a:spcPts val="0"/>
              </a:spcAft>
            </a:pPr>
            <a:r>
              <a:rPr sz="1050">
                <a:solidFill>
                  <a:srgbClr val="161B26"/>
                </a:solidFill>
                <a:latin typeface="Consolas"/>
              </a:rPr>
              <a:t>curl http://localhost:8080     # nginx serves its welcome page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Inspect a running container</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logs web</a:t>
            </a:r>
          </a:p>
          <a:p>
            <a:pPr>
              <a:spcBef>
                <a:spcPts val="0"/>
              </a:spcBef>
              <a:spcAft>
                <a:spcPts val="0"/>
              </a:spcAft>
            </a:pPr>
            <a:r>
              <a:rPr sz="1050">
                <a:solidFill>
                  <a:srgbClr val="161B26"/>
                </a:solidFill>
                <a:latin typeface="Consolas"/>
              </a:rPr>
              <a:t>docker exec web cat /etc/hostname</a:t>
            </a:r>
          </a:p>
          <a:p>
            <a:pPr>
              <a:spcBef>
                <a:spcPts val="0"/>
              </a:spcBef>
              <a:spcAft>
                <a:spcPts val="0"/>
              </a:spcAft>
            </a:pPr>
            <a:r>
              <a:rPr sz="1050">
                <a:solidFill>
                  <a:srgbClr val="161B26"/>
                </a:solidFill>
                <a:latin typeface="Consolas"/>
              </a:rPr>
              <a:t>docker exec -it web /bin/bash   # open an interactive shell, then 'exit'</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Stop, restart and clean up</a:t>
            </a:r>
          </a:p>
        </p:txBody>
      </p:sp>
      <p:sp>
        <p:nvSpPr>
          <p:cNvPr id="16" name="Rounded Rectangle 15"/>
          <p:cNvSpPr/>
          <p:nvPr/>
        </p:nvSpPr>
        <p:spPr>
          <a:xfrm>
            <a:off x="777240" y="462686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stop web</a:t>
            </a:r>
          </a:p>
          <a:p>
            <a:pPr>
              <a:spcBef>
                <a:spcPts val="0"/>
              </a:spcBef>
              <a:spcAft>
                <a:spcPts val="0"/>
              </a:spcAft>
            </a:pPr>
            <a:r>
              <a:rPr sz="1050">
                <a:solidFill>
                  <a:srgbClr val="161B26"/>
                </a:solidFill>
                <a:latin typeface="Consolas"/>
              </a:rPr>
              <a:t>docker ps -a                    # shows stopped containers too</a:t>
            </a:r>
          </a:p>
          <a:p>
            <a:pPr>
              <a:spcBef>
                <a:spcPts val="0"/>
              </a:spcBef>
              <a:spcAft>
                <a:spcPts val="0"/>
              </a:spcAft>
            </a:pPr>
            <a:r>
              <a:rPr sz="1050">
                <a:solidFill>
                  <a:srgbClr val="161B26"/>
                </a:solidFill>
                <a:latin typeface="Consolas"/>
              </a:rPr>
              <a:t>docker start web</a:t>
            </a:r>
          </a:p>
          <a:p>
            <a:pPr>
              <a:spcBef>
                <a:spcPts val="0"/>
              </a:spcBef>
              <a:spcAft>
                <a:spcPts val="0"/>
              </a:spcAft>
            </a:pPr>
            <a:r>
              <a:rPr sz="1050">
                <a:solidFill>
                  <a:srgbClr val="161B26"/>
                </a:solidFill>
                <a:latin typeface="Consolas"/>
              </a:rPr>
              <a:t>docker rm -f web                # force-remove (stops if running)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ps lists only running containers; docker ps -a lists all containers including stopped ones.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http://localhost:8080 and confirm the nginx welcome page loads while the container is running, and that docker ps no longer lists web after docker rm -f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Work with images and look inside containers. You will pull images, copy a file out of a running container with docker cp, and inspect container details.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Pull images, copy a served file out of nginx with docker cp, and inspect a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pull · docker cp · docker inspect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Work with images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pull nginx:latest</a:t>
            </a:r>
          </a:p>
          <a:p>
            <a:pPr>
              <a:spcBef>
                <a:spcPts val="0"/>
              </a:spcBef>
              <a:spcAft>
                <a:spcPts val="0"/>
              </a:spcAft>
            </a:pPr>
            <a:r>
              <a:rPr sz="1050">
                <a:solidFill>
                  <a:srgbClr val="161B26"/>
                </a:solidFill>
                <a:latin typeface="Consolas"/>
              </a:rPr>
              <a:t>docker images                  # list local images</a:t>
            </a:r>
          </a:p>
          <a:p>
            <a:pPr>
              <a:spcBef>
                <a:spcPts val="0"/>
              </a:spcBef>
              <a:spcAft>
                <a:spcPts val="0"/>
              </a:spcAft>
            </a:pPr>
            <a:r>
              <a:rPr sz="1050">
                <a:solidFill>
                  <a:srgbClr val="161B26"/>
                </a:solidFill>
                <a:latin typeface="Consolas"/>
              </a:rPr>
              <a:t>docker run -d --name web -p 8080:80 nginx:latest</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Copy a file out of the container (docker cp)</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cp web:/usr/share/nginx/html/index.html ./index.html</a:t>
            </a:r>
          </a:p>
          <a:p>
            <a:pPr>
              <a:spcBef>
                <a:spcPts val="0"/>
              </a:spcBef>
              <a:spcAft>
                <a:spcPts val="0"/>
              </a:spcAft>
            </a:pPr>
            <a:r>
              <a:rPr sz="1050">
                <a:solidFill>
                  <a:srgbClr val="161B26"/>
                </a:solidFill>
                <a:latin typeface="Consolas"/>
              </a:rPr>
              <a:t>echo '&lt;h1&gt;Hello from TaskBoard class!&lt;/h1&gt;' &gt; index.html</a:t>
            </a:r>
          </a:p>
          <a:p>
            <a:pPr>
              <a:spcBef>
                <a:spcPts val="0"/>
              </a:spcBef>
              <a:spcAft>
                <a:spcPts val="0"/>
              </a:spcAft>
            </a:pPr>
            <a:r>
              <a:rPr sz="1050">
                <a:solidFill>
                  <a:srgbClr val="161B26"/>
                </a:solidFill>
                <a:latin typeface="Consolas"/>
              </a:rPr>
              <a:t>docker cp ./index.html web:/usr/share/nginx/html/index.html</a:t>
            </a:r>
          </a:p>
          <a:p>
            <a:pPr>
              <a:spcBef>
                <a:spcPts val="0"/>
              </a:spcBef>
              <a:spcAft>
                <a:spcPts val="0"/>
              </a:spcAft>
            </a:pPr>
            <a:r>
              <a:rPr sz="1050">
                <a:solidFill>
                  <a:srgbClr val="161B26"/>
                </a:solidFill>
                <a:latin typeface="Consolas"/>
              </a:rPr>
              <a:t>curl http://localhost:8080     # shows your new page</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Inspect the container</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inspect web | grep -i ipaddress</a:t>
            </a:r>
          </a:p>
          <a:p>
            <a:pPr>
              <a:spcBef>
                <a:spcPts val="0"/>
              </a:spcBef>
              <a:spcAft>
                <a:spcPts val="0"/>
              </a:spcAft>
            </a:pPr>
            <a:r>
              <a:rPr sz="1050">
                <a:solidFill>
                  <a:srgbClr val="161B26"/>
                </a:solidFill>
                <a:latin typeface="Consolas"/>
              </a:rPr>
              <a:t>docker stats --no-stream web   # CPU / memory snapshot</a:t>
            </a:r>
          </a:p>
          <a:p>
            <a:pPr>
              <a:spcBef>
                <a:spcPts val="0"/>
              </a:spcBef>
              <a:spcAft>
                <a:spcPts val="0"/>
              </a:spcAft>
            </a:pPr>
            <a:r>
              <a:rPr sz="1050">
                <a:solidFill>
                  <a:srgbClr val="161B26"/>
                </a:solidFill>
                <a:latin typeface="Consolas"/>
              </a:rPr>
              <a:t>docker rm -f web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cp copies files between a container and the host in either direction — handy for grabbing logs or config out of a running container.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copying the edited file back, curl http://localhost:8080 should show your custom heading instead of the default nginx page.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Dockerfile &amp; Build</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Build your own images — layers, cache, CMD vs ENTRYPOINT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BUILDING IMAGES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text recipe of instructions Docker runs to build an image automatically.</a:t>
            </a:r>
          </a:p>
          <a:p>
            <a:pPr>
              <a:spcBef>
                <a:spcPts val="0"/>
              </a:spcBef>
              <a:spcAft>
                <a:spcPts val="1000"/>
              </a:spcAft>
            </a:pPr>
            <a:r>
              <a:rPr sz="1900" b="1">
                <a:solidFill>
                  <a:srgbClr val="1F6FEB"/>
                </a:solidFill>
                <a:latin typeface="Arial"/>
              </a:rPr>
              <a:t>•  </a:t>
            </a:r>
            <a:r>
              <a:rPr sz="1900">
                <a:solidFill>
                  <a:srgbClr val="161B26"/>
                </a:solidFill>
                <a:latin typeface="Arial"/>
              </a:rPr>
              <a:t>FROM (base image) · WORKDIR · COPY · RUN · EXPOSE · ENV · CMD / ENTRYPOINT.</a:t>
            </a:r>
          </a:p>
          <a:p>
            <a:pPr>
              <a:spcBef>
                <a:spcPts val="0"/>
              </a:spcBef>
              <a:spcAft>
                <a:spcPts val="1000"/>
              </a:spcAft>
            </a:pPr>
            <a:r>
              <a:rPr sz="1900" b="1">
                <a:solidFill>
                  <a:srgbClr val="1F6FEB"/>
                </a:solidFill>
                <a:latin typeface="Arial"/>
              </a:rPr>
              <a:t>•  </a:t>
            </a:r>
            <a:r>
              <a:rPr sz="1900">
                <a:solidFill>
                  <a:srgbClr val="161B26"/>
                </a:solidFill>
                <a:latin typeface="Arial"/>
              </a:rPr>
              <a:t>Each instruction creates a cached layer — unchanged layers are reused.</a:t>
            </a:r>
          </a:p>
          <a:p>
            <a:pPr>
              <a:spcBef>
                <a:spcPts val="0"/>
              </a:spcBef>
              <a:spcAft>
                <a:spcPts val="1000"/>
              </a:spcAft>
            </a:pPr>
            <a:r>
              <a:rPr sz="1900" b="1">
                <a:solidFill>
                  <a:srgbClr val="1F6FEB"/>
                </a:solidFill>
                <a:latin typeface="Arial"/>
              </a:rPr>
              <a:t>•  </a:t>
            </a:r>
            <a:r>
              <a:rPr sz="1900">
                <a:solidFill>
                  <a:srgbClr val="161B26"/>
                </a:solidFill>
                <a:latin typeface="Arial"/>
              </a:rPr>
              <a:t>Order matters: put rarely-changing steps (dependencies) before source code.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LAYERS &amp;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 Layers &amp; Build Cache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image is a stack of layers; each instruction adds one.</a:t>
            </a:r>
          </a:p>
          <a:p>
            <a:pPr>
              <a:spcBef>
                <a:spcPts val="0"/>
              </a:spcBef>
              <a:spcAft>
                <a:spcPts val="1000"/>
              </a:spcAft>
            </a:pPr>
            <a:r>
              <a:rPr sz="1900" b="1">
                <a:solidFill>
                  <a:srgbClr val="1F6FEB"/>
                </a:solidFill>
                <a:latin typeface="Arial"/>
              </a:rPr>
              <a:t>•  </a:t>
            </a:r>
            <a:r>
              <a:rPr sz="1900">
                <a:solidFill>
                  <a:srgbClr val="161B26"/>
                </a:solidFill>
                <a:latin typeface="Arial"/>
              </a:rPr>
              <a:t>If a layer is unchanged, Docker reuses it from cache — fast rebuilds.</a:t>
            </a:r>
          </a:p>
          <a:p>
            <a:pPr>
              <a:spcBef>
                <a:spcPts val="0"/>
              </a:spcBef>
              <a:spcAft>
                <a:spcPts val="1000"/>
              </a:spcAft>
            </a:pPr>
            <a:r>
              <a:rPr sz="1900" b="1">
                <a:solidFill>
                  <a:srgbClr val="1F6FEB"/>
                </a:solidFill>
                <a:latin typeface="Arial"/>
              </a:rPr>
              <a:t>•  </a:t>
            </a:r>
            <a:r>
              <a:rPr sz="1900">
                <a:solidFill>
                  <a:srgbClr val="161B26"/>
                </a:solidFill>
                <a:latin typeface="Arial"/>
              </a:rPr>
              <a:t>COPY requirements.txt + RUN pip install BEFORE COPY . . keeps deps cached.</a:t>
            </a:r>
          </a:p>
          <a:p>
            <a:pPr>
              <a:spcBef>
                <a:spcPts val="0"/>
              </a:spcBef>
              <a:spcAft>
                <a:spcPts val="1000"/>
              </a:spcAft>
            </a:pPr>
            <a:r>
              <a:rPr sz="1900" b="1">
                <a:solidFill>
                  <a:srgbClr val="1F6FEB"/>
                </a:solidFill>
                <a:latin typeface="Arial"/>
              </a:rPr>
              <a:t>•  </a:t>
            </a:r>
            <a:r>
              <a:rPr sz="1900">
                <a:solidFill>
                  <a:srgbClr val="161B26"/>
                </a:solidFill>
                <a:latin typeface="Arial"/>
              </a:rPr>
              <a:t>A .dockerignore keeps junk (.git, caches) out of the build context.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INSTRUCTIONS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CMD</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ENTRYPOINT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Default command — overridable</a:t>
            </a:r>
          </a:p>
          <a:p>
            <a:pPr>
              <a:spcBef>
                <a:spcPts val="0"/>
              </a:spcBef>
              <a:spcAft>
                <a:spcPts val="1000"/>
              </a:spcAft>
            </a:pPr>
            <a:r>
              <a:rPr sz="1600" b="1">
                <a:solidFill>
                  <a:srgbClr val="1F6FEB"/>
                </a:solidFill>
                <a:latin typeface="Arial"/>
              </a:rPr>
              <a:t>•  </a:t>
            </a:r>
            <a:r>
              <a:rPr sz="1600">
                <a:solidFill>
                  <a:srgbClr val="161B26"/>
                </a:solidFill>
                <a:latin typeface="Arial"/>
              </a:rPr>
              <a:t>CMD ["python","app.py"]</a:t>
            </a:r>
          </a:p>
          <a:p>
            <a:pPr>
              <a:spcBef>
                <a:spcPts val="0"/>
              </a:spcBef>
              <a:spcAft>
                <a:spcPts val="1000"/>
              </a:spcAft>
            </a:pPr>
            <a:r>
              <a:rPr sz="1600" b="1">
                <a:solidFill>
                  <a:srgbClr val="1F6FEB"/>
                </a:solidFill>
                <a:latin typeface="Arial"/>
              </a:rPr>
              <a:t>•  </a:t>
            </a:r>
            <a:r>
              <a:rPr sz="1600">
                <a:solidFill>
                  <a:srgbClr val="161B26"/>
                </a:solidFill>
                <a:latin typeface="Arial"/>
              </a:rPr>
              <a:t>Override: docker run img bash</a:t>
            </a:r>
          </a:p>
          <a:p>
            <a:pPr>
              <a:spcBef>
                <a:spcPts val="0"/>
              </a:spcBef>
              <a:spcAft>
                <a:spcPts val="1000"/>
              </a:spcAft>
            </a:pPr>
            <a:r>
              <a:rPr sz="1600" b="1">
                <a:solidFill>
                  <a:srgbClr val="1F6FEB"/>
                </a:solidFill>
                <a:latin typeface="Arial"/>
              </a:rPr>
              <a:t>•  </a:t>
            </a:r>
            <a:r>
              <a:rPr sz="1600">
                <a:solidFill>
                  <a:srgbClr val="161B26"/>
                </a:solidFill>
                <a:latin typeface="Arial"/>
              </a:rPr>
              <a:t>Use for a replaceable default</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Fixed executable — args appended</a:t>
            </a:r>
          </a:p>
          <a:p>
            <a:pPr>
              <a:spcBef>
                <a:spcPts val="0"/>
              </a:spcBef>
              <a:spcAft>
                <a:spcPts val="1000"/>
              </a:spcAft>
            </a:pPr>
            <a:r>
              <a:rPr sz="1600" b="1">
                <a:solidFill>
                  <a:srgbClr val="10B981"/>
                </a:solidFill>
                <a:latin typeface="Arial"/>
              </a:rPr>
              <a:t>•  </a:t>
            </a:r>
            <a:r>
              <a:rPr sz="1600">
                <a:solidFill>
                  <a:srgbClr val="161B26"/>
                </a:solidFill>
                <a:latin typeface="Arial"/>
              </a:rPr>
              <a:t>ENTRYPOINT ["python","cli.py"]</a:t>
            </a:r>
          </a:p>
          <a:p>
            <a:pPr>
              <a:spcBef>
                <a:spcPts val="0"/>
              </a:spcBef>
              <a:spcAft>
                <a:spcPts val="1000"/>
              </a:spcAft>
            </a:pPr>
            <a:r>
              <a:rPr sz="1600" b="1">
                <a:solidFill>
                  <a:srgbClr val="10B981"/>
                </a:solidFill>
                <a:latin typeface="Arial"/>
              </a:rPr>
              <a:t>•  </a:t>
            </a:r>
            <a:r>
              <a:rPr sz="1600">
                <a:solidFill>
                  <a:srgbClr val="161B26"/>
                </a:solidFill>
                <a:latin typeface="Arial"/>
              </a:rPr>
              <a:t>CMD ["list"]  → default arg</a:t>
            </a:r>
          </a:p>
          <a:p>
            <a:pPr>
              <a:spcBef>
                <a:spcPts val="0"/>
              </a:spcBef>
              <a:spcAft>
                <a:spcPts val="1000"/>
              </a:spcAft>
            </a:pPr>
            <a:r>
              <a:rPr sz="1600" b="1">
                <a:solidFill>
                  <a:srgbClr val="10B981"/>
                </a:solidFill>
                <a:latin typeface="Arial"/>
              </a:rPr>
              <a:t>•  </a:t>
            </a:r>
            <a:r>
              <a:rPr sz="1600">
                <a:solidFill>
                  <a:srgbClr val="161B26"/>
                </a:solidFill>
                <a:latin typeface="Arial"/>
              </a:rPr>
              <a:t>Use when the image IS a tool</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Build / Dockerfile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Package a real application — the TaskBoard Flask web app — into your own Docker image using a Dockerfile, then run it as a container. This image is reused by several later labs.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Write a Dockerfile for the TaskBoard Flask app, build it, and run the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Tag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What's in the folder</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a:p>
            <a:pPr>
              <a:spcBef>
                <a:spcPts val="0"/>
              </a:spcBef>
              <a:spcAft>
                <a:spcPts val="0"/>
              </a:spcAft>
            </a:pPr>
            <a:r>
              <a:rPr sz="1050">
                <a:solidFill>
                  <a:srgbClr val="161B26"/>
                </a:solidFill>
                <a:latin typeface="Consolas"/>
              </a:rPr>
              <a:t>EXPOSE 5000</a:t>
            </a:r>
          </a:p>
          <a:p>
            <a:pPr>
              <a:spcBef>
                <a:spcPts val="0"/>
              </a:spcBef>
              <a:spcAft>
                <a:spcPts val="0"/>
              </a:spcAft>
            </a:pPr>
            <a:r>
              <a:rPr sz="1050">
                <a:solidFill>
                  <a:srgbClr val="161B26"/>
                </a:solidFill>
                <a:latin typeface="Consolas"/>
              </a:rPr>
              <a:t>CMD ["python", "app.py"]</a:t>
            </a:r>
          </a:p>
        </p:txBody>
      </p:sp>
      <p:sp>
        <p:nvSpPr>
          <p:cNvPr id="11" name="TextBox 10"/>
          <p:cNvSpPr txBox="1"/>
          <p:nvPr/>
        </p:nvSpPr>
        <p:spPr>
          <a:xfrm>
            <a:off x="777240" y="371703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the image</a:t>
            </a:r>
          </a:p>
        </p:txBody>
      </p:sp>
      <p:sp>
        <p:nvSpPr>
          <p:cNvPr id="12" name="Rounded Rectangle 11"/>
          <p:cNvSpPr/>
          <p:nvPr/>
        </p:nvSpPr>
        <p:spPr>
          <a:xfrm>
            <a:off x="777240" y="410108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10108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16509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images | grep taskboard</a:t>
            </a:r>
          </a:p>
        </p:txBody>
      </p:sp>
      <p:sp>
        <p:nvSpPr>
          <p:cNvPr id="15" name="TextBox 14"/>
          <p:cNvSpPr txBox="1"/>
          <p:nvPr/>
        </p:nvSpPr>
        <p:spPr>
          <a:xfrm>
            <a:off x="777240" y="480517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container</a:t>
            </a:r>
          </a:p>
        </p:txBody>
      </p:sp>
      <p:sp>
        <p:nvSpPr>
          <p:cNvPr id="16" name="Rounded Rectangle 15"/>
          <p:cNvSpPr/>
          <p:nvPr/>
        </p:nvSpPr>
        <p:spPr>
          <a:xfrm>
            <a:off x="777240" y="518921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taskboard -p 8080:5000 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 open http://localhost:8080 and add a few tasks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Watch the build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rm -f taskboard</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Tag images with a name and version (taskboard:1.0) so you can roll forward/back later — exactly what you'll do in the Kubernetes rollout lab.</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http://localhost:8080/health returns {"status": "ok", ...} and the board at http://localhost:8080 lets you add a task that appears in the list.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Dockerfile best practices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the TaskBoard image smaller and faster to build. You'll add a .dockerignore, order instructions for maximum cache reuse, and compare image sizes.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Add a .dockerignore and cache-friendly layer ordering to slim the TaskBoard 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__pycache__/ · COPY requirements.txt · docker build · » `python:3.11-slim`</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.dockerignore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__pycache__/</a:t>
            </a:r>
          </a:p>
          <a:p>
            <a:pPr>
              <a:spcBef>
                <a:spcPts val="0"/>
              </a:spcBef>
              <a:spcAft>
                <a:spcPts val="0"/>
              </a:spcAft>
            </a:pPr>
            <a:r>
              <a:rPr sz="1050">
                <a:solidFill>
                  <a:srgbClr val="161B26"/>
                </a:solidFill>
                <a:latin typeface="Consolas"/>
              </a:rPr>
              <a:t>*.pyc</a:t>
            </a:r>
          </a:p>
          <a:p>
            <a:pPr>
              <a:spcBef>
                <a:spcPts val="0"/>
              </a:spcBef>
              <a:spcAft>
                <a:spcPts val="0"/>
              </a:spcAft>
            </a:pPr>
            <a:r>
              <a:rPr sz="1050">
                <a:solidFill>
                  <a:srgbClr val="161B26"/>
                </a:solidFill>
                <a:latin typeface="Consolas"/>
              </a:rPr>
              <a:t>data/</a:t>
            </a:r>
          </a:p>
          <a:p>
            <a:pPr>
              <a:spcBef>
                <a:spcPts val="0"/>
              </a:spcBef>
              <a:spcAft>
                <a:spcPts val="0"/>
              </a:spcAft>
            </a:pPr>
            <a:r>
              <a:rPr sz="1050">
                <a:solidFill>
                  <a:srgbClr val="161B26"/>
                </a:solidFill>
                <a:latin typeface="Consolas"/>
              </a:rPr>
              <a:t>.git/</a:t>
            </a:r>
          </a:p>
          <a:p>
            <a:pPr>
              <a:spcBef>
                <a:spcPts val="0"/>
              </a:spcBef>
              <a:spcAft>
                <a:spcPts val="0"/>
              </a:spcAft>
            </a:pPr>
            <a:r>
              <a:rPr sz="1050">
                <a:solidFill>
                  <a:srgbClr val="161B26"/>
                </a:solidFill>
                <a:latin typeface="Consolas"/>
              </a:rPr>
              <a:t>.env</a:t>
            </a:r>
          </a:p>
          <a:p>
            <a:pPr>
              <a:spcBef>
                <a:spcPts val="0"/>
              </a:spcBef>
              <a:spcAft>
                <a:spcPts val="0"/>
              </a:spcAft>
            </a:pPr>
            <a:r>
              <a:rPr sz="1050">
                <a:solidFill>
                  <a:srgbClr val="161B26"/>
                </a:solidFill>
                <a:latin typeface="Consolas"/>
              </a:rPr>
              <a:t>*.md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Cache-friendly ordering</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and compare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taskboard:slim .</a:t>
            </a:r>
          </a:p>
          <a:p>
            <a:pPr>
              <a:spcBef>
                <a:spcPts val="0"/>
              </a:spcBef>
              <a:spcAft>
                <a:spcPts val="0"/>
              </a:spcAft>
            </a:pPr>
            <a:r>
              <a:rPr sz="1050">
                <a:solidFill>
                  <a:srgbClr val="161B26"/>
                </a:solidFill>
                <a:latin typeface="Consolas"/>
              </a:rPr>
              <a:t>docker images taskboard</a:t>
            </a:r>
          </a:p>
          <a:p>
            <a:pPr>
              <a:spcBef>
                <a:spcPts val="0"/>
              </a:spcBef>
              <a:spcAft>
                <a:spcPts val="0"/>
              </a:spcAft>
            </a:pPr>
            <a:r>
              <a:rPr sz="1050">
                <a:solidFill>
                  <a:srgbClr val="161B26"/>
                </a:solidFill>
                <a:latin typeface="Consolas"/>
              </a:rPr>
              <a:t># edit app.py, rebuild, and watch most layers say 'CACHED'</a:t>
            </a:r>
          </a:p>
          <a:p>
            <a:pPr>
              <a:spcBef>
                <a:spcPts val="0"/>
              </a:spcBef>
              <a:spcAft>
                <a:spcPts val="0"/>
              </a:spcAft>
            </a:pPr>
            <a:r>
              <a:rPr sz="1050">
                <a:solidFill>
                  <a:srgbClr val="161B26"/>
                </a:solidFill>
                <a:latin typeface="Consolas"/>
              </a:rPr>
              <a:t>docker build -t taskboard:slim .</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python:3.11-slim is already a smaller base than python:3.11. For even smaller images, multi-stage builds copy only the artifacts you need into a fresh final stage.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second docker build completes in seconds with most steps showing CACHED, and docker images taskboard shows the image built from the slim base.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CMD vs ENTRYPOINT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CMD vs ENTRYPOINT</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Understand the difference between CMD and ENTRYPOINT by packaging a real command-line tool — taskboard-cli — that lists and adds tasks. ENTRYPOINT fixes the program; CMD supplies the default arguments you can override at runtime.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Package taskboard-cli so ENTRYPOINT is fixed and CMD/args are overridable.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Dockerfile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cli.py .</a:t>
            </a:r>
          </a:p>
          <a:p>
            <a:pPr>
              <a:spcBef>
                <a:spcPts val="0"/>
              </a:spcBef>
              <a:spcAft>
                <a:spcPts val="0"/>
              </a:spcAft>
            </a:pPr>
            <a:r>
              <a:rPr sz="1050">
                <a:solidFill>
                  <a:srgbClr val="161B26"/>
                </a:solidFill>
                <a:latin typeface="Consolas"/>
              </a:rPr>
              <a:t># ENTRYPOINT fixes the executable; CMD is the default argument (overridable).</a:t>
            </a:r>
          </a:p>
          <a:p>
            <a:pPr>
              <a:spcBef>
                <a:spcPts val="0"/>
              </a:spcBef>
              <a:spcAft>
                <a:spcPts val="0"/>
              </a:spcAft>
            </a:pPr>
            <a:r>
              <a:rPr sz="1050">
                <a:solidFill>
                  <a:srgbClr val="161B26"/>
                </a:solidFill>
                <a:latin typeface="Consolas"/>
              </a:rPr>
              <a:t>ENTRYPOINT ["python", "cli.py"]</a:t>
            </a:r>
          </a:p>
          <a:p>
            <a:pPr>
              <a:spcBef>
                <a:spcPts val="0"/>
              </a:spcBef>
              <a:spcAft>
                <a:spcPts val="0"/>
              </a:spcAft>
            </a:pPr>
            <a:r>
              <a:rPr sz="1050">
                <a:solidFill>
                  <a:srgbClr val="161B26"/>
                </a:solidFill>
                <a:latin typeface="Consolas"/>
              </a:rPr>
              <a:t>CMD ["list"]</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it</a:t>
            </a:r>
          </a:p>
        </p:txBody>
      </p:sp>
      <p:sp>
        <p:nvSpPr>
          <p:cNvPr id="12" name="Rounded Rectangle 11"/>
          <p:cNvSpPr/>
          <p:nvPr/>
        </p:nvSpPr>
        <p:spPr>
          <a:xfrm>
            <a:off x="777240" y="3913632"/>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taskboard-cli .</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CMD is the default; run args override it</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--rm taskboard-cli                 # runs the default: list</a:t>
            </a:r>
          </a:p>
          <a:p>
            <a:pPr>
              <a:spcBef>
                <a:spcPts val="0"/>
              </a:spcBef>
              <a:spcAft>
                <a:spcPts val="0"/>
              </a:spcAft>
            </a:pPr>
            <a:r>
              <a:rPr sz="1050">
                <a:solidFill>
                  <a:srgbClr val="161B26"/>
                </a:solidFill>
                <a:latin typeface="Consolas"/>
              </a:rPr>
              <a:t>docker run --rm taskboard-cli add "Buy milk"   # overrides CMD with: add ...</a:t>
            </a:r>
          </a:p>
          <a:p>
            <a:pPr>
              <a:spcBef>
                <a:spcPts val="0"/>
              </a:spcBef>
              <a:spcAft>
                <a:spcPts val="0"/>
              </a:spcAft>
            </a:pPr>
            <a:r>
              <a:rPr sz="1050">
                <a:solidFill>
                  <a:srgbClr val="161B26"/>
                </a:solidFill>
                <a:latin typeface="Consolas"/>
              </a:rPr>
              <a:t>docker run --rm taskboard-cli add "Ship release"</a:t>
            </a:r>
          </a:p>
          <a:p>
            <a:pPr>
              <a:spcBef>
                <a:spcPts val="0"/>
              </a:spcBef>
              <a:spcAft>
                <a:spcPts val="0"/>
              </a:spcAft>
            </a:pPr>
            <a:r>
              <a:rPr sz="1050">
                <a:solidFill>
                  <a:srgbClr val="161B26"/>
                </a:solidFill>
                <a:latin typeface="Consolas"/>
              </a:rPr>
              <a:t>docker run --rm taskboard-cli list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Use ENTRYPOINT when the image *is* a specific tool and arguments vary (like our CLI). Use CMD alone when you want an easily replaceable default command. Both use the JSON *exec form* ["a","b"] to avoid an extra shell.</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run --rm taskboard-cli prints the task list, and docker run --rm taskboard-cli add "Demo" adds a task — the same image, different CMD arguments.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with volumes &amp; bind mounts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PERSISTENCE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Volumes?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Data written inside a container is lost when the container is removed.</a:t>
            </a:r>
          </a:p>
          <a:p>
            <a:pPr>
              <a:spcBef>
                <a:spcPts val="0"/>
              </a:spcBef>
              <a:spcAft>
                <a:spcPts val="1000"/>
              </a:spcAft>
            </a:pPr>
            <a:r>
              <a:rPr sz="1900" b="1">
                <a:solidFill>
                  <a:srgbClr val="1F6FEB"/>
                </a:solidFill>
                <a:latin typeface="Arial"/>
              </a:rPr>
              <a:t>•  </a:t>
            </a:r>
            <a:r>
              <a:rPr sz="1900">
                <a:solidFill>
                  <a:srgbClr val="161B26"/>
                </a:solidFill>
                <a:latin typeface="Arial"/>
              </a:rPr>
              <a:t>Named volumes — Docker-managed persistent storage; best for databases &amp; app data.</a:t>
            </a:r>
          </a:p>
          <a:p>
            <a:pPr>
              <a:spcBef>
                <a:spcPts val="0"/>
              </a:spcBef>
              <a:spcAft>
                <a:spcPts val="1000"/>
              </a:spcAft>
            </a:pPr>
            <a:r>
              <a:rPr sz="1900" b="1">
                <a:solidFill>
                  <a:srgbClr val="1F6FEB"/>
                </a:solidFill>
                <a:latin typeface="Arial"/>
              </a:rPr>
              <a:t>•  </a:t>
            </a:r>
            <a:r>
              <a:rPr sz="1900">
                <a:solidFill>
                  <a:srgbClr val="161B26"/>
                </a:solidFill>
                <a:latin typeface="Arial"/>
              </a:rPr>
              <a:t>Bind mounts — map an exact host folder in; best for live code editing in dev.</a:t>
            </a:r>
          </a:p>
          <a:p>
            <a:pPr>
              <a:spcBef>
                <a:spcPts val="0"/>
              </a:spcBef>
              <a:spcAft>
                <a:spcPts val="1000"/>
              </a:spcAft>
            </a:pPr>
            <a:r>
              <a:rPr sz="1900" b="1">
                <a:solidFill>
                  <a:srgbClr val="1F6FEB"/>
                </a:solidFill>
                <a:latin typeface="Arial"/>
              </a:rPr>
              <a:t>•  </a:t>
            </a:r>
            <a:r>
              <a:rPr sz="1900">
                <a:solidFill>
                  <a:srgbClr val="161B26"/>
                </a:solidFill>
                <a:latin typeface="Arial"/>
              </a:rPr>
              <a:t>Mount with -v name:/path (volume) or -v $(pwd)/dir:/path (bind mount).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Volumes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TaskBoard's data survive container removal. You'll persist its tasks.json in a named volume, prove the data outlives the container, then use a bind mount to edit files on the host and see them live in the container.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Persist TaskBoard tasks in a named volume; live-edit host files via a bind mount.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volume · docker run · mkdir -p · » Named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Named volume (persistent app data)</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volume create taskboard-data</a:t>
            </a:r>
          </a:p>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 add a few tasks at http://localhost:8080, then:</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Start a brand-new container on the same volume — your tasks are still there:</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tb2 -p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curl http://localhost:8080/api/tasks   # the tasks you added are back</a:t>
            </a:r>
          </a:p>
          <a:p>
            <a:pPr>
              <a:spcBef>
                <a:spcPts val="0"/>
              </a:spcBef>
              <a:spcAft>
                <a:spcPts val="0"/>
              </a:spcAft>
            </a:pPr>
            <a:r>
              <a:rPr sz="1050">
                <a:solidFill>
                  <a:srgbClr val="161B26"/>
                </a:solidFill>
                <a:latin typeface="Consolas"/>
              </a:rPr>
              <a:t>docker rm -f tb2</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Bind mount (live host files)</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data &amp;&amp; echo '[]' &gt; data/tasks.json</a:t>
            </a:r>
          </a:p>
          <a:p>
            <a:pPr>
              <a:spcBef>
                <a:spcPts val="0"/>
              </a:spcBef>
              <a:spcAft>
                <a:spcPts val="0"/>
              </a:spcAft>
            </a:pPr>
            <a:r>
              <a:rPr sz="1050">
                <a:solidFill>
                  <a:srgbClr val="161B26"/>
                </a:solidFill>
                <a:latin typeface="Consolas"/>
              </a:rPr>
              <a:t>docker run -d --name tb3 -p 8080:5000 \</a:t>
            </a:r>
          </a:p>
          <a:p>
            <a:pPr>
              <a:spcBef>
                <a:spcPts val="0"/>
              </a:spcBef>
              <a:spcAft>
                <a:spcPts val="0"/>
              </a:spcAft>
            </a:pPr>
            <a:r>
              <a:rPr sz="1050">
                <a:solidFill>
                  <a:srgbClr val="161B26"/>
                </a:solidFill>
                <a:latin typeface="Consolas"/>
              </a:rPr>
              <a:t>  -e DATA_DIR=/data -v $(pwd)/data:/data taskboard:1.0</a:t>
            </a:r>
          </a:p>
          <a:p>
            <a:pPr>
              <a:spcBef>
                <a:spcPts val="0"/>
              </a:spcBef>
              <a:spcAft>
                <a:spcPts val="0"/>
              </a:spcAft>
            </a:pPr>
            <a:r>
              <a:rPr sz="1050">
                <a:solidFill>
                  <a:srgbClr val="161B26"/>
                </a:solidFill>
                <a:latin typeface="Consolas"/>
              </a:rPr>
              <a:t># add tasks in the browser, then read them straight off the host:</a:t>
            </a:r>
          </a:p>
          <a:p>
            <a:pPr>
              <a:spcBef>
                <a:spcPts val="0"/>
              </a:spcBef>
              <a:spcAft>
                <a:spcPts val="0"/>
              </a:spcAft>
            </a:pPr>
            <a:r>
              <a:rPr sz="1050">
                <a:solidFill>
                  <a:srgbClr val="161B26"/>
                </a:solidFill>
                <a:latin typeface="Consolas"/>
              </a:rPr>
              <a:t>cat data/tasks.json</a:t>
            </a:r>
          </a:p>
          <a:p>
            <a:pPr>
              <a:spcBef>
                <a:spcPts val="0"/>
              </a:spcBef>
              <a:spcAft>
                <a:spcPts val="0"/>
              </a:spcAft>
            </a:pPr>
            <a:r>
              <a:rPr sz="1050">
                <a:solidFill>
                  <a:srgbClr val="161B26"/>
                </a:solidFill>
                <a:latin typeface="Consolas"/>
              </a:rPr>
              <a:t>docker rm -f tb3</a:t>
            </a:r>
          </a:p>
        </p:txBody>
      </p:sp>
      <p:sp>
        <p:nvSpPr>
          <p:cNvPr id="11" name="TextBox 10"/>
          <p:cNvSpPr txBox="1"/>
          <p:nvPr/>
        </p:nvSpPr>
        <p:spPr>
          <a:xfrm>
            <a:off x="777240" y="352958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Named volumes are stored under Docker (/var/lib/docker/volumes) and are the right choice for databases; bind mounts tie you to an exact host path but are perfect for editing code live.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removing tb and starting tb2 on the same named volume, curl http://localhost:8080/api/tasks returns the tasks you added earlier — they survived container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https://killercoda.com/tertiary-labs/course/killercoda/day1-02-docker-storage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Networking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Custom bridge networks, DNS &amp; port mapping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CONNECTING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Networking Concepts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Default bridge: containers reach each other only by IP (which changes).</a:t>
            </a:r>
          </a:p>
          <a:p>
            <a:pPr>
              <a:spcBef>
                <a:spcPts val="0"/>
              </a:spcBef>
              <a:spcAft>
                <a:spcPts val="1000"/>
              </a:spcAft>
            </a:pPr>
            <a:r>
              <a:rPr sz="1900" b="1">
                <a:solidFill>
                  <a:srgbClr val="1F6FEB"/>
                </a:solidFill>
                <a:latin typeface="Arial"/>
              </a:rPr>
              <a:t>•  </a:t>
            </a:r>
            <a:r>
              <a:rPr sz="1900">
                <a:solidFill>
                  <a:srgbClr val="161B26"/>
                </a:solidFill>
                <a:latin typeface="Arial"/>
              </a:rPr>
              <a:t>Custom bridge: built-in DNS — containers reach each other by name.</a:t>
            </a:r>
          </a:p>
          <a:p>
            <a:pPr>
              <a:spcBef>
                <a:spcPts val="0"/>
              </a:spcBef>
              <a:spcAft>
                <a:spcPts val="1000"/>
              </a:spcAft>
            </a:pPr>
            <a:r>
              <a:rPr sz="1900" b="1">
                <a:solidFill>
                  <a:srgbClr val="1F6FEB"/>
                </a:solidFill>
                <a:latin typeface="Arial"/>
              </a:rPr>
              <a:t>•  </a:t>
            </a:r>
            <a:r>
              <a:rPr sz="1900">
                <a:solidFill>
                  <a:srgbClr val="161B26"/>
                </a:solidFill>
                <a:latin typeface="Arial"/>
              </a:rPr>
              <a:t>That's how a web app finds its database/cache: by container/service name.</a:t>
            </a:r>
          </a:p>
          <a:p>
            <a:pPr>
              <a:spcBef>
                <a:spcPts val="0"/>
              </a:spcBef>
              <a:spcAft>
                <a:spcPts val="1000"/>
              </a:spcAft>
            </a:pPr>
            <a:r>
              <a:rPr sz="1900" b="1">
                <a:solidFill>
                  <a:srgbClr val="1F6FEB"/>
                </a:solidFill>
                <a:latin typeface="Arial"/>
              </a:rPr>
              <a:t>•  </a:t>
            </a:r>
            <a:r>
              <a:rPr sz="1900">
                <a:solidFill>
                  <a:srgbClr val="161B26"/>
                </a:solidFill>
                <a:latin typeface="Arial"/>
              </a:rPr>
              <a:t>Port mapping (-p host:container) exposes a container to the host.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Connect two containers the way real apps do: TaskBoard reaching a Redis cache by name over a custom bridge network. You'll see why a custom network (with built-in DNS) beats the default bridge, then publish the app to the host with port mapping.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TaskBoard reaches Redis by DNS name on a custom network; publish ports to the host.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network · docker run · docker exec · » Because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 network and a Redis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network create tasknet</a:t>
            </a:r>
          </a:p>
          <a:p>
            <a:pPr>
              <a:spcBef>
                <a:spcPts val="0"/>
              </a:spcBef>
              <a:spcAft>
                <a:spcPts val="0"/>
              </a:spcAft>
            </a:pPr>
            <a:r>
              <a:rPr sz="1050">
                <a:solidFill>
                  <a:srgbClr val="161B26"/>
                </a:solidFill>
                <a:latin typeface="Consolas"/>
              </a:rPr>
              <a:t>docker run -d --name redis --network tasknet redis:7-alpine</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Run TaskBoard on the same network</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--network tasknet -p 8080:5000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http://localhost:8080      # 'visits' counter increments on each load</a:t>
            </a:r>
          </a:p>
          <a:p>
            <a:pPr>
              <a:spcBef>
                <a:spcPts val="0"/>
              </a:spcBef>
              <a:spcAft>
                <a:spcPts val="0"/>
              </a:spcAft>
            </a:pPr>
            <a:r>
              <a:rPr sz="1050">
                <a:solidFill>
                  <a:srgbClr val="161B26"/>
                </a:solidFill>
                <a:latin typeface="Consolas"/>
              </a:rPr>
              <a:t>curl http://localhost:8080</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the DNS name resolves from inside the app container:</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exec tb getent hosts redis   # resolves to redis's IP on tasknet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Port mapping (host access)</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tb-b --network tasknet -p 8081:5000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http://localhost:8081/health</a:t>
            </a:r>
          </a:p>
          <a:p>
            <a:pPr>
              <a:spcBef>
                <a:spcPts val="0"/>
              </a:spcBef>
              <a:spcAft>
                <a:spcPts val="0"/>
              </a:spcAft>
            </a:pPr>
            <a:r>
              <a:rPr sz="1050">
                <a:solidFill>
                  <a:srgbClr val="161B26"/>
                </a:solidFill>
                <a:latin typeface="Consolas"/>
              </a:rPr>
              <a:t>docker rm -f tb tb-b redis</a:t>
            </a:r>
          </a:p>
          <a:p>
            <a:pPr>
              <a:spcBef>
                <a:spcPts val="0"/>
              </a:spcBef>
              <a:spcAft>
                <a:spcPts val="0"/>
              </a:spcAft>
            </a:pPr>
            <a:r>
              <a:rPr sz="1050">
                <a:solidFill>
                  <a:srgbClr val="161B26"/>
                </a:solidFill>
                <a:latin typeface="Consolas"/>
              </a:rPr>
              <a:t>docker network rm tasknet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Because both TaskBoard instances share one Redis on the network, the visit counter is shared across them — your first taste of stateful, multi-container apps (which Compose and Kubernetes automate).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increases the visits count (served from Redis), and docker exec tb getent hosts redis resolves the redis name to an IP on the custom network.</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https://killercoda.com/tertiary-labs/course/killercoda/day1-03-docker-networking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Configuration &amp; Docker Hub</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Runtime config &amp; sharing images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 &amp; REGISTRY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Environment Variables &amp; Registries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Configure the same image per environment with ENV, -e and --env-file — no rebuild.</a:t>
            </a:r>
          </a:p>
          <a:p>
            <a:pPr>
              <a:spcBef>
                <a:spcPts val="0"/>
              </a:spcBef>
              <a:spcAft>
                <a:spcPts val="1000"/>
              </a:spcAft>
            </a:pPr>
            <a:r>
              <a:rPr sz="1900" b="1">
                <a:solidFill>
                  <a:srgbClr val="1F6FEB"/>
                </a:solidFill>
                <a:latin typeface="Arial"/>
              </a:rPr>
              <a:t>•  </a:t>
            </a:r>
            <a:r>
              <a:rPr sz="1900">
                <a:solidFill>
                  <a:srgbClr val="161B26"/>
                </a:solidFill>
                <a:latin typeface="Arial"/>
              </a:rPr>
              <a:t>Never bake secrets into an image; pass them at runtime.</a:t>
            </a:r>
          </a:p>
          <a:p>
            <a:pPr>
              <a:spcBef>
                <a:spcPts val="0"/>
              </a:spcBef>
              <a:spcAft>
                <a:spcPts val="1000"/>
              </a:spcAft>
            </a:pPr>
            <a:r>
              <a:rPr sz="1900" b="1">
                <a:solidFill>
                  <a:srgbClr val="1F6FEB"/>
                </a:solidFill>
                <a:latin typeface="Arial"/>
              </a:rPr>
              <a:t>•  </a:t>
            </a:r>
            <a:r>
              <a:rPr sz="1900">
                <a:solidFill>
                  <a:srgbClr val="161B26"/>
                </a:solidFill>
                <a:latin typeface="Arial"/>
              </a:rPr>
              <a:t>Docker Hub is the default public registry: docker tag → push → pull.</a:t>
            </a:r>
          </a:p>
          <a:p>
            <a:pPr>
              <a:spcBef>
                <a:spcPts val="0"/>
              </a:spcBef>
              <a:spcAft>
                <a:spcPts val="1000"/>
              </a:spcAft>
            </a:pPr>
            <a:r>
              <a:rPr sz="1900" b="1">
                <a:solidFill>
                  <a:srgbClr val="1F6FEB"/>
                </a:solidFill>
                <a:latin typeface="Arial"/>
              </a:rPr>
              <a:t>•  </a:t>
            </a:r>
            <a:r>
              <a:rPr sz="1900">
                <a:solidFill>
                  <a:srgbClr val="161B26"/>
                </a:solidFill>
                <a:latin typeface="Arial"/>
              </a:rPr>
              <a:t>Kubernetes pulls your image from a registry by name:tag (Day 2).</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Environment variables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Configure the SAME TaskBoard image for different environments without rebuilding. You'll set defaults with ENV in the Dockerfile, override per-container with -e, and load many values at once from an --env-file.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TaskBoard (APP_ENV, APP_TITLE) via ENV, -e and --env-file — no rebuild.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cat .env · » Never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1. Defaults baked into the image (ENV)</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taskboard:1.0</a:t>
            </a:r>
          </a:p>
          <a:p>
            <a:pPr>
              <a:spcBef>
                <a:spcPts val="0"/>
              </a:spcBef>
              <a:spcAft>
                <a:spcPts val="0"/>
              </a:spcAft>
            </a:pPr>
            <a:r>
              <a:rPr sz="1050">
                <a:solidFill>
                  <a:srgbClr val="161B26"/>
                </a:solidFill>
                <a:latin typeface="Consolas"/>
              </a:rPr>
              <a:t>curl http://localhost:8080/health   # "env": "development"</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2. Override per container with -e</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APP_ENV=staging -e 'APP_TITLE=TaskBoard (Staging)' taskboard:1.0</a:t>
            </a:r>
          </a:p>
          <a:p>
            <a:pPr>
              <a:spcBef>
                <a:spcPts val="0"/>
              </a:spcBef>
              <a:spcAft>
                <a:spcPts val="0"/>
              </a:spcAft>
            </a:pPr>
            <a:r>
              <a:rPr sz="1050">
                <a:solidFill>
                  <a:srgbClr val="161B26"/>
                </a:solidFill>
                <a:latin typeface="Consolas"/>
              </a:rPr>
              <a:t>curl http://localhost:8080/health   # "env": "staging"</a:t>
            </a:r>
          </a:p>
          <a:p>
            <a:pPr>
              <a:spcBef>
                <a:spcPts val="0"/>
              </a:spcBef>
              <a:spcAft>
                <a:spcPts val="0"/>
              </a:spcAft>
            </a:pPr>
            <a:r>
              <a:rPr sz="1050">
                <a:solidFill>
                  <a:srgbClr val="161B26"/>
                </a:solidFill>
                <a:latin typeface="Consolas"/>
              </a:rPr>
              <a:t>docker rm -f tb</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3. Load many values from an --env-file</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.env</a:t>
            </a:r>
          </a:p>
          <a:p>
            <a:pPr>
              <a:spcBef>
                <a:spcPts val="0"/>
              </a:spcBef>
              <a:spcAft>
                <a:spcPts val="0"/>
              </a:spcAft>
            </a:pPr>
            <a:r>
              <a:rPr sz="1050">
                <a:solidFill>
                  <a:srgbClr val="161B26"/>
                </a:solidFill>
                <a:latin typeface="Consolas"/>
              </a:rPr>
              <a:t>docker run -d --name tb -p 8080:5000 --env-file .env taskboard:1.0</a:t>
            </a:r>
          </a:p>
          <a:p>
            <a:pPr>
              <a:spcBef>
                <a:spcPts val="0"/>
              </a:spcBef>
              <a:spcAft>
                <a:spcPts val="0"/>
              </a:spcAft>
            </a:pPr>
            <a:r>
              <a:rPr sz="1050">
                <a:solidFill>
                  <a:srgbClr val="161B26"/>
                </a:solidFill>
                <a:latin typeface="Consolas"/>
              </a:rPr>
              <a:t>curl http://localhost:8080/health   # "env": "production"</a:t>
            </a:r>
          </a:p>
          <a:p>
            <a:pPr>
              <a:spcBef>
                <a:spcPts val="0"/>
              </a:spcBef>
              <a:spcAft>
                <a:spcPts val="0"/>
              </a:spcAft>
            </a:pPr>
            <a:r>
              <a:rPr sz="1050">
                <a:solidFill>
                  <a:srgbClr val="161B26"/>
                </a:solidFill>
                <a:latin typeface="Consolas"/>
              </a:rPr>
              <a:t>docker rm -f tb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Never bake secrets into an image. Pass them at runtime with -e / --env-file (and in Kubernetes, with ConfigMaps and Secrets — Day 2).</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/health endpoint reports development, then staging, then production as you change only the environment variables — the image is never rebuilt.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https://killercoda.com/tertiary-labs/course/killercoda/day1-04-docker-config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HUB</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Hub</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Publish your TaskBoard image to Docker Hub so anyone (and any Kubernetes cluster) can pull and run it. You'll log in, tag the image under your account, push it, then pull and run it as if you were a new user.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Tag, push and pull the TaskBoard image via Docker Hub.</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login · docker push · docker rmi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Log in and tag</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login</a:t>
            </a:r>
          </a:p>
          <a:p>
            <a:pPr>
              <a:spcBef>
                <a:spcPts val="0"/>
              </a:spcBef>
              <a:spcAft>
                <a:spcPts val="0"/>
              </a:spcAft>
            </a:pPr>
            <a:r>
              <a:rPr sz="1050">
                <a:solidFill>
                  <a:srgbClr val="161B26"/>
                </a:solidFill>
                <a:latin typeface="Consolas"/>
              </a:rPr>
              <a:t>docker tag taskboard:1.0 &lt;user&gt;/taskboard:1.0</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Push</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push &lt;user&gt;/taskboard:1.0</a:t>
            </a:r>
          </a:p>
          <a:p>
            <a:pPr>
              <a:spcBef>
                <a:spcPts val="0"/>
              </a:spcBef>
              <a:spcAft>
                <a:spcPts val="0"/>
              </a:spcAft>
            </a:pPr>
            <a:r>
              <a:rPr sz="1050">
                <a:solidFill>
                  <a:srgbClr val="161B26"/>
                </a:solidFill>
                <a:latin typeface="Consolas"/>
              </a:rPr>
              <a:t># browse to https://hub.docker.com/r/&lt;user&gt;/taskboard to see it</a:t>
            </a:r>
          </a:p>
        </p:txBody>
      </p:sp>
      <p:sp>
        <p:nvSpPr>
          <p:cNvPr id="15" name="TextBox 14"/>
          <p:cNvSpPr txBox="1"/>
          <p:nvPr/>
        </p:nvSpPr>
        <p:spPr>
          <a:xfrm>
            <a:off x="777240" y="386791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Pull &amp; run as a new user</a:t>
            </a:r>
          </a:p>
        </p:txBody>
      </p:sp>
      <p:sp>
        <p:nvSpPr>
          <p:cNvPr id="16" name="Rounded Rectangle 15"/>
          <p:cNvSpPr/>
          <p:nvPr/>
        </p:nvSpPr>
        <p:spPr>
          <a:xfrm>
            <a:off x="777240" y="425195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5195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31596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rmi &lt;user&gt;/taskboard:1.0          # remove the local copy</a:t>
            </a:r>
          </a:p>
          <a:p>
            <a:pPr>
              <a:spcBef>
                <a:spcPts val="0"/>
              </a:spcBef>
              <a:spcAft>
                <a:spcPts val="0"/>
              </a:spcAft>
            </a:pPr>
            <a:r>
              <a:rPr sz="1050">
                <a:solidFill>
                  <a:srgbClr val="161B26"/>
                </a:solidFill>
                <a:latin typeface="Consolas"/>
              </a:rPr>
              <a:t>docker run -d --name tb -p 8080:5000 &lt;user&gt;/taskboard:1.0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docker rm -f tb</a:t>
            </a:r>
          </a:p>
          <a:p>
            <a:pPr>
              <a:spcBef>
                <a:spcPts val="0"/>
              </a:spcBef>
              <a:spcAft>
                <a:spcPts val="0"/>
              </a:spcAft>
            </a:pPr>
            <a:r>
              <a:rPr sz="1050">
                <a:solidFill>
                  <a:srgbClr val="161B26"/>
                </a:solidFill>
                <a:latin typeface="Consolas"/>
              </a:rPr>
              <a:t>docker logout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is exactly how Kubernetes gets your app on Day 2: the cluster pulls your image from a registry by name:tag. Always push a versioned tag, not just latest.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Your image appears at hub.docker.com under &lt;user&gt;/taskboard, and after removing the local image you can docker run it straight from the registry.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Compose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Define multi-service apps in one YAML file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MULTI-SERVICE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Docker Compose?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Define all your services, networks and volumes in one docker-compose.yml.</a:t>
            </a:r>
          </a:p>
          <a:p>
            <a:pPr>
              <a:spcBef>
                <a:spcPts val="0"/>
              </a:spcBef>
              <a:spcAft>
                <a:spcPts val="1000"/>
              </a:spcAft>
            </a:pPr>
            <a:r>
              <a:rPr sz="1900" b="1">
                <a:solidFill>
                  <a:srgbClr val="1F6FEB"/>
                </a:solidFill>
                <a:latin typeface="Arial"/>
              </a:rPr>
              <a:t>•  </a:t>
            </a:r>
            <a:r>
              <a:rPr sz="1900">
                <a:solidFill>
                  <a:srgbClr val="161B26"/>
                </a:solidFill>
                <a:latin typeface="Arial"/>
              </a:rPr>
              <a:t>Compose creates a shared network; services reach each other by service name.</a:t>
            </a:r>
          </a:p>
          <a:p>
            <a:pPr>
              <a:spcBef>
                <a:spcPts val="0"/>
              </a:spcBef>
              <a:spcAft>
                <a:spcPts val="1000"/>
              </a:spcAft>
            </a:pPr>
            <a:r>
              <a:rPr sz="1900" b="1">
                <a:solidFill>
                  <a:srgbClr val="1F6FEB"/>
                </a:solidFill>
                <a:latin typeface="Arial"/>
              </a:rPr>
              <a:t>•  </a:t>
            </a:r>
            <a:r>
              <a:rPr sz="1900">
                <a:solidFill>
                  <a:srgbClr val="161B26"/>
                </a:solidFill>
                <a:latin typeface="Arial"/>
              </a:rPr>
              <a:t>Lifecycle: docker compose pull → up -d → ps / logs → down (and down -v).</a:t>
            </a:r>
          </a:p>
          <a:p>
            <a:pPr>
              <a:spcBef>
                <a:spcPts val="0"/>
              </a:spcBef>
              <a:spcAft>
                <a:spcPts val="1000"/>
              </a:spcAft>
            </a:pPr>
            <a:r>
              <a:rPr sz="1900" b="1">
                <a:solidFill>
                  <a:srgbClr val="1F6FEB"/>
                </a:solidFill>
                <a:latin typeface="Arial"/>
              </a:rPr>
              <a:t>•  </a:t>
            </a:r>
            <a:r>
              <a:rPr sz="1900">
                <a:solidFill>
                  <a:srgbClr val="161B26"/>
                </a:solidFill>
                <a:latin typeface="Arial"/>
              </a:rPr>
              <a:t>healthcheck + depends_on: condition lets the app wait for the database.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WEB + DB +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TaskBoard Stack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web</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TaskBoard Flask app</a:t>
            </a:r>
          </a:p>
          <a:p>
            <a:pPr>
              <a:spcBef>
                <a:spcPts val="0"/>
              </a:spcBef>
              <a:spcAft>
                <a:spcPts val="900"/>
              </a:spcAft>
            </a:pPr>
            <a:r>
              <a:rPr sz="1400" b="1">
                <a:solidFill>
                  <a:srgbClr val="1F6FEB"/>
                </a:solidFill>
                <a:latin typeface="Arial"/>
              </a:rPr>
              <a:t>•  </a:t>
            </a:r>
            <a:r>
              <a:rPr sz="1400">
                <a:solidFill>
                  <a:srgbClr val="161B26"/>
                </a:solidFill>
                <a:latin typeface="Arial"/>
              </a:rPr>
              <a:t>Built from the Dockerfile</a:t>
            </a:r>
          </a:p>
          <a:p>
            <a:pPr>
              <a:spcBef>
                <a:spcPts val="0"/>
              </a:spcBef>
              <a:spcAft>
                <a:spcPts val="900"/>
              </a:spcAft>
            </a:pPr>
            <a:r>
              <a:rPr sz="1400" b="1">
                <a:solidFill>
                  <a:srgbClr val="1F6FEB"/>
                </a:solidFill>
                <a:latin typeface="Arial"/>
              </a:rPr>
              <a:t>•  </a:t>
            </a:r>
            <a:r>
              <a:rPr sz="1400">
                <a:solidFill>
                  <a:srgbClr val="161B26"/>
                </a:solidFill>
                <a:latin typeface="Arial"/>
              </a:rPr>
              <a:t>Port 8080 → 5000</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db (Postgres)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the tasks</a:t>
            </a:r>
          </a:p>
          <a:p>
            <a:pPr>
              <a:spcBef>
                <a:spcPts val="0"/>
              </a:spcBef>
              <a:spcAft>
                <a:spcPts val="900"/>
              </a:spcAft>
            </a:pPr>
            <a:r>
              <a:rPr sz="1400" b="1">
                <a:solidFill>
                  <a:srgbClr val="7C3AED"/>
                </a:solidFill>
                <a:latin typeface="Arial"/>
              </a:rPr>
              <a:t>•  </a:t>
            </a:r>
            <a:r>
              <a:rPr sz="1400">
                <a:solidFill>
                  <a:srgbClr val="161B26"/>
                </a:solidFill>
                <a:latin typeface="Arial"/>
              </a:rPr>
              <a:t>Health-checked</a:t>
            </a:r>
          </a:p>
          <a:p>
            <a:pPr>
              <a:spcBef>
                <a:spcPts val="0"/>
              </a:spcBef>
              <a:spcAft>
                <a:spcPts val="900"/>
              </a:spcAft>
            </a:pPr>
            <a:r>
              <a:rPr sz="1400" b="1">
                <a:solidFill>
                  <a:srgbClr val="7C3AED"/>
                </a:solidFill>
                <a:latin typeface="Arial"/>
              </a:rPr>
              <a:t>•  </a:t>
            </a:r>
            <a:r>
              <a:rPr sz="1400">
                <a:solidFill>
                  <a:srgbClr val="161B26"/>
                </a:solidFill>
                <a:latin typeface="Arial"/>
              </a:rPr>
              <a:t>pgdata volume</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redis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Visit counter / cache</a:t>
            </a:r>
          </a:p>
          <a:p>
            <a:pPr>
              <a:spcBef>
                <a:spcPts val="0"/>
              </a:spcBef>
              <a:spcAft>
                <a:spcPts val="900"/>
              </a:spcAft>
            </a:pPr>
            <a:r>
              <a:rPr sz="1400" b="1">
                <a:solidFill>
                  <a:srgbClr val="10B981"/>
                </a:solidFill>
                <a:latin typeface="Arial"/>
              </a:rPr>
              <a:t>•  </a:t>
            </a:r>
            <a:r>
              <a:rPr sz="1400">
                <a:solidFill>
                  <a:srgbClr val="161B26"/>
                </a:solidFill>
                <a:latin typeface="Arial"/>
              </a:rPr>
              <a:t>redis:7-alpine</a:t>
            </a:r>
          </a:p>
          <a:p>
            <a:pPr>
              <a:spcBef>
                <a:spcPts val="0"/>
              </a:spcBef>
              <a:spcAft>
                <a:spcPts val="900"/>
              </a:spcAft>
            </a:pPr>
            <a:r>
              <a:rPr sz="1400" b="1">
                <a:solidFill>
                  <a:srgbClr val="10B981"/>
                </a:solidFill>
                <a:latin typeface="Arial"/>
              </a:rPr>
              <a:t>•  </a:t>
            </a:r>
            <a:r>
              <a:rPr sz="1400">
                <a:solidFill>
                  <a:srgbClr val="161B26"/>
                </a:solidFill>
                <a:latin typeface="Arial"/>
              </a:rPr>
              <a:t>Reached by name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Replace long docker run commands with a single declarative file. You'll define TaskBoard in a docker-compose.yml and manage it with the compose lifecycle: pull, up, ps, logs, 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Define TaskBoard in docker-compose.yml; manage it with pull / up / ps / logs / 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file</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            # build from the Dockerfile in this folder</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"8080:5000"     # host:container</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APP_ENV=development</a:t>
            </a:r>
          </a:p>
          <a:p>
            <a:pPr>
              <a:spcBef>
                <a:spcPts val="0"/>
              </a:spcBef>
              <a:spcAft>
                <a:spcPts val="0"/>
              </a:spcAft>
            </a:pPr>
            <a:r>
              <a:rPr sz="1050">
                <a:solidFill>
                  <a:srgbClr val="161B26"/>
                </a:solidFill>
                <a:latin typeface="Consolas"/>
              </a:rPr>
              <a:t>      - APP_TITLE=TaskBoard (Compose)</a:t>
            </a:r>
          </a:p>
        </p:txBody>
      </p:sp>
      <p:sp>
        <p:nvSpPr>
          <p:cNvPr id="11" name="TextBox 10"/>
          <p:cNvSpPr txBox="1"/>
          <p:nvPr/>
        </p:nvSpPr>
        <p:spPr>
          <a:xfrm>
            <a:off x="777240" y="3904487"/>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lifecycle</a:t>
            </a:r>
          </a:p>
        </p:txBody>
      </p:sp>
      <p:sp>
        <p:nvSpPr>
          <p:cNvPr id="12" name="Rounded Rectangle 11"/>
          <p:cNvSpPr/>
          <p:nvPr/>
        </p:nvSpPr>
        <p:spPr>
          <a:xfrm>
            <a:off x="777240" y="4288535"/>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88535"/>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352543"/>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 any pre-built images (none to build here)</a:t>
            </a:r>
          </a:p>
          <a:p>
            <a:pPr>
              <a:spcBef>
                <a:spcPts val="0"/>
              </a:spcBef>
              <a:spcAft>
                <a:spcPts val="0"/>
              </a:spcAft>
            </a:pPr>
            <a:r>
              <a:rPr sz="1050">
                <a:solidFill>
                  <a:srgbClr val="161B26"/>
                </a:solidFill>
                <a:latin typeface="Consolas"/>
              </a:rPr>
              <a:t>docker compose up -d       # build if needed and start in the background</a:t>
            </a:r>
          </a:p>
          <a:p>
            <a:pPr>
              <a:spcBef>
                <a:spcPts val="0"/>
              </a:spcBef>
              <a:spcAft>
                <a:spcPts val="0"/>
              </a:spcAft>
            </a:pPr>
            <a:r>
              <a:rPr sz="1050">
                <a:solidFill>
                  <a:srgbClr val="161B26"/>
                </a:solidFill>
                <a:latin typeface="Consolas"/>
              </a:rPr>
              <a:t>docker compose ps          # service status</a:t>
            </a:r>
          </a:p>
          <a:p>
            <a:pPr>
              <a:spcBef>
                <a:spcPts val="0"/>
              </a:spcBef>
              <a:spcAft>
                <a:spcPts val="0"/>
              </a:spcAft>
            </a:pPr>
            <a:r>
              <a:rPr sz="1050">
                <a:solidFill>
                  <a:srgbClr val="161B26"/>
                </a:solidFill>
                <a:latin typeface="Consolas"/>
              </a:rPr>
              <a:t>docker compose logs web    # logs for the web service</a:t>
            </a:r>
          </a:p>
          <a:p>
            <a:pPr>
              <a:spcBef>
                <a:spcPts val="0"/>
              </a:spcBef>
              <a:spcAft>
                <a:spcPts val="0"/>
              </a:spcAft>
            </a:pPr>
            <a:r>
              <a:rPr sz="1050">
                <a:solidFill>
                  <a:srgbClr val="161B26"/>
                </a:solidFill>
                <a:latin typeface="Consolas"/>
              </a:rPr>
              <a:t>curl http://localhost:8080/health</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and remove containers + network</a:t>
            </a:r>
          </a:p>
          <a:p>
            <a:pPr>
              <a:spcBef>
                <a:spcPts val="0"/>
              </a:spcBef>
              <a:spcAft>
                <a:spcPts val="0"/>
              </a:spcAft>
            </a:pPr>
            <a:r>
              <a:rPr sz="1050">
                <a:solidFill>
                  <a:srgbClr val="161B26"/>
                </a:solidFill>
                <a:latin typeface="Consolas"/>
              </a:rPr>
              <a:t>docker compose down -v     # also remove named volumes (full reset)</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compose up -d is idempotent — re-run it after editing the file and Compose only changes what's needed. One file replaces a page of docker run flags.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up -d starts the service and http://localhost:8080 serves TaskBoard titled 'TaskBoard (Compose)'; docker compose down removes it cleanly.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Add a second service. Compose puts both containers on one network and gives each a DNS name equal to its service name, so TaskBoard reaches Redis at host redis with zero manual networking. The visit counter is now shared and survives restarts.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Redis with Compose; services find each other by name automatically.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`depends_on`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Two services, one file</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REDIS_HOST=redis     # &lt;-- the other service's name</a:t>
            </a:r>
          </a:p>
          <a:p>
            <a:pPr>
              <a:spcBef>
                <a:spcPts val="0"/>
              </a:spcBef>
              <a:spcAft>
                <a:spcPts val="0"/>
              </a:spcAft>
            </a:pPr>
            <a:r>
              <a:rPr sz="1050">
                <a:solidFill>
                  <a:srgbClr val="161B26"/>
                </a:solidFill>
                <a:latin typeface="Consolas"/>
              </a:rPr>
              <a:t>    depends_on: [redis]</a:t>
            </a:r>
          </a:p>
          <a:p>
            <a:pPr>
              <a:spcBef>
                <a:spcPts val="0"/>
              </a:spcBef>
              <a:spcAft>
                <a:spcPts val="0"/>
              </a:spcAft>
            </a:pPr>
            <a:r>
              <a:rPr sz="1050">
                <a:solidFill>
                  <a:srgbClr val="161B26"/>
                </a:solidFill>
                <a:latin typeface="Consolas"/>
              </a:rPr>
              <a:t>  redis:</a:t>
            </a:r>
          </a:p>
          <a:p>
            <a:pPr>
              <a:spcBef>
                <a:spcPts val="0"/>
              </a:spcBef>
              <a:spcAft>
                <a:spcPts val="0"/>
              </a:spcAft>
            </a:pPr>
            <a:r>
              <a:rPr sz="1050">
                <a:solidFill>
                  <a:srgbClr val="161B26"/>
                </a:solidFill>
                <a:latin typeface="Consolas"/>
              </a:rPr>
              <a:t>    image: redis:7-alpine</a:t>
            </a:r>
          </a:p>
          <a:p>
            <a:pPr>
              <a:spcBef>
                <a:spcPts val="0"/>
              </a:spcBef>
              <a:spcAft>
                <a:spcPts val="0"/>
              </a:spcAft>
            </a:pPr>
            <a:r>
              <a:rPr sz="1050">
                <a:solidFill>
                  <a:srgbClr val="161B26"/>
                </a:solidFill>
                <a:latin typeface="Consolas"/>
              </a:rPr>
              <a:t>    volumes: [redis-data:/data]</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redis-data:</a:t>
            </a:r>
          </a:p>
        </p:txBody>
      </p:sp>
      <p:sp>
        <p:nvSpPr>
          <p:cNvPr id="11" name="TextBox 10"/>
          <p:cNvSpPr txBox="1"/>
          <p:nvPr/>
        </p:nvSpPr>
        <p:spPr>
          <a:xfrm>
            <a:off x="777240" y="465429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full lifecycle</a:t>
            </a:r>
          </a:p>
        </p:txBody>
      </p:sp>
      <p:sp>
        <p:nvSpPr>
          <p:cNvPr id="12" name="Rounded Rectangle 11"/>
          <p:cNvSpPr/>
          <p:nvPr/>
        </p:nvSpPr>
        <p:spPr>
          <a:xfrm>
            <a:off x="777240" y="503834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03834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510235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redis:7-alpine</a:t>
            </a:r>
          </a:p>
          <a:p>
            <a:pPr>
              <a:spcBef>
                <a:spcPts val="0"/>
              </a:spcBef>
              <a:spcAft>
                <a:spcPts val="0"/>
              </a:spcAft>
            </a:pPr>
            <a:r>
              <a:rPr sz="1050">
                <a:solidFill>
                  <a:srgbClr val="161B26"/>
                </a:solidFill>
                <a:latin typeface="Consolas"/>
              </a:rPr>
              <a:t>docker compose up -d</a:t>
            </a:r>
          </a:p>
          <a:p>
            <a:pPr>
              <a:spcBef>
                <a:spcPts val="0"/>
              </a:spcBef>
              <a:spcAft>
                <a:spcPts val="0"/>
              </a:spcAft>
            </a:pPr>
            <a:r>
              <a:rPr sz="1050">
                <a:solidFill>
                  <a:srgbClr val="161B26"/>
                </a:solidFill>
                <a:latin typeface="Consolas"/>
              </a:rPr>
              <a:t>docker compose ps</a:t>
            </a:r>
          </a:p>
          <a:p>
            <a:pPr>
              <a:spcBef>
                <a:spcPts val="0"/>
              </a:spcBef>
              <a:spcAft>
                <a:spcPts val="0"/>
              </a:spcAft>
            </a:pPr>
            <a:r>
              <a:rPr sz="1050">
                <a:solidFill>
                  <a:srgbClr val="161B26"/>
                </a:solidFill>
                <a:latin typeface="Consolas"/>
              </a:rPr>
              <a:t>curl http://localhost:8080 &amp;&amp; curl http://localhost:8080  # visits go up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persistence, then tear down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   # counter kept (it lives in redis-data)</a:t>
            </a:r>
          </a:p>
          <a:p>
            <a:pPr>
              <a:spcBef>
                <a:spcPts val="0"/>
              </a:spcBef>
              <a:spcAft>
                <a:spcPts val="0"/>
              </a:spcAft>
            </a:pPr>
            <a:r>
              <a:rPr sz="1050">
                <a:solidFill>
                  <a:srgbClr val="161B26"/>
                </a:solidFill>
                <a:latin typeface="Consolas"/>
              </a:rPr>
              <a:t>docker compose down          # keep the volume</a:t>
            </a:r>
          </a:p>
          <a:p>
            <a:pPr>
              <a:spcBef>
                <a:spcPts val="0"/>
              </a:spcBef>
              <a:spcAft>
                <a:spcPts val="0"/>
              </a:spcAft>
            </a:pPr>
            <a:r>
              <a:rPr sz="1050">
                <a:solidFill>
                  <a:srgbClr val="161B26"/>
                </a:solidFill>
                <a:latin typeface="Consolas"/>
              </a:rPr>
              <a:t>docker compose down -v       # remove the redis-data volume too</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depends_on controls start order, not readiness — the next lab adds a health check so the web service waits until the database is truly ready.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increments the visit counter, and the count survives docker compose restart web because it is stored in the redis-data volume.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Build the complete TaskBoard stack: the web app backed by PostgreSQL for tasks and Redis for the visit counter, with a health check so the app starts only once the database is ready. This is the architecture you'll deploy to Kubernetes on Day 2.</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Postgres + Redis with healthchecks and condition-based depends_on.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full stack</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DATABASE_URL=postgresql://taskboard:secret@db:5432/taskboard</a:t>
            </a:r>
          </a:p>
          <a:p>
            <a:pPr>
              <a:spcBef>
                <a:spcPts val="0"/>
              </a:spcBef>
              <a:spcAft>
                <a:spcPts val="0"/>
              </a:spcAft>
            </a:pPr>
            <a:r>
              <a:rPr sz="1050">
                <a:solidFill>
                  <a:srgbClr val="161B26"/>
                </a:solidFill>
                <a:latin typeface="Consolas"/>
              </a:rPr>
              <a:t>      - REDIS_HOST=redis</a:t>
            </a:r>
          </a:p>
          <a:p>
            <a:pPr>
              <a:spcBef>
                <a:spcPts val="0"/>
              </a:spcBef>
              <a:spcAft>
                <a:spcPts val="0"/>
              </a:spcAft>
            </a:pPr>
            <a:r>
              <a:rPr sz="1050">
                <a:solidFill>
                  <a:srgbClr val="161B26"/>
                </a:solidFill>
                <a:latin typeface="Consolas"/>
              </a:rPr>
              <a:t>    depends_on:</a:t>
            </a:r>
          </a:p>
          <a:p>
            <a:pPr>
              <a:spcBef>
                <a:spcPts val="0"/>
              </a:spcBef>
              <a:spcAft>
                <a:spcPts val="0"/>
              </a:spcAft>
            </a:pPr>
            <a:r>
              <a:rPr sz="1050">
                <a:solidFill>
                  <a:srgbClr val="161B26"/>
                </a:solidFill>
                <a:latin typeface="Consolas"/>
              </a:rPr>
              <a:t>      db: { condition: service_healthy }</a:t>
            </a:r>
          </a:p>
          <a:p>
            <a:pPr>
              <a:spcBef>
                <a:spcPts val="0"/>
              </a:spcBef>
              <a:spcAft>
                <a:spcPts val="0"/>
              </a:spcAft>
            </a:pPr>
            <a:r>
              <a:rPr sz="1050">
                <a:solidFill>
                  <a:srgbClr val="161B26"/>
                </a:solidFill>
                <a:latin typeface="Consolas"/>
              </a:rPr>
              <a:t>      redis: { condition: service_started }</a:t>
            </a:r>
          </a:p>
          <a:p>
            <a:pPr>
              <a:spcBef>
                <a:spcPts val="0"/>
              </a:spcBef>
              <a:spcAft>
                <a:spcPts val="0"/>
              </a:spcAft>
            </a:pPr>
            <a:r>
              <a:rPr sz="1050">
                <a:solidFill>
                  <a:srgbClr val="161B26"/>
                </a:solidFill>
                <a:latin typeface="Consolas"/>
              </a:rPr>
              <a:t>  db:</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healthcheck:</a:t>
            </a:r>
          </a:p>
          <a:p>
            <a:pPr>
              <a:spcBef>
                <a:spcPts val="0"/>
              </a:spcBef>
              <a:spcAft>
                <a:spcPts val="0"/>
              </a:spcAft>
            </a:pPr>
            <a:r>
              <a:rPr sz="1050">
                <a:solidFill>
                  <a:srgbClr val="161B26"/>
                </a:solidFill>
                <a:latin typeface="Consolas"/>
              </a:rPr>
              <a:t>      test: ["CMD-SHELL", "pg_isready -U taskboard"]</a:t>
            </a:r>
          </a:p>
          <a:p>
            <a:pPr>
              <a:spcBef>
                <a:spcPts val="0"/>
              </a:spcBef>
              <a:spcAft>
                <a:spcPts val="0"/>
              </a:spcAft>
            </a:pPr>
            <a:r>
              <a:rPr sz="1050">
                <a:solidFill>
                  <a:srgbClr val="161B26"/>
                </a:solidFill>
                <a:latin typeface="Consolas"/>
              </a:rPr>
              <a:t>      interval: 5s</a:t>
            </a:r>
          </a:p>
          <a:p>
            <a:pPr>
              <a:spcBef>
                <a:spcPts val="0"/>
              </a:spcBef>
              <a:spcAft>
                <a:spcPts val="0"/>
              </a:spcAft>
            </a:pPr>
            <a:r>
              <a:rPr sz="1050">
                <a:solidFill>
                  <a:srgbClr val="161B26"/>
                </a:solidFill>
                <a:latin typeface="Consolas"/>
              </a:rPr>
              <a:t>      retries: 5</a:t>
            </a:r>
          </a:p>
          <a:p>
            <a:pPr>
              <a:spcBef>
                <a:spcPts val="0"/>
              </a:spcBef>
              <a:spcAft>
                <a:spcPts val="0"/>
              </a:spcAft>
            </a:pPr>
            <a:r>
              <a:rPr sz="1050">
                <a:solidFill>
                  <a:srgbClr val="161B26"/>
                </a:solidFill>
                <a:latin typeface="Consolas"/>
              </a:rPr>
              <a:t>  redis: { image: redis:7-alpine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lifecycle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postgres + redis</a:t>
            </a:r>
          </a:p>
          <a:p>
            <a:pPr>
              <a:spcBef>
                <a:spcPts val="0"/>
              </a:spcBef>
              <a:spcAft>
                <a:spcPts val="0"/>
              </a:spcAft>
            </a:pPr>
            <a:r>
              <a:rPr sz="1050">
                <a:solidFill>
                  <a:srgbClr val="161B26"/>
                </a:solidFill>
                <a:latin typeface="Consolas"/>
              </a:rPr>
              <a:t>docker compose up -d        # builds web, waits for db health, then starts web</a:t>
            </a:r>
          </a:p>
          <a:p>
            <a:pPr>
              <a:spcBef>
                <a:spcPts val="0"/>
              </a:spcBef>
              <a:spcAft>
                <a:spcPts val="0"/>
              </a:spcAft>
            </a:pPr>
            <a:r>
              <a:rPr sz="1050">
                <a:solidFill>
                  <a:srgbClr val="161B26"/>
                </a:solidFill>
                <a:latin typeface="Consolas"/>
              </a:rPr>
              <a:t>docker compose ps           # db shows (healthy)</a:t>
            </a:r>
          </a:p>
          <a:p>
            <a:pPr>
              <a:spcBef>
                <a:spcPts val="0"/>
              </a:spcBef>
              <a:spcAft>
                <a:spcPts val="0"/>
              </a:spcAft>
            </a:pPr>
            <a:r>
              <a:rPr sz="1050">
                <a:solidFill>
                  <a:srgbClr val="161B26"/>
                </a:solidFill>
                <a:latin typeface="Consolas"/>
              </a:rPr>
              <a:t>docker compose logs web</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Verify tasks persist in Postgres</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add tasks at http://localhost:8080, then prove they're in the DB:</a:t>
            </a:r>
          </a:p>
          <a:p>
            <a:pPr>
              <a:spcBef>
                <a:spcPts val="0"/>
              </a:spcBef>
              <a:spcAft>
                <a:spcPts val="0"/>
              </a:spcAft>
            </a:pPr>
            <a:r>
              <a:rPr sz="1050">
                <a:solidFill>
                  <a:srgbClr val="161B26"/>
                </a:solidFill>
                <a:latin typeface="Consolas"/>
              </a:rPr>
              <a:t>docker compose exec db psql -U taskboard -c 'SELECT id, text, done FROM tasks;'</a:t>
            </a:r>
          </a:p>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http://localhost:8080/api/tasks   # tasks still there (in Postgres)</a:t>
            </a:r>
          </a:p>
        </p:txBody>
      </p:sp>
      <p:sp>
        <p:nvSpPr>
          <p:cNvPr id="15" name="TextBox 14"/>
          <p:cNvSpPr txBox="1"/>
          <p:nvPr/>
        </p:nvSpPr>
        <p:spPr>
          <a:xfrm>
            <a:off x="777240" y="461772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16" name="Rounded Rectangle 15"/>
          <p:cNvSpPr/>
          <p:nvPr/>
        </p:nvSpPr>
        <p:spPr>
          <a:xfrm>
            <a:off x="777240" y="500176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0176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06577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&amp; remove containers + network</a:t>
            </a:r>
          </a:p>
          <a:p>
            <a:pPr>
              <a:spcBef>
                <a:spcPts val="0"/>
              </a:spcBef>
              <a:spcAft>
                <a:spcPts val="0"/>
              </a:spcAft>
            </a:pPr>
            <a:r>
              <a:rPr sz="1050">
                <a:solidFill>
                  <a:srgbClr val="161B26"/>
                </a:solidFill>
                <a:latin typeface="Consolas"/>
              </a:rPr>
              <a:t>docker compose down -v      # also drop the pgdata volume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web + database + cache shape is the canonical cloud app. On Day 2 you'll deploy this very app to Kubernetes — as Pods, a Deployment, a Service, and persistent storage.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ps shows db as (healthy), tasks added in the browser appear in SELECT * FROM tasks, and they survive docker compose restart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1 done — you containerised a full app.</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deploy TaskBoard to Kubernetes and scale it.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 Deployments · Services · Storage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Architecture, the control plane &amp; kubectl</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ORCHESTRATION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Kubernetes?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runs containers on one host; Kubernetes orchestrates them across a cluster.</a:t>
            </a:r>
          </a:p>
          <a:p>
            <a:pPr>
              <a:spcBef>
                <a:spcPts val="0"/>
              </a:spcBef>
              <a:spcAft>
                <a:spcPts val="1000"/>
              </a:spcAft>
            </a:pPr>
            <a:r>
              <a:rPr sz="1900" b="1">
                <a:solidFill>
                  <a:srgbClr val="1F6FEB"/>
                </a:solidFill>
                <a:latin typeface="Arial"/>
              </a:rPr>
              <a:t>•  </a:t>
            </a:r>
            <a:r>
              <a:rPr sz="1900">
                <a:solidFill>
                  <a:srgbClr val="161B26"/>
                </a:solidFill>
                <a:latin typeface="Arial"/>
              </a:rPr>
              <a:t>It self-heals (restarts failed Pods), scales, and rolls out updates with no downtime.</a:t>
            </a:r>
          </a:p>
          <a:p>
            <a:pPr>
              <a:spcBef>
                <a:spcPts val="0"/>
              </a:spcBef>
              <a:spcAft>
                <a:spcPts val="1000"/>
              </a:spcAft>
            </a:pPr>
            <a:r>
              <a:rPr sz="1900" b="1">
                <a:solidFill>
                  <a:srgbClr val="1F6FEB"/>
                </a:solidFill>
                <a:latin typeface="Arial"/>
              </a:rPr>
              <a:t>•  </a:t>
            </a:r>
            <a:r>
              <a:rPr sz="1900">
                <a:solidFill>
                  <a:srgbClr val="161B26"/>
                </a:solidFill>
                <a:latin typeface="Arial"/>
              </a:rPr>
              <a:t>Declarative: you describe desired state in YAML; Kubernetes makes it true.</a:t>
            </a:r>
          </a:p>
          <a:p>
            <a:pPr>
              <a:spcBef>
                <a:spcPts val="0"/>
              </a:spcBef>
              <a:spcAft>
                <a:spcPts val="1000"/>
              </a:spcAft>
            </a:pPr>
            <a:r>
              <a:rPr sz="1900" b="1">
                <a:solidFill>
                  <a:srgbClr val="1F6FEB"/>
                </a:solidFill>
                <a:latin typeface="Arial"/>
              </a:rPr>
              <a:t>•  </a:t>
            </a:r>
            <a:r>
              <a:rPr sz="1900">
                <a:solidFill>
                  <a:srgbClr val="161B26"/>
                </a:solidFill>
                <a:latin typeface="Arial"/>
              </a:rPr>
              <a:t>kubectl is the CLI: get / describe / apply / delete / scale / rollout.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Control Plane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API Server</a:t>
            </a:r>
          </a:p>
          <a:p>
            <a:pPr>
              <a:spcBef>
                <a:spcPts val="0"/>
              </a:spcBef>
              <a:spcAft>
                <a:spcPts val="900"/>
              </a:spcAft>
            </a:pPr>
            <a:r>
              <a:rPr sz="1400" b="1">
                <a:solidFill>
                  <a:srgbClr val="1F6FEB"/>
                </a:solidFill>
                <a:latin typeface="Arial"/>
              </a:rPr>
              <a:t>•  </a:t>
            </a:r>
            <a:r>
              <a:rPr sz="1400">
                <a:solidFill>
                  <a:srgbClr val="161B26"/>
                </a:solidFill>
                <a:latin typeface="Arial"/>
              </a:rPr>
              <a:t>etcd (state store)</a:t>
            </a:r>
          </a:p>
          <a:p>
            <a:pPr>
              <a:spcBef>
                <a:spcPts val="0"/>
              </a:spcBef>
              <a:spcAft>
                <a:spcPts val="900"/>
              </a:spcAft>
            </a:pPr>
            <a:r>
              <a:rPr sz="1400" b="1">
                <a:solidFill>
                  <a:srgbClr val="1F6FEB"/>
                </a:solidFill>
                <a:latin typeface="Arial"/>
              </a:rPr>
              <a:t>•  </a:t>
            </a:r>
            <a:r>
              <a:rPr sz="1400">
                <a:solidFill>
                  <a:srgbClr val="161B26"/>
                </a:solidFill>
                <a:latin typeface="Arial"/>
              </a:rPr>
              <a:t>Scheduler</a:t>
            </a:r>
          </a:p>
          <a:p>
            <a:pPr>
              <a:spcBef>
                <a:spcPts val="0"/>
              </a:spcBef>
              <a:spcAft>
                <a:spcPts val="900"/>
              </a:spcAft>
            </a:pPr>
            <a:r>
              <a:rPr sz="1400" b="1">
                <a:solidFill>
                  <a:srgbClr val="1F6FEB"/>
                </a:solidFill>
                <a:latin typeface="Arial"/>
              </a:rPr>
              <a:t>•  </a:t>
            </a:r>
            <a:r>
              <a:rPr sz="1400">
                <a:solidFill>
                  <a:srgbClr val="161B26"/>
                </a:solidFill>
                <a:latin typeface="Arial"/>
              </a:rPr>
              <a:t>Controller Manager</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Worker Nodes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kubelet (node agent)</a:t>
            </a:r>
          </a:p>
          <a:p>
            <a:pPr>
              <a:spcBef>
                <a:spcPts val="0"/>
              </a:spcBef>
              <a:spcAft>
                <a:spcPts val="900"/>
              </a:spcAft>
            </a:pPr>
            <a:r>
              <a:rPr sz="1400" b="1">
                <a:solidFill>
                  <a:srgbClr val="10B981"/>
                </a:solidFill>
                <a:latin typeface="Arial"/>
              </a:rPr>
              <a:t>•  </a:t>
            </a:r>
            <a:r>
              <a:rPr sz="1400">
                <a:solidFill>
                  <a:srgbClr val="161B26"/>
                </a:solidFill>
                <a:latin typeface="Arial"/>
              </a:rPr>
              <a:t>kube-proxy (networking)</a:t>
            </a:r>
          </a:p>
          <a:p>
            <a:pPr>
              <a:spcBef>
                <a:spcPts val="0"/>
              </a:spcBef>
              <a:spcAft>
                <a:spcPts val="900"/>
              </a:spcAft>
            </a:pPr>
            <a:r>
              <a:rPr sz="1400" b="1">
                <a:solidFill>
                  <a:srgbClr val="10B981"/>
                </a:solidFill>
                <a:latin typeface="Arial"/>
              </a:rPr>
              <a:t>•  </a:t>
            </a:r>
            <a:r>
              <a:rPr sz="1400">
                <a:solidFill>
                  <a:srgbClr val="161B26"/>
                </a:solidFill>
                <a:latin typeface="Arial"/>
              </a:rPr>
              <a:t>Run your Pods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Core Objects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Pod · Deployment</a:t>
            </a:r>
          </a:p>
          <a:p>
            <a:pPr>
              <a:spcBef>
                <a:spcPts val="0"/>
              </a:spcBef>
              <a:spcAft>
                <a:spcPts val="900"/>
              </a:spcAft>
            </a:pPr>
            <a:r>
              <a:rPr sz="1400" b="1">
                <a:solidFill>
                  <a:srgbClr val="7C3AED"/>
                </a:solidFill>
                <a:latin typeface="Arial"/>
              </a:rPr>
              <a:t>•  </a:t>
            </a:r>
            <a:r>
              <a:rPr sz="1400">
                <a:solidFill>
                  <a:srgbClr val="161B26"/>
                </a:solidFill>
                <a:latin typeface="Arial"/>
              </a:rPr>
              <a:t>Service · Namespace</a:t>
            </a:r>
          </a:p>
          <a:p>
            <a:pPr>
              <a:spcBef>
                <a:spcPts val="0"/>
              </a:spcBef>
              <a:spcAft>
                <a:spcPts val="900"/>
              </a:spcAft>
            </a:pPr>
            <a:r>
              <a:rPr sz="1400" b="1">
                <a:solidFill>
                  <a:srgbClr val="7C3AED"/>
                </a:solidFill>
                <a:latin typeface="Arial"/>
              </a:rPr>
              <a:t>•  </a:t>
            </a:r>
            <a:r>
              <a:rPr sz="1400">
                <a:solidFill>
                  <a:srgbClr val="161B26"/>
                </a:solidFill>
                <a:latin typeface="Arial"/>
              </a:rPr>
              <a:t>PV / PVC · Job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8</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Pods &amp; Namespaces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The smallest unit &amp; environment isolation</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FOUNDATIONS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Pods &amp; Namespaces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Pod is the smallest unit — one or more containers sharing network &amp; storage.</a:t>
            </a:r>
          </a:p>
          <a:p>
            <a:pPr>
              <a:spcBef>
                <a:spcPts val="0"/>
              </a:spcBef>
              <a:spcAft>
                <a:spcPts val="1000"/>
              </a:spcAft>
            </a:pPr>
            <a:r>
              <a:rPr sz="1900" b="1">
                <a:solidFill>
                  <a:srgbClr val="1F6FEB"/>
                </a:solidFill>
                <a:latin typeface="Arial"/>
              </a:rPr>
              <a:t>•  </a:t>
            </a:r>
            <a:r>
              <a:rPr sz="1900">
                <a:solidFill>
                  <a:srgbClr val="161B26"/>
                </a:solidFill>
                <a:latin typeface="Arial"/>
              </a:rPr>
              <a:t>Pods are ephemeral; you normally run them via a Deployment (self-healing).</a:t>
            </a:r>
          </a:p>
          <a:p>
            <a:pPr>
              <a:spcBef>
                <a:spcPts val="0"/>
              </a:spcBef>
              <a:spcAft>
                <a:spcPts val="1000"/>
              </a:spcAft>
            </a:pPr>
            <a:r>
              <a:rPr sz="1900" b="1">
                <a:solidFill>
                  <a:srgbClr val="1F6FEB"/>
                </a:solidFill>
                <a:latin typeface="Arial"/>
              </a:rPr>
              <a:t>•  </a:t>
            </a:r>
            <a:r>
              <a:rPr sz="1900">
                <a:solidFill>
                  <a:srgbClr val="161B26"/>
                </a:solidFill>
                <a:latin typeface="Arial"/>
              </a:rPr>
              <a:t>Create Pods imperatively (kubectl run) or declaratively (kubectl apply -f).</a:t>
            </a:r>
          </a:p>
          <a:p>
            <a:pPr>
              <a:spcBef>
                <a:spcPts val="0"/>
              </a:spcBef>
              <a:spcAft>
                <a:spcPts val="1000"/>
              </a:spcAft>
            </a:pPr>
            <a:r>
              <a:rPr sz="1900" b="1">
                <a:solidFill>
                  <a:srgbClr val="1F6FEB"/>
                </a:solidFill>
                <a:latin typeface="Arial"/>
              </a:rPr>
              <a:t>•  </a:t>
            </a:r>
            <a:r>
              <a:rPr sz="1900">
                <a:solidFill>
                  <a:srgbClr val="161B26"/>
                </a:solidFill>
                <a:latin typeface="Arial"/>
              </a:rPr>
              <a:t>Namespaces isolate environments (dev / staging / prod) on one cluster.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PODS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Meet the smallest deployable unit in Kubernetes — the Pod. You'll create one imperatively with a single command, inspect it, then create one declaratively from a YAML file (the approach you'll use for everything afterwards).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inspect and delete a Pod both imperatively and from a pod.yaml manifest.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apiVersion: v1 · kubectl apply · » Pods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Imperative (one command)</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get pods -o wide          # node + Pod IP</a:t>
            </a:r>
          </a:p>
          <a:p>
            <a:pPr>
              <a:spcBef>
                <a:spcPts val="0"/>
              </a:spcBef>
              <a:spcAft>
                <a:spcPts val="0"/>
              </a:spcAft>
            </a:pPr>
            <a:r>
              <a:rPr sz="1050">
                <a:solidFill>
                  <a:srgbClr val="161B26"/>
                </a:solidFill>
                <a:latin typeface="Consolas"/>
              </a:rPr>
              <a:t>kubectl describe pod web          # events, container, volumes</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Look inside the Pod, then remove it:</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web</a:t>
            </a:r>
          </a:p>
          <a:p>
            <a:pPr>
              <a:spcBef>
                <a:spcPts val="0"/>
              </a:spcBef>
              <a:spcAft>
                <a:spcPts val="0"/>
              </a:spcAft>
            </a:pPr>
            <a:r>
              <a:rPr sz="1050">
                <a:solidFill>
                  <a:srgbClr val="161B26"/>
                </a:solidFill>
                <a:latin typeface="Consolas"/>
              </a:rPr>
              <a:t>kubectl exec web -- cat /etc/hostname</a:t>
            </a:r>
          </a:p>
          <a:p>
            <a:pPr>
              <a:spcBef>
                <a:spcPts val="0"/>
              </a:spcBef>
              <a:spcAft>
                <a:spcPts val="0"/>
              </a:spcAft>
            </a:pPr>
            <a:r>
              <a:rPr sz="1050">
                <a:solidFill>
                  <a:srgbClr val="161B26"/>
                </a:solidFill>
                <a:latin typeface="Consolas"/>
              </a:rPr>
              <a:t>kubectl exec -it web -- /bin/sh   # interactive shell, then 'exit'</a:t>
            </a:r>
          </a:p>
          <a:p>
            <a:pPr>
              <a:spcBef>
                <a:spcPts val="0"/>
              </a:spcBef>
              <a:spcAft>
                <a:spcPts val="0"/>
              </a:spcAft>
            </a:pPr>
            <a:r>
              <a:rPr sz="1050">
                <a:solidFill>
                  <a:srgbClr val="161B26"/>
                </a:solidFill>
                <a:latin typeface="Consolas"/>
              </a:rPr>
              <a:t>kubectl delete pod web</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Declarative (pod.yaml)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          # swap for &lt;user&gt;/taskboard:1.0 to run your own image</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Rounded Rectangle 10"/>
          <p:cNvSpPr/>
          <p:nvPr/>
        </p:nvSpPr>
        <p:spPr>
          <a:xfrm>
            <a:off x="777240" y="465429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describe pod taskboard</a:t>
            </a:r>
          </a:p>
          <a:p>
            <a:pPr>
              <a:spcBef>
                <a:spcPts val="0"/>
              </a:spcBef>
              <a:spcAft>
                <a:spcPts val="0"/>
              </a:spcAft>
            </a:pPr>
            <a:r>
              <a:rPr sz="1050">
                <a:solidFill>
                  <a:srgbClr val="161B26"/>
                </a:solidFill>
                <a:latin typeface="Consolas"/>
              </a:rPr>
              <a:t>kubectl delete -f pod.yaml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Pods are ephemeral — if a Pod dies it is not recreated. That's why you almost always run Pods through a Deployment (Lab 15), not on their 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shows the taskboard Pod as Running after kubectl apply, and it disappears after kubectl delete -f pod.yaml.</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NAMESPACES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Namespaces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namespaces to keep environments apart inside one cluster. You'll create a dev namespace, run a Pod in it, and see how resources are isolated by namespace.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dev namespace, run a Pod inside it, and list resources per namespace.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kubectl run · kubectl delete · » Namespaces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List and create namespaces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namespaces</a:t>
            </a:r>
          </a:p>
          <a:p>
            <a:pPr>
              <a:spcBef>
                <a:spcPts val="0"/>
              </a:spcBef>
              <a:spcAft>
                <a:spcPts val="0"/>
              </a:spcAft>
            </a:pPr>
            <a:r>
              <a:rPr sz="1050">
                <a:solidFill>
                  <a:srgbClr val="161B26"/>
                </a:solidFill>
                <a:latin typeface="Consolas"/>
              </a:rPr>
              <a:t>kubectl create namespace dev</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 Pod inside a namespace</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 -n dev</a:t>
            </a:r>
          </a:p>
          <a:p>
            <a:pPr>
              <a:spcBef>
                <a:spcPts val="0"/>
              </a:spcBef>
              <a:spcAft>
                <a:spcPts val="0"/>
              </a:spcAft>
            </a:pPr>
            <a:r>
              <a:rPr sz="1050">
                <a:solidFill>
                  <a:srgbClr val="161B26"/>
                </a:solidFill>
                <a:latin typeface="Consolas"/>
              </a:rPr>
              <a:t>kubectl get pods -n dev</a:t>
            </a:r>
          </a:p>
          <a:p>
            <a:pPr>
              <a:spcBef>
                <a:spcPts val="0"/>
              </a:spcBef>
              <a:spcAft>
                <a:spcPts val="0"/>
              </a:spcAft>
            </a:pPr>
            <a:r>
              <a:rPr sz="1050">
                <a:solidFill>
                  <a:srgbClr val="161B26"/>
                </a:solidFill>
                <a:latin typeface="Consolas"/>
              </a:rPr>
              <a:t>kubectl get pods                  # default ns: not shown here</a:t>
            </a:r>
          </a:p>
          <a:p>
            <a:pPr>
              <a:spcBef>
                <a:spcPts val="0"/>
              </a:spcBef>
              <a:spcAft>
                <a:spcPts val="0"/>
              </a:spcAft>
            </a:pPr>
            <a:r>
              <a:rPr sz="1050">
                <a:solidFill>
                  <a:srgbClr val="161B26"/>
                </a:solidFill>
                <a:latin typeface="Consolas"/>
              </a:rPr>
              <a:t>kubectl get pods --all-namespaces</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Clean up the whole namespace</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namespace dev</a:t>
            </a:r>
          </a:p>
        </p:txBody>
      </p:sp>
      <p:sp>
        <p:nvSpPr>
          <p:cNvPr id="19" name="TextBox 18"/>
          <p:cNvSpPr txBox="1"/>
          <p:nvPr/>
        </p:nvSpPr>
        <p:spPr>
          <a:xfrm>
            <a:off x="777240" y="5143499"/>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Namespaces are perfect for separating dev / staging / prod (or per-team quotas) on a single shared cluster.</a:t>
            </a:r>
          </a:p>
        </p:txBody>
      </p:sp>
      <p:sp>
        <p:nvSpPr>
          <p:cNvPr id="20" name="TextBox 1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-n dev lists the Pod while it exists, and kubectl delete namespace dev removes the namespace and its Pod together.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9</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Deployments &amp; Rollouts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Scaling, self-healing &amp; zero-downtime updates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AT SCALE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ReplicaSets &amp; Rollouts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Deployment manages a ReplicaSet that keeps N identical Pods running.</a:t>
            </a:r>
          </a:p>
          <a:p>
            <a:pPr>
              <a:spcBef>
                <a:spcPts val="0"/>
              </a:spcBef>
              <a:spcAft>
                <a:spcPts val="1000"/>
              </a:spcAft>
            </a:pPr>
            <a:r>
              <a:rPr sz="1900" b="1">
                <a:solidFill>
                  <a:srgbClr val="1F6FEB"/>
                </a:solidFill>
                <a:latin typeface="Arial"/>
              </a:rPr>
              <a:t>•  </a:t>
            </a:r>
            <a:r>
              <a:rPr sz="1900">
                <a:solidFill>
                  <a:srgbClr val="161B26"/>
                </a:solidFill>
                <a:latin typeface="Arial"/>
              </a:rPr>
              <a:t>Self-healing: delete a Pod and the ReplicaSet recreates it automatically.</a:t>
            </a:r>
          </a:p>
          <a:p>
            <a:pPr>
              <a:spcBef>
                <a:spcPts val="0"/>
              </a:spcBef>
              <a:spcAft>
                <a:spcPts val="1000"/>
              </a:spcAft>
            </a:pPr>
            <a:r>
              <a:rPr sz="1900" b="1">
                <a:solidFill>
                  <a:srgbClr val="1F6FEB"/>
                </a:solidFill>
                <a:latin typeface="Arial"/>
              </a:rPr>
              <a:t>•  </a:t>
            </a:r>
            <a:r>
              <a:rPr sz="1900">
                <a:solidFill>
                  <a:srgbClr val="161B26"/>
                </a:solidFill>
                <a:latin typeface="Arial"/>
              </a:rPr>
              <a:t>Scale with kubectl scale; update the image with kubectl set image.</a:t>
            </a:r>
          </a:p>
          <a:p>
            <a:pPr>
              <a:spcBef>
                <a:spcPts val="0"/>
              </a:spcBef>
              <a:spcAft>
                <a:spcPts val="1000"/>
              </a:spcAft>
            </a:pPr>
            <a:r>
              <a:rPr sz="1900" b="1">
                <a:solidFill>
                  <a:srgbClr val="1F6FEB"/>
                </a:solidFill>
                <a:latin typeface="Arial"/>
              </a:rPr>
              <a:t>•  </a:t>
            </a:r>
            <a:r>
              <a:rPr sz="1900">
                <a:solidFill>
                  <a:srgbClr val="161B26"/>
                </a:solidFill>
                <a:latin typeface="Arial"/>
              </a:rPr>
              <a:t>Rolling updates keep old + new Pods running; rollback = kubectl rollout undo.</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DEPLOYMENTS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Deployments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TaskBoard the production way — as a Deployment that keeps a desired number of replicas alive. You'll scale it, watch it self-heal when a Pod is deleted, and manage it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Deployment, scale it, and watch Kubernetes self-heal a deleted Pod.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get · apiVersion: apps/v1 · kubectl delete · » A</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and scale (imperative)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a:t>
            </a:r>
          </a:p>
          <a:p>
            <a:pPr>
              <a:spcBef>
                <a:spcPts val="0"/>
              </a:spcBef>
              <a:spcAft>
                <a:spcPts val="0"/>
              </a:spcAft>
            </a:pPr>
            <a:r>
              <a:rPr sz="1050">
                <a:solidFill>
                  <a:srgbClr val="161B26"/>
                </a:solidFill>
                <a:latin typeface="Consolas"/>
              </a:rPr>
              <a:t>kubectl get deployments</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scale deployment taskboard --replicas=3</a:t>
            </a:r>
          </a:p>
          <a:p>
            <a:pPr>
              <a:spcBef>
                <a:spcPts val="0"/>
              </a:spcBef>
              <a:spcAft>
                <a:spcPts val="0"/>
              </a:spcAft>
            </a:pPr>
            <a:r>
              <a:rPr sz="1050">
                <a:solidFill>
                  <a:srgbClr val="161B26"/>
                </a:solidFill>
                <a:latin typeface="Consolas"/>
              </a:rPr>
              <a:t>kubectl get pods               # now 3 Pods</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Watch it self-heal</a:t>
            </a:r>
          </a:p>
        </p:txBody>
      </p:sp>
      <p:sp>
        <p:nvSpPr>
          <p:cNvPr id="12" name="Rounded Rectangle 11"/>
          <p:cNvSpPr/>
          <p:nvPr/>
        </p:nvSpPr>
        <p:spPr>
          <a:xfrm>
            <a:off x="777240" y="372617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pod &lt;one-pod-name&gt;</a:t>
            </a:r>
          </a:p>
          <a:p>
            <a:pPr>
              <a:spcBef>
                <a:spcPts val="0"/>
              </a:spcBef>
              <a:spcAft>
                <a:spcPts val="0"/>
              </a:spcAft>
            </a:pPr>
            <a:r>
              <a:rPr sz="1050">
                <a:solidFill>
                  <a:srgbClr val="161B26"/>
                </a:solidFill>
                <a:latin typeface="Consolas"/>
              </a:rPr>
              <a:t>kubectl get pods               # a new Pod is already being created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(deployment.yaml)</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Deployment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-f deployment.yaml</a:t>
            </a:r>
          </a:p>
        </p:txBody>
      </p:sp>
      <p:sp>
        <p:nvSpPr>
          <p:cNvPr id="10" name="TextBox 9"/>
          <p:cNvSpPr txBox="1"/>
          <p:nvPr/>
        </p:nvSpPr>
        <p:spPr>
          <a:xfrm>
            <a:off x="777240" y="277063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 Deployment manages a ReplicaSet, which guarantees the desired Pod count is always running — this is the self-healing that naked Pods (Lab 13) lack.</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kubectl delete pod &lt;name&gt;, kubectl get pods still shows 3 Pods because the Deployment recreated the missing one automatically.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https://killercoda.com/tertiary-labs/course/killercoda/day2-02-k8s-deployments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ROLLOUTS &amp; ROLLBACKS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Rolling updates &amp; rollbacks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Ship a new version of TaskBoard with zero downtime, then instantly roll back when something's wrong. You'll update the container image, track the rollout, and revert to a previous revision.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Roll a Deployment forward to a new image with no downtime, then roll it back.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set · kubectl rollout · » Rolling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Deploy v1, then update the image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--image=nginx:1.24 --replicas=3</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Update the image — Kubernetes shifts Pods gradually from the old to the new ReplicaSet (rolling update, the default strategy):</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deployment/taskboard nginx=nginx:1.25</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   # now 1.25</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Roll back</a:t>
            </a:r>
          </a:p>
        </p:txBody>
      </p:sp>
      <p:sp>
        <p:nvSpPr>
          <p:cNvPr id="16" name="Rounded Rectangle 15"/>
          <p:cNvSpPr/>
          <p:nvPr/>
        </p:nvSpPr>
        <p:spPr>
          <a:xfrm>
            <a:off x="777240" y="4626864"/>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rollout history deployment taskboard</a:t>
            </a:r>
          </a:p>
          <a:p>
            <a:pPr>
              <a:spcBef>
                <a:spcPts val="0"/>
              </a:spcBef>
              <a:spcAft>
                <a:spcPts val="0"/>
              </a:spcAft>
            </a:pPr>
            <a:r>
              <a:rPr sz="1050">
                <a:solidFill>
                  <a:srgbClr val="161B26"/>
                </a:solidFill>
                <a:latin typeface="Consolas"/>
              </a:rPr>
              <a:t>kubectl rollout undo deployment taskboard            # back to 1.24</a:t>
            </a:r>
          </a:p>
          <a:p>
            <a:pPr>
              <a:spcBef>
                <a:spcPts val="0"/>
              </a:spcBef>
              <a:spcAft>
                <a:spcPts val="0"/>
              </a:spcAft>
            </a:pPr>
            <a:r>
              <a:rPr sz="1050">
                <a:solidFill>
                  <a:srgbClr val="161B26"/>
                </a:solidFill>
                <a:latin typeface="Consolas"/>
              </a:rPr>
              <a:t>kubectl describe deployment taskboard | grep Image</a:t>
            </a:r>
          </a:p>
          <a:p>
            <a:pPr>
              <a:spcBef>
                <a:spcPts val="0"/>
              </a:spcBef>
              <a:spcAft>
                <a:spcPts val="0"/>
              </a:spcAft>
            </a:pPr>
            <a:r>
              <a:rPr sz="1050">
                <a:solidFill>
                  <a:srgbClr val="161B26"/>
                </a:solidFill>
                <a:latin typeface="Consolas"/>
              </a:rPr>
              <a:t>kubectl rollout undo deployment taskboard --to-revision=2   # forward to 1.25 again</a:t>
            </a:r>
          </a:p>
          <a:p>
            <a:pPr>
              <a:spcBef>
                <a:spcPts val="0"/>
              </a:spcBef>
              <a:spcAft>
                <a:spcPts val="0"/>
              </a:spcAft>
            </a:pPr>
            <a:r>
              <a:rPr sz="1050">
                <a:solidFill>
                  <a:srgbClr val="161B26"/>
                </a:solidFill>
                <a:latin typeface="Consolas"/>
              </a:rPr>
              <a:t>kubectl delete deployment taskboard</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Rolling updates keep old and new Pods running simultaneously so users never see downtime; a rollback is just a rollout to a previous revision.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describe deployment taskboard | grep Image shows nginx:1.25 after the update and nginx:1.24 after kubectl rollout undo.</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https://killercoda.com/tertiary-labs/course/killercoda/day2-03-k8s-rollouts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10</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Stable endpoints &amp; load balancing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Services?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Pod IPs change on every restart, scale or update — you can't rely on them.</a:t>
            </a:r>
          </a:p>
          <a:p>
            <a:pPr>
              <a:spcBef>
                <a:spcPts val="0"/>
              </a:spcBef>
              <a:spcAft>
                <a:spcPts val="1000"/>
              </a:spcAft>
            </a:pPr>
            <a:r>
              <a:rPr sz="1900" b="1">
                <a:solidFill>
                  <a:srgbClr val="1F6FEB"/>
                </a:solidFill>
                <a:latin typeface="Arial"/>
              </a:rPr>
              <a:t>•  </a:t>
            </a:r>
            <a:r>
              <a:rPr sz="1900">
                <a:solidFill>
                  <a:srgbClr val="161B26"/>
                </a:solidFill>
                <a:latin typeface="Arial"/>
              </a:rPr>
              <a:t>A Service gives a stable address and load-balances across matching Pods.</a:t>
            </a:r>
          </a:p>
          <a:p>
            <a:pPr>
              <a:spcBef>
                <a:spcPts val="0"/>
              </a:spcBef>
              <a:spcAft>
                <a:spcPts val="1000"/>
              </a:spcAft>
            </a:pPr>
            <a:r>
              <a:rPr sz="1900" b="1">
                <a:solidFill>
                  <a:srgbClr val="1F6FEB"/>
                </a:solidFill>
                <a:latin typeface="Arial"/>
              </a:rPr>
              <a:t>•  </a:t>
            </a:r>
            <a:r>
              <a:rPr sz="1900">
                <a:solidFill>
                  <a:srgbClr val="161B26"/>
                </a:solidFill>
                <a:latin typeface="Arial"/>
              </a:rPr>
              <a:t>ClusterIP — internal only (service-to-service).</a:t>
            </a:r>
          </a:p>
          <a:p>
            <a:pPr>
              <a:spcBef>
                <a:spcPts val="0"/>
              </a:spcBef>
              <a:spcAft>
                <a:spcPts val="1000"/>
              </a:spcAft>
            </a:pPr>
            <a:r>
              <a:rPr sz="1900" b="1">
                <a:solidFill>
                  <a:srgbClr val="1F6FEB"/>
                </a:solidFill>
                <a:latin typeface="Arial"/>
              </a:rPr>
              <a:t>•  </a:t>
            </a:r>
            <a:r>
              <a:rPr sz="1900">
                <a:solidFill>
                  <a:srgbClr val="161B26"/>
                </a:solidFill>
                <a:latin typeface="Arial"/>
              </a:rPr>
              <a:t>NodePort — opens a port on every node for external access (30000–32767).</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SERVICES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Services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Give your Pods a stable address. Pod IPs change constantly; a Service provides one durable endpoint with built-in load balancing. You'll expose TaskBoard internally with ClusterIP and externally with NodePort,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Expose a Deployment with ClusterIP (internal) and NodePort (external) Services.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delete · apiVersion: v1 · » ClusterIP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ClusterIP (internal)</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 --replicas=2</a:t>
            </a:r>
          </a:p>
          <a:p>
            <a:pPr>
              <a:spcBef>
                <a:spcPts val="0"/>
              </a:spcBef>
              <a:spcAft>
                <a:spcPts val="0"/>
              </a:spcAft>
            </a:pPr>
            <a:r>
              <a:rPr sz="1050">
                <a:solidFill>
                  <a:srgbClr val="161B26"/>
                </a:solidFill>
                <a:latin typeface="Consolas"/>
              </a:rPr>
              <a:t>kubectl expose deployment taskboard --port=80 --target-port=80</a:t>
            </a:r>
          </a:p>
          <a:p>
            <a:pPr>
              <a:spcBef>
                <a:spcPts val="0"/>
              </a:spcBef>
              <a:spcAft>
                <a:spcPts val="0"/>
              </a:spcAft>
            </a:pPr>
            <a:r>
              <a:rPr sz="1050">
                <a:solidFill>
                  <a:srgbClr val="161B26"/>
                </a:solidFill>
                <a:latin typeface="Consolas"/>
              </a:rPr>
              <a:t>kubectl get service taskboard</a:t>
            </a:r>
          </a:p>
          <a:p>
            <a:pPr>
              <a:spcBef>
                <a:spcPts val="0"/>
              </a:spcBef>
              <a:spcAft>
                <a:spcPts val="0"/>
              </a:spcAft>
            </a:pPr>
            <a:r>
              <a:rPr sz="1050">
                <a:solidFill>
                  <a:srgbClr val="161B26"/>
                </a:solidFill>
                <a:latin typeface="Consolas"/>
              </a:rPr>
              <a:t>kubectl get endpoints taskboard      # the Pod IPs behind the Service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NodePort (external)</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service taskboard</a:t>
            </a:r>
          </a:p>
          <a:p>
            <a:pPr>
              <a:spcBef>
                <a:spcPts val="0"/>
              </a:spcBef>
              <a:spcAft>
                <a:spcPts val="0"/>
              </a:spcAft>
            </a:pPr>
            <a:r>
              <a:rPr sz="1050">
                <a:solidFill>
                  <a:srgbClr val="161B26"/>
                </a:solidFill>
                <a:latin typeface="Consolas"/>
              </a:rPr>
              <a:t>kubectl expose deployment taskboard \</a:t>
            </a:r>
          </a:p>
          <a:p>
            <a:pPr>
              <a:spcBef>
                <a:spcPts val="0"/>
              </a:spcBef>
              <a:spcAft>
                <a:spcPts val="0"/>
              </a:spcAft>
            </a:pPr>
            <a:r>
              <a:rPr sz="1050">
                <a:solidFill>
                  <a:srgbClr val="161B26"/>
                </a:solidFill>
                <a:latin typeface="Consolas"/>
              </a:rPr>
              <a:t>  --type=NodePort --port=80 --target-port=80</a:t>
            </a:r>
          </a:p>
          <a:p>
            <a:pPr>
              <a:spcBef>
                <a:spcPts val="0"/>
              </a:spcBef>
              <a:spcAft>
                <a:spcPts val="0"/>
              </a:spcAft>
            </a:pPr>
            <a:r>
              <a:rPr sz="1050">
                <a:solidFill>
                  <a:srgbClr val="161B26"/>
                </a:solidFill>
                <a:latin typeface="Consolas"/>
              </a:rPr>
              <a:t>kubectl get service taskboard         # note the 3xxxx 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(Service + Deployment 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Service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taskboard-svc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type: NodePort</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port: 80</a:t>
            </a:r>
          </a:p>
          <a:p>
            <a:pPr>
              <a:spcBef>
                <a:spcPts val="0"/>
              </a:spcBef>
              <a:spcAft>
                <a:spcPts val="0"/>
              </a:spcAft>
            </a:pPr>
            <a:r>
              <a:rPr sz="1050">
                <a:solidFill>
                  <a:srgbClr val="161B26"/>
                </a:solidFill>
                <a:latin typeface="Consolas"/>
              </a:rPr>
              <a:t>      targetPort: 80</a:t>
            </a:r>
          </a:p>
          <a:p>
            <a:pPr>
              <a:spcBef>
                <a:spcPts val="0"/>
              </a:spcBef>
              <a:spcAft>
                <a:spcPts val="0"/>
              </a:spcAft>
            </a:pPr>
            <a:r>
              <a:rPr sz="1050">
                <a:solidFill>
                  <a:srgbClr val="161B26"/>
                </a:solidFill>
                <a:latin typeface="Consolas"/>
              </a:rPr>
              <a:t>      nodePort: 30080</a:t>
            </a:r>
          </a:p>
        </p:txBody>
      </p:sp>
      <p:sp>
        <p:nvSpPr>
          <p:cNvPr id="11" name="Rounded Rectangle 10"/>
          <p:cNvSpPr/>
          <p:nvPr/>
        </p:nvSpPr>
        <p:spPr>
          <a:xfrm>
            <a:off x="777240" y="465429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 service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apply -f service.yaml</a:t>
            </a:r>
          </a:p>
          <a:p>
            <a:pPr>
              <a:spcBef>
                <a:spcPts val="0"/>
              </a:spcBef>
              <a:spcAft>
                <a:spcPts val="0"/>
              </a:spcAft>
            </a:pPr>
            <a:r>
              <a:rPr sz="1050">
                <a:solidFill>
                  <a:srgbClr val="161B26"/>
                </a:solidFill>
                <a:latin typeface="Consolas"/>
              </a:rPr>
              <a:t>kubectl get svc taskboard-svc          # NodePort 30080</a:t>
            </a:r>
          </a:p>
          <a:p>
            <a:pPr>
              <a:spcBef>
                <a:spcPts val="0"/>
              </a:spcBef>
              <a:spcAft>
                <a:spcPts val="0"/>
              </a:spcAft>
            </a:pPr>
            <a:r>
              <a:rPr sz="1050">
                <a:solidFill>
                  <a:srgbClr val="161B26"/>
                </a:solidFill>
                <a:latin typeface="Consolas"/>
              </a:rPr>
              <a:t>kubectl delete -f service.yaml -f deployment.yaml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ClusterIP is internal-only (service-to-service). NodePort opens a port on every node for outside access. In the cloud, LoadBalancer fronts NodePort with a real external IP.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endpoints taskboard lists 2 Pod IPs behind the Service, and the NodePort Service shows a port in the 30000–32767 range.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https://killercoda.com/tertiary-labs/course/killercoda/day2-04-k8s-services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Storage, Jobs &amp; CronJobs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&amp; run batch work</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 &amp; 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 &amp; Batch Workloads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emptyDir — scratch storage shared by containers in a Pod (lost with the Pod).</a:t>
            </a:r>
          </a:p>
          <a:p>
            <a:pPr>
              <a:spcBef>
                <a:spcPts val="0"/>
              </a:spcBef>
              <a:spcAft>
                <a:spcPts val="1000"/>
              </a:spcAft>
            </a:pPr>
            <a:r>
              <a:rPr sz="1900" b="1">
                <a:solidFill>
                  <a:srgbClr val="1F6FEB"/>
                </a:solidFill>
                <a:latin typeface="Arial"/>
              </a:rPr>
              <a:t>•  </a:t>
            </a:r>
            <a:r>
              <a:rPr sz="1900">
                <a:solidFill>
                  <a:srgbClr val="161B26"/>
                </a:solidFill>
                <a:latin typeface="Arial"/>
              </a:rPr>
              <a:t>PersistentVolume (PV) + PersistentVolumeClaim (PVC) — durable storage that outlives Pods.</a:t>
            </a:r>
          </a:p>
          <a:p>
            <a:pPr>
              <a:spcBef>
                <a:spcPts val="0"/>
              </a:spcBef>
              <a:spcAft>
                <a:spcPts val="1000"/>
              </a:spcAft>
            </a:pPr>
            <a:r>
              <a:rPr sz="1900" b="1">
                <a:solidFill>
                  <a:srgbClr val="1F6FEB"/>
                </a:solidFill>
                <a:latin typeface="Arial"/>
              </a:rPr>
              <a:t>•  </a:t>
            </a:r>
            <a:r>
              <a:rPr sz="1900">
                <a:solidFill>
                  <a:srgbClr val="161B26"/>
                </a:solidFill>
                <a:latin typeface="Arial"/>
              </a:rPr>
              <a:t>A Job runs Pods to completion (e.g. a report); it doesn't restart on success.</a:t>
            </a:r>
          </a:p>
          <a:p>
            <a:pPr>
              <a:spcBef>
                <a:spcPts val="0"/>
              </a:spcBef>
              <a:spcAft>
                <a:spcPts val="1000"/>
              </a:spcAft>
            </a:pPr>
            <a:r>
              <a:rPr sz="1900" b="1">
                <a:solidFill>
                  <a:srgbClr val="1F6FEB"/>
                </a:solidFill>
                <a:latin typeface="Arial"/>
              </a:rPr>
              <a:t>•  </a:t>
            </a:r>
            <a:r>
              <a:rPr sz="1900">
                <a:solidFill>
                  <a:srgbClr val="161B26"/>
                </a:solidFill>
                <a:latin typeface="Arial"/>
              </a:rPr>
              <a:t>A CronJob runs Jobs on a schedule (standard cron syntax).</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Persist data in Kubernetes. You'll share a scratch directory between two containers with emptyDir, then provision durable storage with a PersistentVolume and claim it with a PersistentVolumeClaim so data survives Pod deletion.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Share data with emptyDir; provision durable storage with a PV + PVC.</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apiVersion: v1 · kubectl apply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emptyDir (shared, temporary)</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shared-pod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 from writer' &gt;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5 &amp;&amp; cat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emptyDir: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emptydir-pod.yaml</a:t>
            </a:r>
          </a:p>
          <a:p>
            <a:pPr>
              <a:spcBef>
                <a:spcPts val="0"/>
              </a:spcBef>
              <a:spcAft>
                <a:spcPts val="0"/>
              </a:spcAft>
            </a:pPr>
            <a:r>
              <a:rPr sz="1050">
                <a:solidFill>
                  <a:srgbClr val="161B26"/>
                </a:solidFill>
                <a:latin typeface="Consolas"/>
              </a:rPr>
              <a:t>kubectl exec shared-pod -c reader -- cat /data/message.txt</a:t>
            </a:r>
          </a:p>
          <a:p>
            <a:pPr>
              <a:spcBef>
                <a:spcPts val="0"/>
              </a:spcBef>
              <a:spcAft>
                <a:spcPts val="0"/>
              </a:spcAft>
            </a:pPr>
            <a:r>
              <a:rPr sz="1050">
                <a:solidFill>
                  <a:srgbClr val="161B26"/>
                </a:solidFill>
                <a:latin typeface="Consolas"/>
              </a:rPr>
              <a:t>kubectl delete pod shared-pod      # emptyDir data is gone</a:t>
            </a:r>
          </a:p>
        </p:txBody>
      </p:sp>
      <p:sp>
        <p:nvSpPr>
          <p:cNvPr id="10" name="TextBox 9"/>
          <p:cNvSpPr txBox="1"/>
          <p:nvPr/>
        </p:nvSpPr>
        <p:spPr>
          <a:xfrm>
            <a:off x="777240" y="25831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PersistentVolume &amp; Claim (durable)</a:t>
            </a:r>
          </a:p>
        </p:txBody>
      </p:sp>
      <p:sp>
        <p:nvSpPr>
          <p:cNvPr id="11" name="Rounded Rectangle 10"/>
          <p:cNvSpPr/>
          <p:nvPr/>
        </p:nvSpPr>
        <p:spPr>
          <a:xfrm>
            <a:off x="777240" y="29672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672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0312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pv.yaml</a:t>
            </a:r>
          </a:p>
          <a:p>
            <a:pPr>
              <a:spcBef>
                <a:spcPts val="0"/>
              </a:spcBef>
              <a:spcAft>
                <a:spcPts val="0"/>
              </a:spcAft>
            </a:pPr>
            <a:r>
              <a:rPr sz="1050">
                <a:solidFill>
                  <a:srgbClr val="161B26"/>
                </a:solidFill>
                <a:latin typeface="Consolas"/>
              </a:rPr>
              <a:t>kubectl apply -f pvc.yaml</a:t>
            </a:r>
          </a:p>
          <a:p>
            <a:pPr>
              <a:spcBef>
                <a:spcPts val="0"/>
              </a:spcBef>
              <a:spcAft>
                <a:spcPts val="0"/>
              </a:spcAft>
            </a:pPr>
            <a:r>
              <a:rPr sz="1050">
                <a:solidFill>
                  <a:srgbClr val="161B26"/>
                </a:solidFill>
                <a:latin typeface="Consolas"/>
              </a:rPr>
              <a:t>kubectl get pv,pvc                 # both should show Bound</a:t>
            </a:r>
          </a:p>
        </p:txBody>
      </p:sp>
      <p:sp>
        <p:nvSpPr>
          <p:cNvPr id="14" name="Rounded Rectangle 13"/>
          <p:cNvSpPr/>
          <p:nvPr/>
        </p:nvSpPr>
        <p:spPr>
          <a:xfrm>
            <a:off x="777240" y="385876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85876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2277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pod-with-pvc.yaml</a:t>
            </a:r>
          </a:p>
          <a:p>
            <a:pPr>
              <a:spcBef>
                <a:spcPts val="0"/>
              </a:spcBef>
              <a:spcAft>
                <a:spcPts val="0"/>
              </a:spcAft>
            </a:pPr>
            <a:r>
              <a:rPr sz="1050">
                <a:solidFill>
                  <a:srgbClr val="161B26"/>
                </a:solidFill>
                <a:latin typeface="Consolas"/>
              </a:rPr>
              <a:t>kubectl exec pvc-pod -- cat /data/file.txt</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apply -f pod-with-pvc.yaml # recreate...</a:t>
            </a:r>
          </a:p>
          <a:p>
            <a:pPr>
              <a:spcBef>
                <a:spcPts val="0"/>
              </a:spcBef>
              <a:spcAft>
                <a:spcPts val="0"/>
              </a:spcAft>
            </a:pPr>
            <a:r>
              <a:rPr sz="1050">
                <a:solidFill>
                  <a:srgbClr val="161B26"/>
                </a:solidFill>
                <a:latin typeface="Consolas"/>
              </a:rPr>
              <a:t>kubectl exec pvc-pod -- cat /data/file.txt   # ...data is still there</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delete -f pvc.yaml -f pv.yaml</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PV/PVC pattern is how a real TaskBoard Postgres database keeps its data in Kubernetes — storage outlives any individual Pod.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deleting and recreating pvc-pod, kubectl exec pvc-pod -- cat /data/file.txt still prints persistent data — the PVC kept it across Pod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JOBS &amp; CRONJOBS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Jobs &amp; CronJobs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work that finishes (unlike a web server that runs forever). A Job runs Pods to completion — perfect for a TaskBoard report — and a CronJob runs Jobs on a schedule, perfect for a nightly cleanup.</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 batch Job (report) to completion and a scheduled CronJob (cleanup).</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apiVersion: batch/v1 · kubectl apply · » Jobs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Job (run to completion)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job hello --image=busybox -- echo 'Hello from a Job!'</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job/hello</a:t>
            </a:r>
          </a:p>
          <a:p>
            <a:pPr>
              <a:spcBef>
                <a:spcPts val="0"/>
              </a:spcBef>
              <a:spcAft>
                <a:spcPts val="0"/>
              </a:spcAft>
            </a:pPr>
            <a:r>
              <a:rPr sz="1050">
                <a:solidFill>
                  <a:srgbClr val="161B26"/>
                </a:solidFill>
                <a:latin typeface="Consolas"/>
              </a:rPr>
              <a:t>kubectl delete job hello</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Declarative — 3 completions, 2 running in parallel:</a:t>
            </a:r>
          </a:p>
        </p:txBody>
      </p:sp>
      <p:sp>
        <p:nvSpPr>
          <p:cNvPr id="8" name="Rounded Rectangle 7"/>
          <p:cNvSpPr/>
          <p:nvPr/>
        </p:nvSpPr>
        <p:spPr>
          <a:xfrm>
            <a:off x="777240" y="2075688"/>
            <a:ext cx="10652760" cy="277063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7706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67919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taskboard-report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completions: 3</a:t>
            </a:r>
          </a:p>
          <a:p>
            <a:pPr>
              <a:spcBef>
                <a:spcPts val="0"/>
              </a:spcBef>
              <a:spcAft>
                <a:spcPts val="0"/>
              </a:spcAft>
            </a:pPr>
            <a:r>
              <a:rPr sz="1050">
                <a:solidFill>
                  <a:srgbClr val="161B26"/>
                </a:solidFill>
                <a:latin typeface="Consolas"/>
              </a:rPr>
              <a:t>  parallelism: 2</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report</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'Generating TaskBoard report...'; sleep 5; echo done"]</a:t>
            </a:r>
          </a:p>
        </p:txBody>
      </p:sp>
      <p:sp>
        <p:nvSpPr>
          <p:cNvPr id="11" name="Rounded Rectangle 10"/>
          <p:cNvSpPr/>
          <p:nvPr/>
        </p:nvSpPr>
        <p:spPr>
          <a:xfrm>
            <a:off x="777240" y="502920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02920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509320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job.yaml</a:t>
            </a:r>
          </a:p>
          <a:p>
            <a:pPr>
              <a:spcBef>
                <a:spcPts val="0"/>
              </a:spcBef>
              <a:spcAft>
                <a:spcPts val="0"/>
              </a:spcAft>
            </a:pPr>
            <a:r>
              <a:rPr sz="1050">
                <a:solidFill>
                  <a:srgbClr val="161B26"/>
                </a:solidFill>
                <a:latin typeface="Consolas"/>
              </a:rPr>
              <a:t>kubectl get pods                 # up to 2 running at once</a:t>
            </a:r>
          </a:p>
          <a:p>
            <a:pPr>
              <a:spcBef>
                <a:spcPts val="0"/>
              </a:spcBef>
              <a:spcAft>
                <a:spcPts val="0"/>
              </a:spcAft>
            </a:pPr>
            <a:r>
              <a:rPr sz="1050">
                <a:solidFill>
                  <a:srgbClr val="161B26"/>
                </a:solidFill>
                <a:latin typeface="Consolas"/>
              </a:rPr>
              <a:t>kubectl get job taskboard-report # COMPLETIONS climbs to 3/3</a:t>
            </a:r>
          </a:p>
          <a:p>
            <a:pPr>
              <a:spcBef>
                <a:spcPts val="0"/>
              </a:spcBef>
              <a:spcAft>
                <a:spcPts val="0"/>
              </a:spcAft>
            </a:pPr>
            <a:r>
              <a:rPr sz="1050">
                <a:solidFill>
                  <a:srgbClr val="161B26"/>
                </a:solidFill>
                <a:latin typeface="Consolas"/>
              </a:rPr>
              <a:t>kubectl delete -f job.yaml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CronJob (scheduled)</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CronJob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taskboard-cleanup</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schedule: "*/1 * * * *"     # every minute (demo); real cleanup might be nightly</a:t>
            </a:r>
          </a:p>
          <a:p>
            <a:pPr>
              <a:spcBef>
                <a:spcPts val="0"/>
              </a:spcBef>
              <a:spcAft>
                <a:spcPts val="0"/>
              </a:spcAft>
            </a:pPr>
            <a:r>
              <a:rPr sz="1050">
                <a:solidFill>
                  <a:srgbClr val="161B26"/>
                </a:solidFill>
                <a:latin typeface="Consolas"/>
              </a:rPr>
              <a:t>  jobTemplate: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cleanup</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'Cleaning up old TaskBoard sessions...'; date"]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cronjob.yaml</a:t>
            </a:r>
          </a:p>
          <a:p>
            <a:pPr>
              <a:spcBef>
                <a:spcPts val="0"/>
              </a:spcBef>
              <a:spcAft>
                <a:spcPts val="0"/>
              </a:spcAft>
            </a:pPr>
            <a:r>
              <a:rPr sz="1050">
                <a:solidFill>
                  <a:srgbClr val="161B26"/>
                </a:solidFill>
                <a:latin typeface="Consolas"/>
              </a:rPr>
              <a:t>kubectl get cronjob taskboard-cleanup</a:t>
            </a:r>
          </a:p>
          <a:p>
            <a:pPr>
              <a:spcBef>
                <a:spcPts val="0"/>
              </a:spcBef>
              <a:spcAft>
                <a:spcPts val="0"/>
              </a:spcAft>
            </a:pPr>
            <a:r>
              <a:rPr sz="1050">
                <a:solidFill>
                  <a:srgbClr val="161B26"/>
                </a:solidFill>
                <a:latin typeface="Consolas"/>
              </a:rPr>
              <a:t># wait ~1 minute for the first Job to be created:</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job/&lt;created-job-name&gt;</a:t>
            </a:r>
          </a:p>
          <a:p>
            <a:pPr>
              <a:spcBef>
                <a:spcPts val="0"/>
              </a:spcBef>
              <a:spcAft>
                <a:spcPts val="0"/>
              </a:spcAft>
            </a:pPr>
            <a:r>
              <a:rPr sz="1050">
                <a:solidFill>
                  <a:srgbClr val="161B26"/>
                </a:solidFill>
                <a:latin typeface="Consolas"/>
              </a:rPr>
              <a:t>kubectl delete -f cronjob.yaml</a:t>
            </a:r>
          </a:p>
        </p:txBody>
      </p:sp>
      <p:sp>
        <p:nvSpPr>
          <p:cNvPr id="10" name="TextBox 9"/>
          <p:cNvSpPr txBox="1"/>
          <p:nvPr/>
        </p:nvSpPr>
        <p:spPr>
          <a:xfrm>
            <a:off x="777240" y="3145536"/>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Jobs use restartPolicy: Never and do not restart after success — unlike a Deployment, which keeps Pods running forever. CronJobs use standard cron syntax.</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job taskboard-report reaches 3/3 completions, and after ~1 minute the CronJob has spawned at least one Job visible in kubectl get jobs.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CLOSING</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Assessment &amp; Wrap-up</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Held on Day 2 from 4:00 PM</a:t>
            </a:r>
          </a:p>
          <a:p>
            <a:pPr>
              <a:spcBef>
                <a:spcPts val="0"/>
              </a:spcBef>
              <a:spcAft>
                <a:spcPts val="1000"/>
              </a:spcAft>
            </a:pPr>
            <a:r>
              <a:rPr sz="1300" b="1">
                <a:solidFill>
                  <a:srgbClr val="1F6FEB"/>
                </a:solidFill>
                <a:latin typeface="Arial"/>
              </a:rPr>
              <a:t>•  </a:t>
            </a:r>
            <a:r>
              <a:rPr sz="1300">
                <a:solidFill>
                  <a:srgbClr val="161B26"/>
                </a:solidFill>
                <a:latin typeface="Arial"/>
              </a:rPr>
              <a:t>Covers Docker &amp; Kubernetes concepts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&amp; Learner Guide</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 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40"/>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At the assessment stage, follow these five steps in order.</a:t>
            </a:r>
          </a:p>
        </p:txBody>
      </p:sp>
      <p:sp>
        <p:nvSpPr>
          <p:cNvPr id="8" name="Rounded Rectangle 7"/>
          <p:cNvSpPr/>
          <p:nvPr/>
        </p:nvSpPr>
        <p:spPr>
          <a:xfrm>
            <a:off x="777240" y="2148840"/>
            <a:ext cx="1837944" cy="24688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8740"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qr.png"/>
          <p:cNvPicPr>
            <a:picLocks noChangeAspect="1"/>
          </p:cNvPicPr>
          <p:nvPr/>
        </p:nvPicPr>
        <p:blipFill>
          <a:blip r:embed="rId2"/>
          <a:stretch>
            <a:fillRect/>
          </a:stretch>
        </p:blipFill>
        <p:spPr>
          <a:xfrm>
            <a:off x="1536374" y="2565074"/>
            <a:ext cx="319676" cy="319676"/>
          </a:xfrm>
          <a:prstGeom prst="rect">
            <a:avLst/>
          </a:prstGeom>
        </p:spPr>
      </p:pic>
      <p:sp>
        <p:nvSpPr>
          <p:cNvPr id="11" name="TextBox 10"/>
          <p:cNvSpPr txBox="1"/>
          <p:nvPr/>
        </p:nvSpPr>
        <p:spPr>
          <a:xfrm>
            <a:off x="868680"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1</a:t>
            </a:r>
          </a:p>
        </p:txBody>
      </p:sp>
      <p:sp>
        <p:nvSpPr>
          <p:cNvPr id="12" name="TextBox 11"/>
          <p:cNvSpPr txBox="1"/>
          <p:nvPr/>
        </p:nvSpPr>
        <p:spPr>
          <a:xfrm>
            <a:off x="850392"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TRAQOM</a:t>
            </a:r>
          </a:p>
        </p:txBody>
      </p:sp>
      <p:sp>
        <p:nvSpPr>
          <p:cNvPr id="13" name="TextBox 12"/>
          <p:cNvSpPr txBox="1"/>
          <p:nvPr/>
        </p:nvSpPr>
        <p:spPr>
          <a:xfrm>
            <a:off x="886968"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Scan the TRAQOM QR code on the LMS and complete the survey.</a:t>
            </a:r>
          </a:p>
        </p:txBody>
      </p:sp>
      <p:sp>
        <p:nvSpPr>
          <p:cNvPr id="14" name="TextBox 13"/>
          <p:cNvSpPr txBox="1"/>
          <p:nvPr/>
        </p:nvSpPr>
        <p:spPr>
          <a:xfrm>
            <a:off x="2651760"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15" name="Rounded Rectangle 14"/>
          <p:cNvSpPr/>
          <p:nvPr/>
        </p:nvSpPr>
        <p:spPr>
          <a:xfrm>
            <a:off x="2980944" y="2148840"/>
            <a:ext cx="1837944" cy="24688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2444"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attend.png"/>
          <p:cNvPicPr>
            <a:picLocks noChangeAspect="1"/>
          </p:cNvPicPr>
          <p:nvPr/>
        </p:nvPicPr>
        <p:blipFill>
          <a:blip r:embed="rId3"/>
          <a:stretch>
            <a:fillRect/>
          </a:stretch>
        </p:blipFill>
        <p:spPr>
          <a:xfrm>
            <a:off x="3740078" y="2565074"/>
            <a:ext cx="319676" cy="319676"/>
          </a:xfrm>
          <a:prstGeom prst="rect">
            <a:avLst/>
          </a:prstGeom>
        </p:spPr>
      </p:pic>
      <p:sp>
        <p:nvSpPr>
          <p:cNvPr id="18" name="TextBox 17"/>
          <p:cNvSpPr txBox="1"/>
          <p:nvPr/>
        </p:nvSpPr>
        <p:spPr>
          <a:xfrm>
            <a:off x="3072384"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2</a:t>
            </a:r>
          </a:p>
        </p:txBody>
      </p:sp>
      <p:sp>
        <p:nvSpPr>
          <p:cNvPr id="19" name="TextBox 18"/>
          <p:cNvSpPr txBox="1"/>
          <p:nvPr/>
        </p:nvSpPr>
        <p:spPr>
          <a:xfrm>
            <a:off x="3054096"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Attendance</a:t>
            </a:r>
          </a:p>
        </p:txBody>
      </p:sp>
      <p:sp>
        <p:nvSpPr>
          <p:cNvPr id="20" name="TextBox 19"/>
          <p:cNvSpPr txBox="1"/>
          <p:nvPr/>
        </p:nvSpPr>
        <p:spPr>
          <a:xfrm>
            <a:off x="3090672"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Take the assessment digital attendance.</a:t>
            </a:r>
          </a:p>
        </p:txBody>
      </p:sp>
      <p:sp>
        <p:nvSpPr>
          <p:cNvPr id="21" name="TextBox 20"/>
          <p:cNvSpPr txBox="1"/>
          <p:nvPr/>
        </p:nvSpPr>
        <p:spPr>
          <a:xfrm>
            <a:off x="4855464"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22" name="Rounded Rectangle 21"/>
          <p:cNvSpPr/>
          <p:nvPr/>
        </p:nvSpPr>
        <p:spPr>
          <a:xfrm>
            <a:off x="5184648" y="2148840"/>
            <a:ext cx="1837944" cy="24688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56148"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clip.png"/>
          <p:cNvPicPr>
            <a:picLocks noChangeAspect="1"/>
          </p:cNvPicPr>
          <p:nvPr/>
        </p:nvPicPr>
        <p:blipFill>
          <a:blip r:embed="rId4"/>
          <a:stretch>
            <a:fillRect/>
          </a:stretch>
        </p:blipFill>
        <p:spPr>
          <a:xfrm>
            <a:off x="5943782" y="2565074"/>
            <a:ext cx="319676" cy="319676"/>
          </a:xfrm>
          <a:prstGeom prst="rect">
            <a:avLst/>
          </a:prstGeom>
        </p:spPr>
      </p:pic>
      <p:sp>
        <p:nvSpPr>
          <p:cNvPr id="25" name="TextBox 24"/>
          <p:cNvSpPr txBox="1"/>
          <p:nvPr/>
        </p:nvSpPr>
        <p:spPr>
          <a:xfrm>
            <a:off x="5276088"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3</a:t>
            </a:r>
          </a:p>
        </p:txBody>
      </p:sp>
      <p:sp>
        <p:nvSpPr>
          <p:cNvPr id="26" name="TextBox 25"/>
          <p:cNvSpPr txBox="1"/>
          <p:nvPr/>
        </p:nvSpPr>
        <p:spPr>
          <a:xfrm>
            <a:off x="5257800"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Assessment</a:t>
            </a:r>
          </a:p>
        </p:txBody>
      </p:sp>
      <p:sp>
        <p:nvSpPr>
          <p:cNvPr id="27" name="TextBox 26"/>
          <p:cNvSpPr txBox="1"/>
          <p:nvPr/>
        </p:nvSpPr>
        <p:spPr>
          <a:xfrm>
            <a:off x="5294376"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Complete the written / MCQ assessment on the LMS.</a:t>
            </a:r>
          </a:p>
        </p:txBody>
      </p:sp>
      <p:sp>
        <p:nvSpPr>
          <p:cNvPr id="28" name="TextBox 27"/>
          <p:cNvSpPr txBox="1"/>
          <p:nvPr/>
        </p:nvSpPr>
        <p:spPr>
          <a:xfrm>
            <a:off x="7059168"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29" name="Rounded Rectangle 28"/>
          <p:cNvSpPr/>
          <p:nvPr/>
        </p:nvSpPr>
        <p:spPr>
          <a:xfrm>
            <a:off x="7388352" y="2148840"/>
            <a:ext cx="1837944" cy="24688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59852"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_upload.png"/>
          <p:cNvPicPr>
            <a:picLocks noChangeAspect="1"/>
          </p:cNvPicPr>
          <p:nvPr/>
        </p:nvPicPr>
        <p:blipFill>
          <a:blip r:embed="rId5"/>
          <a:stretch>
            <a:fillRect/>
          </a:stretch>
        </p:blipFill>
        <p:spPr>
          <a:xfrm>
            <a:off x="8147486" y="2565074"/>
            <a:ext cx="319676" cy="319676"/>
          </a:xfrm>
          <a:prstGeom prst="rect">
            <a:avLst/>
          </a:prstGeom>
        </p:spPr>
      </p:pic>
      <p:sp>
        <p:nvSpPr>
          <p:cNvPr id="32" name="TextBox 31"/>
          <p:cNvSpPr txBox="1"/>
          <p:nvPr/>
        </p:nvSpPr>
        <p:spPr>
          <a:xfrm>
            <a:off x="7479792"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4</a:t>
            </a:r>
          </a:p>
        </p:txBody>
      </p:sp>
      <p:sp>
        <p:nvSpPr>
          <p:cNvPr id="33" name="TextBox 32"/>
          <p:cNvSpPr txBox="1"/>
          <p:nvPr/>
        </p:nvSpPr>
        <p:spPr>
          <a:xfrm>
            <a:off x="7461504"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Submit Answers</a:t>
            </a:r>
          </a:p>
        </p:txBody>
      </p:sp>
      <p:sp>
        <p:nvSpPr>
          <p:cNvPr id="34" name="TextBox 33"/>
          <p:cNvSpPr txBox="1"/>
          <p:nvPr/>
        </p:nvSpPr>
        <p:spPr>
          <a:xfrm>
            <a:off x="7498080"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Submit your assessment answers on the LMS.</a:t>
            </a:r>
          </a:p>
        </p:txBody>
      </p:sp>
      <p:sp>
        <p:nvSpPr>
          <p:cNvPr id="35" name="TextBox 34"/>
          <p:cNvSpPr txBox="1"/>
          <p:nvPr/>
        </p:nvSpPr>
        <p:spPr>
          <a:xfrm>
            <a:off x="9262872"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36" name="Rounded Rectangle 35"/>
          <p:cNvSpPr/>
          <p:nvPr/>
        </p:nvSpPr>
        <p:spPr>
          <a:xfrm>
            <a:off x="9592056" y="2148840"/>
            <a:ext cx="1837944" cy="24688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63556"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sign.png"/>
          <p:cNvPicPr>
            <a:picLocks noChangeAspect="1"/>
          </p:cNvPicPr>
          <p:nvPr/>
        </p:nvPicPr>
        <p:blipFill>
          <a:blip r:embed="rId6"/>
          <a:stretch>
            <a:fillRect/>
          </a:stretch>
        </p:blipFill>
        <p:spPr>
          <a:xfrm>
            <a:off x="10351190" y="2565074"/>
            <a:ext cx="319676" cy="319676"/>
          </a:xfrm>
          <a:prstGeom prst="rect">
            <a:avLst/>
          </a:prstGeom>
        </p:spPr>
      </p:pic>
      <p:sp>
        <p:nvSpPr>
          <p:cNvPr id="39" name="TextBox 38"/>
          <p:cNvSpPr txBox="1"/>
          <p:nvPr/>
        </p:nvSpPr>
        <p:spPr>
          <a:xfrm>
            <a:off x="9683496"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5</a:t>
            </a:r>
          </a:p>
        </p:txBody>
      </p:sp>
      <p:sp>
        <p:nvSpPr>
          <p:cNvPr id="40" name="TextBox 39"/>
          <p:cNvSpPr txBox="1"/>
          <p:nvPr/>
        </p:nvSpPr>
        <p:spPr>
          <a:xfrm>
            <a:off x="9665208"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Sign the Record</a:t>
            </a:r>
          </a:p>
        </p:txBody>
      </p:sp>
      <p:sp>
        <p:nvSpPr>
          <p:cNvPr id="41" name="TextBox 40"/>
          <p:cNvSpPr txBox="1"/>
          <p:nvPr/>
        </p:nvSpPr>
        <p:spPr>
          <a:xfrm>
            <a:off x="9701784"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Sign your Assessment Summary Record.</a:t>
            </a:r>
          </a:p>
        </p:txBody>
      </p:sp>
      <p:sp>
        <p:nvSpPr>
          <p:cNvPr id="42" name="TextBox 41"/>
          <p:cNvSpPr txBox="1"/>
          <p:nvPr/>
        </p:nvSpPr>
        <p:spPr>
          <a:xfrm>
            <a:off x="777240" y="5029200"/>
            <a:ext cx="1060704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TIP   </a:t>
            </a:r>
            <a:r>
              <a:rPr sz="1300" b="0">
                <a:solidFill>
                  <a:srgbClr val="5B6372"/>
                </a:solidFill>
                <a:latin typeface="Arial"/>
              </a:rPr>
              <a:t>Courseware &amp; the assessment are on the LMS:  https://lms.tertiaryinfotech.com</a:t>
            </a:r>
          </a:p>
        </p:txBody>
      </p:sp>
      <p:sp>
        <p:nvSpPr>
          <p:cNvPr id="43" name="TextBox 4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44" name="TextBox 4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5" name="TextBox 4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BEFORE YOU GO</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Certification &amp; TRAQOM Survey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5257800" cy="32918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 y="215798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survey.png"/>
          <p:cNvPicPr>
            <a:picLocks noChangeAspect="1"/>
          </p:cNvPicPr>
          <p:nvPr/>
        </p:nvPicPr>
        <p:blipFill>
          <a:blip r:embed="rId2"/>
          <a:stretch>
            <a:fillRect/>
          </a:stretch>
        </p:blipFill>
        <p:spPr>
          <a:xfrm>
            <a:off x="1298996" y="2350556"/>
            <a:ext cx="328088" cy="328088"/>
          </a:xfrm>
          <a:prstGeom prst="rect">
            <a:avLst/>
          </a:prstGeom>
        </p:spPr>
      </p:pic>
      <p:sp>
        <p:nvSpPr>
          <p:cNvPr id="10" name="TextBox 9"/>
          <p:cNvSpPr txBox="1"/>
          <p:nvPr/>
        </p:nvSpPr>
        <p:spPr>
          <a:xfrm>
            <a:off x="2057400" y="2157984"/>
            <a:ext cx="3886200" cy="713232"/>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TRAQOM Survey (Mandatory)</a:t>
            </a:r>
          </a:p>
        </p:txBody>
      </p:sp>
      <p:sp>
        <p:nvSpPr>
          <p:cNvPr id="11" name="TextBox 10"/>
          <p:cNvSpPr txBox="1"/>
          <p:nvPr/>
        </p:nvSpPr>
        <p:spPr>
          <a:xfrm>
            <a:off x="1106424" y="3200400"/>
            <a:ext cx="4599432" cy="1463040"/>
          </a:xfrm>
          <a:prstGeom prst="rect">
            <a:avLst/>
          </a:prstGeom>
          <a:noFill/>
        </p:spPr>
        <p:txBody>
          <a:bodyPr wrap="square" anchor="t" lIns="0" rIns="0" tIns="0" bIns="0">
            <a:spAutoFit/>
          </a:bodyPr>
          <a:lstStyle/>
          <a:p>
            <a:pPr algn="l">
              <a:spcBef>
                <a:spcPts val="0"/>
              </a:spcBef>
              <a:spcAft>
                <a:spcPts val="800"/>
              </a:spcAft>
            </a:pPr>
            <a:r>
              <a:rPr sz="1450" b="0">
                <a:solidFill>
                  <a:srgbClr val="161B26"/>
                </a:solidFill>
                <a:latin typeface="Arial"/>
              </a:rPr>
              <a:t>Complete the certification &amp; TRAQOM survey to receive your certificate.</a:t>
            </a:r>
          </a:p>
          <a:p>
            <a:pPr algn="l">
              <a:spcBef>
                <a:spcPts val="0"/>
              </a:spcBef>
              <a:spcAft>
                <a:spcPts val="800"/>
              </a:spcAft>
            </a:pPr>
            <a:r>
              <a:rPr sz="1450" b="1">
                <a:solidFill>
                  <a:srgbClr val="1F6FEB"/>
                </a:solidFill>
                <a:latin typeface="Arial"/>
              </a:rPr>
              <a:t>lms.tertiaryinfotech.com</a:t>
            </a:r>
          </a:p>
        </p:txBody>
      </p:sp>
      <p:sp>
        <p:nvSpPr>
          <p:cNvPr id="12" name="Rounded Rectangle 11"/>
          <p:cNvSpPr/>
          <p:nvPr/>
        </p:nvSpPr>
        <p:spPr>
          <a:xfrm>
            <a:off x="6309360" y="1828800"/>
            <a:ext cx="5257800" cy="329184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38544" y="2157984"/>
            <a:ext cx="713232" cy="713232"/>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5.png"/>
          <p:cNvPicPr>
            <a:picLocks noChangeAspect="1"/>
          </p:cNvPicPr>
          <p:nvPr/>
        </p:nvPicPr>
        <p:blipFill>
          <a:blip r:embed="rId3"/>
          <a:stretch>
            <a:fillRect/>
          </a:stretch>
        </p:blipFill>
        <p:spPr>
          <a:xfrm>
            <a:off x="6831116" y="2350556"/>
            <a:ext cx="328088" cy="328088"/>
          </a:xfrm>
          <a:prstGeom prst="rect">
            <a:avLst/>
          </a:prstGeom>
        </p:spPr>
      </p:pic>
      <p:sp>
        <p:nvSpPr>
          <p:cNvPr id="15" name="TextBox 14"/>
          <p:cNvSpPr txBox="1"/>
          <p:nvPr/>
        </p:nvSpPr>
        <p:spPr>
          <a:xfrm>
            <a:off x="7589520" y="2157984"/>
            <a:ext cx="3886200" cy="713232"/>
          </a:xfrm>
          <a:prstGeom prst="rect">
            <a:avLst/>
          </a:prstGeom>
          <a:noFill/>
        </p:spPr>
        <p:txBody>
          <a:bodyPr wrap="square" anchor="ctr" lIns="0" rIns="0" tIns="0" bIns="0">
            <a:spAutoFit/>
          </a:bodyPr>
          <a:lstStyle/>
          <a:p>
            <a:pPr algn="l">
              <a:spcBef>
                <a:spcPts val="0"/>
              </a:spcBef>
              <a:spcAft>
                <a:spcPts val="400"/>
              </a:spcAft>
            </a:pPr>
            <a:r>
              <a:rPr sz="1700" b="1">
                <a:solidFill>
                  <a:srgbClr val="FFFFFF"/>
                </a:solidFill>
                <a:latin typeface="Arial"/>
              </a:rPr>
              <a:t>Digital Attendance</a:t>
            </a:r>
          </a:p>
        </p:txBody>
      </p:sp>
      <p:sp>
        <p:nvSpPr>
          <p:cNvPr id="16" name="TextBox 15"/>
          <p:cNvSpPr txBox="1"/>
          <p:nvPr/>
        </p:nvSpPr>
        <p:spPr>
          <a:xfrm>
            <a:off x="6638544" y="3200400"/>
            <a:ext cx="4599432" cy="1463040"/>
          </a:xfrm>
          <a:prstGeom prst="rect">
            <a:avLst/>
          </a:prstGeom>
          <a:noFill/>
        </p:spPr>
        <p:txBody>
          <a:bodyPr wrap="square" anchor="t" lIns="0" rIns="0" tIns="0" bIns="0">
            <a:spAutoFit/>
          </a:bodyPr>
          <a:lstStyle/>
          <a:p>
            <a:pPr algn="l">
              <a:spcBef>
                <a:spcPts val="0"/>
              </a:spcBef>
              <a:spcAft>
                <a:spcPts val="400"/>
              </a:spcAft>
            </a:pPr>
            <a:r>
              <a:rPr sz="1450" b="0">
                <a:solidFill>
                  <a:srgbClr val="CFE0FB"/>
                </a:solidFill>
                <a:latin typeface="Arial"/>
              </a:rPr>
              <a:t>Remember to take AM, PM and Assessment digital attendance — required for your funding.</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Congratulations!</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You took one app from a single container to a scaled Kubernetes deployment.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COURSE PORTAL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Login to LMS and Download Course Material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pic>
        <p:nvPicPr>
          <p:cNvPr id="40" name="Picture 39" descr="ref_login.png"/>
          <p:cNvPicPr>
            <a:picLocks noChangeAspect="1"/>
          </p:cNvPicPr>
          <p:nvPr/>
        </p:nvPicPr>
        <p:blipFill>
          <a:blip r:embed="rId8"/>
          <a:stretch>
            <a:fillRect/>
          </a:stretch>
        </p:blipFill>
        <p:spPr>
          <a:xfrm>
            <a:off x="1964965" y="1732788"/>
            <a:ext cx="8261764" cy="4110227"/>
          </a:xfrm>
          <a:prstGeom prst="rect">
            <a:avLst/>
          </a:prstGeom>
          <a:ln w="12700">
            <a:solidFill>
              <a:srgbClr val="E2E8F0"/>
            </a:solidFill>
          </a:ln>
        </p:spPr>
      </p:pic>
      <p:sp>
        <p:nvSpPr>
          <p:cNvPr id="41" name="TextBox 40"/>
          <p:cNvSpPr txBox="1"/>
          <p:nvPr/>
        </p:nvSpPr>
        <p:spPr>
          <a:xfrm>
            <a:off x="731520" y="5925311"/>
            <a:ext cx="1072865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