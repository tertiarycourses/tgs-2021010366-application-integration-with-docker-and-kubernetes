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image" Target="../media/image20.pn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image" Target="../media/image15.png"/><Relationship Id="rId7" Type="http://schemas.openxmlformats.org/officeDocument/2006/relationships/image" Target="../media/image2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image" Target="../media/image3.png"/><Relationship Id="rId4" Type="http://schemas.openxmlformats.org/officeDocument/2006/relationships/image" Target="../media/image18.png"/><Relationship Id="rId5" Type="http://schemas.openxmlformats.org/officeDocument/2006/relationships/image" Target="../media/image25.png"/><Relationship Id="rId6" Type="http://schemas.openxmlformats.org/officeDocument/2006/relationships/image" Target="../media/image26.png"/></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image" Target="../media/image17.png"/></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ertiary-infotech-logo.png"/>
          <p:cNvPicPr>
            <a:picLocks noChangeAspect="1"/>
          </p:cNvPicPr>
          <p:nvPr/>
        </p:nvPicPr>
        <p:blipFill>
          <a:blip r:embed="rId2"/>
          <a:stretch>
            <a:fillRect/>
          </a:stretch>
        </p:blipFill>
        <p:spPr>
          <a:xfrm>
            <a:off x="777240" y="640080"/>
            <a:ext cx="960120" cy="960120"/>
          </a:xfrm>
          <a:prstGeom prst="rect">
            <a:avLst/>
          </a:prstGeom>
        </p:spPr>
      </p:pic>
      <p:pic>
        <p:nvPicPr>
          <p:cNvPr id="6" name="Picture 5" descr="docker-k8s-course-logo.png"/>
          <p:cNvPicPr>
            <a:picLocks noChangeAspect="1"/>
          </p:cNvPicPr>
          <p:nvPr/>
        </p:nvPicPr>
        <p:blipFill>
          <a:blip r:embed="rId3"/>
          <a:stretch>
            <a:fillRect/>
          </a:stretch>
        </p:blipFill>
        <p:spPr>
          <a:xfrm>
            <a:off x="10515600" y="566928"/>
            <a:ext cx="1051560" cy="1051560"/>
          </a:xfrm>
          <a:prstGeom prst="rect">
            <a:avLst/>
          </a:prstGeom>
        </p:spPr>
      </p:pic>
      <p:sp>
        <p:nvSpPr>
          <p:cNvPr id="7" name="TextBox 6"/>
          <p:cNvSpPr txBox="1"/>
          <p:nvPr/>
        </p:nvSpPr>
        <p:spPr>
          <a:xfrm>
            <a:off x="822960" y="2103120"/>
            <a:ext cx="10972800" cy="548640"/>
          </a:xfrm>
          <a:prstGeom prst="rect">
            <a:avLst/>
          </a:prstGeom>
          <a:noFill/>
        </p:spPr>
        <p:txBody>
          <a:bodyPr wrap="square" anchor="t" lIns="0" rIns="0" tIns="0" bIns="0">
            <a:spAutoFit/>
          </a:bodyPr>
          <a:lstStyle/>
          <a:p>
            <a:pPr algn="l">
              <a:spcBef>
                <a:spcPts val="0"/>
              </a:spcBef>
              <a:spcAft>
                <a:spcPts val="400"/>
              </a:spcAft>
            </a:pPr>
            <a:r>
              <a:rPr sz="1600" b="1">
                <a:solidFill>
                  <a:srgbClr val="1F6FEB"/>
                </a:solidFill>
                <a:latin typeface="Arial"/>
              </a:rPr>
              <a:t>COURSE SLIDES</a:t>
            </a:r>
          </a:p>
        </p:txBody>
      </p:sp>
      <p:sp>
        <p:nvSpPr>
          <p:cNvPr id="8" name="TextBox 7"/>
          <p:cNvSpPr txBox="1"/>
          <p:nvPr/>
        </p:nvSpPr>
        <p:spPr>
          <a:xfrm>
            <a:off x="822960" y="2606040"/>
            <a:ext cx="10972800" cy="1737360"/>
          </a:xfrm>
          <a:prstGeom prst="rect">
            <a:avLst/>
          </a:prstGeom>
          <a:noFill/>
        </p:spPr>
        <p:txBody>
          <a:bodyPr wrap="square" anchor="t" lIns="0" rIns="0" tIns="0" bIns="0">
            <a:spAutoFit/>
          </a:bodyPr>
          <a:lstStyle/>
          <a:p>
            <a:pPr algn="l">
              <a:spcBef>
                <a:spcPts val="0"/>
              </a:spcBef>
              <a:spcAft>
                <a:spcPts val="400"/>
              </a:spcAft>
            </a:pPr>
            <a:r>
              <a:rPr sz="4400" b="1">
                <a:solidFill>
                  <a:srgbClr val="161B26"/>
                </a:solidFill>
                <a:latin typeface="Arial"/>
              </a:rPr>
              <a:t>Application Integration with Docker and Kubernetes</a:t>
            </a:r>
          </a:p>
        </p:txBody>
      </p:sp>
      <p:sp>
        <p:nvSpPr>
          <p:cNvPr id="9" name="Rectangle 8"/>
          <p:cNvSpPr/>
          <p:nvPr/>
        </p:nvSpPr>
        <p:spPr>
          <a:xfrm>
            <a:off x="841248" y="4526280"/>
            <a:ext cx="2194560" cy="54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4800600"/>
            <a:ext cx="10972800" cy="1280160"/>
          </a:xfrm>
          <a:prstGeom prst="rect">
            <a:avLst/>
          </a:prstGeom>
          <a:noFill/>
        </p:spPr>
        <p:txBody>
          <a:bodyPr wrap="square" anchor="t" lIns="0" rIns="0" tIns="0" bIns="0">
            <a:spAutoFit/>
          </a:bodyPr>
          <a:lstStyle/>
          <a:p>
            <a:pPr algn="l">
              <a:spcBef>
                <a:spcPts val="0"/>
              </a:spcBef>
              <a:spcAft>
                <a:spcPts val="600"/>
              </a:spcAft>
            </a:pPr>
            <a:r>
              <a:rPr sz="1600" b="0">
                <a:solidFill>
                  <a:srgbClr val="5B6372"/>
                </a:solidFill>
                <a:latin typeface="Arial"/>
              </a:rPr>
              <a:t>WSQ Course Code: TGS-2021010366</a:t>
            </a:r>
          </a:p>
          <a:p>
            <a:pPr algn="l">
              <a:spcBef>
                <a:spcPts val="0"/>
              </a:spcBef>
              <a:spcAft>
                <a:spcPts val="600"/>
              </a:spcAft>
            </a:pPr>
            <a:r>
              <a:rPr sz="1400" b="0">
                <a:solidFill>
                  <a:srgbClr val="5B6372"/>
                </a:solidFill>
                <a:latin typeface="Arial"/>
              </a:rPr>
              <a:t>Conducted by Tertiary Infotech Academy Pte Ltd  ·  UEN 201200696W</a:t>
            </a:r>
          </a:p>
        </p:txBody>
      </p:sp>
      <p:sp>
        <p:nvSpPr>
          <p:cNvPr id="11" name="TextBox 10"/>
          <p:cNvSpPr txBox="1"/>
          <p:nvPr/>
        </p:nvSpPr>
        <p:spPr>
          <a:xfrm>
            <a:off x="10058400" y="5989320"/>
            <a:ext cx="1691640" cy="310896"/>
          </a:xfrm>
          <a:prstGeom prst="rect">
            <a:avLst/>
          </a:prstGeom>
          <a:noFill/>
        </p:spPr>
        <p:txBody>
          <a:bodyPr wrap="square" anchor="t" lIns="0" rIns="0" tIns="0" bIns="0">
            <a:spAutoFit/>
          </a:bodyPr>
          <a:lstStyle/>
          <a:p>
            <a:pPr algn="r">
              <a:spcBef>
                <a:spcPts val="0"/>
              </a:spcBef>
              <a:spcAft>
                <a:spcPts val="400"/>
              </a:spcAft>
            </a:pPr>
            <a:r>
              <a:rPr sz="1300" b="1">
                <a:solidFill>
                  <a:srgbClr val="1F6FEB"/>
                </a:solidFill>
                <a:latin typeface="Arial"/>
              </a:rPr>
              <a:t>Version 1.0</a:t>
            </a:r>
          </a:p>
        </p:txBody>
      </p:sp>
      <p:sp>
        <p:nvSpPr>
          <p:cNvPr id="12" name="TextBox 11"/>
          <p:cNvSpPr txBox="1"/>
          <p:nvPr/>
        </p:nvSpPr>
        <p:spPr>
          <a:xfrm>
            <a:off x="822960" y="6126480"/>
            <a:ext cx="10972800" cy="310896"/>
          </a:xfrm>
          <a:prstGeom prst="rect">
            <a:avLst/>
          </a:prstGeom>
          <a:noFill/>
        </p:spPr>
        <p:txBody>
          <a:bodyPr wrap="square" anchor="t" lIns="0" rIns="0" tIns="0" bIns="0">
            <a:spAutoFit/>
          </a:bodyPr>
          <a:lstStyle/>
          <a:p>
            <a:pPr algn="l">
              <a:spcBef>
                <a:spcPts val="0"/>
              </a:spcBef>
              <a:spcAft>
                <a:spcPts val="400"/>
              </a:spcAft>
            </a:pPr>
            <a:r>
              <a:rPr sz="1000" b="0">
                <a:solidFill>
                  <a:srgbClr val="5B6372"/>
                </a:solidFill>
                <a:latin typeface="Arial"/>
              </a:rPr>
              <a:t>© 2026 Tertiary Infotech Academy Pte Ltd. All rights reserved.  ·  www.tertiarycourses.com.sg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F6FEB"/>
                </a:solidFill>
                <a:latin typeface="Arial"/>
              </a:rPr>
              <a:t>COURSE ADMINISTRATION</a:t>
            </a:r>
          </a:p>
        </p:txBody>
      </p:sp>
      <p:sp>
        <p:nvSpPr>
          <p:cNvPr id="6" name="TextBox 5"/>
          <p:cNvSpPr txBox="1"/>
          <p:nvPr/>
        </p:nvSpPr>
        <p:spPr>
          <a:xfrm>
            <a:off x="1143000" y="2743200"/>
            <a:ext cx="10424160" cy="1463040"/>
          </a:xfrm>
          <a:prstGeom prst="rect">
            <a:avLst/>
          </a:prstGeom>
          <a:noFill/>
        </p:spPr>
        <p:txBody>
          <a:bodyPr wrap="square" anchor="t" lIns="0" rIns="0" tIns="0" bIns="0">
            <a:spAutoFit/>
          </a:bodyPr>
          <a:lstStyle/>
          <a:p>
            <a:pPr algn="l">
              <a:spcBef>
                <a:spcPts val="0"/>
              </a:spcBef>
              <a:spcAft>
                <a:spcPts val="400"/>
              </a:spcAft>
            </a:pPr>
            <a:r>
              <a:rPr sz="4000" b="1">
                <a:solidFill>
                  <a:srgbClr val="161B26"/>
                </a:solidFill>
                <a:latin typeface="Arial"/>
              </a:rPr>
              <a:t>Welcome &amp; Housekeeping</a:t>
            </a:r>
          </a:p>
        </p:txBody>
      </p:sp>
      <p:sp>
        <p:nvSpPr>
          <p:cNvPr id="7" name="TextBox 6"/>
          <p:cNvSpPr txBox="1"/>
          <p:nvPr/>
        </p:nvSpPr>
        <p:spPr>
          <a:xfrm>
            <a:off x="9418320" y="640080"/>
            <a:ext cx="2286000" cy="1463040"/>
          </a:xfrm>
          <a:prstGeom prst="rect">
            <a:avLst/>
          </a:prstGeom>
          <a:noFill/>
        </p:spPr>
        <p:txBody>
          <a:bodyPr wrap="square" anchor="t" lIns="0" rIns="0" tIns="0" bIns="0">
            <a:spAutoFit/>
          </a:bodyPr>
          <a:lstStyle/>
          <a:p>
            <a:pPr algn="r">
              <a:spcBef>
                <a:spcPts val="0"/>
              </a:spcBef>
              <a:spcAft>
                <a:spcPts val="400"/>
              </a:spcAft>
            </a:pPr>
            <a:r>
              <a:rPr sz="7200" b="1">
                <a:solidFill>
                  <a:srgbClr val="E2E8F0"/>
                </a:solidFill>
                <a:latin typeface="Arial"/>
              </a:rPr>
              <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TRAQOM · SSG DIGITAL ATTENDANCE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Digital Attendance (Mandatory)</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28800"/>
            <a:ext cx="5760720" cy="3840480"/>
          </a:xfrm>
          <a:prstGeom prst="rect">
            <a:avLst/>
          </a:prstGeom>
          <a:noFill/>
        </p:spPr>
        <p:txBody>
          <a:bodyPr wrap="square" lIns="0" rIns="0">
            <a:spAutoFit/>
          </a:bodyPr>
          <a:lstStyle/>
          <a:p>
            <a:pPr>
              <a:spcBef>
                <a:spcPts val="0"/>
              </a:spcBef>
              <a:spcAft>
                <a:spcPts val="1400"/>
              </a:spcAft>
            </a:pPr>
            <a:r>
              <a:rPr sz="1600" b="1">
                <a:solidFill>
                  <a:srgbClr val="1F6FEB"/>
                </a:solidFill>
                <a:latin typeface="Arial"/>
              </a:rPr>
              <a:t>•  </a:t>
            </a:r>
            <a:r>
              <a:rPr sz="1600">
                <a:solidFill>
                  <a:srgbClr val="161B26"/>
                </a:solidFill>
                <a:latin typeface="Arial"/>
              </a:rPr>
              <a:t>It is mandatory to take the AM, PM and Assessment digital attendance for WSQ-funded courses.</a:t>
            </a:r>
          </a:p>
          <a:p>
            <a:pPr>
              <a:spcBef>
                <a:spcPts val="0"/>
              </a:spcBef>
              <a:spcAft>
                <a:spcPts val="1400"/>
              </a:spcAft>
            </a:pPr>
            <a:r>
              <a:rPr sz="1600" b="1">
                <a:solidFill>
                  <a:srgbClr val="1F6FEB"/>
                </a:solidFill>
                <a:latin typeface="Arial"/>
              </a:rPr>
              <a:t>•  </a:t>
            </a:r>
            <a:r>
              <a:rPr sz="1600">
                <a:solidFill>
                  <a:srgbClr val="161B26"/>
                </a:solidFill>
                <a:latin typeface="Arial"/>
              </a:rPr>
              <a:t>The trainer displays the digital attendance QR code from the SSG portal.</a:t>
            </a:r>
          </a:p>
          <a:p>
            <a:pPr>
              <a:spcBef>
                <a:spcPts val="0"/>
              </a:spcBef>
              <a:spcAft>
                <a:spcPts val="1400"/>
              </a:spcAft>
            </a:pPr>
            <a:r>
              <a:rPr sz="1600" b="1">
                <a:solidFill>
                  <a:srgbClr val="1F6FEB"/>
                </a:solidFill>
                <a:latin typeface="Arial"/>
              </a:rPr>
              <a:t>•  </a:t>
            </a:r>
            <a:r>
              <a:rPr sz="1600">
                <a:solidFill>
                  <a:srgbClr val="161B26"/>
                </a:solidFill>
                <a:latin typeface="Arial"/>
              </a:rPr>
              <a:t>Scan the QR code with your phone camera and submit your attendance.</a:t>
            </a:r>
          </a:p>
          <a:p>
            <a:pPr>
              <a:spcBef>
                <a:spcPts val="0"/>
              </a:spcBef>
              <a:spcAft>
                <a:spcPts val="1400"/>
              </a:spcAft>
            </a:pPr>
            <a:r>
              <a:rPr sz="1600" b="1">
                <a:solidFill>
                  <a:srgbClr val="1F6FEB"/>
                </a:solidFill>
                <a:latin typeface="Arial"/>
              </a:rPr>
              <a:t>•  </a:t>
            </a:r>
            <a:r>
              <a:rPr sz="1600">
                <a:solidFill>
                  <a:srgbClr val="161B26"/>
                </a:solidFill>
                <a:latin typeface="Arial"/>
              </a:rPr>
              <a:t>A minimum of 75% attendance is required for assessment and funding.</a:t>
            </a:r>
          </a:p>
        </p:txBody>
      </p:sp>
      <p:sp>
        <p:nvSpPr>
          <p:cNvPr id="8" name="Rounded Rectangle 7"/>
          <p:cNvSpPr/>
          <p:nvPr/>
        </p:nvSpPr>
        <p:spPr>
          <a:xfrm>
            <a:off x="6903720" y="1828800"/>
            <a:ext cx="4389120" cy="274320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595360" y="2148840"/>
            <a:ext cx="1005840" cy="10058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c_attend.png"/>
          <p:cNvPicPr>
            <a:picLocks noChangeAspect="1"/>
          </p:cNvPicPr>
          <p:nvPr/>
        </p:nvPicPr>
        <p:blipFill>
          <a:blip r:embed="rId2"/>
          <a:stretch>
            <a:fillRect/>
          </a:stretch>
        </p:blipFill>
        <p:spPr>
          <a:xfrm>
            <a:off x="8866936" y="2420416"/>
            <a:ext cx="462688" cy="462688"/>
          </a:xfrm>
          <a:prstGeom prst="rect">
            <a:avLst/>
          </a:prstGeom>
        </p:spPr>
      </p:pic>
      <p:sp>
        <p:nvSpPr>
          <p:cNvPr id="11" name="TextBox 10"/>
          <p:cNvSpPr txBox="1"/>
          <p:nvPr/>
        </p:nvSpPr>
        <p:spPr>
          <a:xfrm>
            <a:off x="7178040" y="3337560"/>
            <a:ext cx="3840480" cy="1097280"/>
          </a:xfrm>
          <a:prstGeom prst="rect">
            <a:avLst/>
          </a:prstGeom>
          <a:noFill/>
        </p:spPr>
        <p:txBody>
          <a:bodyPr wrap="square" anchor="t" lIns="0" rIns="0" tIns="0" bIns="0">
            <a:spAutoFit/>
          </a:bodyPr>
          <a:lstStyle/>
          <a:p>
            <a:pPr algn="ctr">
              <a:spcBef>
                <a:spcPts val="0"/>
              </a:spcBef>
              <a:spcAft>
                <a:spcPts val="200"/>
              </a:spcAft>
            </a:pPr>
            <a:r>
              <a:rPr sz="2600" b="1">
                <a:solidFill>
                  <a:srgbClr val="1F6FEB"/>
                </a:solidFill>
                <a:latin typeface="Arial"/>
              </a:rPr>
              <a:t>Minimum 75%</a:t>
            </a:r>
          </a:p>
          <a:p>
            <a:pPr algn="ctr">
              <a:spcBef>
                <a:spcPts val="0"/>
              </a:spcBef>
              <a:spcAft>
                <a:spcPts val="200"/>
              </a:spcAft>
            </a:pPr>
            <a:r>
              <a:rPr sz="2600" b="1">
                <a:solidFill>
                  <a:srgbClr val="1F6FEB"/>
                </a:solidFill>
                <a:latin typeface="Arial"/>
              </a:rPr>
              <a:t>attendance required</a:t>
            </a:r>
          </a:p>
        </p:txBody>
      </p:sp>
      <p:sp>
        <p:nvSpPr>
          <p:cNvPr id="12" name="TextBox 11"/>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3" name="TextBox 12"/>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4" name="TextBox 13"/>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YOUR TRAINER</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About the Trainer</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783080"/>
            <a:ext cx="3383280" cy="3657600"/>
          </a:xfrm>
          <a:prstGeom prst="roundRect">
            <a:avLst>
              <a:gd name="adj" fmla="val 5000"/>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851660" y="2194560"/>
            <a:ext cx="1143000" cy="11430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c_grad.png"/>
          <p:cNvPicPr>
            <a:picLocks noChangeAspect="1"/>
          </p:cNvPicPr>
          <p:nvPr/>
        </p:nvPicPr>
        <p:blipFill>
          <a:blip r:embed="rId2"/>
          <a:stretch>
            <a:fillRect/>
          </a:stretch>
        </p:blipFill>
        <p:spPr>
          <a:xfrm>
            <a:off x="2160270" y="2503170"/>
            <a:ext cx="525780" cy="525780"/>
          </a:xfrm>
          <a:prstGeom prst="rect">
            <a:avLst/>
          </a:prstGeom>
        </p:spPr>
      </p:pic>
      <p:sp>
        <p:nvSpPr>
          <p:cNvPr id="10" name="TextBox 9"/>
          <p:cNvSpPr txBox="1"/>
          <p:nvPr/>
        </p:nvSpPr>
        <p:spPr>
          <a:xfrm>
            <a:off x="731520" y="3611880"/>
            <a:ext cx="3383280" cy="502920"/>
          </a:xfrm>
          <a:prstGeom prst="rect">
            <a:avLst/>
          </a:prstGeom>
          <a:noFill/>
        </p:spPr>
        <p:txBody>
          <a:bodyPr wrap="square" anchor="t" lIns="0" rIns="0" tIns="0" bIns="0">
            <a:spAutoFit/>
          </a:bodyPr>
          <a:lstStyle/>
          <a:p>
            <a:pPr algn="ctr">
              <a:spcBef>
                <a:spcPts val="0"/>
              </a:spcBef>
              <a:spcAft>
                <a:spcPts val="400"/>
              </a:spcAft>
            </a:pPr>
            <a:r>
              <a:rPr sz="2000" b="1">
                <a:solidFill>
                  <a:srgbClr val="FFFFFF"/>
                </a:solidFill>
                <a:latin typeface="Arial"/>
              </a:rPr>
              <a:t>Mohan Pothula</a:t>
            </a:r>
          </a:p>
        </p:txBody>
      </p:sp>
      <p:sp>
        <p:nvSpPr>
          <p:cNvPr id="11" name="TextBox 10"/>
          <p:cNvSpPr txBox="1"/>
          <p:nvPr/>
        </p:nvSpPr>
        <p:spPr>
          <a:xfrm>
            <a:off x="731520" y="4114800"/>
            <a:ext cx="3383280" cy="411480"/>
          </a:xfrm>
          <a:prstGeom prst="rect">
            <a:avLst/>
          </a:prstGeom>
          <a:noFill/>
        </p:spPr>
        <p:txBody>
          <a:bodyPr wrap="square" anchor="t" lIns="0" rIns="0" tIns="0" bIns="0">
            <a:spAutoFit/>
          </a:bodyPr>
          <a:lstStyle/>
          <a:p>
            <a:pPr algn="ctr">
              <a:spcBef>
                <a:spcPts val="0"/>
              </a:spcBef>
              <a:spcAft>
                <a:spcPts val="400"/>
              </a:spcAft>
            </a:pPr>
            <a:r>
              <a:rPr sz="1400" b="1">
                <a:solidFill>
                  <a:srgbClr val="1F6FEB"/>
                </a:solidFill>
                <a:latin typeface="Arial"/>
              </a:rPr>
              <a:t>Enterprise DevOps &amp; Cloud Trainer</a:t>
            </a:r>
          </a:p>
        </p:txBody>
      </p:sp>
      <p:sp>
        <p:nvSpPr>
          <p:cNvPr id="12" name="Oval 11"/>
          <p:cNvSpPr/>
          <p:nvPr/>
        </p:nvSpPr>
        <p:spPr>
          <a:xfrm>
            <a:off x="4434840" y="1828800"/>
            <a:ext cx="640080" cy="64008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ic_grad.png"/>
          <p:cNvPicPr>
            <a:picLocks noChangeAspect="1"/>
          </p:cNvPicPr>
          <p:nvPr/>
        </p:nvPicPr>
        <p:blipFill>
          <a:blip r:embed="rId2"/>
          <a:stretch>
            <a:fillRect/>
          </a:stretch>
        </p:blipFill>
        <p:spPr>
          <a:xfrm>
            <a:off x="4607661" y="2001621"/>
            <a:ext cx="294438" cy="294438"/>
          </a:xfrm>
          <a:prstGeom prst="rect">
            <a:avLst/>
          </a:prstGeom>
        </p:spPr>
      </p:pic>
      <p:sp>
        <p:nvSpPr>
          <p:cNvPr id="14" name="TextBox 13"/>
          <p:cNvSpPr txBox="1"/>
          <p:nvPr/>
        </p:nvSpPr>
        <p:spPr>
          <a:xfrm>
            <a:off x="5349240" y="1783080"/>
            <a:ext cx="6858000" cy="731520"/>
          </a:xfrm>
          <a:prstGeom prst="rect">
            <a:avLst/>
          </a:prstGeom>
          <a:noFill/>
        </p:spPr>
        <p:txBody>
          <a:bodyPr wrap="square" anchor="ctr" lIns="0" rIns="0" tIns="0" bIns="0">
            <a:spAutoFit/>
          </a:bodyPr>
          <a:lstStyle/>
          <a:p>
            <a:pPr algn="l">
              <a:spcBef>
                <a:spcPts val="0"/>
              </a:spcBef>
              <a:spcAft>
                <a:spcPts val="200"/>
              </a:spcAft>
            </a:pPr>
            <a:r>
              <a:rPr sz="1500" b="1">
                <a:solidFill>
                  <a:srgbClr val="161B26"/>
                </a:solidFill>
                <a:latin typeface="Arial"/>
              </a:rPr>
              <a:t>Role</a:t>
            </a:r>
          </a:p>
          <a:p>
            <a:pPr algn="l">
              <a:spcBef>
                <a:spcPts val="0"/>
              </a:spcBef>
              <a:spcAft>
                <a:spcPts val="200"/>
              </a:spcAft>
            </a:pPr>
            <a:r>
              <a:rPr sz="1300" b="0">
                <a:solidFill>
                  <a:srgbClr val="5B6372"/>
                </a:solidFill>
                <a:latin typeface="Arial"/>
              </a:rPr>
              <a:t>Principal DevOps &amp; Cloud trainer at Tertiary Infotech Academy.</a:t>
            </a:r>
          </a:p>
        </p:txBody>
      </p:sp>
      <p:sp>
        <p:nvSpPr>
          <p:cNvPr id="15" name="Oval 14"/>
          <p:cNvSpPr/>
          <p:nvPr/>
        </p:nvSpPr>
        <p:spPr>
          <a:xfrm>
            <a:off x="4434840" y="2743200"/>
            <a:ext cx="640080" cy="64008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ic_laptop.png"/>
          <p:cNvPicPr>
            <a:picLocks noChangeAspect="1"/>
          </p:cNvPicPr>
          <p:nvPr/>
        </p:nvPicPr>
        <p:blipFill>
          <a:blip r:embed="rId3"/>
          <a:stretch>
            <a:fillRect/>
          </a:stretch>
        </p:blipFill>
        <p:spPr>
          <a:xfrm>
            <a:off x="4607661" y="2916021"/>
            <a:ext cx="294438" cy="294438"/>
          </a:xfrm>
          <a:prstGeom prst="rect">
            <a:avLst/>
          </a:prstGeom>
        </p:spPr>
      </p:pic>
      <p:sp>
        <p:nvSpPr>
          <p:cNvPr id="17" name="TextBox 16"/>
          <p:cNvSpPr txBox="1"/>
          <p:nvPr/>
        </p:nvSpPr>
        <p:spPr>
          <a:xfrm>
            <a:off x="5349240" y="2697480"/>
            <a:ext cx="6858000" cy="731520"/>
          </a:xfrm>
          <a:prstGeom prst="rect">
            <a:avLst/>
          </a:prstGeom>
          <a:noFill/>
        </p:spPr>
        <p:txBody>
          <a:bodyPr wrap="square" anchor="ctr" lIns="0" rIns="0" tIns="0" bIns="0">
            <a:spAutoFit/>
          </a:bodyPr>
          <a:lstStyle/>
          <a:p>
            <a:pPr algn="l">
              <a:spcBef>
                <a:spcPts val="0"/>
              </a:spcBef>
              <a:spcAft>
                <a:spcPts val="200"/>
              </a:spcAft>
            </a:pPr>
            <a:r>
              <a:rPr sz="1500" b="1">
                <a:solidFill>
                  <a:srgbClr val="161B26"/>
                </a:solidFill>
                <a:latin typeface="Arial"/>
              </a:rPr>
              <a:t>Qualifications</a:t>
            </a:r>
          </a:p>
          <a:p>
            <a:pPr algn="l">
              <a:spcBef>
                <a:spcPts val="0"/>
              </a:spcBef>
              <a:spcAft>
                <a:spcPts val="200"/>
              </a:spcAft>
            </a:pPr>
            <a:r>
              <a:rPr sz="1300" b="0">
                <a:solidFill>
                  <a:srgbClr val="5B6372"/>
                </a:solidFill>
                <a:latin typeface="Arial"/>
              </a:rPr>
              <a:t>Certified Kubernetes Administrator (CKA) · Docker Certified Associate (DCA) · AWS Solutions Architect.</a:t>
            </a:r>
          </a:p>
        </p:txBody>
      </p:sp>
      <p:sp>
        <p:nvSpPr>
          <p:cNvPr id="18" name="Oval 17"/>
          <p:cNvSpPr/>
          <p:nvPr/>
        </p:nvSpPr>
        <p:spPr>
          <a:xfrm>
            <a:off x="4434840" y="3657600"/>
            <a:ext cx="640080" cy="64008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ic_person.png"/>
          <p:cNvPicPr>
            <a:picLocks noChangeAspect="1"/>
          </p:cNvPicPr>
          <p:nvPr/>
        </p:nvPicPr>
        <p:blipFill>
          <a:blip r:embed="rId4"/>
          <a:stretch>
            <a:fillRect/>
          </a:stretch>
        </p:blipFill>
        <p:spPr>
          <a:xfrm>
            <a:off x="4607661" y="3830421"/>
            <a:ext cx="294438" cy="294438"/>
          </a:xfrm>
          <a:prstGeom prst="rect">
            <a:avLst/>
          </a:prstGeom>
        </p:spPr>
      </p:pic>
      <p:sp>
        <p:nvSpPr>
          <p:cNvPr id="20" name="TextBox 19"/>
          <p:cNvSpPr txBox="1"/>
          <p:nvPr/>
        </p:nvSpPr>
        <p:spPr>
          <a:xfrm>
            <a:off x="5349240" y="3611880"/>
            <a:ext cx="6858000" cy="731520"/>
          </a:xfrm>
          <a:prstGeom prst="rect">
            <a:avLst/>
          </a:prstGeom>
          <a:noFill/>
        </p:spPr>
        <p:txBody>
          <a:bodyPr wrap="square" anchor="ctr" lIns="0" rIns="0" tIns="0" bIns="0">
            <a:spAutoFit/>
          </a:bodyPr>
          <a:lstStyle/>
          <a:p>
            <a:pPr algn="l">
              <a:spcBef>
                <a:spcPts val="0"/>
              </a:spcBef>
              <a:spcAft>
                <a:spcPts val="200"/>
              </a:spcAft>
            </a:pPr>
            <a:r>
              <a:rPr sz="1500" b="1">
                <a:solidFill>
                  <a:srgbClr val="161B26"/>
                </a:solidFill>
                <a:latin typeface="Arial"/>
              </a:rPr>
              <a:t>Expertise</a:t>
            </a:r>
          </a:p>
          <a:p>
            <a:pPr algn="l">
              <a:spcBef>
                <a:spcPts val="0"/>
              </a:spcBef>
              <a:spcAft>
                <a:spcPts val="200"/>
              </a:spcAft>
            </a:pPr>
            <a:r>
              <a:rPr sz="1300" b="0">
                <a:solidFill>
                  <a:srgbClr val="5B6372"/>
                </a:solidFill>
                <a:latin typeface="Arial"/>
              </a:rPr>
              <a:t>Docker · Kubernetes · CI/CD · Cloud (AWS) · platform engineering.</a:t>
            </a:r>
          </a:p>
        </p:txBody>
      </p:sp>
      <p:sp>
        <p:nvSpPr>
          <p:cNvPr id="21" name="Oval 20"/>
          <p:cNvSpPr/>
          <p:nvPr/>
        </p:nvSpPr>
        <p:spPr>
          <a:xfrm>
            <a:off x="4434840" y="4572000"/>
            <a:ext cx="640080" cy="64008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ic_brief.png"/>
          <p:cNvPicPr>
            <a:picLocks noChangeAspect="1"/>
          </p:cNvPicPr>
          <p:nvPr/>
        </p:nvPicPr>
        <p:blipFill>
          <a:blip r:embed="rId5"/>
          <a:stretch>
            <a:fillRect/>
          </a:stretch>
        </p:blipFill>
        <p:spPr>
          <a:xfrm>
            <a:off x="4607661" y="4744821"/>
            <a:ext cx="294438" cy="294438"/>
          </a:xfrm>
          <a:prstGeom prst="rect">
            <a:avLst/>
          </a:prstGeom>
        </p:spPr>
      </p:pic>
      <p:sp>
        <p:nvSpPr>
          <p:cNvPr id="23" name="TextBox 22"/>
          <p:cNvSpPr txBox="1"/>
          <p:nvPr/>
        </p:nvSpPr>
        <p:spPr>
          <a:xfrm>
            <a:off x="5349240" y="4526280"/>
            <a:ext cx="6858000" cy="731520"/>
          </a:xfrm>
          <a:prstGeom prst="rect">
            <a:avLst/>
          </a:prstGeom>
          <a:noFill/>
        </p:spPr>
        <p:txBody>
          <a:bodyPr wrap="square" anchor="ctr" lIns="0" rIns="0" tIns="0" bIns="0">
            <a:spAutoFit/>
          </a:bodyPr>
          <a:lstStyle/>
          <a:p>
            <a:pPr algn="l">
              <a:spcBef>
                <a:spcPts val="0"/>
              </a:spcBef>
              <a:spcAft>
                <a:spcPts val="200"/>
              </a:spcAft>
            </a:pPr>
            <a:r>
              <a:rPr sz="1500" b="1">
                <a:solidFill>
                  <a:srgbClr val="161B26"/>
                </a:solidFill>
                <a:latin typeface="Arial"/>
              </a:rPr>
              <a:t>Experience</a:t>
            </a:r>
          </a:p>
          <a:p>
            <a:pPr algn="l">
              <a:spcBef>
                <a:spcPts val="0"/>
              </a:spcBef>
              <a:spcAft>
                <a:spcPts val="200"/>
              </a:spcAft>
            </a:pPr>
            <a:r>
              <a:rPr sz="1300" b="0">
                <a:solidFill>
                  <a:srgbClr val="5B6372"/>
                </a:solidFill>
                <a:latin typeface="Arial"/>
              </a:rPr>
              <a:t>20+ years across DBS Bank, SingTel, Mediacorp and SPH Media.</a:t>
            </a:r>
          </a:p>
        </p:txBody>
      </p:sp>
      <p:sp>
        <p:nvSpPr>
          <p:cNvPr id="24" name="TextBox 23"/>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25" name="TextBox 24"/>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6" name="TextBox 25"/>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YOUR TRAINER</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About the Trainer</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783080"/>
            <a:ext cx="3383280" cy="3657600"/>
          </a:xfrm>
          <a:prstGeom prst="roundRect">
            <a:avLst>
              <a:gd name="adj" fmla="val 5000"/>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851660" y="2194560"/>
            <a:ext cx="1143000" cy="11430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c_grad.png"/>
          <p:cNvPicPr>
            <a:picLocks noChangeAspect="1"/>
          </p:cNvPicPr>
          <p:nvPr/>
        </p:nvPicPr>
        <p:blipFill>
          <a:blip r:embed="rId2"/>
          <a:stretch>
            <a:fillRect/>
          </a:stretch>
        </p:blipFill>
        <p:spPr>
          <a:xfrm>
            <a:off x="2160270" y="2503170"/>
            <a:ext cx="525780" cy="525780"/>
          </a:xfrm>
          <a:prstGeom prst="rect">
            <a:avLst/>
          </a:prstGeom>
        </p:spPr>
      </p:pic>
      <p:sp>
        <p:nvSpPr>
          <p:cNvPr id="10" name="TextBox 9"/>
          <p:cNvSpPr txBox="1"/>
          <p:nvPr/>
        </p:nvSpPr>
        <p:spPr>
          <a:xfrm>
            <a:off x="731520" y="3611880"/>
            <a:ext cx="3383280" cy="502920"/>
          </a:xfrm>
          <a:prstGeom prst="rect">
            <a:avLst/>
          </a:prstGeom>
          <a:noFill/>
        </p:spPr>
        <p:txBody>
          <a:bodyPr wrap="square" anchor="t" lIns="0" rIns="0" tIns="0" bIns="0">
            <a:spAutoFit/>
          </a:bodyPr>
          <a:lstStyle/>
          <a:p>
            <a:pPr algn="ctr">
              <a:spcBef>
                <a:spcPts val="0"/>
              </a:spcBef>
              <a:spcAft>
                <a:spcPts val="400"/>
              </a:spcAft>
            </a:pPr>
            <a:r>
              <a:rPr sz="2000" b="1">
                <a:solidFill>
                  <a:srgbClr val="FFFFFF"/>
                </a:solidFill>
                <a:latin typeface="Arial"/>
              </a:rPr>
              <a:t>[ Trainer Name ]</a:t>
            </a:r>
          </a:p>
        </p:txBody>
      </p:sp>
      <p:sp>
        <p:nvSpPr>
          <p:cNvPr id="11" name="TextBox 10"/>
          <p:cNvSpPr txBox="1"/>
          <p:nvPr/>
        </p:nvSpPr>
        <p:spPr>
          <a:xfrm>
            <a:off x="731520" y="4114800"/>
            <a:ext cx="3383280" cy="411480"/>
          </a:xfrm>
          <a:prstGeom prst="rect">
            <a:avLst/>
          </a:prstGeom>
          <a:noFill/>
        </p:spPr>
        <p:txBody>
          <a:bodyPr wrap="square" anchor="t" lIns="0" rIns="0" tIns="0" bIns="0">
            <a:spAutoFit/>
          </a:bodyPr>
          <a:lstStyle/>
          <a:p>
            <a:pPr algn="ctr">
              <a:spcBef>
                <a:spcPts val="0"/>
              </a:spcBef>
              <a:spcAft>
                <a:spcPts val="400"/>
              </a:spcAft>
            </a:pPr>
            <a:r>
              <a:rPr sz="1400" b="1">
                <a:solidFill>
                  <a:srgbClr val="1F6FEB"/>
                </a:solidFill>
                <a:latin typeface="Arial"/>
              </a:rPr>
              <a:t>[ Title / Role ]</a:t>
            </a:r>
          </a:p>
        </p:txBody>
      </p:sp>
      <p:sp>
        <p:nvSpPr>
          <p:cNvPr id="12" name="Oval 11"/>
          <p:cNvSpPr/>
          <p:nvPr/>
        </p:nvSpPr>
        <p:spPr>
          <a:xfrm>
            <a:off x="4434840" y="1828800"/>
            <a:ext cx="640080" cy="64008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ic_laptop.png"/>
          <p:cNvPicPr>
            <a:picLocks noChangeAspect="1"/>
          </p:cNvPicPr>
          <p:nvPr/>
        </p:nvPicPr>
        <p:blipFill>
          <a:blip r:embed="rId3"/>
          <a:stretch>
            <a:fillRect/>
          </a:stretch>
        </p:blipFill>
        <p:spPr>
          <a:xfrm>
            <a:off x="4607661" y="2001621"/>
            <a:ext cx="294438" cy="294438"/>
          </a:xfrm>
          <a:prstGeom prst="rect">
            <a:avLst/>
          </a:prstGeom>
        </p:spPr>
      </p:pic>
      <p:sp>
        <p:nvSpPr>
          <p:cNvPr id="14" name="TextBox 13"/>
          <p:cNvSpPr txBox="1"/>
          <p:nvPr/>
        </p:nvSpPr>
        <p:spPr>
          <a:xfrm>
            <a:off x="5349240" y="1828800"/>
            <a:ext cx="2103120" cy="640080"/>
          </a:xfrm>
          <a:prstGeom prst="rect">
            <a:avLst/>
          </a:prstGeom>
          <a:noFill/>
        </p:spPr>
        <p:txBody>
          <a:bodyPr wrap="square" anchor="ctr" lIns="0" rIns="0" tIns="0" bIns="0">
            <a:spAutoFit/>
          </a:bodyPr>
          <a:lstStyle/>
          <a:p>
            <a:pPr algn="l">
              <a:spcBef>
                <a:spcPts val="0"/>
              </a:spcBef>
              <a:spcAft>
                <a:spcPts val="400"/>
              </a:spcAft>
            </a:pPr>
            <a:r>
              <a:rPr sz="1500" b="1">
                <a:solidFill>
                  <a:srgbClr val="161B26"/>
                </a:solidFill>
                <a:latin typeface="Arial"/>
              </a:rPr>
              <a:t>Qualifications:</a:t>
            </a:r>
          </a:p>
        </p:txBody>
      </p:sp>
      <p:sp>
        <p:nvSpPr>
          <p:cNvPr id="15" name="Rectangle 14"/>
          <p:cNvSpPr/>
          <p:nvPr/>
        </p:nvSpPr>
        <p:spPr>
          <a:xfrm>
            <a:off x="7360920" y="2136140"/>
            <a:ext cx="3931920" cy="1905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4434840" y="2743200"/>
            <a:ext cx="640080" cy="64008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ic_person.png"/>
          <p:cNvPicPr>
            <a:picLocks noChangeAspect="1"/>
          </p:cNvPicPr>
          <p:nvPr/>
        </p:nvPicPr>
        <p:blipFill>
          <a:blip r:embed="rId4"/>
          <a:stretch>
            <a:fillRect/>
          </a:stretch>
        </p:blipFill>
        <p:spPr>
          <a:xfrm>
            <a:off x="4607661" y="2916021"/>
            <a:ext cx="294438" cy="294438"/>
          </a:xfrm>
          <a:prstGeom prst="rect">
            <a:avLst/>
          </a:prstGeom>
        </p:spPr>
      </p:pic>
      <p:sp>
        <p:nvSpPr>
          <p:cNvPr id="18" name="TextBox 17"/>
          <p:cNvSpPr txBox="1"/>
          <p:nvPr/>
        </p:nvSpPr>
        <p:spPr>
          <a:xfrm>
            <a:off x="5349240" y="2743200"/>
            <a:ext cx="2103120" cy="640080"/>
          </a:xfrm>
          <a:prstGeom prst="rect">
            <a:avLst/>
          </a:prstGeom>
          <a:noFill/>
        </p:spPr>
        <p:txBody>
          <a:bodyPr wrap="square" anchor="ctr" lIns="0" rIns="0" tIns="0" bIns="0">
            <a:spAutoFit/>
          </a:bodyPr>
          <a:lstStyle/>
          <a:p>
            <a:pPr algn="l">
              <a:spcBef>
                <a:spcPts val="0"/>
              </a:spcBef>
              <a:spcAft>
                <a:spcPts val="400"/>
              </a:spcAft>
            </a:pPr>
            <a:r>
              <a:rPr sz="1500" b="1">
                <a:solidFill>
                  <a:srgbClr val="161B26"/>
                </a:solidFill>
                <a:latin typeface="Arial"/>
              </a:rPr>
              <a:t>Expertise:</a:t>
            </a:r>
          </a:p>
        </p:txBody>
      </p:sp>
      <p:sp>
        <p:nvSpPr>
          <p:cNvPr id="19" name="Rectangle 18"/>
          <p:cNvSpPr/>
          <p:nvPr/>
        </p:nvSpPr>
        <p:spPr>
          <a:xfrm>
            <a:off x="7360920" y="3050540"/>
            <a:ext cx="3931920" cy="1905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4434840" y="3657600"/>
            <a:ext cx="640080" cy="64008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ic_brief.png"/>
          <p:cNvPicPr>
            <a:picLocks noChangeAspect="1"/>
          </p:cNvPicPr>
          <p:nvPr/>
        </p:nvPicPr>
        <p:blipFill>
          <a:blip r:embed="rId5"/>
          <a:stretch>
            <a:fillRect/>
          </a:stretch>
        </p:blipFill>
        <p:spPr>
          <a:xfrm>
            <a:off x="4607661" y="3830421"/>
            <a:ext cx="294438" cy="294438"/>
          </a:xfrm>
          <a:prstGeom prst="rect">
            <a:avLst/>
          </a:prstGeom>
        </p:spPr>
      </p:pic>
      <p:sp>
        <p:nvSpPr>
          <p:cNvPr id="22" name="TextBox 21"/>
          <p:cNvSpPr txBox="1"/>
          <p:nvPr/>
        </p:nvSpPr>
        <p:spPr>
          <a:xfrm>
            <a:off x="5349240" y="3657600"/>
            <a:ext cx="2103120" cy="640080"/>
          </a:xfrm>
          <a:prstGeom prst="rect">
            <a:avLst/>
          </a:prstGeom>
          <a:noFill/>
        </p:spPr>
        <p:txBody>
          <a:bodyPr wrap="square" anchor="ctr" lIns="0" rIns="0" tIns="0" bIns="0">
            <a:spAutoFit/>
          </a:bodyPr>
          <a:lstStyle/>
          <a:p>
            <a:pPr algn="l">
              <a:spcBef>
                <a:spcPts val="0"/>
              </a:spcBef>
              <a:spcAft>
                <a:spcPts val="400"/>
              </a:spcAft>
            </a:pPr>
            <a:r>
              <a:rPr sz="1500" b="1">
                <a:solidFill>
                  <a:srgbClr val="161B26"/>
                </a:solidFill>
                <a:latin typeface="Arial"/>
              </a:rPr>
              <a:t>Experience:</a:t>
            </a:r>
          </a:p>
        </p:txBody>
      </p:sp>
      <p:sp>
        <p:nvSpPr>
          <p:cNvPr id="23" name="Rectangle 22"/>
          <p:cNvSpPr/>
          <p:nvPr/>
        </p:nvSpPr>
        <p:spPr>
          <a:xfrm>
            <a:off x="7360920" y="3964940"/>
            <a:ext cx="3931920" cy="1905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4434840" y="4572000"/>
            <a:ext cx="640080" cy="64008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ic_link.png"/>
          <p:cNvPicPr>
            <a:picLocks noChangeAspect="1"/>
          </p:cNvPicPr>
          <p:nvPr/>
        </p:nvPicPr>
        <p:blipFill>
          <a:blip r:embed="rId6"/>
          <a:stretch>
            <a:fillRect/>
          </a:stretch>
        </p:blipFill>
        <p:spPr>
          <a:xfrm>
            <a:off x="4607661" y="4744821"/>
            <a:ext cx="294438" cy="294438"/>
          </a:xfrm>
          <a:prstGeom prst="rect">
            <a:avLst/>
          </a:prstGeom>
        </p:spPr>
      </p:pic>
      <p:sp>
        <p:nvSpPr>
          <p:cNvPr id="26" name="TextBox 25"/>
          <p:cNvSpPr txBox="1"/>
          <p:nvPr/>
        </p:nvSpPr>
        <p:spPr>
          <a:xfrm>
            <a:off x="5349240" y="4572000"/>
            <a:ext cx="2103120" cy="640080"/>
          </a:xfrm>
          <a:prstGeom prst="rect">
            <a:avLst/>
          </a:prstGeom>
          <a:noFill/>
        </p:spPr>
        <p:txBody>
          <a:bodyPr wrap="square" anchor="ctr" lIns="0" rIns="0" tIns="0" bIns="0">
            <a:spAutoFit/>
          </a:bodyPr>
          <a:lstStyle/>
          <a:p>
            <a:pPr algn="l">
              <a:spcBef>
                <a:spcPts val="0"/>
              </a:spcBef>
              <a:spcAft>
                <a:spcPts val="400"/>
              </a:spcAft>
            </a:pPr>
            <a:r>
              <a:rPr sz="1500" b="1">
                <a:solidFill>
                  <a:srgbClr val="161B26"/>
                </a:solidFill>
                <a:latin typeface="Arial"/>
              </a:rPr>
              <a:t>Contact / Profile:</a:t>
            </a:r>
          </a:p>
        </p:txBody>
      </p:sp>
      <p:sp>
        <p:nvSpPr>
          <p:cNvPr id="27" name="Rectangle 26"/>
          <p:cNvSpPr/>
          <p:nvPr/>
        </p:nvSpPr>
        <p:spPr>
          <a:xfrm>
            <a:off x="7360920" y="4879340"/>
            <a:ext cx="3931920" cy="1905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29" name="TextBox 2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30" name="TextBox 2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ICE-BREAKER</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Let's Know Each Other</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481328"/>
            <a:ext cx="10607040" cy="310896"/>
          </a:xfrm>
          <a:prstGeom prst="rect">
            <a:avLst/>
          </a:prstGeom>
          <a:noFill/>
        </p:spPr>
        <p:txBody>
          <a:bodyPr wrap="square" anchor="t" lIns="0" rIns="0" tIns="0" bIns="0">
            <a:spAutoFit/>
          </a:bodyPr>
          <a:lstStyle/>
          <a:p>
            <a:pPr algn="l">
              <a:spcBef>
                <a:spcPts val="0"/>
              </a:spcBef>
              <a:spcAft>
                <a:spcPts val="400"/>
              </a:spcAft>
            </a:pPr>
            <a:r>
              <a:rPr sz="1500" b="0">
                <a:solidFill>
                  <a:srgbClr val="5B6372"/>
                </a:solidFill>
                <a:latin typeface="Arial"/>
              </a:rPr>
              <a:t>Take a minute to introduce yourself to the class:</a:t>
            </a:r>
          </a:p>
        </p:txBody>
      </p:sp>
      <p:sp>
        <p:nvSpPr>
          <p:cNvPr id="8" name="Rounded Rectangle 7"/>
          <p:cNvSpPr/>
          <p:nvPr/>
        </p:nvSpPr>
        <p:spPr>
          <a:xfrm>
            <a:off x="777240" y="1920240"/>
            <a:ext cx="3368040" cy="224028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2040636" y="2212848"/>
            <a:ext cx="841248" cy="8412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c_person2.png"/>
          <p:cNvPicPr>
            <a:picLocks noChangeAspect="1"/>
          </p:cNvPicPr>
          <p:nvPr/>
        </p:nvPicPr>
        <p:blipFill>
          <a:blip r:embed="rId2"/>
          <a:stretch>
            <a:fillRect/>
          </a:stretch>
        </p:blipFill>
        <p:spPr>
          <a:xfrm>
            <a:off x="2267772" y="2439984"/>
            <a:ext cx="386976" cy="386976"/>
          </a:xfrm>
          <a:prstGeom prst="rect">
            <a:avLst/>
          </a:prstGeom>
        </p:spPr>
      </p:pic>
      <p:sp>
        <p:nvSpPr>
          <p:cNvPr id="11" name="TextBox 10"/>
          <p:cNvSpPr txBox="1"/>
          <p:nvPr/>
        </p:nvSpPr>
        <p:spPr>
          <a:xfrm>
            <a:off x="960120" y="3246120"/>
            <a:ext cx="3002280" cy="457200"/>
          </a:xfrm>
          <a:prstGeom prst="rect">
            <a:avLst/>
          </a:prstGeom>
          <a:noFill/>
        </p:spPr>
        <p:txBody>
          <a:bodyPr wrap="square" anchor="t" lIns="0" rIns="0" tIns="0" bIns="0">
            <a:spAutoFit/>
          </a:bodyPr>
          <a:lstStyle/>
          <a:p>
            <a:pPr algn="ctr">
              <a:spcBef>
                <a:spcPts val="0"/>
              </a:spcBef>
              <a:spcAft>
                <a:spcPts val="400"/>
              </a:spcAft>
            </a:pPr>
            <a:r>
              <a:rPr sz="1700" b="1">
                <a:solidFill>
                  <a:srgbClr val="161B26"/>
                </a:solidFill>
                <a:latin typeface="Arial"/>
              </a:rPr>
              <a:t>Your role</a:t>
            </a:r>
          </a:p>
        </p:txBody>
      </p:sp>
      <p:sp>
        <p:nvSpPr>
          <p:cNvPr id="12" name="TextBox 11"/>
          <p:cNvSpPr txBox="1"/>
          <p:nvPr/>
        </p:nvSpPr>
        <p:spPr>
          <a:xfrm>
            <a:off x="1033272" y="3657600"/>
            <a:ext cx="2855976" cy="457200"/>
          </a:xfrm>
          <a:prstGeom prst="rect">
            <a:avLst/>
          </a:prstGeom>
          <a:noFill/>
        </p:spPr>
        <p:txBody>
          <a:bodyPr wrap="square" anchor="t" lIns="0" rIns="0" tIns="0" bIns="0">
            <a:spAutoFit/>
          </a:bodyPr>
          <a:lstStyle/>
          <a:p>
            <a:pPr algn="ctr">
              <a:spcBef>
                <a:spcPts val="0"/>
              </a:spcBef>
              <a:spcAft>
                <a:spcPts val="400"/>
              </a:spcAft>
            </a:pPr>
            <a:r>
              <a:rPr sz="1300" b="0">
                <a:solidFill>
                  <a:srgbClr val="5B6372"/>
                </a:solidFill>
                <a:latin typeface="Arial"/>
              </a:rPr>
              <a:t>Your name and organisation / role.</a:t>
            </a:r>
          </a:p>
        </p:txBody>
      </p:sp>
      <p:sp>
        <p:nvSpPr>
          <p:cNvPr id="13" name="Rounded Rectangle 12"/>
          <p:cNvSpPr/>
          <p:nvPr/>
        </p:nvSpPr>
        <p:spPr>
          <a:xfrm>
            <a:off x="4419600" y="1920240"/>
            <a:ext cx="3368040" cy="224028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5682996" y="2212848"/>
            <a:ext cx="841248" cy="8412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ic_code.png"/>
          <p:cNvPicPr>
            <a:picLocks noChangeAspect="1"/>
          </p:cNvPicPr>
          <p:nvPr/>
        </p:nvPicPr>
        <p:blipFill>
          <a:blip r:embed="rId3"/>
          <a:stretch>
            <a:fillRect/>
          </a:stretch>
        </p:blipFill>
        <p:spPr>
          <a:xfrm>
            <a:off x="5910132" y="2439984"/>
            <a:ext cx="386976" cy="386976"/>
          </a:xfrm>
          <a:prstGeom prst="rect">
            <a:avLst/>
          </a:prstGeom>
        </p:spPr>
      </p:pic>
      <p:sp>
        <p:nvSpPr>
          <p:cNvPr id="16" name="TextBox 15"/>
          <p:cNvSpPr txBox="1"/>
          <p:nvPr/>
        </p:nvSpPr>
        <p:spPr>
          <a:xfrm>
            <a:off x="4602480" y="3246120"/>
            <a:ext cx="3002280" cy="457200"/>
          </a:xfrm>
          <a:prstGeom prst="rect">
            <a:avLst/>
          </a:prstGeom>
          <a:noFill/>
        </p:spPr>
        <p:txBody>
          <a:bodyPr wrap="square" anchor="t" lIns="0" rIns="0" tIns="0" bIns="0">
            <a:spAutoFit/>
          </a:bodyPr>
          <a:lstStyle/>
          <a:p>
            <a:pPr algn="ctr">
              <a:spcBef>
                <a:spcPts val="0"/>
              </a:spcBef>
              <a:spcAft>
                <a:spcPts val="400"/>
              </a:spcAft>
            </a:pPr>
            <a:r>
              <a:rPr sz="1700" b="1">
                <a:solidFill>
                  <a:srgbClr val="161B26"/>
                </a:solidFill>
                <a:latin typeface="Arial"/>
              </a:rPr>
              <a:t>Your experience</a:t>
            </a:r>
          </a:p>
        </p:txBody>
      </p:sp>
      <p:sp>
        <p:nvSpPr>
          <p:cNvPr id="17" name="TextBox 16"/>
          <p:cNvSpPr txBox="1"/>
          <p:nvPr/>
        </p:nvSpPr>
        <p:spPr>
          <a:xfrm>
            <a:off x="4675632" y="3657600"/>
            <a:ext cx="2855976" cy="457200"/>
          </a:xfrm>
          <a:prstGeom prst="rect">
            <a:avLst/>
          </a:prstGeom>
          <a:noFill/>
        </p:spPr>
        <p:txBody>
          <a:bodyPr wrap="square" anchor="t" lIns="0" rIns="0" tIns="0" bIns="0">
            <a:spAutoFit/>
          </a:bodyPr>
          <a:lstStyle/>
          <a:p>
            <a:pPr algn="ctr">
              <a:spcBef>
                <a:spcPts val="0"/>
              </a:spcBef>
              <a:spcAft>
                <a:spcPts val="400"/>
              </a:spcAft>
            </a:pPr>
            <a:r>
              <a:rPr sz="1300" b="0">
                <a:solidFill>
                  <a:srgbClr val="5B6372"/>
                </a:solidFill>
                <a:latin typeface="Arial"/>
              </a:rPr>
              <a:t>Any experience with Docker, servers or the cloud.</a:t>
            </a:r>
          </a:p>
        </p:txBody>
      </p:sp>
      <p:sp>
        <p:nvSpPr>
          <p:cNvPr id="18" name="Rounded Rectangle 17"/>
          <p:cNvSpPr/>
          <p:nvPr/>
        </p:nvSpPr>
        <p:spPr>
          <a:xfrm>
            <a:off x="8061960" y="1920240"/>
            <a:ext cx="3368040" cy="224028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25356" y="2212848"/>
            <a:ext cx="841248" cy="8412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ic_target.png"/>
          <p:cNvPicPr>
            <a:picLocks noChangeAspect="1"/>
          </p:cNvPicPr>
          <p:nvPr/>
        </p:nvPicPr>
        <p:blipFill>
          <a:blip r:embed="rId4"/>
          <a:stretch>
            <a:fillRect/>
          </a:stretch>
        </p:blipFill>
        <p:spPr>
          <a:xfrm>
            <a:off x="9552492" y="2439984"/>
            <a:ext cx="386976" cy="386976"/>
          </a:xfrm>
          <a:prstGeom prst="rect">
            <a:avLst/>
          </a:prstGeom>
        </p:spPr>
      </p:pic>
      <p:sp>
        <p:nvSpPr>
          <p:cNvPr id="21" name="TextBox 20"/>
          <p:cNvSpPr txBox="1"/>
          <p:nvPr/>
        </p:nvSpPr>
        <p:spPr>
          <a:xfrm>
            <a:off x="8244840" y="3246120"/>
            <a:ext cx="3002280" cy="457200"/>
          </a:xfrm>
          <a:prstGeom prst="rect">
            <a:avLst/>
          </a:prstGeom>
          <a:noFill/>
        </p:spPr>
        <p:txBody>
          <a:bodyPr wrap="square" anchor="t" lIns="0" rIns="0" tIns="0" bIns="0">
            <a:spAutoFit/>
          </a:bodyPr>
          <a:lstStyle/>
          <a:p>
            <a:pPr algn="ctr">
              <a:spcBef>
                <a:spcPts val="0"/>
              </a:spcBef>
              <a:spcAft>
                <a:spcPts val="400"/>
              </a:spcAft>
            </a:pPr>
            <a:r>
              <a:rPr sz="1700" b="1">
                <a:solidFill>
                  <a:srgbClr val="161B26"/>
                </a:solidFill>
                <a:latin typeface="Arial"/>
              </a:rPr>
              <a:t>Your goal</a:t>
            </a:r>
          </a:p>
        </p:txBody>
      </p:sp>
      <p:sp>
        <p:nvSpPr>
          <p:cNvPr id="22" name="TextBox 21"/>
          <p:cNvSpPr txBox="1"/>
          <p:nvPr/>
        </p:nvSpPr>
        <p:spPr>
          <a:xfrm>
            <a:off x="8317992" y="3657600"/>
            <a:ext cx="2855976" cy="457200"/>
          </a:xfrm>
          <a:prstGeom prst="rect">
            <a:avLst/>
          </a:prstGeom>
          <a:noFill/>
        </p:spPr>
        <p:txBody>
          <a:bodyPr wrap="square" anchor="t" lIns="0" rIns="0" tIns="0" bIns="0">
            <a:spAutoFit/>
          </a:bodyPr>
          <a:lstStyle/>
          <a:p>
            <a:pPr algn="ctr">
              <a:spcBef>
                <a:spcPts val="0"/>
              </a:spcBef>
              <a:spcAft>
                <a:spcPts val="400"/>
              </a:spcAft>
            </a:pPr>
            <a:r>
              <a:rPr sz="1300" b="0">
                <a:solidFill>
                  <a:srgbClr val="5B6372"/>
                </a:solidFill>
                <a:latin typeface="Arial"/>
              </a:rPr>
              <a:t>What you want to containerise or deploy after this course.</a:t>
            </a:r>
          </a:p>
        </p:txBody>
      </p:sp>
      <p:sp>
        <p:nvSpPr>
          <p:cNvPr id="23" name="TextBox 22"/>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24" name="TextBox 23"/>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5" name="TextBox 24"/>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HOUSE RULES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Ground Rules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37360"/>
            <a:ext cx="3368040" cy="178308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24128" y="1984248"/>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c_gr1.png"/>
          <p:cNvPicPr>
            <a:picLocks noChangeAspect="1"/>
          </p:cNvPicPr>
          <p:nvPr/>
        </p:nvPicPr>
        <p:blipFill>
          <a:blip r:embed="rId2"/>
          <a:stretch>
            <a:fillRect/>
          </a:stretch>
        </p:blipFill>
        <p:spPr>
          <a:xfrm>
            <a:off x="1177198" y="2137318"/>
            <a:ext cx="260788" cy="260788"/>
          </a:xfrm>
          <a:prstGeom prst="rect">
            <a:avLst/>
          </a:prstGeom>
        </p:spPr>
      </p:pic>
      <p:sp>
        <p:nvSpPr>
          <p:cNvPr id="10" name="TextBox 9"/>
          <p:cNvSpPr txBox="1"/>
          <p:nvPr/>
        </p:nvSpPr>
        <p:spPr>
          <a:xfrm>
            <a:off x="1755648" y="1984248"/>
            <a:ext cx="2545080" cy="566928"/>
          </a:xfrm>
          <a:prstGeom prst="rect">
            <a:avLst/>
          </a:prstGeom>
          <a:noFill/>
        </p:spPr>
        <p:txBody>
          <a:bodyPr wrap="square" anchor="ctr" lIns="0" rIns="0" tIns="0" bIns="0">
            <a:spAutoFit/>
          </a:bodyPr>
          <a:lstStyle/>
          <a:p>
            <a:pPr algn="l">
              <a:spcBef>
                <a:spcPts val="0"/>
              </a:spcBef>
              <a:spcAft>
                <a:spcPts val="400"/>
              </a:spcAft>
            </a:pPr>
            <a:r>
              <a:rPr sz="1500" b="1">
                <a:solidFill>
                  <a:srgbClr val="161B26"/>
                </a:solidFill>
                <a:latin typeface="Arial"/>
              </a:rPr>
              <a:t>Phones on silent</a:t>
            </a:r>
          </a:p>
        </p:txBody>
      </p:sp>
      <p:sp>
        <p:nvSpPr>
          <p:cNvPr id="11" name="TextBox 10"/>
          <p:cNvSpPr txBox="1"/>
          <p:nvPr/>
        </p:nvSpPr>
        <p:spPr>
          <a:xfrm>
            <a:off x="1024128" y="2697480"/>
            <a:ext cx="2874264" cy="731520"/>
          </a:xfrm>
          <a:prstGeom prst="rect">
            <a:avLst/>
          </a:prstGeom>
          <a:noFill/>
        </p:spPr>
        <p:txBody>
          <a:bodyPr wrap="square" anchor="t" lIns="0" rIns="0" tIns="0" bIns="0">
            <a:spAutoFit/>
          </a:bodyPr>
          <a:lstStyle/>
          <a:p>
            <a:pPr algn="l">
              <a:spcBef>
                <a:spcPts val="0"/>
              </a:spcBef>
              <a:spcAft>
                <a:spcPts val="400"/>
              </a:spcAft>
            </a:pPr>
            <a:r>
              <a:rPr sz="1200" b="0">
                <a:solidFill>
                  <a:srgbClr val="5B6372"/>
                </a:solidFill>
                <a:latin typeface="Arial"/>
              </a:rPr>
              <a:t>Set your phone to silent mode.</a:t>
            </a:r>
          </a:p>
        </p:txBody>
      </p:sp>
      <p:sp>
        <p:nvSpPr>
          <p:cNvPr id="12" name="Rounded Rectangle 11"/>
          <p:cNvSpPr/>
          <p:nvPr/>
        </p:nvSpPr>
        <p:spPr>
          <a:xfrm>
            <a:off x="4419600" y="1737360"/>
            <a:ext cx="3368040" cy="178308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666488" y="1984248"/>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c_gr2.png"/>
          <p:cNvPicPr>
            <a:picLocks noChangeAspect="1"/>
          </p:cNvPicPr>
          <p:nvPr/>
        </p:nvPicPr>
        <p:blipFill>
          <a:blip r:embed="rId3"/>
          <a:stretch>
            <a:fillRect/>
          </a:stretch>
        </p:blipFill>
        <p:spPr>
          <a:xfrm>
            <a:off x="4819558" y="2137318"/>
            <a:ext cx="260788" cy="260788"/>
          </a:xfrm>
          <a:prstGeom prst="rect">
            <a:avLst/>
          </a:prstGeom>
        </p:spPr>
      </p:pic>
      <p:sp>
        <p:nvSpPr>
          <p:cNvPr id="15" name="TextBox 14"/>
          <p:cNvSpPr txBox="1"/>
          <p:nvPr/>
        </p:nvSpPr>
        <p:spPr>
          <a:xfrm>
            <a:off x="5398008" y="1984248"/>
            <a:ext cx="2545080" cy="566928"/>
          </a:xfrm>
          <a:prstGeom prst="rect">
            <a:avLst/>
          </a:prstGeom>
          <a:noFill/>
        </p:spPr>
        <p:txBody>
          <a:bodyPr wrap="square" anchor="ctr" lIns="0" rIns="0" tIns="0" bIns="0">
            <a:spAutoFit/>
          </a:bodyPr>
          <a:lstStyle/>
          <a:p>
            <a:pPr algn="l">
              <a:spcBef>
                <a:spcPts val="0"/>
              </a:spcBef>
              <a:spcAft>
                <a:spcPts val="400"/>
              </a:spcAft>
            </a:pPr>
            <a:r>
              <a:rPr sz="1500" b="1">
                <a:solidFill>
                  <a:srgbClr val="161B26"/>
                </a:solidFill>
                <a:latin typeface="Arial"/>
              </a:rPr>
              <a:t>Participate actively</a:t>
            </a:r>
          </a:p>
        </p:txBody>
      </p:sp>
      <p:sp>
        <p:nvSpPr>
          <p:cNvPr id="16" name="TextBox 15"/>
          <p:cNvSpPr txBox="1"/>
          <p:nvPr/>
        </p:nvSpPr>
        <p:spPr>
          <a:xfrm>
            <a:off x="4666488" y="2697480"/>
            <a:ext cx="2874264" cy="731520"/>
          </a:xfrm>
          <a:prstGeom prst="rect">
            <a:avLst/>
          </a:prstGeom>
          <a:noFill/>
        </p:spPr>
        <p:txBody>
          <a:bodyPr wrap="square" anchor="t" lIns="0" rIns="0" tIns="0" bIns="0">
            <a:spAutoFit/>
          </a:bodyPr>
          <a:lstStyle/>
          <a:p>
            <a:pPr algn="l">
              <a:spcBef>
                <a:spcPts val="0"/>
              </a:spcBef>
              <a:spcAft>
                <a:spcPts val="400"/>
              </a:spcAft>
            </a:pPr>
            <a:r>
              <a:rPr sz="1200" b="0">
                <a:solidFill>
                  <a:srgbClr val="5B6372"/>
                </a:solidFill>
                <a:latin typeface="Arial"/>
              </a:rPr>
              <a:t>No question is too small — ask freely.</a:t>
            </a:r>
          </a:p>
        </p:txBody>
      </p:sp>
      <p:sp>
        <p:nvSpPr>
          <p:cNvPr id="17" name="Rounded Rectangle 16"/>
          <p:cNvSpPr/>
          <p:nvPr/>
        </p:nvSpPr>
        <p:spPr>
          <a:xfrm>
            <a:off x="8061960" y="1737360"/>
            <a:ext cx="3368040" cy="178308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308848" y="1984248"/>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ic_gr3.png"/>
          <p:cNvPicPr>
            <a:picLocks noChangeAspect="1"/>
          </p:cNvPicPr>
          <p:nvPr/>
        </p:nvPicPr>
        <p:blipFill>
          <a:blip r:embed="rId4"/>
          <a:stretch>
            <a:fillRect/>
          </a:stretch>
        </p:blipFill>
        <p:spPr>
          <a:xfrm>
            <a:off x="8461918" y="2137318"/>
            <a:ext cx="260788" cy="260788"/>
          </a:xfrm>
          <a:prstGeom prst="rect">
            <a:avLst/>
          </a:prstGeom>
        </p:spPr>
      </p:pic>
      <p:sp>
        <p:nvSpPr>
          <p:cNvPr id="20" name="TextBox 19"/>
          <p:cNvSpPr txBox="1"/>
          <p:nvPr/>
        </p:nvSpPr>
        <p:spPr>
          <a:xfrm>
            <a:off x="9040368" y="1984248"/>
            <a:ext cx="2545080" cy="566928"/>
          </a:xfrm>
          <a:prstGeom prst="rect">
            <a:avLst/>
          </a:prstGeom>
          <a:noFill/>
        </p:spPr>
        <p:txBody>
          <a:bodyPr wrap="square" anchor="ctr" lIns="0" rIns="0" tIns="0" bIns="0">
            <a:spAutoFit/>
          </a:bodyPr>
          <a:lstStyle/>
          <a:p>
            <a:pPr algn="l">
              <a:spcBef>
                <a:spcPts val="0"/>
              </a:spcBef>
              <a:spcAft>
                <a:spcPts val="400"/>
              </a:spcAft>
            </a:pPr>
            <a:r>
              <a:rPr sz="1500" b="1">
                <a:solidFill>
                  <a:srgbClr val="161B26"/>
                </a:solidFill>
                <a:latin typeface="Arial"/>
              </a:rPr>
              <a:t>Mutual respect</a:t>
            </a:r>
          </a:p>
        </p:txBody>
      </p:sp>
      <p:sp>
        <p:nvSpPr>
          <p:cNvPr id="21" name="TextBox 20"/>
          <p:cNvSpPr txBox="1"/>
          <p:nvPr/>
        </p:nvSpPr>
        <p:spPr>
          <a:xfrm>
            <a:off x="8308848" y="2697480"/>
            <a:ext cx="2874264" cy="731520"/>
          </a:xfrm>
          <a:prstGeom prst="rect">
            <a:avLst/>
          </a:prstGeom>
          <a:noFill/>
        </p:spPr>
        <p:txBody>
          <a:bodyPr wrap="square" anchor="t" lIns="0" rIns="0" tIns="0" bIns="0">
            <a:spAutoFit/>
          </a:bodyPr>
          <a:lstStyle/>
          <a:p>
            <a:pPr algn="l">
              <a:spcBef>
                <a:spcPts val="0"/>
              </a:spcBef>
              <a:spcAft>
                <a:spcPts val="400"/>
              </a:spcAft>
            </a:pPr>
            <a:r>
              <a:rPr sz="1200" b="0">
                <a:solidFill>
                  <a:srgbClr val="5B6372"/>
                </a:solidFill>
                <a:latin typeface="Arial"/>
              </a:rPr>
              <a:t>One conversation at a time.</a:t>
            </a:r>
          </a:p>
        </p:txBody>
      </p:sp>
      <p:sp>
        <p:nvSpPr>
          <p:cNvPr id="22" name="Rounded Rectangle 21"/>
          <p:cNvSpPr/>
          <p:nvPr/>
        </p:nvSpPr>
        <p:spPr>
          <a:xfrm>
            <a:off x="777240" y="3767328"/>
            <a:ext cx="3368040" cy="178308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024128" y="401421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ic_gr4.png"/>
          <p:cNvPicPr>
            <a:picLocks noChangeAspect="1"/>
          </p:cNvPicPr>
          <p:nvPr/>
        </p:nvPicPr>
        <p:blipFill>
          <a:blip r:embed="rId5"/>
          <a:stretch>
            <a:fillRect/>
          </a:stretch>
        </p:blipFill>
        <p:spPr>
          <a:xfrm>
            <a:off x="1177198" y="4167286"/>
            <a:ext cx="260788" cy="260788"/>
          </a:xfrm>
          <a:prstGeom prst="rect">
            <a:avLst/>
          </a:prstGeom>
        </p:spPr>
      </p:pic>
      <p:sp>
        <p:nvSpPr>
          <p:cNvPr id="25" name="TextBox 24"/>
          <p:cNvSpPr txBox="1"/>
          <p:nvPr/>
        </p:nvSpPr>
        <p:spPr>
          <a:xfrm>
            <a:off x="1755648" y="4014216"/>
            <a:ext cx="2545080" cy="566928"/>
          </a:xfrm>
          <a:prstGeom prst="rect">
            <a:avLst/>
          </a:prstGeom>
          <a:noFill/>
        </p:spPr>
        <p:txBody>
          <a:bodyPr wrap="square" anchor="ctr" lIns="0" rIns="0" tIns="0" bIns="0">
            <a:spAutoFit/>
          </a:bodyPr>
          <a:lstStyle/>
          <a:p>
            <a:pPr algn="l">
              <a:spcBef>
                <a:spcPts val="0"/>
              </a:spcBef>
              <a:spcAft>
                <a:spcPts val="400"/>
              </a:spcAft>
            </a:pPr>
            <a:r>
              <a:rPr sz="1500" b="1">
                <a:solidFill>
                  <a:srgbClr val="161B26"/>
                </a:solidFill>
                <a:latin typeface="Arial"/>
              </a:rPr>
              <a:t>Be punctual</a:t>
            </a:r>
          </a:p>
        </p:txBody>
      </p:sp>
      <p:sp>
        <p:nvSpPr>
          <p:cNvPr id="26" name="TextBox 25"/>
          <p:cNvSpPr txBox="1"/>
          <p:nvPr/>
        </p:nvSpPr>
        <p:spPr>
          <a:xfrm>
            <a:off x="1024128" y="4727448"/>
            <a:ext cx="2874264" cy="731520"/>
          </a:xfrm>
          <a:prstGeom prst="rect">
            <a:avLst/>
          </a:prstGeom>
          <a:noFill/>
        </p:spPr>
        <p:txBody>
          <a:bodyPr wrap="square" anchor="t" lIns="0" rIns="0" tIns="0" bIns="0">
            <a:spAutoFit/>
          </a:bodyPr>
          <a:lstStyle/>
          <a:p>
            <a:pPr algn="l">
              <a:spcBef>
                <a:spcPts val="0"/>
              </a:spcBef>
              <a:spcAft>
                <a:spcPts val="400"/>
              </a:spcAft>
            </a:pPr>
            <a:r>
              <a:rPr sz="1200" b="0">
                <a:solidFill>
                  <a:srgbClr val="5B6372"/>
                </a:solidFill>
                <a:latin typeface="Arial"/>
              </a:rPr>
              <a:t>Return from breaks on time.</a:t>
            </a:r>
          </a:p>
        </p:txBody>
      </p:sp>
      <p:sp>
        <p:nvSpPr>
          <p:cNvPr id="27" name="Rounded Rectangle 26"/>
          <p:cNvSpPr/>
          <p:nvPr/>
        </p:nvSpPr>
        <p:spPr>
          <a:xfrm>
            <a:off x="4419600" y="3767328"/>
            <a:ext cx="3368040" cy="178308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666488" y="401421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Picture 28" descr="ic_gr6.png"/>
          <p:cNvPicPr>
            <a:picLocks noChangeAspect="1"/>
          </p:cNvPicPr>
          <p:nvPr/>
        </p:nvPicPr>
        <p:blipFill>
          <a:blip r:embed="rId6"/>
          <a:stretch>
            <a:fillRect/>
          </a:stretch>
        </p:blipFill>
        <p:spPr>
          <a:xfrm>
            <a:off x="4819558" y="4167286"/>
            <a:ext cx="260788" cy="260788"/>
          </a:xfrm>
          <a:prstGeom prst="rect">
            <a:avLst/>
          </a:prstGeom>
        </p:spPr>
      </p:pic>
      <p:sp>
        <p:nvSpPr>
          <p:cNvPr id="30" name="TextBox 29"/>
          <p:cNvSpPr txBox="1"/>
          <p:nvPr/>
        </p:nvSpPr>
        <p:spPr>
          <a:xfrm>
            <a:off x="5398008" y="4014216"/>
            <a:ext cx="2545080" cy="566928"/>
          </a:xfrm>
          <a:prstGeom prst="rect">
            <a:avLst/>
          </a:prstGeom>
          <a:noFill/>
        </p:spPr>
        <p:txBody>
          <a:bodyPr wrap="square" anchor="ctr" lIns="0" rIns="0" tIns="0" bIns="0">
            <a:spAutoFit/>
          </a:bodyPr>
          <a:lstStyle/>
          <a:p>
            <a:pPr algn="l">
              <a:spcBef>
                <a:spcPts val="0"/>
              </a:spcBef>
              <a:spcAft>
                <a:spcPts val="400"/>
              </a:spcAft>
            </a:pPr>
            <a:r>
              <a:rPr sz="1500" b="1">
                <a:solidFill>
                  <a:srgbClr val="161B26"/>
                </a:solidFill>
                <a:latin typeface="Arial"/>
              </a:rPr>
              <a:t>Step out quietly</a:t>
            </a:r>
          </a:p>
        </p:txBody>
      </p:sp>
      <p:sp>
        <p:nvSpPr>
          <p:cNvPr id="31" name="TextBox 30"/>
          <p:cNvSpPr txBox="1"/>
          <p:nvPr/>
        </p:nvSpPr>
        <p:spPr>
          <a:xfrm>
            <a:off x="4666488" y="4727448"/>
            <a:ext cx="2874264" cy="731520"/>
          </a:xfrm>
          <a:prstGeom prst="rect">
            <a:avLst/>
          </a:prstGeom>
          <a:noFill/>
        </p:spPr>
        <p:txBody>
          <a:bodyPr wrap="square" anchor="t" lIns="0" rIns="0" tIns="0" bIns="0">
            <a:spAutoFit/>
          </a:bodyPr>
          <a:lstStyle/>
          <a:p>
            <a:pPr algn="l">
              <a:spcBef>
                <a:spcPts val="0"/>
              </a:spcBef>
              <a:spcAft>
                <a:spcPts val="400"/>
              </a:spcAft>
            </a:pPr>
            <a:r>
              <a:rPr sz="1200" b="0">
                <a:solidFill>
                  <a:srgbClr val="5B6372"/>
                </a:solidFill>
                <a:latin typeface="Arial"/>
              </a:rPr>
              <a:t>For calls or short breaks.</a:t>
            </a:r>
          </a:p>
        </p:txBody>
      </p:sp>
      <p:sp>
        <p:nvSpPr>
          <p:cNvPr id="32" name="Rounded Rectangle 31"/>
          <p:cNvSpPr/>
          <p:nvPr/>
        </p:nvSpPr>
        <p:spPr>
          <a:xfrm>
            <a:off x="8061960" y="3767328"/>
            <a:ext cx="3368040" cy="178308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308848" y="401421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4" name="Picture 33" descr="ic_gr5.png"/>
          <p:cNvPicPr>
            <a:picLocks noChangeAspect="1"/>
          </p:cNvPicPr>
          <p:nvPr/>
        </p:nvPicPr>
        <p:blipFill>
          <a:blip r:embed="rId7"/>
          <a:stretch>
            <a:fillRect/>
          </a:stretch>
        </p:blipFill>
        <p:spPr>
          <a:xfrm>
            <a:off x="8461918" y="4167286"/>
            <a:ext cx="260788" cy="260788"/>
          </a:xfrm>
          <a:prstGeom prst="rect">
            <a:avLst/>
          </a:prstGeom>
        </p:spPr>
      </p:pic>
      <p:sp>
        <p:nvSpPr>
          <p:cNvPr id="35" name="TextBox 34"/>
          <p:cNvSpPr txBox="1"/>
          <p:nvPr/>
        </p:nvSpPr>
        <p:spPr>
          <a:xfrm>
            <a:off x="9040368" y="4014216"/>
            <a:ext cx="2545080" cy="566928"/>
          </a:xfrm>
          <a:prstGeom prst="rect">
            <a:avLst/>
          </a:prstGeom>
          <a:noFill/>
        </p:spPr>
        <p:txBody>
          <a:bodyPr wrap="square" anchor="ctr" lIns="0" rIns="0" tIns="0" bIns="0">
            <a:spAutoFit/>
          </a:bodyPr>
          <a:lstStyle/>
          <a:p>
            <a:pPr algn="l">
              <a:spcBef>
                <a:spcPts val="0"/>
              </a:spcBef>
              <a:spcAft>
                <a:spcPts val="400"/>
              </a:spcAft>
            </a:pPr>
            <a:r>
              <a:rPr sz="1500" b="1">
                <a:solidFill>
                  <a:srgbClr val="161B26"/>
                </a:solidFill>
                <a:latin typeface="Arial"/>
              </a:rPr>
              <a:t>75% attendance</a:t>
            </a:r>
          </a:p>
        </p:txBody>
      </p:sp>
      <p:sp>
        <p:nvSpPr>
          <p:cNvPr id="36" name="TextBox 35"/>
          <p:cNvSpPr txBox="1"/>
          <p:nvPr/>
        </p:nvSpPr>
        <p:spPr>
          <a:xfrm>
            <a:off x="8308848" y="4727448"/>
            <a:ext cx="2874264" cy="731520"/>
          </a:xfrm>
          <a:prstGeom prst="rect">
            <a:avLst/>
          </a:prstGeom>
          <a:noFill/>
        </p:spPr>
        <p:txBody>
          <a:bodyPr wrap="square" anchor="t" lIns="0" rIns="0" tIns="0" bIns="0">
            <a:spAutoFit/>
          </a:bodyPr>
          <a:lstStyle/>
          <a:p>
            <a:pPr algn="l">
              <a:spcBef>
                <a:spcPts val="0"/>
              </a:spcBef>
              <a:spcAft>
                <a:spcPts val="400"/>
              </a:spcAft>
            </a:pPr>
            <a:r>
              <a:rPr sz="1200" b="0">
                <a:solidFill>
                  <a:srgbClr val="5B6372"/>
                </a:solidFill>
                <a:latin typeface="Arial"/>
              </a:rPr>
              <a:t>Required for funding eligibility.</a:t>
            </a:r>
          </a:p>
        </p:txBody>
      </p:sp>
      <p:sp>
        <p:nvSpPr>
          <p:cNvPr id="37" name="TextBox 36"/>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38" name="TextBox 37"/>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39" name="TextBox 38"/>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SCHEDULE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Lesson Plan — 2 Days, 8 hours/day</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55648"/>
            <a:ext cx="5143500" cy="338328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69848" y="2048256"/>
            <a:ext cx="676656" cy="6766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2400" b="1">
                <a:solidFill>
                  <a:srgbClr val="FFFFFF"/>
                </a:solidFill>
                <a:latin typeface="Arial"/>
              </a:rPr>
              <a:t>1</a:t>
            </a:r>
          </a:p>
        </p:txBody>
      </p:sp>
      <p:sp>
        <p:nvSpPr>
          <p:cNvPr id="9" name="TextBox 8"/>
          <p:cNvSpPr txBox="1"/>
          <p:nvPr/>
        </p:nvSpPr>
        <p:spPr>
          <a:xfrm>
            <a:off x="1965960" y="2048256"/>
            <a:ext cx="3863340" cy="676656"/>
          </a:xfrm>
          <a:prstGeom prst="rect">
            <a:avLst/>
          </a:prstGeom>
          <a:noFill/>
        </p:spPr>
        <p:txBody>
          <a:bodyPr wrap="square" anchor="ctr" lIns="0" rIns="0" tIns="0" bIns="0">
            <a:spAutoFit/>
          </a:bodyPr>
          <a:lstStyle/>
          <a:p>
            <a:pPr algn="l">
              <a:spcBef>
                <a:spcPts val="0"/>
              </a:spcBef>
              <a:spcAft>
                <a:spcPts val="400"/>
              </a:spcAft>
            </a:pPr>
            <a:r>
              <a:rPr sz="1700" b="1">
                <a:solidFill>
                  <a:srgbClr val="161B26"/>
                </a:solidFill>
                <a:latin typeface="Arial"/>
              </a:rPr>
              <a:t>Day 1</a:t>
            </a:r>
          </a:p>
        </p:txBody>
      </p:sp>
      <p:sp>
        <p:nvSpPr>
          <p:cNvPr id="10" name="TextBox 9"/>
          <p:cNvSpPr txBox="1"/>
          <p:nvPr/>
        </p:nvSpPr>
        <p:spPr>
          <a:xfrm>
            <a:off x="1069848" y="2944368"/>
            <a:ext cx="4558284" cy="2011680"/>
          </a:xfrm>
          <a:prstGeom prst="rect">
            <a:avLst/>
          </a:prstGeom>
          <a:noFill/>
        </p:spPr>
        <p:txBody>
          <a:bodyPr wrap="square" anchor="t" lIns="0" rIns="0" tIns="0" bIns="0">
            <a:spAutoFit/>
          </a:bodyPr>
          <a:lstStyle/>
          <a:p>
            <a:pPr algn="l">
              <a:spcBef>
                <a:spcPts val="0"/>
              </a:spcBef>
              <a:spcAft>
                <a:spcPts val="700"/>
              </a:spcAft>
            </a:pPr>
            <a:r>
              <a:rPr sz="1300" b="1">
                <a:solidFill>
                  <a:srgbClr val="161B26"/>
                </a:solidFill>
                <a:latin typeface="Arial"/>
              </a:rPr>
              <a:t>Docker</a:t>
            </a:r>
          </a:p>
          <a:p>
            <a:pPr algn="l">
              <a:spcBef>
                <a:spcPts val="0"/>
              </a:spcBef>
              <a:spcAft>
                <a:spcPts val="700"/>
              </a:spcAft>
            </a:pPr>
            <a:r>
              <a:rPr sz="1300" b="0">
                <a:solidFill>
                  <a:srgbClr val="5B6372"/>
                </a:solidFill>
                <a:latin typeface="Arial"/>
              </a:rPr>
              <a:t>· Fundamentals &amp; commands (Labs 1–2)</a:t>
            </a:r>
          </a:p>
          <a:p>
            <a:pPr algn="l">
              <a:spcBef>
                <a:spcPts val="0"/>
              </a:spcBef>
              <a:spcAft>
                <a:spcPts val="700"/>
              </a:spcAft>
            </a:pPr>
            <a:r>
              <a:rPr sz="1300" b="0">
                <a:solidFill>
                  <a:srgbClr val="5B6372"/>
                </a:solidFill>
                <a:latin typeface="Arial"/>
              </a:rPr>
              <a:t>· Dockerfile, build &amp; CMD/ENTRYPOINT (Labs 3–5)</a:t>
            </a:r>
          </a:p>
          <a:p>
            <a:pPr algn="l">
              <a:spcBef>
                <a:spcPts val="0"/>
              </a:spcBef>
              <a:spcAft>
                <a:spcPts val="700"/>
              </a:spcAft>
            </a:pPr>
            <a:r>
              <a:rPr sz="1300" b="0">
                <a:solidFill>
                  <a:srgbClr val="5B6372"/>
                </a:solidFill>
                <a:latin typeface="Arial"/>
              </a:rPr>
              <a:t>· Storage, networking, config (Labs 6–8)</a:t>
            </a:r>
          </a:p>
          <a:p>
            <a:pPr algn="l">
              <a:spcBef>
                <a:spcPts val="0"/>
              </a:spcBef>
              <a:spcAft>
                <a:spcPts val="700"/>
              </a:spcAft>
            </a:pPr>
            <a:r>
              <a:rPr sz="1300" b="0">
                <a:solidFill>
                  <a:srgbClr val="5B6372"/>
                </a:solidFill>
                <a:latin typeface="Arial"/>
              </a:rPr>
              <a:t>· Docker Hub &amp; Compose (Labs 9–12)</a:t>
            </a:r>
          </a:p>
        </p:txBody>
      </p:sp>
      <p:sp>
        <p:nvSpPr>
          <p:cNvPr id="11" name="Rounded Rectangle 10"/>
          <p:cNvSpPr/>
          <p:nvPr/>
        </p:nvSpPr>
        <p:spPr>
          <a:xfrm>
            <a:off x="6286500" y="1755648"/>
            <a:ext cx="5143500" cy="338328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579108" y="2048256"/>
            <a:ext cx="676656" cy="6766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2400" b="1">
                <a:solidFill>
                  <a:srgbClr val="FFFFFF"/>
                </a:solidFill>
                <a:latin typeface="Arial"/>
              </a:rPr>
              <a:t>2</a:t>
            </a:r>
          </a:p>
        </p:txBody>
      </p:sp>
      <p:sp>
        <p:nvSpPr>
          <p:cNvPr id="13" name="TextBox 12"/>
          <p:cNvSpPr txBox="1"/>
          <p:nvPr/>
        </p:nvSpPr>
        <p:spPr>
          <a:xfrm>
            <a:off x="7475220" y="2048256"/>
            <a:ext cx="3863340" cy="676656"/>
          </a:xfrm>
          <a:prstGeom prst="rect">
            <a:avLst/>
          </a:prstGeom>
          <a:noFill/>
        </p:spPr>
        <p:txBody>
          <a:bodyPr wrap="square" anchor="ctr" lIns="0" rIns="0" tIns="0" bIns="0">
            <a:spAutoFit/>
          </a:bodyPr>
          <a:lstStyle/>
          <a:p>
            <a:pPr algn="l">
              <a:spcBef>
                <a:spcPts val="0"/>
              </a:spcBef>
              <a:spcAft>
                <a:spcPts val="400"/>
              </a:spcAft>
            </a:pPr>
            <a:r>
              <a:rPr sz="1700" b="1">
                <a:solidFill>
                  <a:srgbClr val="161B26"/>
                </a:solidFill>
                <a:latin typeface="Arial"/>
              </a:rPr>
              <a:t>Day 2</a:t>
            </a:r>
          </a:p>
        </p:txBody>
      </p:sp>
      <p:sp>
        <p:nvSpPr>
          <p:cNvPr id="14" name="TextBox 13"/>
          <p:cNvSpPr txBox="1"/>
          <p:nvPr/>
        </p:nvSpPr>
        <p:spPr>
          <a:xfrm>
            <a:off x="6579108" y="2944368"/>
            <a:ext cx="4558284" cy="2011680"/>
          </a:xfrm>
          <a:prstGeom prst="rect">
            <a:avLst/>
          </a:prstGeom>
          <a:noFill/>
        </p:spPr>
        <p:txBody>
          <a:bodyPr wrap="square" anchor="t" lIns="0" rIns="0" tIns="0" bIns="0">
            <a:spAutoFit/>
          </a:bodyPr>
          <a:lstStyle/>
          <a:p>
            <a:pPr algn="l">
              <a:spcBef>
                <a:spcPts val="0"/>
              </a:spcBef>
              <a:spcAft>
                <a:spcPts val="700"/>
              </a:spcAft>
            </a:pPr>
            <a:r>
              <a:rPr sz="1300" b="1">
                <a:solidFill>
                  <a:srgbClr val="161B26"/>
                </a:solidFill>
                <a:latin typeface="Arial"/>
              </a:rPr>
              <a:t>Kubernetes</a:t>
            </a:r>
          </a:p>
          <a:p>
            <a:pPr algn="l">
              <a:spcBef>
                <a:spcPts val="0"/>
              </a:spcBef>
              <a:spcAft>
                <a:spcPts val="700"/>
              </a:spcAft>
            </a:pPr>
            <a:r>
              <a:rPr sz="1300" b="0">
                <a:solidFill>
                  <a:srgbClr val="5B6372"/>
                </a:solidFill>
                <a:latin typeface="Arial"/>
              </a:rPr>
              <a:t>· Pods &amp; Namespaces (Labs 13–14)</a:t>
            </a:r>
          </a:p>
          <a:p>
            <a:pPr algn="l">
              <a:spcBef>
                <a:spcPts val="0"/>
              </a:spcBef>
              <a:spcAft>
                <a:spcPts val="700"/>
              </a:spcAft>
            </a:pPr>
            <a:r>
              <a:rPr sz="1300" b="0">
                <a:solidFill>
                  <a:srgbClr val="5B6372"/>
                </a:solidFill>
                <a:latin typeface="Arial"/>
              </a:rPr>
              <a:t>· Deployments &amp; Rollouts (Labs 15–16)</a:t>
            </a:r>
          </a:p>
          <a:p>
            <a:pPr algn="l">
              <a:spcBef>
                <a:spcPts val="0"/>
              </a:spcBef>
              <a:spcAft>
                <a:spcPts val="700"/>
              </a:spcAft>
            </a:pPr>
            <a:r>
              <a:rPr sz="1300" b="0">
                <a:solidFill>
                  <a:srgbClr val="5B6372"/>
                </a:solidFill>
                <a:latin typeface="Arial"/>
              </a:rPr>
              <a:t>· Services (Lab 17)</a:t>
            </a:r>
          </a:p>
          <a:p>
            <a:pPr algn="l">
              <a:spcBef>
                <a:spcPts val="0"/>
              </a:spcBef>
              <a:spcAft>
                <a:spcPts val="700"/>
              </a:spcAft>
            </a:pPr>
            <a:r>
              <a:rPr sz="1300" b="0">
                <a:solidFill>
                  <a:srgbClr val="5B6372"/>
                </a:solidFill>
                <a:latin typeface="Arial"/>
              </a:rPr>
              <a:t>· Storage, Jobs &amp; CronJobs (Labs 18–19)</a:t>
            </a:r>
          </a:p>
          <a:p>
            <a:pPr algn="l">
              <a:spcBef>
                <a:spcPts val="0"/>
              </a:spcBef>
              <a:spcAft>
                <a:spcPts val="700"/>
              </a:spcAft>
            </a:pPr>
            <a:r>
              <a:rPr sz="1300" b="0">
                <a:solidFill>
                  <a:srgbClr val="5B6372"/>
                </a:solidFill>
                <a:latin typeface="Arial"/>
              </a:rPr>
              <a:t>· Final assessment from 4:00 PM</a:t>
            </a:r>
          </a:p>
        </p:txBody>
      </p:sp>
      <p:sp>
        <p:nvSpPr>
          <p:cNvPr id="15" name="Rounded Rectangle 14"/>
          <p:cNvSpPr/>
          <p:nvPr/>
        </p:nvSpPr>
        <p:spPr>
          <a:xfrm>
            <a:off x="777240" y="5349240"/>
            <a:ext cx="10652760" cy="566928"/>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97280" y="5349240"/>
            <a:ext cx="10058400" cy="566928"/>
          </a:xfrm>
          <a:prstGeom prst="rect">
            <a:avLst/>
          </a:prstGeom>
          <a:noFill/>
        </p:spPr>
        <p:txBody>
          <a:bodyPr wrap="square" anchor="ctr" lIns="0" rIns="0" tIns="0" bIns="0">
            <a:spAutoFit/>
          </a:bodyPr>
          <a:lstStyle/>
          <a:p>
            <a:pPr algn="l">
              <a:spcBef>
                <a:spcPts val="0"/>
              </a:spcBef>
              <a:spcAft>
                <a:spcPts val="400"/>
              </a:spcAft>
            </a:pPr>
            <a:r>
              <a:rPr sz="1400" b="1">
                <a:solidFill>
                  <a:srgbClr val="1F6FEB"/>
                </a:solidFill>
                <a:latin typeface="Arial"/>
              </a:rPr>
              <a:t>Daily timing:   </a:t>
            </a:r>
            <a:r>
              <a:rPr sz="1400" b="0">
                <a:solidFill>
                  <a:srgbClr val="161B26"/>
                </a:solidFill>
                <a:latin typeface="Arial"/>
              </a:rPr>
              <a:t>9:00am – 6:00pm   ·   1-hour lunch   ·   short tea breaks within each day</a:t>
            </a:r>
          </a:p>
        </p:txBody>
      </p:sp>
      <p:sp>
        <p:nvSpPr>
          <p:cNvPr id="17" name="TextBox 16"/>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8" name="TextBox 17"/>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9" name="TextBox 18"/>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WHAT YOU'LL ACHIEVE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Learning Outcomes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1691640"/>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FFFFFF"/>
                </a:solidFill>
                <a:latin typeface="Arial"/>
              </a:rPr>
              <a:t>1</a:t>
            </a:r>
          </a:p>
        </p:txBody>
      </p:sp>
      <p:sp>
        <p:nvSpPr>
          <p:cNvPr id="8" name="TextBox 7"/>
          <p:cNvSpPr txBox="1"/>
          <p:nvPr/>
        </p:nvSpPr>
        <p:spPr>
          <a:xfrm>
            <a:off x="1581912" y="1691640"/>
            <a:ext cx="9875520" cy="512064"/>
          </a:xfrm>
          <a:prstGeom prst="rect">
            <a:avLst/>
          </a:prstGeom>
          <a:noFill/>
        </p:spPr>
        <p:txBody>
          <a:bodyPr wrap="square" anchor="ctr" lIns="0" rIns="0" tIns="0" bIns="0">
            <a:spAutoFit/>
          </a:bodyPr>
          <a:lstStyle/>
          <a:p>
            <a:pPr algn="l">
              <a:spcBef>
                <a:spcPts val="0"/>
              </a:spcBef>
              <a:spcAft>
                <a:spcPts val="400"/>
              </a:spcAft>
            </a:pPr>
            <a:r>
              <a:rPr sz="1500" b="1">
                <a:solidFill>
                  <a:srgbClr val="1F6FEB"/>
                </a:solidFill>
                <a:latin typeface="Arial"/>
              </a:rPr>
              <a:t>LO1   </a:t>
            </a:r>
            <a:r>
              <a:rPr sz="1500" b="0">
                <a:solidFill>
                  <a:srgbClr val="161B26"/>
                </a:solidFill>
                <a:latin typeface="Arial"/>
              </a:rPr>
              <a:t>Explain containerisation and manage containers with the Docker CLI.</a:t>
            </a:r>
          </a:p>
        </p:txBody>
      </p:sp>
      <p:sp>
        <p:nvSpPr>
          <p:cNvPr id="9" name="Oval 8"/>
          <p:cNvSpPr/>
          <p:nvPr/>
        </p:nvSpPr>
        <p:spPr>
          <a:xfrm>
            <a:off x="777240" y="2404872"/>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FFFFFF"/>
                </a:solidFill>
                <a:latin typeface="Arial"/>
              </a:rPr>
              <a:t>2</a:t>
            </a:r>
          </a:p>
        </p:txBody>
      </p:sp>
      <p:sp>
        <p:nvSpPr>
          <p:cNvPr id="10" name="TextBox 9"/>
          <p:cNvSpPr txBox="1"/>
          <p:nvPr/>
        </p:nvSpPr>
        <p:spPr>
          <a:xfrm>
            <a:off x="1581912" y="2404872"/>
            <a:ext cx="9875520" cy="512064"/>
          </a:xfrm>
          <a:prstGeom prst="rect">
            <a:avLst/>
          </a:prstGeom>
          <a:noFill/>
        </p:spPr>
        <p:txBody>
          <a:bodyPr wrap="square" anchor="ctr" lIns="0" rIns="0" tIns="0" bIns="0">
            <a:spAutoFit/>
          </a:bodyPr>
          <a:lstStyle/>
          <a:p>
            <a:pPr algn="l">
              <a:spcBef>
                <a:spcPts val="0"/>
              </a:spcBef>
              <a:spcAft>
                <a:spcPts val="400"/>
              </a:spcAft>
            </a:pPr>
            <a:r>
              <a:rPr sz="1500" b="1">
                <a:solidFill>
                  <a:srgbClr val="1F6FEB"/>
                </a:solidFill>
                <a:latin typeface="Arial"/>
              </a:rPr>
              <a:t>LO2   </a:t>
            </a:r>
            <a:r>
              <a:rPr sz="1500" b="0">
                <a:solidFill>
                  <a:srgbClr val="161B26"/>
                </a:solidFill>
                <a:latin typeface="Arial"/>
              </a:rPr>
              <a:t>Build images with a Dockerfile and use CMD vs ENTRYPOINT correctly.</a:t>
            </a:r>
          </a:p>
        </p:txBody>
      </p:sp>
      <p:sp>
        <p:nvSpPr>
          <p:cNvPr id="11" name="Oval 10"/>
          <p:cNvSpPr/>
          <p:nvPr/>
        </p:nvSpPr>
        <p:spPr>
          <a:xfrm>
            <a:off x="777240" y="3118104"/>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FFFFFF"/>
                </a:solidFill>
                <a:latin typeface="Arial"/>
              </a:rPr>
              <a:t>3</a:t>
            </a:r>
          </a:p>
        </p:txBody>
      </p:sp>
      <p:sp>
        <p:nvSpPr>
          <p:cNvPr id="12" name="TextBox 11"/>
          <p:cNvSpPr txBox="1"/>
          <p:nvPr/>
        </p:nvSpPr>
        <p:spPr>
          <a:xfrm>
            <a:off x="1581912" y="3118104"/>
            <a:ext cx="9875520" cy="512064"/>
          </a:xfrm>
          <a:prstGeom prst="rect">
            <a:avLst/>
          </a:prstGeom>
          <a:noFill/>
        </p:spPr>
        <p:txBody>
          <a:bodyPr wrap="square" anchor="ctr" lIns="0" rIns="0" tIns="0" bIns="0">
            <a:spAutoFit/>
          </a:bodyPr>
          <a:lstStyle/>
          <a:p>
            <a:pPr algn="l">
              <a:spcBef>
                <a:spcPts val="0"/>
              </a:spcBef>
              <a:spcAft>
                <a:spcPts val="400"/>
              </a:spcAft>
            </a:pPr>
            <a:r>
              <a:rPr sz="1500" b="1">
                <a:solidFill>
                  <a:srgbClr val="1F6FEB"/>
                </a:solidFill>
                <a:latin typeface="Arial"/>
              </a:rPr>
              <a:t>LO3   </a:t>
            </a:r>
            <a:r>
              <a:rPr sz="1500" b="0">
                <a:solidFill>
                  <a:srgbClr val="161B26"/>
                </a:solidFill>
                <a:latin typeface="Arial"/>
              </a:rPr>
              <a:t>Persist data with volumes and connect containers over custom networks.</a:t>
            </a:r>
          </a:p>
        </p:txBody>
      </p:sp>
      <p:sp>
        <p:nvSpPr>
          <p:cNvPr id="13" name="Oval 12"/>
          <p:cNvSpPr/>
          <p:nvPr/>
        </p:nvSpPr>
        <p:spPr>
          <a:xfrm>
            <a:off x="777240" y="3831336"/>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FFFFFF"/>
                </a:solidFill>
                <a:latin typeface="Arial"/>
              </a:rPr>
              <a:t>4</a:t>
            </a:r>
          </a:p>
        </p:txBody>
      </p:sp>
      <p:sp>
        <p:nvSpPr>
          <p:cNvPr id="14" name="TextBox 13"/>
          <p:cNvSpPr txBox="1"/>
          <p:nvPr/>
        </p:nvSpPr>
        <p:spPr>
          <a:xfrm>
            <a:off x="1581912" y="3831336"/>
            <a:ext cx="9875520" cy="512064"/>
          </a:xfrm>
          <a:prstGeom prst="rect">
            <a:avLst/>
          </a:prstGeom>
          <a:noFill/>
        </p:spPr>
        <p:txBody>
          <a:bodyPr wrap="square" anchor="ctr" lIns="0" rIns="0" tIns="0" bIns="0">
            <a:spAutoFit/>
          </a:bodyPr>
          <a:lstStyle/>
          <a:p>
            <a:pPr algn="l">
              <a:spcBef>
                <a:spcPts val="0"/>
              </a:spcBef>
              <a:spcAft>
                <a:spcPts val="400"/>
              </a:spcAft>
            </a:pPr>
            <a:r>
              <a:rPr sz="1500" b="1">
                <a:solidFill>
                  <a:srgbClr val="1F6FEB"/>
                </a:solidFill>
                <a:latin typeface="Arial"/>
              </a:rPr>
              <a:t>LO4   </a:t>
            </a:r>
            <a:r>
              <a:rPr sz="1500" b="0">
                <a:solidFill>
                  <a:srgbClr val="161B26"/>
                </a:solidFill>
                <a:latin typeface="Arial"/>
              </a:rPr>
              <a:t>Run multi-service apps (web + cache + database) with Docker Compose.</a:t>
            </a:r>
          </a:p>
        </p:txBody>
      </p:sp>
      <p:sp>
        <p:nvSpPr>
          <p:cNvPr id="15" name="Oval 14"/>
          <p:cNvSpPr/>
          <p:nvPr/>
        </p:nvSpPr>
        <p:spPr>
          <a:xfrm>
            <a:off x="777240" y="4544568"/>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FFFFFF"/>
                </a:solidFill>
                <a:latin typeface="Arial"/>
              </a:rPr>
              <a:t>5</a:t>
            </a:r>
          </a:p>
        </p:txBody>
      </p:sp>
      <p:sp>
        <p:nvSpPr>
          <p:cNvPr id="16" name="TextBox 15"/>
          <p:cNvSpPr txBox="1"/>
          <p:nvPr/>
        </p:nvSpPr>
        <p:spPr>
          <a:xfrm>
            <a:off x="1581912" y="4544568"/>
            <a:ext cx="9875520" cy="512064"/>
          </a:xfrm>
          <a:prstGeom prst="rect">
            <a:avLst/>
          </a:prstGeom>
          <a:noFill/>
        </p:spPr>
        <p:txBody>
          <a:bodyPr wrap="square" anchor="ctr" lIns="0" rIns="0" tIns="0" bIns="0">
            <a:spAutoFit/>
          </a:bodyPr>
          <a:lstStyle/>
          <a:p>
            <a:pPr algn="l">
              <a:spcBef>
                <a:spcPts val="0"/>
              </a:spcBef>
              <a:spcAft>
                <a:spcPts val="400"/>
              </a:spcAft>
            </a:pPr>
            <a:r>
              <a:rPr sz="1500" b="1">
                <a:solidFill>
                  <a:srgbClr val="1F6FEB"/>
                </a:solidFill>
                <a:latin typeface="Arial"/>
              </a:rPr>
              <a:t>LO5   </a:t>
            </a:r>
            <a:r>
              <a:rPr sz="1500" b="0">
                <a:solidFill>
                  <a:srgbClr val="161B26"/>
                </a:solidFill>
                <a:latin typeface="Arial"/>
              </a:rPr>
              <a:t>Deploy, scale and update applications on Kubernetes.</a:t>
            </a:r>
          </a:p>
        </p:txBody>
      </p:sp>
      <p:sp>
        <p:nvSpPr>
          <p:cNvPr id="17" name="Oval 16"/>
          <p:cNvSpPr/>
          <p:nvPr/>
        </p:nvSpPr>
        <p:spPr>
          <a:xfrm>
            <a:off x="777240" y="5257800"/>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FFFFFF"/>
                </a:solidFill>
                <a:latin typeface="Arial"/>
              </a:rPr>
              <a:t>6</a:t>
            </a:r>
          </a:p>
        </p:txBody>
      </p:sp>
      <p:sp>
        <p:nvSpPr>
          <p:cNvPr id="18" name="TextBox 17"/>
          <p:cNvSpPr txBox="1"/>
          <p:nvPr/>
        </p:nvSpPr>
        <p:spPr>
          <a:xfrm>
            <a:off x="1581912" y="5257800"/>
            <a:ext cx="9875520" cy="512064"/>
          </a:xfrm>
          <a:prstGeom prst="rect">
            <a:avLst/>
          </a:prstGeom>
          <a:noFill/>
        </p:spPr>
        <p:txBody>
          <a:bodyPr wrap="square" anchor="ctr" lIns="0" rIns="0" tIns="0" bIns="0">
            <a:spAutoFit/>
          </a:bodyPr>
          <a:lstStyle/>
          <a:p>
            <a:pPr algn="l">
              <a:spcBef>
                <a:spcPts val="0"/>
              </a:spcBef>
              <a:spcAft>
                <a:spcPts val="400"/>
              </a:spcAft>
            </a:pPr>
            <a:r>
              <a:rPr sz="1500" b="1">
                <a:solidFill>
                  <a:srgbClr val="1F6FEB"/>
                </a:solidFill>
                <a:latin typeface="Arial"/>
              </a:rPr>
              <a:t>LO6   </a:t>
            </a:r>
            <a:r>
              <a:rPr sz="1500" b="0">
                <a:solidFill>
                  <a:srgbClr val="161B26"/>
                </a:solidFill>
                <a:latin typeface="Arial"/>
              </a:rPr>
              <a:t>Expose Services and persist data with PersistentVolumes &amp; Claims.</a:t>
            </a:r>
          </a:p>
        </p:txBody>
      </p:sp>
      <p:sp>
        <p:nvSpPr>
          <p:cNvPr id="19" name="TextBox 1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20" name="TextBox 1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1" name="TextBox 2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FINAL ASSESSMENT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Assessment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83080"/>
            <a:ext cx="5257800" cy="365760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88136" y="2093976"/>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c_clip.png"/>
          <p:cNvPicPr>
            <a:picLocks noChangeAspect="1"/>
          </p:cNvPicPr>
          <p:nvPr/>
        </p:nvPicPr>
        <p:blipFill>
          <a:blip r:embed="rId2"/>
          <a:stretch>
            <a:fillRect/>
          </a:stretch>
        </p:blipFill>
        <p:spPr>
          <a:xfrm>
            <a:off x="1265895" y="2271735"/>
            <a:ext cx="302850" cy="302850"/>
          </a:xfrm>
          <a:prstGeom prst="rect">
            <a:avLst/>
          </a:prstGeom>
        </p:spPr>
      </p:pic>
      <p:sp>
        <p:nvSpPr>
          <p:cNvPr id="10" name="TextBox 9"/>
          <p:cNvSpPr txBox="1"/>
          <p:nvPr/>
        </p:nvSpPr>
        <p:spPr>
          <a:xfrm>
            <a:off x="1965960" y="2093976"/>
            <a:ext cx="3977640" cy="658368"/>
          </a:xfrm>
          <a:prstGeom prst="rect">
            <a:avLst/>
          </a:prstGeom>
          <a:noFill/>
        </p:spPr>
        <p:txBody>
          <a:bodyPr wrap="square" anchor="ctr" lIns="0" rIns="0" tIns="0" bIns="0">
            <a:spAutoFit/>
          </a:bodyPr>
          <a:lstStyle/>
          <a:p>
            <a:pPr algn="l">
              <a:spcBef>
                <a:spcPts val="0"/>
              </a:spcBef>
              <a:spcAft>
                <a:spcPts val="400"/>
              </a:spcAft>
            </a:pPr>
            <a:r>
              <a:rPr sz="1800" b="1">
                <a:solidFill>
                  <a:srgbClr val="161B26"/>
                </a:solidFill>
                <a:latin typeface="Arial"/>
              </a:rPr>
              <a:t>Final Assessment</a:t>
            </a:r>
          </a:p>
        </p:txBody>
      </p:sp>
      <p:sp>
        <p:nvSpPr>
          <p:cNvPr id="11" name="TextBox 10"/>
          <p:cNvSpPr txBox="1"/>
          <p:nvPr/>
        </p:nvSpPr>
        <p:spPr>
          <a:xfrm>
            <a:off x="1088136" y="3063240"/>
            <a:ext cx="4636008" cy="2194560"/>
          </a:xfrm>
          <a:prstGeom prst="rect">
            <a:avLst/>
          </a:prstGeom>
          <a:noFill/>
        </p:spPr>
        <p:txBody>
          <a:bodyPr wrap="square" lIns="0" rIns="0">
            <a:spAutoFit/>
          </a:bodyPr>
          <a:lstStyle/>
          <a:p>
            <a:pPr>
              <a:spcBef>
                <a:spcPts val="0"/>
              </a:spcBef>
              <a:spcAft>
                <a:spcPts val="1000"/>
              </a:spcAft>
            </a:pPr>
            <a:r>
              <a:rPr sz="1300" b="1">
                <a:solidFill>
                  <a:srgbClr val="1F6FEB"/>
                </a:solidFill>
                <a:latin typeface="Arial"/>
              </a:rPr>
              <a:t>•  </a:t>
            </a:r>
            <a:r>
              <a:rPr sz="1300">
                <a:solidFill>
                  <a:srgbClr val="161B26"/>
                </a:solidFill>
                <a:latin typeface="Arial"/>
              </a:rPr>
              <a:t>Written / MCQ assessment on the LMS</a:t>
            </a:r>
          </a:p>
          <a:p>
            <a:pPr>
              <a:spcBef>
                <a:spcPts val="0"/>
              </a:spcBef>
              <a:spcAft>
                <a:spcPts val="1000"/>
              </a:spcAft>
            </a:pPr>
            <a:r>
              <a:rPr sz="1300" b="1">
                <a:solidFill>
                  <a:srgbClr val="1F6FEB"/>
                </a:solidFill>
                <a:latin typeface="Arial"/>
              </a:rPr>
              <a:t>•  </a:t>
            </a:r>
            <a:r>
              <a:rPr sz="1300">
                <a:solidFill>
                  <a:srgbClr val="161B26"/>
                </a:solidFill>
                <a:latin typeface="Arial"/>
              </a:rPr>
              <a:t>Held on Day 2 from 4:00 PM</a:t>
            </a:r>
          </a:p>
          <a:p>
            <a:pPr>
              <a:spcBef>
                <a:spcPts val="0"/>
              </a:spcBef>
              <a:spcAft>
                <a:spcPts val="1000"/>
              </a:spcAft>
            </a:pPr>
            <a:r>
              <a:rPr sz="1300" b="1">
                <a:solidFill>
                  <a:srgbClr val="1F6FEB"/>
                </a:solidFill>
                <a:latin typeface="Arial"/>
              </a:rPr>
              <a:t>•  </a:t>
            </a:r>
            <a:r>
              <a:rPr sz="1300">
                <a:solidFill>
                  <a:srgbClr val="161B26"/>
                </a:solidFill>
                <a:latin typeface="Arial"/>
              </a:rPr>
              <a:t>Covers Docker &amp; Kubernetes concepts and the hands-on labs</a:t>
            </a:r>
          </a:p>
          <a:p>
            <a:pPr>
              <a:spcBef>
                <a:spcPts val="0"/>
              </a:spcBef>
              <a:spcAft>
                <a:spcPts val="1000"/>
              </a:spcAft>
            </a:pPr>
            <a:r>
              <a:rPr sz="1300" b="1">
                <a:solidFill>
                  <a:srgbClr val="1F6FEB"/>
                </a:solidFill>
                <a:latin typeface="Arial"/>
              </a:rPr>
              <a:t>•  </a:t>
            </a:r>
            <a:r>
              <a:rPr sz="1300">
                <a:solidFill>
                  <a:srgbClr val="161B26"/>
                </a:solidFill>
                <a:latin typeface="Arial"/>
              </a:rPr>
              <a:t>Open book — slides &amp; Learner Guide</a:t>
            </a:r>
          </a:p>
          <a:p>
            <a:pPr>
              <a:spcBef>
                <a:spcPts val="0"/>
              </a:spcBef>
              <a:spcAft>
                <a:spcPts val="1000"/>
              </a:spcAft>
            </a:pPr>
            <a:r>
              <a:rPr sz="1300" b="1">
                <a:solidFill>
                  <a:srgbClr val="1F6FEB"/>
                </a:solidFill>
                <a:latin typeface="Arial"/>
              </a:rPr>
              <a:t>•  </a:t>
            </a:r>
            <a:r>
              <a:rPr sz="1300">
                <a:solidFill>
                  <a:srgbClr val="161B26"/>
                </a:solidFill>
                <a:latin typeface="Arial"/>
              </a:rPr>
              <a:t>Must be attempted for SSG funding</a:t>
            </a:r>
          </a:p>
        </p:txBody>
      </p:sp>
      <p:sp>
        <p:nvSpPr>
          <p:cNvPr id="12" name="Rounded Rectangle 11"/>
          <p:cNvSpPr/>
          <p:nvPr/>
        </p:nvSpPr>
        <p:spPr>
          <a:xfrm>
            <a:off x="6309360" y="1783080"/>
            <a:ext cx="5257800" cy="3657600"/>
          </a:xfrm>
          <a:prstGeom prst="roundRect">
            <a:avLst>
              <a:gd name="adj" fmla="val 5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620256" y="2093976"/>
            <a:ext cx="658368" cy="658368"/>
          </a:xfrm>
          <a:prstGeom prst="ellipse">
            <a:avLst/>
          </a:prstGeom>
          <a:solidFill>
            <a:srgbClr val="0B4F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98080" y="2093976"/>
            <a:ext cx="3977640" cy="658368"/>
          </a:xfrm>
          <a:prstGeom prst="rect">
            <a:avLst/>
          </a:prstGeom>
          <a:noFill/>
        </p:spPr>
        <p:txBody>
          <a:bodyPr wrap="square" anchor="ctr" lIns="0" rIns="0" tIns="0" bIns="0">
            <a:spAutoFit/>
          </a:bodyPr>
          <a:lstStyle/>
          <a:p>
            <a:pPr algn="l">
              <a:spcBef>
                <a:spcPts val="0"/>
              </a:spcBef>
              <a:spcAft>
                <a:spcPts val="400"/>
              </a:spcAft>
            </a:pPr>
            <a:r>
              <a:rPr sz="1800" b="1">
                <a:solidFill>
                  <a:srgbClr val="FFFFFF"/>
                </a:solidFill>
                <a:latin typeface="Arial"/>
              </a:rPr>
              <a:t>Funding &amp; Competency</a:t>
            </a:r>
          </a:p>
        </p:txBody>
      </p:sp>
      <p:sp>
        <p:nvSpPr>
          <p:cNvPr id="15" name="TextBox 14"/>
          <p:cNvSpPr txBox="1"/>
          <p:nvPr/>
        </p:nvSpPr>
        <p:spPr>
          <a:xfrm>
            <a:off x="6620256" y="3108960"/>
            <a:ext cx="4636008" cy="1188720"/>
          </a:xfrm>
          <a:prstGeom prst="rect">
            <a:avLst/>
          </a:prstGeom>
          <a:noFill/>
        </p:spPr>
        <p:txBody>
          <a:bodyPr wrap="square" anchor="t" lIns="0" rIns="0" tIns="0" bIns="0">
            <a:spAutoFit/>
          </a:bodyPr>
          <a:lstStyle/>
          <a:p>
            <a:pPr algn="l">
              <a:spcBef>
                <a:spcPts val="0"/>
              </a:spcBef>
              <a:spcAft>
                <a:spcPts val="600"/>
              </a:spcAft>
            </a:pPr>
            <a:r>
              <a:rPr sz="1500" b="1">
                <a:solidFill>
                  <a:srgbClr val="FFFFFF"/>
                </a:solidFill>
                <a:latin typeface="Arial"/>
              </a:rPr>
              <a:t>Minimum 75% attendance</a:t>
            </a:r>
          </a:p>
          <a:p>
            <a:pPr algn="l">
              <a:spcBef>
                <a:spcPts val="0"/>
              </a:spcBef>
              <a:spcAft>
                <a:spcPts val="600"/>
              </a:spcAft>
            </a:pPr>
            <a:r>
              <a:rPr sz="1300" b="0">
                <a:solidFill>
                  <a:srgbClr val="CFE0FB"/>
                </a:solidFill>
                <a:latin typeface="Arial"/>
              </a:rPr>
              <a:t>Based on SSG digital attendance records.</a:t>
            </a:r>
          </a:p>
        </p:txBody>
      </p:sp>
      <p:sp>
        <p:nvSpPr>
          <p:cNvPr id="16" name="TextBox 15"/>
          <p:cNvSpPr txBox="1"/>
          <p:nvPr/>
        </p:nvSpPr>
        <p:spPr>
          <a:xfrm>
            <a:off x="6620256" y="4297680"/>
            <a:ext cx="4636008" cy="1188720"/>
          </a:xfrm>
          <a:prstGeom prst="rect">
            <a:avLst/>
          </a:prstGeom>
          <a:noFill/>
        </p:spPr>
        <p:txBody>
          <a:bodyPr wrap="square" anchor="t" lIns="0" rIns="0" tIns="0" bIns="0">
            <a:spAutoFit/>
          </a:bodyPr>
          <a:lstStyle/>
          <a:p>
            <a:pPr algn="l">
              <a:spcBef>
                <a:spcPts val="0"/>
              </a:spcBef>
              <a:spcAft>
                <a:spcPts val="600"/>
              </a:spcAft>
            </a:pPr>
            <a:r>
              <a:rPr sz="1500" b="1">
                <a:solidFill>
                  <a:srgbClr val="FFFFFF"/>
                </a:solidFill>
                <a:latin typeface="Arial"/>
              </a:rPr>
              <a:t>Assessed as Competent</a:t>
            </a:r>
          </a:p>
          <a:p>
            <a:pPr algn="l">
              <a:spcBef>
                <a:spcPts val="0"/>
              </a:spcBef>
              <a:spcAft>
                <a:spcPts val="600"/>
              </a:spcAft>
            </a:pPr>
            <a:r>
              <a:rPr sz="1300" b="0">
                <a:solidFill>
                  <a:srgbClr val="CFE0FB"/>
                </a:solidFill>
                <a:latin typeface="Arial"/>
              </a:rPr>
              <a:t>Pass the written / MCQ assessment.</a:t>
            </a:r>
          </a:p>
        </p:txBody>
      </p:sp>
      <p:sp>
        <p:nvSpPr>
          <p:cNvPr id="17" name="TextBox 16"/>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8" name="TextBox 17"/>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9" name="TextBox 18"/>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ASSESSMENT RULES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Briefing for Assessment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37360"/>
            <a:ext cx="3368040" cy="178308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24128" y="1984248"/>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c_br1.png"/>
          <p:cNvPicPr>
            <a:picLocks noChangeAspect="1"/>
          </p:cNvPicPr>
          <p:nvPr/>
        </p:nvPicPr>
        <p:blipFill>
          <a:blip r:embed="rId2"/>
          <a:stretch>
            <a:fillRect/>
          </a:stretch>
        </p:blipFill>
        <p:spPr>
          <a:xfrm>
            <a:off x="1177198" y="2137318"/>
            <a:ext cx="260788" cy="260788"/>
          </a:xfrm>
          <a:prstGeom prst="rect">
            <a:avLst/>
          </a:prstGeom>
        </p:spPr>
      </p:pic>
      <p:sp>
        <p:nvSpPr>
          <p:cNvPr id="10" name="TextBox 9"/>
          <p:cNvSpPr txBox="1"/>
          <p:nvPr/>
        </p:nvSpPr>
        <p:spPr>
          <a:xfrm>
            <a:off x="1755648" y="1984248"/>
            <a:ext cx="2545080" cy="566928"/>
          </a:xfrm>
          <a:prstGeom prst="rect">
            <a:avLst/>
          </a:prstGeom>
          <a:noFill/>
        </p:spPr>
        <p:txBody>
          <a:bodyPr wrap="square" anchor="ctr" lIns="0" rIns="0" tIns="0" bIns="0">
            <a:spAutoFit/>
          </a:bodyPr>
          <a:lstStyle/>
          <a:p>
            <a:pPr algn="l">
              <a:spcBef>
                <a:spcPts val="0"/>
              </a:spcBef>
              <a:spcAft>
                <a:spcPts val="400"/>
              </a:spcAft>
            </a:pPr>
            <a:r>
              <a:rPr sz="1500" b="1">
                <a:solidFill>
                  <a:srgbClr val="161B26"/>
                </a:solidFill>
                <a:latin typeface="Arial"/>
              </a:rPr>
              <a:t>Clear your space</a:t>
            </a:r>
          </a:p>
        </p:txBody>
      </p:sp>
      <p:sp>
        <p:nvSpPr>
          <p:cNvPr id="11" name="TextBox 10"/>
          <p:cNvSpPr txBox="1"/>
          <p:nvPr/>
        </p:nvSpPr>
        <p:spPr>
          <a:xfrm>
            <a:off x="1024128" y="2697480"/>
            <a:ext cx="2874264" cy="731520"/>
          </a:xfrm>
          <a:prstGeom prst="rect">
            <a:avLst/>
          </a:prstGeom>
          <a:noFill/>
        </p:spPr>
        <p:txBody>
          <a:bodyPr wrap="square" anchor="t" lIns="0" rIns="0" tIns="0" bIns="0">
            <a:spAutoFit/>
          </a:bodyPr>
          <a:lstStyle/>
          <a:p>
            <a:pPr algn="l">
              <a:spcBef>
                <a:spcPts val="0"/>
              </a:spcBef>
              <a:spcAft>
                <a:spcPts val="400"/>
              </a:spcAft>
            </a:pPr>
            <a:r>
              <a:rPr sz="1200" b="0">
                <a:solidFill>
                  <a:srgbClr val="5B6372"/>
                </a:solidFill>
                <a:latin typeface="Arial"/>
              </a:rPr>
              <a:t>Keep only approved materials on the table.</a:t>
            </a:r>
          </a:p>
        </p:txBody>
      </p:sp>
      <p:sp>
        <p:nvSpPr>
          <p:cNvPr id="12" name="Rounded Rectangle 11"/>
          <p:cNvSpPr/>
          <p:nvPr/>
        </p:nvSpPr>
        <p:spPr>
          <a:xfrm>
            <a:off x="4419600" y="1737360"/>
            <a:ext cx="3368040" cy="178308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666488" y="1984248"/>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c_br2.png"/>
          <p:cNvPicPr>
            <a:picLocks noChangeAspect="1"/>
          </p:cNvPicPr>
          <p:nvPr/>
        </p:nvPicPr>
        <p:blipFill>
          <a:blip r:embed="rId3"/>
          <a:stretch>
            <a:fillRect/>
          </a:stretch>
        </p:blipFill>
        <p:spPr>
          <a:xfrm>
            <a:off x="4819558" y="2137318"/>
            <a:ext cx="260788" cy="260788"/>
          </a:xfrm>
          <a:prstGeom prst="rect">
            <a:avLst/>
          </a:prstGeom>
        </p:spPr>
      </p:pic>
      <p:sp>
        <p:nvSpPr>
          <p:cNvPr id="15" name="TextBox 14"/>
          <p:cNvSpPr txBox="1"/>
          <p:nvPr/>
        </p:nvSpPr>
        <p:spPr>
          <a:xfrm>
            <a:off x="5398008" y="1984248"/>
            <a:ext cx="2545080" cy="566928"/>
          </a:xfrm>
          <a:prstGeom prst="rect">
            <a:avLst/>
          </a:prstGeom>
          <a:noFill/>
        </p:spPr>
        <p:txBody>
          <a:bodyPr wrap="square" anchor="ctr" lIns="0" rIns="0" tIns="0" bIns="0">
            <a:spAutoFit/>
          </a:bodyPr>
          <a:lstStyle/>
          <a:p>
            <a:pPr algn="l">
              <a:spcBef>
                <a:spcPts val="0"/>
              </a:spcBef>
              <a:spcAft>
                <a:spcPts val="400"/>
              </a:spcAft>
            </a:pPr>
            <a:r>
              <a:rPr sz="1500" b="1">
                <a:solidFill>
                  <a:srgbClr val="161B26"/>
                </a:solidFill>
                <a:latin typeface="Arial"/>
              </a:rPr>
              <a:t>No recording</a:t>
            </a:r>
          </a:p>
        </p:txBody>
      </p:sp>
      <p:sp>
        <p:nvSpPr>
          <p:cNvPr id="16" name="TextBox 15"/>
          <p:cNvSpPr txBox="1"/>
          <p:nvPr/>
        </p:nvSpPr>
        <p:spPr>
          <a:xfrm>
            <a:off x="4666488" y="2697480"/>
            <a:ext cx="2874264" cy="731520"/>
          </a:xfrm>
          <a:prstGeom prst="rect">
            <a:avLst/>
          </a:prstGeom>
          <a:noFill/>
        </p:spPr>
        <p:txBody>
          <a:bodyPr wrap="square" anchor="t" lIns="0" rIns="0" tIns="0" bIns="0">
            <a:spAutoFit/>
          </a:bodyPr>
          <a:lstStyle/>
          <a:p>
            <a:pPr algn="l">
              <a:spcBef>
                <a:spcPts val="0"/>
              </a:spcBef>
              <a:spcAft>
                <a:spcPts val="400"/>
              </a:spcAft>
            </a:pPr>
            <a:r>
              <a:rPr sz="1200" b="0">
                <a:solidFill>
                  <a:srgbClr val="5B6372"/>
                </a:solidFill>
                <a:latin typeface="Arial"/>
              </a:rPr>
              <a:t>No photos of the assessment.</a:t>
            </a:r>
          </a:p>
        </p:txBody>
      </p:sp>
      <p:sp>
        <p:nvSpPr>
          <p:cNvPr id="17" name="Rounded Rectangle 16"/>
          <p:cNvSpPr/>
          <p:nvPr/>
        </p:nvSpPr>
        <p:spPr>
          <a:xfrm>
            <a:off x="8061960" y="1737360"/>
            <a:ext cx="3368040" cy="178308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308848" y="1984248"/>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ic_br3.png"/>
          <p:cNvPicPr>
            <a:picLocks noChangeAspect="1"/>
          </p:cNvPicPr>
          <p:nvPr/>
        </p:nvPicPr>
        <p:blipFill>
          <a:blip r:embed="rId4"/>
          <a:stretch>
            <a:fillRect/>
          </a:stretch>
        </p:blipFill>
        <p:spPr>
          <a:xfrm>
            <a:off x="8461918" y="2137318"/>
            <a:ext cx="260788" cy="260788"/>
          </a:xfrm>
          <a:prstGeom prst="rect">
            <a:avLst/>
          </a:prstGeom>
        </p:spPr>
      </p:pic>
      <p:sp>
        <p:nvSpPr>
          <p:cNvPr id="20" name="TextBox 19"/>
          <p:cNvSpPr txBox="1"/>
          <p:nvPr/>
        </p:nvSpPr>
        <p:spPr>
          <a:xfrm>
            <a:off x="9040368" y="1984248"/>
            <a:ext cx="2545080" cy="566928"/>
          </a:xfrm>
          <a:prstGeom prst="rect">
            <a:avLst/>
          </a:prstGeom>
          <a:noFill/>
        </p:spPr>
        <p:txBody>
          <a:bodyPr wrap="square" anchor="ctr" lIns="0" rIns="0" tIns="0" bIns="0">
            <a:spAutoFit/>
          </a:bodyPr>
          <a:lstStyle/>
          <a:p>
            <a:pPr algn="l">
              <a:spcBef>
                <a:spcPts val="0"/>
              </a:spcBef>
              <a:spcAft>
                <a:spcPts val="400"/>
              </a:spcAft>
            </a:pPr>
            <a:r>
              <a:rPr sz="1500" b="1">
                <a:solidFill>
                  <a:srgbClr val="161B26"/>
                </a:solidFill>
                <a:latin typeface="Arial"/>
              </a:rPr>
              <a:t>Work individually</a:t>
            </a:r>
          </a:p>
        </p:txBody>
      </p:sp>
      <p:sp>
        <p:nvSpPr>
          <p:cNvPr id="21" name="TextBox 20"/>
          <p:cNvSpPr txBox="1"/>
          <p:nvPr/>
        </p:nvSpPr>
        <p:spPr>
          <a:xfrm>
            <a:off x="8308848" y="2697480"/>
            <a:ext cx="2874264" cy="731520"/>
          </a:xfrm>
          <a:prstGeom prst="rect">
            <a:avLst/>
          </a:prstGeom>
          <a:noFill/>
        </p:spPr>
        <p:txBody>
          <a:bodyPr wrap="square" anchor="t" lIns="0" rIns="0" tIns="0" bIns="0">
            <a:spAutoFit/>
          </a:bodyPr>
          <a:lstStyle/>
          <a:p>
            <a:pPr algn="l">
              <a:spcBef>
                <a:spcPts val="0"/>
              </a:spcBef>
              <a:spcAft>
                <a:spcPts val="400"/>
              </a:spcAft>
            </a:pPr>
            <a:r>
              <a:rPr sz="1200" b="0">
                <a:solidFill>
                  <a:srgbClr val="5B6372"/>
                </a:solidFill>
                <a:latin typeface="Arial"/>
              </a:rPr>
              <a:t>No discussion during the assessment.</a:t>
            </a:r>
          </a:p>
        </p:txBody>
      </p:sp>
      <p:sp>
        <p:nvSpPr>
          <p:cNvPr id="22" name="Rounded Rectangle 21"/>
          <p:cNvSpPr/>
          <p:nvPr/>
        </p:nvSpPr>
        <p:spPr>
          <a:xfrm>
            <a:off x="777240" y="3767328"/>
            <a:ext cx="3368040" cy="178308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024128" y="401421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ic_br4.png"/>
          <p:cNvPicPr>
            <a:picLocks noChangeAspect="1"/>
          </p:cNvPicPr>
          <p:nvPr/>
        </p:nvPicPr>
        <p:blipFill>
          <a:blip r:embed="rId5"/>
          <a:stretch>
            <a:fillRect/>
          </a:stretch>
        </p:blipFill>
        <p:spPr>
          <a:xfrm>
            <a:off x="1177198" y="4167286"/>
            <a:ext cx="260788" cy="260788"/>
          </a:xfrm>
          <a:prstGeom prst="rect">
            <a:avLst/>
          </a:prstGeom>
        </p:spPr>
      </p:pic>
      <p:sp>
        <p:nvSpPr>
          <p:cNvPr id="25" name="TextBox 24"/>
          <p:cNvSpPr txBox="1"/>
          <p:nvPr/>
        </p:nvSpPr>
        <p:spPr>
          <a:xfrm>
            <a:off x="1755648" y="4014216"/>
            <a:ext cx="2545080" cy="566928"/>
          </a:xfrm>
          <a:prstGeom prst="rect">
            <a:avLst/>
          </a:prstGeom>
          <a:noFill/>
        </p:spPr>
        <p:txBody>
          <a:bodyPr wrap="square" anchor="ctr" lIns="0" rIns="0" tIns="0" bIns="0">
            <a:spAutoFit/>
          </a:bodyPr>
          <a:lstStyle/>
          <a:p>
            <a:pPr algn="l">
              <a:spcBef>
                <a:spcPts val="0"/>
              </a:spcBef>
              <a:spcAft>
                <a:spcPts val="400"/>
              </a:spcAft>
            </a:pPr>
            <a:r>
              <a:rPr sz="1500" b="1">
                <a:solidFill>
                  <a:srgbClr val="161B26"/>
                </a:solidFill>
                <a:latin typeface="Arial"/>
              </a:rPr>
              <a:t>Use the LMS</a:t>
            </a:r>
          </a:p>
        </p:txBody>
      </p:sp>
      <p:sp>
        <p:nvSpPr>
          <p:cNvPr id="26" name="TextBox 25"/>
          <p:cNvSpPr txBox="1"/>
          <p:nvPr/>
        </p:nvSpPr>
        <p:spPr>
          <a:xfrm>
            <a:off x="1024128" y="4727448"/>
            <a:ext cx="2874264" cy="731520"/>
          </a:xfrm>
          <a:prstGeom prst="rect">
            <a:avLst/>
          </a:prstGeom>
          <a:noFill/>
        </p:spPr>
        <p:txBody>
          <a:bodyPr wrap="square" anchor="t" lIns="0" rIns="0" tIns="0" bIns="0">
            <a:spAutoFit/>
          </a:bodyPr>
          <a:lstStyle/>
          <a:p>
            <a:pPr algn="l">
              <a:spcBef>
                <a:spcPts val="0"/>
              </a:spcBef>
              <a:spcAft>
                <a:spcPts val="400"/>
              </a:spcAft>
            </a:pPr>
            <a:r>
              <a:rPr sz="1200" b="0">
                <a:solidFill>
                  <a:srgbClr val="5B6372"/>
                </a:solidFill>
                <a:latin typeface="Arial"/>
              </a:rPr>
              <a:t>The assessment is delivered online.</a:t>
            </a:r>
          </a:p>
        </p:txBody>
      </p:sp>
      <p:sp>
        <p:nvSpPr>
          <p:cNvPr id="27" name="Rounded Rectangle 26"/>
          <p:cNvSpPr/>
          <p:nvPr/>
        </p:nvSpPr>
        <p:spPr>
          <a:xfrm>
            <a:off x="4419600" y="3767328"/>
            <a:ext cx="3368040" cy="178308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666488" y="401421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Picture 28" descr="ic_gr4.png"/>
          <p:cNvPicPr>
            <a:picLocks noChangeAspect="1"/>
          </p:cNvPicPr>
          <p:nvPr/>
        </p:nvPicPr>
        <p:blipFill>
          <a:blip r:embed="rId6"/>
          <a:stretch>
            <a:fillRect/>
          </a:stretch>
        </p:blipFill>
        <p:spPr>
          <a:xfrm>
            <a:off x="4819558" y="4167286"/>
            <a:ext cx="260788" cy="260788"/>
          </a:xfrm>
          <a:prstGeom prst="rect">
            <a:avLst/>
          </a:prstGeom>
        </p:spPr>
      </p:pic>
      <p:sp>
        <p:nvSpPr>
          <p:cNvPr id="30" name="TextBox 29"/>
          <p:cNvSpPr txBox="1"/>
          <p:nvPr/>
        </p:nvSpPr>
        <p:spPr>
          <a:xfrm>
            <a:off x="5398008" y="4014216"/>
            <a:ext cx="2545080" cy="566928"/>
          </a:xfrm>
          <a:prstGeom prst="rect">
            <a:avLst/>
          </a:prstGeom>
          <a:noFill/>
        </p:spPr>
        <p:txBody>
          <a:bodyPr wrap="square" anchor="ctr" lIns="0" rIns="0" tIns="0" bIns="0">
            <a:spAutoFit/>
          </a:bodyPr>
          <a:lstStyle/>
          <a:p>
            <a:pPr algn="l">
              <a:spcBef>
                <a:spcPts val="0"/>
              </a:spcBef>
              <a:spcAft>
                <a:spcPts val="400"/>
              </a:spcAft>
            </a:pPr>
            <a:r>
              <a:rPr sz="1500" b="1">
                <a:solidFill>
                  <a:srgbClr val="161B26"/>
                </a:solidFill>
                <a:latin typeface="Arial"/>
              </a:rPr>
              <a:t>Open book</a:t>
            </a:r>
          </a:p>
        </p:txBody>
      </p:sp>
      <p:sp>
        <p:nvSpPr>
          <p:cNvPr id="31" name="TextBox 30"/>
          <p:cNvSpPr txBox="1"/>
          <p:nvPr/>
        </p:nvSpPr>
        <p:spPr>
          <a:xfrm>
            <a:off x="4666488" y="4727448"/>
            <a:ext cx="2874264" cy="731520"/>
          </a:xfrm>
          <a:prstGeom prst="rect">
            <a:avLst/>
          </a:prstGeom>
          <a:noFill/>
        </p:spPr>
        <p:txBody>
          <a:bodyPr wrap="square" anchor="t" lIns="0" rIns="0" tIns="0" bIns="0">
            <a:spAutoFit/>
          </a:bodyPr>
          <a:lstStyle/>
          <a:p>
            <a:pPr algn="l">
              <a:spcBef>
                <a:spcPts val="0"/>
              </a:spcBef>
              <a:spcAft>
                <a:spcPts val="400"/>
              </a:spcAft>
            </a:pPr>
            <a:r>
              <a:rPr sz="1200" b="0">
                <a:solidFill>
                  <a:srgbClr val="5B6372"/>
                </a:solidFill>
                <a:latin typeface="Arial"/>
              </a:rPr>
              <a:t>Slides &amp; Learner Guide are allowed.</a:t>
            </a:r>
          </a:p>
        </p:txBody>
      </p:sp>
      <p:sp>
        <p:nvSpPr>
          <p:cNvPr id="32" name="Rounded Rectangle 31"/>
          <p:cNvSpPr/>
          <p:nvPr/>
        </p:nvSpPr>
        <p:spPr>
          <a:xfrm>
            <a:off x="8061960" y="3767328"/>
            <a:ext cx="3368040" cy="178308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308848" y="401421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4" name="Picture 33" descr="ic_br6.png"/>
          <p:cNvPicPr>
            <a:picLocks noChangeAspect="1"/>
          </p:cNvPicPr>
          <p:nvPr/>
        </p:nvPicPr>
        <p:blipFill>
          <a:blip r:embed="rId7"/>
          <a:stretch>
            <a:fillRect/>
          </a:stretch>
        </p:blipFill>
        <p:spPr>
          <a:xfrm>
            <a:off x="8461918" y="4167286"/>
            <a:ext cx="260788" cy="260788"/>
          </a:xfrm>
          <a:prstGeom prst="rect">
            <a:avLst/>
          </a:prstGeom>
        </p:spPr>
      </p:pic>
      <p:sp>
        <p:nvSpPr>
          <p:cNvPr id="35" name="TextBox 34"/>
          <p:cNvSpPr txBox="1"/>
          <p:nvPr/>
        </p:nvSpPr>
        <p:spPr>
          <a:xfrm>
            <a:off x="9040368" y="4014216"/>
            <a:ext cx="2545080" cy="566928"/>
          </a:xfrm>
          <a:prstGeom prst="rect">
            <a:avLst/>
          </a:prstGeom>
          <a:noFill/>
        </p:spPr>
        <p:txBody>
          <a:bodyPr wrap="square" anchor="ctr" lIns="0" rIns="0" tIns="0" bIns="0">
            <a:spAutoFit/>
          </a:bodyPr>
          <a:lstStyle/>
          <a:p>
            <a:pPr algn="l">
              <a:spcBef>
                <a:spcPts val="0"/>
              </a:spcBef>
              <a:spcAft>
                <a:spcPts val="400"/>
              </a:spcAft>
            </a:pPr>
            <a:r>
              <a:rPr sz="1500" b="1">
                <a:solidFill>
                  <a:srgbClr val="161B26"/>
                </a:solidFill>
                <a:latin typeface="Arial"/>
              </a:rPr>
              <a:t>Time's up</a:t>
            </a:r>
          </a:p>
        </p:txBody>
      </p:sp>
      <p:sp>
        <p:nvSpPr>
          <p:cNvPr id="36" name="TextBox 35"/>
          <p:cNvSpPr txBox="1"/>
          <p:nvPr/>
        </p:nvSpPr>
        <p:spPr>
          <a:xfrm>
            <a:off x="8308848" y="4727448"/>
            <a:ext cx="2874264" cy="731520"/>
          </a:xfrm>
          <a:prstGeom prst="rect">
            <a:avLst/>
          </a:prstGeom>
          <a:noFill/>
        </p:spPr>
        <p:txBody>
          <a:bodyPr wrap="square" anchor="t" lIns="0" rIns="0" tIns="0" bIns="0">
            <a:spAutoFit/>
          </a:bodyPr>
          <a:lstStyle/>
          <a:p>
            <a:pPr algn="l">
              <a:spcBef>
                <a:spcPts val="0"/>
              </a:spcBef>
              <a:spcAft>
                <a:spcPts val="400"/>
              </a:spcAft>
            </a:pPr>
            <a:r>
              <a:rPr sz="1200" b="0">
                <a:solidFill>
                  <a:srgbClr val="5B6372"/>
                </a:solidFill>
                <a:latin typeface="Arial"/>
              </a:rPr>
              <a:t>Submit when time is up.</a:t>
            </a:r>
          </a:p>
        </p:txBody>
      </p:sp>
      <p:sp>
        <p:nvSpPr>
          <p:cNvPr id="37" name="TextBox 36"/>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38" name="TextBox 37"/>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39" name="TextBox 38"/>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F6FEB"/>
                </a:solidFill>
                <a:latin typeface="Arial"/>
              </a:rPr>
              <a:t>DAY 1</a:t>
            </a:r>
          </a:p>
        </p:txBody>
      </p:sp>
      <p:sp>
        <p:nvSpPr>
          <p:cNvPr id="6" name="TextBox 5"/>
          <p:cNvSpPr txBox="1"/>
          <p:nvPr/>
        </p:nvSpPr>
        <p:spPr>
          <a:xfrm>
            <a:off x="1143000" y="2743200"/>
            <a:ext cx="10424160" cy="1463040"/>
          </a:xfrm>
          <a:prstGeom prst="rect">
            <a:avLst/>
          </a:prstGeom>
          <a:noFill/>
        </p:spPr>
        <p:txBody>
          <a:bodyPr wrap="square" anchor="t" lIns="0" rIns="0" tIns="0" bIns="0">
            <a:spAutoFit/>
          </a:bodyPr>
          <a:lstStyle/>
          <a:p>
            <a:pPr algn="l">
              <a:spcBef>
                <a:spcPts val="0"/>
              </a:spcBef>
              <a:spcAft>
                <a:spcPts val="400"/>
              </a:spcAft>
            </a:pPr>
            <a:r>
              <a:rPr sz="4000" b="1">
                <a:solidFill>
                  <a:srgbClr val="161B26"/>
                </a:solidFill>
                <a:latin typeface="Arial"/>
              </a:rPr>
              <a:t>Docker</a:t>
            </a:r>
          </a:p>
        </p:txBody>
      </p:sp>
      <p:sp>
        <p:nvSpPr>
          <p:cNvPr id="7" name="TextBox 6"/>
          <p:cNvSpPr txBox="1"/>
          <p:nvPr/>
        </p:nvSpPr>
        <p:spPr>
          <a:xfrm>
            <a:off x="1161288" y="4114800"/>
            <a:ext cx="10058400" cy="731520"/>
          </a:xfrm>
          <a:prstGeom prst="rect">
            <a:avLst/>
          </a:prstGeom>
          <a:noFill/>
        </p:spPr>
        <p:txBody>
          <a:bodyPr wrap="square" anchor="t" lIns="0" rIns="0" tIns="0" bIns="0">
            <a:spAutoFit/>
          </a:bodyPr>
          <a:lstStyle/>
          <a:p>
            <a:pPr algn="l">
              <a:spcBef>
                <a:spcPts val="0"/>
              </a:spcBef>
              <a:spcAft>
                <a:spcPts val="400"/>
              </a:spcAft>
            </a:pPr>
            <a:r>
              <a:rPr sz="1600" b="0">
                <a:solidFill>
                  <a:srgbClr val="5B6372"/>
                </a:solidFill>
                <a:latin typeface="Arial"/>
              </a:rPr>
              <a:t>Containers · Images · Storage · Networking · Compose</a:t>
            </a:r>
          </a:p>
        </p:txBody>
      </p:sp>
      <p:sp>
        <p:nvSpPr>
          <p:cNvPr id="8" name="TextBox 7"/>
          <p:cNvSpPr txBox="1"/>
          <p:nvPr/>
        </p:nvSpPr>
        <p:spPr>
          <a:xfrm>
            <a:off x="9418320" y="640080"/>
            <a:ext cx="2286000" cy="1463040"/>
          </a:xfrm>
          <a:prstGeom prst="rect">
            <a:avLst/>
          </a:prstGeom>
          <a:noFill/>
        </p:spPr>
        <p:txBody>
          <a:bodyPr wrap="square" anchor="t" lIns="0" rIns="0" tIns="0" bIns="0">
            <a:spAutoFit/>
          </a:bodyPr>
          <a:lstStyle/>
          <a:p>
            <a:pPr algn="r">
              <a:spcBef>
                <a:spcPts val="0"/>
              </a:spcBef>
              <a:spcAft>
                <a:spcPts val="400"/>
              </a:spcAft>
            </a:pPr>
            <a:r>
              <a:rPr sz="7200" b="1">
                <a:solidFill>
                  <a:srgbClr val="E2E8F0"/>
                </a:solidFill>
                <a:latin typeface="Arial"/>
              </a:rPr>
              <a:t>01</a:t>
            </a:r>
          </a:p>
        </p:txBody>
      </p:sp>
      <p:sp>
        <p:nvSpPr>
          <p:cNvPr id="9" name="TextBox 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F6FEB"/>
                </a:solidFill>
                <a:latin typeface="Arial"/>
              </a:rPr>
              <a:t>TOPIC 1</a:t>
            </a:r>
          </a:p>
        </p:txBody>
      </p:sp>
      <p:sp>
        <p:nvSpPr>
          <p:cNvPr id="6" name="TextBox 5"/>
          <p:cNvSpPr txBox="1"/>
          <p:nvPr/>
        </p:nvSpPr>
        <p:spPr>
          <a:xfrm>
            <a:off x="1143000" y="2743200"/>
            <a:ext cx="10424160" cy="1463040"/>
          </a:xfrm>
          <a:prstGeom prst="rect">
            <a:avLst/>
          </a:prstGeom>
          <a:noFill/>
        </p:spPr>
        <p:txBody>
          <a:bodyPr wrap="square" anchor="t" lIns="0" rIns="0" tIns="0" bIns="0">
            <a:spAutoFit/>
          </a:bodyPr>
          <a:lstStyle/>
          <a:p>
            <a:pPr algn="l">
              <a:spcBef>
                <a:spcPts val="0"/>
              </a:spcBef>
              <a:spcAft>
                <a:spcPts val="400"/>
              </a:spcAft>
            </a:pPr>
            <a:r>
              <a:rPr sz="4000" b="1">
                <a:solidFill>
                  <a:srgbClr val="161B26"/>
                </a:solidFill>
                <a:latin typeface="Arial"/>
              </a:rPr>
              <a:t>Docker Fundamentals</a:t>
            </a:r>
          </a:p>
        </p:txBody>
      </p:sp>
      <p:sp>
        <p:nvSpPr>
          <p:cNvPr id="7" name="TextBox 6"/>
          <p:cNvSpPr txBox="1"/>
          <p:nvPr/>
        </p:nvSpPr>
        <p:spPr>
          <a:xfrm>
            <a:off x="1161288" y="4114800"/>
            <a:ext cx="10058400" cy="731520"/>
          </a:xfrm>
          <a:prstGeom prst="rect">
            <a:avLst/>
          </a:prstGeom>
          <a:noFill/>
        </p:spPr>
        <p:txBody>
          <a:bodyPr wrap="square" anchor="t" lIns="0" rIns="0" tIns="0" bIns="0">
            <a:spAutoFit/>
          </a:bodyPr>
          <a:lstStyle/>
          <a:p>
            <a:pPr algn="l">
              <a:spcBef>
                <a:spcPts val="0"/>
              </a:spcBef>
              <a:spcAft>
                <a:spcPts val="400"/>
              </a:spcAft>
            </a:pPr>
            <a:r>
              <a:rPr sz="1600" b="0">
                <a:solidFill>
                  <a:srgbClr val="5B6372"/>
                </a:solidFill>
                <a:latin typeface="Arial"/>
              </a:rPr>
              <a:t>Containers, the Docker engine &amp; core commands</a:t>
            </a:r>
          </a:p>
        </p:txBody>
      </p:sp>
      <p:sp>
        <p:nvSpPr>
          <p:cNvPr id="8" name="TextBox 7"/>
          <p:cNvSpPr txBox="1"/>
          <p:nvPr/>
        </p:nvSpPr>
        <p:spPr>
          <a:xfrm>
            <a:off x="9418320" y="640080"/>
            <a:ext cx="2286000" cy="1463040"/>
          </a:xfrm>
          <a:prstGeom prst="rect">
            <a:avLst/>
          </a:prstGeom>
          <a:noFill/>
        </p:spPr>
        <p:txBody>
          <a:bodyPr wrap="square" anchor="t" lIns="0" rIns="0" tIns="0" bIns="0">
            <a:spAutoFit/>
          </a:bodyPr>
          <a:lstStyle/>
          <a:p>
            <a:pPr algn="r">
              <a:spcBef>
                <a:spcPts val="0"/>
              </a:spcBef>
              <a:spcAft>
                <a:spcPts val="400"/>
              </a:spcAft>
            </a:pPr>
            <a:r>
              <a:rPr sz="7200" b="1">
                <a:solidFill>
                  <a:srgbClr val="E2E8F0"/>
                </a:solidFill>
                <a:latin typeface="Arial"/>
              </a:rPr>
              <a:t/>
            </a:r>
          </a:p>
        </p:txBody>
      </p:sp>
      <p:sp>
        <p:nvSpPr>
          <p:cNvPr id="9" name="TextBox 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OVERVIEW</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The Problem: 'It Works on My Machine'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1900" b="1">
                <a:solidFill>
                  <a:srgbClr val="1F6FEB"/>
                </a:solidFill>
                <a:latin typeface="Arial"/>
              </a:rPr>
              <a:t>•  </a:t>
            </a:r>
            <a:r>
              <a:rPr sz="1900">
                <a:solidFill>
                  <a:srgbClr val="161B26"/>
                </a:solidFill>
                <a:latin typeface="Arial"/>
              </a:rPr>
              <a:t>Apps break when the environment differs — OS, language version, missing dependencies or config.</a:t>
            </a:r>
          </a:p>
          <a:p>
            <a:pPr>
              <a:spcBef>
                <a:spcPts val="0"/>
              </a:spcBef>
              <a:spcAft>
                <a:spcPts val="1000"/>
              </a:spcAft>
            </a:pPr>
            <a:r>
              <a:rPr sz="1900" b="1">
                <a:solidFill>
                  <a:srgbClr val="1F6FEB"/>
                </a:solidFill>
                <a:latin typeface="Arial"/>
              </a:rPr>
              <a:t>•  </a:t>
            </a:r>
            <a:r>
              <a:rPr sz="1900">
                <a:solidFill>
                  <a:srgbClr val="161B26"/>
                </a:solidFill>
                <a:latin typeface="Arial"/>
              </a:rPr>
              <a:t>Docker packages the app AND its environment into one portable image that runs identically everywhere.</a:t>
            </a:r>
          </a:p>
          <a:p>
            <a:pPr>
              <a:spcBef>
                <a:spcPts val="0"/>
              </a:spcBef>
              <a:spcAft>
                <a:spcPts val="1000"/>
              </a:spcAft>
            </a:pPr>
            <a:r>
              <a:rPr sz="1900" b="1">
                <a:solidFill>
                  <a:srgbClr val="1F6FEB"/>
                </a:solidFill>
                <a:latin typeface="Arial"/>
              </a:rPr>
              <a:t>•  </a:t>
            </a:r>
            <a:r>
              <a:rPr sz="1900">
                <a:solidFill>
                  <a:srgbClr val="161B26"/>
                </a:solidFill>
                <a:latin typeface="Arial"/>
              </a:rPr>
              <a:t>An image is a read-only blueprint; a container is a running instance of it.</a:t>
            </a:r>
          </a:p>
          <a:p>
            <a:pPr>
              <a:spcBef>
                <a:spcPts val="0"/>
              </a:spcBef>
              <a:spcAft>
                <a:spcPts val="1000"/>
              </a:spcAft>
            </a:pPr>
            <a:r>
              <a:rPr sz="1900" b="1">
                <a:solidFill>
                  <a:srgbClr val="1F6FEB"/>
                </a:solidFill>
                <a:latin typeface="Arial"/>
              </a:rPr>
              <a:t>•  </a:t>
            </a:r>
            <a:r>
              <a:rPr sz="1900">
                <a:solidFill>
                  <a:srgbClr val="161B26"/>
                </a:solidFill>
                <a:latin typeface="Arial"/>
              </a:rPr>
              <a:t>Containers are lightweight — they share the host kernel and start in milliseconds.</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13</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WHY CONTAINERS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Virtual Machines vs Containers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lIns="0" rIns="0" tIns="0" bIns="0">
            <a:spAutoFit/>
          </a:bodyPr>
          <a:lstStyle/>
          <a:p>
            <a:pPr algn="l">
              <a:spcBef>
                <a:spcPts val="0"/>
              </a:spcBef>
              <a:spcAft>
                <a:spcPts val="400"/>
              </a:spcAft>
            </a:pPr>
            <a:r>
              <a:rPr sz="1600" b="1">
                <a:solidFill>
                  <a:srgbClr val="1F6FEB"/>
                </a:solidFill>
                <a:latin typeface="Arial"/>
              </a:rPr>
              <a:t>Virtual Machines</a:t>
            </a:r>
          </a:p>
        </p:txBody>
      </p:sp>
      <p:sp>
        <p:nvSpPr>
          <p:cNvPr id="10" name="TextBox 9"/>
          <p:cNvSpPr txBox="1"/>
          <p:nvPr/>
        </p:nvSpPr>
        <p:spPr>
          <a:xfrm>
            <a:off x="6583680" y="1965960"/>
            <a:ext cx="4572000" cy="365760"/>
          </a:xfrm>
          <a:prstGeom prst="rect">
            <a:avLst/>
          </a:prstGeom>
          <a:noFill/>
        </p:spPr>
        <p:txBody>
          <a:bodyPr wrap="square" anchor="t" lIns="0" rIns="0" tIns="0" bIns="0">
            <a:spAutoFit/>
          </a:bodyPr>
          <a:lstStyle/>
          <a:p>
            <a:pPr algn="l">
              <a:spcBef>
                <a:spcPts val="0"/>
              </a:spcBef>
              <a:spcAft>
                <a:spcPts val="400"/>
              </a:spcAft>
            </a:pPr>
            <a:r>
              <a:rPr sz="1600" b="1">
                <a:solidFill>
                  <a:srgbClr val="10B981"/>
                </a:solidFill>
                <a:latin typeface="Arial"/>
              </a:rPr>
              <a:t>Containers</a:t>
            </a:r>
          </a:p>
        </p:txBody>
      </p:sp>
      <p:sp>
        <p:nvSpPr>
          <p:cNvPr id="11" name="TextBox 10"/>
          <p:cNvSpPr txBox="1"/>
          <p:nvPr/>
        </p:nvSpPr>
        <p:spPr>
          <a:xfrm>
            <a:off x="1005840" y="2468880"/>
            <a:ext cx="4754880" cy="3474720"/>
          </a:xfrm>
          <a:prstGeom prst="rect">
            <a:avLst/>
          </a:prstGeom>
          <a:noFill/>
        </p:spPr>
        <p:txBody>
          <a:bodyPr wrap="square" lIns="0" rIns="0">
            <a:spAutoFit/>
          </a:bodyPr>
          <a:lstStyle/>
          <a:p>
            <a:pPr>
              <a:spcBef>
                <a:spcPts val="0"/>
              </a:spcBef>
              <a:spcAft>
                <a:spcPts val="1000"/>
              </a:spcAft>
            </a:pPr>
            <a:r>
              <a:rPr sz="1600" b="1">
                <a:solidFill>
                  <a:srgbClr val="1F6FEB"/>
                </a:solidFill>
                <a:latin typeface="Arial"/>
              </a:rPr>
              <a:t>•  </a:t>
            </a:r>
            <a:r>
              <a:rPr sz="1600">
                <a:solidFill>
                  <a:srgbClr val="161B26"/>
                </a:solidFill>
                <a:latin typeface="Arial"/>
              </a:rPr>
              <a:t>Full guest OS per VM</a:t>
            </a:r>
          </a:p>
          <a:p>
            <a:pPr>
              <a:spcBef>
                <a:spcPts val="0"/>
              </a:spcBef>
              <a:spcAft>
                <a:spcPts val="1000"/>
              </a:spcAft>
            </a:pPr>
            <a:r>
              <a:rPr sz="1600" b="1">
                <a:solidFill>
                  <a:srgbClr val="1F6FEB"/>
                </a:solidFill>
                <a:latin typeface="Arial"/>
              </a:rPr>
              <a:t>•  </a:t>
            </a:r>
            <a:r>
              <a:rPr sz="1600">
                <a:solidFill>
                  <a:srgbClr val="161B26"/>
                </a:solidFill>
                <a:latin typeface="Arial"/>
              </a:rPr>
              <a:t>Boot time: seconds–minutes</a:t>
            </a:r>
          </a:p>
          <a:p>
            <a:pPr>
              <a:spcBef>
                <a:spcPts val="0"/>
              </a:spcBef>
              <a:spcAft>
                <a:spcPts val="1000"/>
              </a:spcAft>
            </a:pPr>
            <a:r>
              <a:rPr sz="1600" b="1">
                <a:solidFill>
                  <a:srgbClr val="1F6FEB"/>
                </a:solidFill>
                <a:latin typeface="Arial"/>
              </a:rPr>
              <a:t>•  </a:t>
            </a:r>
            <a:r>
              <a:rPr sz="1600">
                <a:solidFill>
                  <a:srgbClr val="161B26"/>
                </a:solidFill>
                <a:latin typeface="Arial"/>
              </a:rPr>
              <a:t>Size: gigabytes</a:t>
            </a:r>
          </a:p>
          <a:p>
            <a:pPr>
              <a:spcBef>
                <a:spcPts val="0"/>
              </a:spcBef>
              <a:spcAft>
                <a:spcPts val="1000"/>
              </a:spcAft>
            </a:pPr>
            <a:r>
              <a:rPr sz="1600" b="1">
                <a:solidFill>
                  <a:srgbClr val="1F6FEB"/>
                </a:solidFill>
                <a:latin typeface="Arial"/>
              </a:rPr>
              <a:t>•  </a:t>
            </a:r>
            <a:r>
              <a:rPr sz="1600">
                <a:solidFill>
                  <a:srgbClr val="161B26"/>
                </a:solidFill>
                <a:latin typeface="Arial"/>
              </a:rPr>
              <a:t>Hypervisor overhead</a:t>
            </a:r>
          </a:p>
          <a:p>
            <a:pPr>
              <a:spcBef>
                <a:spcPts val="0"/>
              </a:spcBef>
              <a:spcAft>
                <a:spcPts val="1000"/>
              </a:spcAft>
            </a:pPr>
            <a:r>
              <a:rPr sz="1600" b="1">
                <a:solidFill>
                  <a:srgbClr val="1F6FEB"/>
                </a:solidFill>
                <a:latin typeface="Arial"/>
              </a:rPr>
              <a:t>•  </a:t>
            </a:r>
            <a:r>
              <a:rPr sz="1600">
                <a:solidFill>
                  <a:srgbClr val="161B26"/>
                </a:solidFill>
                <a:latin typeface="Arial"/>
              </a:rPr>
              <a:t>Examples: VMware, VirtualBox, EC2</a:t>
            </a:r>
          </a:p>
        </p:txBody>
      </p:sp>
      <p:sp>
        <p:nvSpPr>
          <p:cNvPr id="12" name="TextBox 11"/>
          <p:cNvSpPr txBox="1"/>
          <p:nvPr/>
        </p:nvSpPr>
        <p:spPr>
          <a:xfrm>
            <a:off x="6583680" y="2468880"/>
            <a:ext cx="4617720" cy="3474720"/>
          </a:xfrm>
          <a:prstGeom prst="rect">
            <a:avLst/>
          </a:prstGeom>
          <a:noFill/>
        </p:spPr>
        <p:txBody>
          <a:bodyPr wrap="square" lIns="0" rIns="0">
            <a:spAutoFit/>
          </a:bodyPr>
          <a:lstStyle/>
          <a:p>
            <a:pPr>
              <a:spcBef>
                <a:spcPts val="0"/>
              </a:spcBef>
              <a:spcAft>
                <a:spcPts val="1000"/>
              </a:spcAft>
            </a:pPr>
            <a:r>
              <a:rPr sz="1600" b="1">
                <a:solidFill>
                  <a:srgbClr val="10B981"/>
                </a:solidFill>
                <a:latin typeface="Arial"/>
              </a:rPr>
              <a:t>•  </a:t>
            </a:r>
            <a:r>
              <a:rPr sz="1600">
                <a:solidFill>
                  <a:srgbClr val="161B26"/>
                </a:solidFill>
                <a:latin typeface="Arial"/>
              </a:rPr>
              <a:t>Share the host OS kernel</a:t>
            </a:r>
          </a:p>
          <a:p>
            <a:pPr>
              <a:spcBef>
                <a:spcPts val="0"/>
              </a:spcBef>
              <a:spcAft>
                <a:spcPts val="1000"/>
              </a:spcAft>
            </a:pPr>
            <a:r>
              <a:rPr sz="1600" b="1">
                <a:solidFill>
                  <a:srgbClr val="10B981"/>
                </a:solidFill>
                <a:latin typeface="Arial"/>
              </a:rPr>
              <a:t>•  </a:t>
            </a:r>
            <a:r>
              <a:rPr sz="1600">
                <a:solidFill>
                  <a:srgbClr val="161B26"/>
                </a:solidFill>
                <a:latin typeface="Arial"/>
              </a:rPr>
              <a:t>Start time: milliseconds</a:t>
            </a:r>
          </a:p>
          <a:p>
            <a:pPr>
              <a:spcBef>
                <a:spcPts val="0"/>
              </a:spcBef>
              <a:spcAft>
                <a:spcPts val="1000"/>
              </a:spcAft>
            </a:pPr>
            <a:r>
              <a:rPr sz="1600" b="1">
                <a:solidFill>
                  <a:srgbClr val="10B981"/>
                </a:solidFill>
                <a:latin typeface="Arial"/>
              </a:rPr>
              <a:t>•  </a:t>
            </a:r>
            <a:r>
              <a:rPr sz="1600">
                <a:solidFill>
                  <a:srgbClr val="161B26"/>
                </a:solidFill>
                <a:latin typeface="Arial"/>
              </a:rPr>
              <a:t>Size: megabytes</a:t>
            </a:r>
          </a:p>
          <a:p>
            <a:pPr>
              <a:spcBef>
                <a:spcPts val="0"/>
              </a:spcBef>
              <a:spcAft>
                <a:spcPts val="1000"/>
              </a:spcAft>
            </a:pPr>
            <a:r>
              <a:rPr sz="1600" b="1">
                <a:solidFill>
                  <a:srgbClr val="10B981"/>
                </a:solidFill>
                <a:latin typeface="Arial"/>
              </a:rPr>
              <a:t>•  </a:t>
            </a:r>
            <a:r>
              <a:rPr sz="1600">
                <a:solidFill>
                  <a:srgbClr val="161B26"/>
                </a:solidFill>
                <a:latin typeface="Arial"/>
              </a:rPr>
              <a:t>Minimal overhead</a:t>
            </a:r>
          </a:p>
          <a:p>
            <a:pPr>
              <a:spcBef>
                <a:spcPts val="0"/>
              </a:spcBef>
              <a:spcAft>
                <a:spcPts val="1000"/>
              </a:spcAft>
            </a:pPr>
            <a:r>
              <a:rPr sz="1600" b="1">
                <a:solidFill>
                  <a:srgbClr val="10B981"/>
                </a:solidFill>
                <a:latin typeface="Arial"/>
              </a:rPr>
              <a:t>•  </a:t>
            </a:r>
            <a:r>
              <a:rPr sz="1600">
                <a:solidFill>
                  <a:srgbClr val="161B26"/>
                </a:solidFill>
                <a:latin typeface="Arial"/>
              </a:rPr>
              <a:t>Examples: Docker, containerd</a:t>
            </a:r>
          </a:p>
        </p:txBody>
      </p:sp>
      <p:sp>
        <p:nvSpPr>
          <p:cNvPr id="13" name="TextBox 12"/>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4" name="TextBox 13"/>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5" name="TextBox 14"/>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HOW IT WORKS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Docker Architecture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83080"/>
            <a:ext cx="3337560" cy="420624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57400"/>
            <a:ext cx="2926080" cy="548640"/>
          </a:xfrm>
          <a:prstGeom prst="rect">
            <a:avLst/>
          </a:prstGeom>
          <a:noFill/>
        </p:spPr>
        <p:txBody>
          <a:bodyPr wrap="square" anchor="t" lIns="0" rIns="0" tIns="0" bIns="0">
            <a:spAutoFit/>
          </a:bodyPr>
          <a:lstStyle/>
          <a:p>
            <a:pPr algn="l">
              <a:spcBef>
                <a:spcPts val="0"/>
              </a:spcBef>
              <a:spcAft>
                <a:spcPts val="400"/>
              </a:spcAft>
            </a:pPr>
            <a:r>
              <a:rPr sz="1900" b="1">
                <a:solidFill>
                  <a:srgbClr val="1F6FEB"/>
                </a:solidFill>
                <a:latin typeface="Arial"/>
              </a:rPr>
              <a:t>Docker Client</a:t>
            </a:r>
          </a:p>
        </p:txBody>
      </p:sp>
      <p:sp>
        <p:nvSpPr>
          <p:cNvPr id="10" name="TextBox 9"/>
          <p:cNvSpPr txBox="1"/>
          <p:nvPr/>
        </p:nvSpPr>
        <p:spPr>
          <a:xfrm>
            <a:off x="1005840" y="2697480"/>
            <a:ext cx="2926080" cy="3108960"/>
          </a:xfrm>
          <a:prstGeom prst="rect">
            <a:avLst/>
          </a:prstGeom>
          <a:noFill/>
        </p:spPr>
        <p:txBody>
          <a:bodyPr wrap="square" lIns="0" rIns="0">
            <a:spAutoFit/>
          </a:bodyPr>
          <a:lstStyle/>
          <a:p>
            <a:pPr>
              <a:spcBef>
                <a:spcPts val="0"/>
              </a:spcBef>
              <a:spcAft>
                <a:spcPts val="900"/>
              </a:spcAft>
            </a:pPr>
            <a:r>
              <a:rPr sz="1400" b="1">
                <a:solidFill>
                  <a:srgbClr val="1F6FEB"/>
                </a:solidFill>
                <a:latin typeface="Arial"/>
              </a:rPr>
              <a:t>•  </a:t>
            </a:r>
            <a:r>
              <a:rPr sz="1400">
                <a:solidFill>
                  <a:srgbClr val="161B26"/>
                </a:solidFill>
                <a:latin typeface="Arial"/>
              </a:rPr>
              <a:t>The CLI you type</a:t>
            </a:r>
          </a:p>
          <a:p>
            <a:pPr>
              <a:spcBef>
                <a:spcPts val="0"/>
              </a:spcBef>
              <a:spcAft>
                <a:spcPts val="900"/>
              </a:spcAft>
            </a:pPr>
            <a:r>
              <a:rPr sz="1400" b="1">
                <a:solidFill>
                  <a:srgbClr val="1F6FEB"/>
                </a:solidFill>
                <a:latin typeface="Arial"/>
              </a:rPr>
              <a:t>•  </a:t>
            </a:r>
            <a:r>
              <a:rPr sz="1400">
                <a:solidFill>
                  <a:srgbClr val="161B26"/>
                </a:solidFill>
                <a:latin typeface="Arial"/>
              </a:rPr>
              <a:t>docker run / build / ps</a:t>
            </a:r>
          </a:p>
          <a:p>
            <a:pPr>
              <a:spcBef>
                <a:spcPts val="0"/>
              </a:spcBef>
              <a:spcAft>
                <a:spcPts val="900"/>
              </a:spcAft>
            </a:pPr>
            <a:r>
              <a:rPr sz="1400" b="1">
                <a:solidFill>
                  <a:srgbClr val="1F6FEB"/>
                </a:solidFill>
                <a:latin typeface="Arial"/>
              </a:rPr>
              <a:t>•  </a:t>
            </a:r>
            <a:r>
              <a:rPr sz="1400">
                <a:solidFill>
                  <a:srgbClr val="161B26"/>
                </a:solidFill>
                <a:latin typeface="Arial"/>
              </a:rPr>
              <a:t>Talks to the daemon</a:t>
            </a:r>
          </a:p>
        </p:txBody>
      </p:sp>
      <p:sp>
        <p:nvSpPr>
          <p:cNvPr id="11" name="Rounded Rectangle 10"/>
          <p:cNvSpPr/>
          <p:nvPr/>
        </p:nvSpPr>
        <p:spPr>
          <a:xfrm>
            <a:off x="4572000" y="1783080"/>
            <a:ext cx="3337560" cy="420624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57400"/>
            <a:ext cx="2926080" cy="548640"/>
          </a:xfrm>
          <a:prstGeom prst="rect">
            <a:avLst/>
          </a:prstGeom>
          <a:noFill/>
        </p:spPr>
        <p:txBody>
          <a:bodyPr wrap="square" anchor="t" lIns="0" rIns="0" tIns="0" bIns="0">
            <a:spAutoFit/>
          </a:bodyPr>
          <a:lstStyle/>
          <a:p>
            <a:pPr algn="l">
              <a:spcBef>
                <a:spcPts val="0"/>
              </a:spcBef>
              <a:spcAft>
                <a:spcPts val="400"/>
              </a:spcAft>
            </a:pPr>
            <a:r>
              <a:rPr sz="1900" b="1">
                <a:solidFill>
                  <a:srgbClr val="10B981"/>
                </a:solidFill>
                <a:latin typeface="Arial"/>
              </a:rPr>
              <a:t>Docker Daemon</a:t>
            </a:r>
          </a:p>
        </p:txBody>
      </p:sp>
      <p:sp>
        <p:nvSpPr>
          <p:cNvPr id="14" name="TextBox 13"/>
          <p:cNvSpPr txBox="1"/>
          <p:nvPr/>
        </p:nvSpPr>
        <p:spPr>
          <a:xfrm>
            <a:off x="4800600" y="2697480"/>
            <a:ext cx="2926080" cy="3108960"/>
          </a:xfrm>
          <a:prstGeom prst="rect">
            <a:avLst/>
          </a:prstGeom>
          <a:noFill/>
        </p:spPr>
        <p:txBody>
          <a:bodyPr wrap="square" lIns="0" rIns="0">
            <a:spAutoFit/>
          </a:bodyPr>
          <a:lstStyle/>
          <a:p>
            <a:pPr>
              <a:spcBef>
                <a:spcPts val="0"/>
              </a:spcBef>
              <a:spcAft>
                <a:spcPts val="900"/>
              </a:spcAft>
            </a:pPr>
            <a:r>
              <a:rPr sz="1400" b="1">
                <a:solidFill>
                  <a:srgbClr val="10B981"/>
                </a:solidFill>
                <a:latin typeface="Arial"/>
              </a:rPr>
              <a:t>•  </a:t>
            </a:r>
            <a:r>
              <a:rPr sz="1400">
                <a:solidFill>
                  <a:srgbClr val="161B26"/>
                </a:solidFill>
                <a:latin typeface="Arial"/>
              </a:rPr>
              <a:t>Runs on the host</a:t>
            </a:r>
          </a:p>
          <a:p>
            <a:pPr>
              <a:spcBef>
                <a:spcPts val="0"/>
              </a:spcBef>
              <a:spcAft>
                <a:spcPts val="900"/>
              </a:spcAft>
            </a:pPr>
            <a:r>
              <a:rPr sz="1400" b="1">
                <a:solidFill>
                  <a:srgbClr val="10B981"/>
                </a:solidFill>
                <a:latin typeface="Arial"/>
              </a:rPr>
              <a:t>•  </a:t>
            </a:r>
            <a:r>
              <a:rPr sz="1400">
                <a:solidFill>
                  <a:srgbClr val="161B26"/>
                </a:solidFill>
                <a:latin typeface="Arial"/>
              </a:rPr>
              <a:t>Manages images &amp; containers</a:t>
            </a:r>
          </a:p>
          <a:p>
            <a:pPr>
              <a:spcBef>
                <a:spcPts val="0"/>
              </a:spcBef>
              <a:spcAft>
                <a:spcPts val="900"/>
              </a:spcAft>
            </a:pPr>
            <a:r>
              <a:rPr sz="1400" b="1">
                <a:solidFill>
                  <a:srgbClr val="10B981"/>
                </a:solidFill>
                <a:latin typeface="Arial"/>
              </a:rPr>
              <a:t>•  </a:t>
            </a:r>
            <a:r>
              <a:rPr sz="1400">
                <a:solidFill>
                  <a:srgbClr val="161B26"/>
                </a:solidFill>
                <a:latin typeface="Arial"/>
              </a:rPr>
              <a:t>Networks &amp; volumes</a:t>
            </a:r>
          </a:p>
        </p:txBody>
      </p:sp>
      <p:sp>
        <p:nvSpPr>
          <p:cNvPr id="15" name="Rounded Rectangle 14"/>
          <p:cNvSpPr/>
          <p:nvPr/>
        </p:nvSpPr>
        <p:spPr>
          <a:xfrm>
            <a:off x="8366760" y="1783080"/>
            <a:ext cx="3337560" cy="420624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57400"/>
            <a:ext cx="2926080" cy="548640"/>
          </a:xfrm>
          <a:prstGeom prst="rect">
            <a:avLst/>
          </a:prstGeom>
          <a:noFill/>
        </p:spPr>
        <p:txBody>
          <a:bodyPr wrap="square" anchor="t" lIns="0" rIns="0" tIns="0" bIns="0">
            <a:spAutoFit/>
          </a:bodyPr>
          <a:lstStyle/>
          <a:p>
            <a:pPr algn="l">
              <a:spcBef>
                <a:spcPts val="0"/>
              </a:spcBef>
              <a:spcAft>
                <a:spcPts val="400"/>
              </a:spcAft>
            </a:pPr>
            <a:r>
              <a:rPr sz="1900" b="1">
                <a:solidFill>
                  <a:srgbClr val="7C3AED"/>
                </a:solidFill>
                <a:latin typeface="Arial"/>
              </a:rPr>
              <a:t>Registry</a:t>
            </a:r>
          </a:p>
        </p:txBody>
      </p:sp>
      <p:sp>
        <p:nvSpPr>
          <p:cNvPr id="18" name="TextBox 17"/>
          <p:cNvSpPr txBox="1"/>
          <p:nvPr/>
        </p:nvSpPr>
        <p:spPr>
          <a:xfrm>
            <a:off x="8595360" y="2697480"/>
            <a:ext cx="2926080" cy="3108960"/>
          </a:xfrm>
          <a:prstGeom prst="rect">
            <a:avLst/>
          </a:prstGeom>
          <a:noFill/>
        </p:spPr>
        <p:txBody>
          <a:bodyPr wrap="square" lIns="0" rIns="0">
            <a:spAutoFit/>
          </a:bodyPr>
          <a:lstStyle/>
          <a:p>
            <a:pPr>
              <a:spcBef>
                <a:spcPts val="0"/>
              </a:spcBef>
              <a:spcAft>
                <a:spcPts val="900"/>
              </a:spcAft>
            </a:pPr>
            <a:r>
              <a:rPr sz="1400" b="1">
                <a:solidFill>
                  <a:srgbClr val="7C3AED"/>
                </a:solidFill>
                <a:latin typeface="Arial"/>
              </a:rPr>
              <a:t>•  </a:t>
            </a:r>
            <a:r>
              <a:rPr sz="1400">
                <a:solidFill>
                  <a:srgbClr val="161B26"/>
                </a:solidFill>
                <a:latin typeface="Arial"/>
              </a:rPr>
              <a:t>Stores &amp; shares images</a:t>
            </a:r>
          </a:p>
          <a:p>
            <a:pPr>
              <a:spcBef>
                <a:spcPts val="0"/>
              </a:spcBef>
              <a:spcAft>
                <a:spcPts val="900"/>
              </a:spcAft>
            </a:pPr>
            <a:r>
              <a:rPr sz="1400" b="1">
                <a:solidFill>
                  <a:srgbClr val="7C3AED"/>
                </a:solidFill>
                <a:latin typeface="Arial"/>
              </a:rPr>
              <a:t>•  </a:t>
            </a:r>
            <a:r>
              <a:rPr sz="1400">
                <a:solidFill>
                  <a:srgbClr val="161B26"/>
                </a:solidFill>
                <a:latin typeface="Arial"/>
              </a:rPr>
              <a:t>Docker Hub = default</a:t>
            </a:r>
          </a:p>
          <a:p>
            <a:pPr>
              <a:spcBef>
                <a:spcPts val="0"/>
              </a:spcBef>
              <a:spcAft>
                <a:spcPts val="900"/>
              </a:spcAft>
            </a:pPr>
            <a:r>
              <a:rPr sz="1400" b="1">
                <a:solidFill>
                  <a:srgbClr val="7C3AED"/>
                </a:solidFill>
                <a:latin typeface="Arial"/>
              </a:rPr>
              <a:t>•  </a:t>
            </a:r>
            <a:r>
              <a:rPr sz="1400">
                <a:solidFill>
                  <a:srgbClr val="161B26"/>
                </a:solidFill>
                <a:latin typeface="Arial"/>
              </a:rPr>
              <a:t>pull / push images</a:t>
            </a:r>
          </a:p>
        </p:txBody>
      </p:sp>
      <p:sp>
        <p:nvSpPr>
          <p:cNvPr id="19" name="TextBox 1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20" name="TextBox 1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1" name="TextBox 2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15</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THE CLI</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Core Docker Commands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1900" b="1">
                <a:solidFill>
                  <a:srgbClr val="1F6FEB"/>
                </a:solidFill>
                <a:latin typeface="Arial"/>
              </a:rPr>
              <a:t>•  </a:t>
            </a:r>
            <a:r>
              <a:rPr sz="1900">
                <a:solidFill>
                  <a:srgbClr val="161B26"/>
                </a:solidFill>
                <a:latin typeface="Arial"/>
              </a:rPr>
              <a:t>docker run — create and start a container from an image.</a:t>
            </a:r>
          </a:p>
          <a:p>
            <a:pPr>
              <a:spcBef>
                <a:spcPts val="0"/>
              </a:spcBef>
              <a:spcAft>
                <a:spcPts val="1000"/>
              </a:spcAft>
            </a:pPr>
            <a:r>
              <a:rPr sz="1900" b="1">
                <a:solidFill>
                  <a:srgbClr val="1F6FEB"/>
                </a:solidFill>
                <a:latin typeface="Arial"/>
              </a:rPr>
              <a:t>•  </a:t>
            </a:r>
            <a:r>
              <a:rPr sz="1900">
                <a:solidFill>
                  <a:srgbClr val="161B26"/>
                </a:solidFill>
                <a:latin typeface="Arial"/>
              </a:rPr>
              <a:t>docker ps / ps -a — list running / all containers.</a:t>
            </a:r>
          </a:p>
          <a:p>
            <a:pPr>
              <a:spcBef>
                <a:spcPts val="0"/>
              </a:spcBef>
              <a:spcAft>
                <a:spcPts val="1000"/>
              </a:spcAft>
            </a:pPr>
            <a:r>
              <a:rPr sz="1900" b="1">
                <a:solidFill>
                  <a:srgbClr val="1F6FEB"/>
                </a:solidFill>
                <a:latin typeface="Arial"/>
              </a:rPr>
              <a:t>•  </a:t>
            </a:r>
            <a:r>
              <a:rPr sz="1900">
                <a:solidFill>
                  <a:srgbClr val="161B26"/>
                </a:solidFill>
                <a:latin typeface="Arial"/>
              </a:rPr>
              <a:t>docker logs / exec — read logs / run a command inside a container.</a:t>
            </a:r>
          </a:p>
          <a:p>
            <a:pPr>
              <a:spcBef>
                <a:spcPts val="0"/>
              </a:spcBef>
              <a:spcAft>
                <a:spcPts val="1000"/>
              </a:spcAft>
            </a:pPr>
            <a:r>
              <a:rPr sz="1900" b="1">
                <a:solidFill>
                  <a:srgbClr val="1F6FEB"/>
                </a:solidFill>
                <a:latin typeface="Arial"/>
              </a:rPr>
              <a:t>•  </a:t>
            </a:r>
            <a:r>
              <a:rPr sz="1900">
                <a:solidFill>
                  <a:srgbClr val="161B26"/>
                </a:solidFill>
                <a:latin typeface="Arial"/>
              </a:rPr>
              <a:t>docker stop / rm — stop / delete a container; docker images — list images.</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DAY 1 · DOCKER FUNDAMENTALS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Docker Commands — Run &amp; Manage Containers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69164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69164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LAB 1</a:t>
            </a:r>
          </a:p>
        </p:txBody>
      </p:sp>
      <p:sp>
        <p:nvSpPr>
          <p:cNvPr id="9" name="TextBox 8"/>
          <p:cNvSpPr txBox="1"/>
          <p:nvPr/>
        </p:nvSpPr>
        <p:spPr>
          <a:xfrm>
            <a:off x="2697480" y="1691640"/>
            <a:ext cx="8778240" cy="411480"/>
          </a:xfrm>
          <a:prstGeom prst="rect">
            <a:avLst/>
          </a:prstGeom>
          <a:noFill/>
        </p:spPr>
        <p:txBody>
          <a:bodyPr wrap="square" anchor="ctr" lIns="0" rIns="0" tIns="0" bIns="0">
            <a:spAutoFit/>
          </a:bodyPr>
          <a:lstStyle/>
          <a:p>
            <a:pPr algn="l">
              <a:spcBef>
                <a:spcPts val="0"/>
              </a:spcBef>
              <a:spcAft>
                <a:spcPts val="400"/>
              </a:spcAft>
            </a:pPr>
            <a:r>
              <a:rPr sz="1400" b="1">
                <a:solidFill>
                  <a:srgbClr val="5B6372"/>
                </a:solidFill>
                <a:latin typeface="Arial"/>
              </a:rPr>
              <a:t>Docker commands</a:t>
            </a:r>
          </a:p>
        </p:txBody>
      </p:sp>
      <p:sp>
        <p:nvSpPr>
          <p:cNvPr id="10" name="TextBox 9"/>
          <p:cNvSpPr txBox="1"/>
          <p:nvPr/>
        </p:nvSpPr>
        <p:spPr>
          <a:xfrm>
            <a:off x="777240" y="2286000"/>
            <a:ext cx="10698480" cy="1554480"/>
          </a:xfrm>
          <a:prstGeom prst="rect">
            <a:avLst/>
          </a:prstGeom>
          <a:noFill/>
        </p:spPr>
        <p:txBody>
          <a:bodyPr wrap="square" anchor="t" lIns="0" rIns="0" tIns="0" bIns="0">
            <a:spAutoFit/>
          </a:bodyPr>
          <a:lstStyle/>
          <a:p>
            <a:pPr algn="l">
              <a:spcBef>
                <a:spcPts val="0"/>
              </a:spcBef>
              <a:spcAft>
                <a:spcPts val="400"/>
              </a:spcAft>
            </a:pPr>
            <a:r>
              <a:rPr sz="1900" b="0">
                <a:solidFill>
                  <a:srgbClr val="161B26"/>
                </a:solidFill>
                <a:latin typeface="Arial"/>
              </a:rPr>
              <a:t>Get comfortable with the core Docker commands by running a real web server (nginx) and managing its whole lifecycle: start it, list it, read its logs, run a command inside it, then stop and remove it.</a:t>
            </a:r>
          </a:p>
        </p:txBody>
      </p:sp>
      <p:sp>
        <p:nvSpPr>
          <p:cNvPr id="11" name="Rounded Rectangle 10"/>
          <p:cNvSpPr/>
          <p:nvPr/>
        </p:nvSpPr>
        <p:spPr>
          <a:xfrm>
            <a:off x="777240" y="4069080"/>
            <a:ext cx="10698480" cy="178308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25196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3" name="TextBox 12"/>
          <p:cNvSpPr txBox="1"/>
          <p:nvPr/>
        </p:nvSpPr>
        <p:spPr>
          <a:xfrm>
            <a:off x="1005840" y="4617720"/>
            <a:ext cx="10241280" cy="640080"/>
          </a:xfrm>
          <a:prstGeom prst="rect">
            <a:avLst/>
          </a:prstGeom>
          <a:noFill/>
        </p:spPr>
        <p:txBody>
          <a:bodyPr wrap="square" anchor="t" lIns="0" rIns="0" tIns="0" bIns="0">
            <a:spAutoFit/>
          </a:bodyPr>
          <a:lstStyle/>
          <a:p>
            <a:pPr algn="l">
              <a:spcBef>
                <a:spcPts val="0"/>
              </a:spcBef>
              <a:spcAft>
                <a:spcPts val="400"/>
              </a:spcAft>
            </a:pPr>
            <a:r>
              <a:rPr sz="1700" b="1">
                <a:solidFill>
                  <a:srgbClr val="161B26"/>
                </a:solidFill>
                <a:latin typeface="Arial"/>
              </a:rPr>
              <a:t>Run and manage an nginx web server with docker run / ps / logs / exec / stop / rm.</a:t>
            </a:r>
          </a:p>
        </p:txBody>
      </p:sp>
      <p:sp>
        <p:nvSpPr>
          <p:cNvPr id="14" name="TextBox 13"/>
          <p:cNvSpPr txBox="1"/>
          <p:nvPr/>
        </p:nvSpPr>
        <p:spPr>
          <a:xfrm>
            <a:off x="1005840" y="53492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commands:  </a:t>
            </a:r>
            <a:r>
              <a:rPr sz="1300" b="0">
                <a:solidFill>
                  <a:srgbClr val="5B6372"/>
                </a:solidFill>
                <a:latin typeface="Arial"/>
              </a:rPr>
              <a:t>docker run · docker logs · docker stop · » `docker</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17</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Docker Commands — Run &amp; Manage Containers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Part A — Run a web server in the background</a:t>
            </a:r>
          </a:p>
        </p:txBody>
      </p:sp>
      <p:sp>
        <p:nvSpPr>
          <p:cNvPr id="8" name="Rounded Rectangle 7"/>
          <p:cNvSpPr/>
          <p:nvPr/>
        </p:nvSpPr>
        <p:spPr>
          <a:xfrm>
            <a:off x="777240" y="2075688"/>
            <a:ext cx="10652760" cy="708660"/>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7086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617220"/>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docker run -d --name web -p 8080:80 nginx:latest</a:t>
            </a:r>
          </a:p>
          <a:p>
            <a:pPr>
              <a:spcBef>
                <a:spcPts val="0"/>
              </a:spcBef>
              <a:spcAft>
                <a:spcPts val="0"/>
              </a:spcAft>
            </a:pPr>
            <a:r>
              <a:rPr sz="1050">
                <a:solidFill>
                  <a:srgbClr val="161B26"/>
                </a:solidFill>
                <a:latin typeface="Consolas"/>
              </a:rPr>
              <a:t>docker ps                      # the container is running</a:t>
            </a:r>
          </a:p>
          <a:p>
            <a:pPr>
              <a:spcBef>
                <a:spcPts val="0"/>
              </a:spcBef>
              <a:spcAft>
                <a:spcPts val="0"/>
              </a:spcAft>
            </a:pPr>
            <a:r>
              <a:rPr sz="1050">
                <a:solidFill>
                  <a:srgbClr val="161B26"/>
                </a:solidFill>
                <a:latin typeface="Consolas"/>
              </a:rPr>
              <a:t>curl http://localhost:8080     # nginx serves its welcome page</a:t>
            </a:r>
          </a:p>
        </p:txBody>
      </p:sp>
      <p:sp>
        <p:nvSpPr>
          <p:cNvPr id="11" name="TextBox 10"/>
          <p:cNvSpPr txBox="1"/>
          <p:nvPr/>
        </p:nvSpPr>
        <p:spPr>
          <a:xfrm>
            <a:off x="777240" y="2967228"/>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Part B — Inspect a running container</a:t>
            </a:r>
          </a:p>
        </p:txBody>
      </p:sp>
      <p:sp>
        <p:nvSpPr>
          <p:cNvPr id="12" name="Rounded Rectangle 11"/>
          <p:cNvSpPr/>
          <p:nvPr/>
        </p:nvSpPr>
        <p:spPr>
          <a:xfrm>
            <a:off x="777240" y="3351276"/>
            <a:ext cx="10652760" cy="708660"/>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351276"/>
            <a:ext cx="82296" cy="7086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3415284"/>
            <a:ext cx="10323576" cy="617220"/>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docker logs web</a:t>
            </a:r>
          </a:p>
          <a:p>
            <a:pPr>
              <a:spcBef>
                <a:spcPts val="0"/>
              </a:spcBef>
              <a:spcAft>
                <a:spcPts val="0"/>
              </a:spcAft>
            </a:pPr>
            <a:r>
              <a:rPr sz="1050">
                <a:solidFill>
                  <a:srgbClr val="161B26"/>
                </a:solidFill>
                <a:latin typeface="Consolas"/>
              </a:rPr>
              <a:t>docker exec web cat /etc/hostname</a:t>
            </a:r>
          </a:p>
          <a:p>
            <a:pPr>
              <a:spcBef>
                <a:spcPts val="0"/>
              </a:spcBef>
              <a:spcAft>
                <a:spcPts val="0"/>
              </a:spcAft>
            </a:pPr>
            <a:r>
              <a:rPr sz="1050">
                <a:solidFill>
                  <a:srgbClr val="161B26"/>
                </a:solidFill>
                <a:latin typeface="Consolas"/>
              </a:rPr>
              <a:t>docker exec -it web /bin/bash   # open an interactive shell, then 'exit'</a:t>
            </a:r>
          </a:p>
        </p:txBody>
      </p:sp>
      <p:sp>
        <p:nvSpPr>
          <p:cNvPr id="15" name="TextBox 14"/>
          <p:cNvSpPr txBox="1"/>
          <p:nvPr/>
        </p:nvSpPr>
        <p:spPr>
          <a:xfrm>
            <a:off x="777240" y="4242816"/>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Part C — Stop, restart and clean up</a:t>
            </a:r>
          </a:p>
        </p:txBody>
      </p:sp>
      <p:sp>
        <p:nvSpPr>
          <p:cNvPr id="16" name="Rounded Rectangle 15"/>
          <p:cNvSpPr/>
          <p:nvPr/>
        </p:nvSpPr>
        <p:spPr>
          <a:xfrm>
            <a:off x="777240" y="4626864"/>
            <a:ext cx="10652760" cy="896112"/>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626864"/>
            <a:ext cx="82296"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96696" y="4690872"/>
            <a:ext cx="10323576" cy="804672"/>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docker stop web</a:t>
            </a:r>
          </a:p>
          <a:p>
            <a:pPr>
              <a:spcBef>
                <a:spcPts val="0"/>
              </a:spcBef>
              <a:spcAft>
                <a:spcPts val="0"/>
              </a:spcAft>
            </a:pPr>
            <a:r>
              <a:rPr sz="1050">
                <a:solidFill>
                  <a:srgbClr val="161B26"/>
                </a:solidFill>
                <a:latin typeface="Consolas"/>
              </a:rPr>
              <a:t>docker ps -a                    # shows stopped containers too</a:t>
            </a:r>
          </a:p>
          <a:p>
            <a:pPr>
              <a:spcBef>
                <a:spcPts val="0"/>
              </a:spcBef>
              <a:spcAft>
                <a:spcPts val="0"/>
              </a:spcAft>
            </a:pPr>
            <a:r>
              <a:rPr sz="1050">
                <a:solidFill>
                  <a:srgbClr val="161B26"/>
                </a:solidFill>
                <a:latin typeface="Consolas"/>
              </a:rPr>
              <a:t>docker start web</a:t>
            </a:r>
          </a:p>
          <a:p>
            <a:pPr>
              <a:spcBef>
                <a:spcPts val="0"/>
              </a:spcBef>
              <a:spcAft>
                <a:spcPts val="0"/>
              </a:spcAft>
            </a:pPr>
            <a:r>
              <a:rPr sz="1050">
                <a:solidFill>
                  <a:srgbClr val="161B26"/>
                </a:solidFill>
                <a:latin typeface="Consolas"/>
              </a:rPr>
              <a:t>docker rm -f web                # force-remove (stops if running)</a:t>
            </a:r>
          </a:p>
        </p:txBody>
      </p:sp>
      <p:sp>
        <p:nvSpPr>
          <p:cNvPr id="19" name="TextBox 1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20" name="TextBox 1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1" name="TextBox 2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18</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Docker Commands — Run &amp; Manage Containers (cont.)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52760"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Note   </a:t>
            </a:r>
            <a:r>
              <a:rPr sz="1300" b="0">
                <a:solidFill>
                  <a:srgbClr val="5B6372"/>
                </a:solidFill>
                <a:latin typeface="Arial"/>
              </a:rPr>
              <a:t>docker ps lists only running containers; docker ps -a lists all containers including stopped ones.</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19</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  ·  TEST IT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Docker Commands — Run &amp; Manage Containers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10698480" cy="2560320"/>
          </a:xfrm>
          <a:prstGeom prst="roundRect">
            <a:avLst>
              <a:gd name="adj" fmla="val 5000"/>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200" b="1">
                <a:solidFill>
                  <a:srgbClr val="127A3E"/>
                </a:solidFill>
                <a:latin typeface="Arial"/>
              </a:rPr>
              <a:t>✅  Test it</a:t>
            </a:r>
          </a:p>
        </p:txBody>
      </p:sp>
      <p:sp>
        <p:nvSpPr>
          <p:cNvPr id="9" name="TextBox 8"/>
          <p:cNvSpPr txBox="1"/>
          <p:nvPr/>
        </p:nvSpPr>
        <p:spPr>
          <a:xfrm>
            <a:off x="1097280" y="3017520"/>
            <a:ext cx="10149840" cy="146304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Open http://localhost:8080 and confirm the nginx welcome page loads while the container is running, and that docker ps no longer lists web after docker rm -f web.</a:t>
            </a:r>
          </a:p>
        </p:txBody>
      </p:sp>
      <p:sp>
        <p:nvSpPr>
          <p:cNvPr id="10" name="TextBox 9"/>
          <p:cNvSpPr txBox="1"/>
          <p:nvPr/>
        </p:nvSpPr>
        <p:spPr>
          <a:xfrm>
            <a:off x="777240" y="4983480"/>
            <a:ext cx="10698480" cy="365760"/>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KillerCoda:  </a:t>
            </a:r>
            <a:r>
              <a:rPr sz="1300" b="0">
                <a:solidFill>
                  <a:srgbClr val="5B6372"/>
                </a:solidFill>
                <a:latin typeface="Arial"/>
              </a:rPr>
              <a:t>https://killercoda.com/tertiary-labs/course/killercoda/day1-01-docker-fundamentals</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DAY 1 · DOCKER FUNDAMENTALS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Images &amp; Inspecting Containers — pull, cp, inspect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69164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69164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LAB 2</a:t>
            </a:r>
          </a:p>
        </p:txBody>
      </p:sp>
      <p:sp>
        <p:nvSpPr>
          <p:cNvPr id="9" name="TextBox 8"/>
          <p:cNvSpPr txBox="1"/>
          <p:nvPr/>
        </p:nvSpPr>
        <p:spPr>
          <a:xfrm>
            <a:off x="2697480" y="1691640"/>
            <a:ext cx="8778240" cy="411480"/>
          </a:xfrm>
          <a:prstGeom prst="rect">
            <a:avLst/>
          </a:prstGeom>
          <a:noFill/>
        </p:spPr>
        <p:txBody>
          <a:bodyPr wrap="square" anchor="ctr" lIns="0" rIns="0" tIns="0" bIns="0">
            <a:spAutoFit/>
          </a:bodyPr>
          <a:lstStyle/>
          <a:p>
            <a:pPr algn="l">
              <a:spcBef>
                <a:spcPts val="0"/>
              </a:spcBef>
              <a:spcAft>
                <a:spcPts val="400"/>
              </a:spcAft>
            </a:pPr>
            <a:r>
              <a:rPr sz="1400" b="1">
                <a:solidFill>
                  <a:srgbClr val="5B6372"/>
                </a:solidFill>
                <a:latin typeface="Arial"/>
              </a:rPr>
              <a:t>Docker commands</a:t>
            </a:r>
          </a:p>
        </p:txBody>
      </p:sp>
      <p:sp>
        <p:nvSpPr>
          <p:cNvPr id="10" name="TextBox 9"/>
          <p:cNvSpPr txBox="1"/>
          <p:nvPr/>
        </p:nvSpPr>
        <p:spPr>
          <a:xfrm>
            <a:off x="777240" y="2286000"/>
            <a:ext cx="10698480" cy="1554480"/>
          </a:xfrm>
          <a:prstGeom prst="rect">
            <a:avLst/>
          </a:prstGeom>
          <a:noFill/>
        </p:spPr>
        <p:txBody>
          <a:bodyPr wrap="square" anchor="t" lIns="0" rIns="0" tIns="0" bIns="0">
            <a:spAutoFit/>
          </a:bodyPr>
          <a:lstStyle/>
          <a:p>
            <a:pPr algn="l">
              <a:spcBef>
                <a:spcPts val="0"/>
              </a:spcBef>
              <a:spcAft>
                <a:spcPts val="400"/>
              </a:spcAft>
            </a:pPr>
            <a:r>
              <a:rPr sz="1900" b="0">
                <a:solidFill>
                  <a:srgbClr val="161B26"/>
                </a:solidFill>
                <a:latin typeface="Arial"/>
              </a:rPr>
              <a:t>Work with images and look inside containers. You will pull images, copy a file out of a running container with docker cp, and inspect container details.</a:t>
            </a:r>
          </a:p>
        </p:txBody>
      </p:sp>
      <p:sp>
        <p:nvSpPr>
          <p:cNvPr id="11" name="Rounded Rectangle 10"/>
          <p:cNvSpPr/>
          <p:nvPr/>
        </p:nvSpPr>
        <p:spPr>
          <a:xfrm>
            <a:off x="777240" y="4069080"/>
            <a:ext cx="10698480" cy="178308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25196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3" name="TextBox 12"/>
          <p:cNvSpPr txBox="1"/>
          <p:nvPr/>
        </p:nvSpPr>
        <p:spPr>
          <a:xfrm>
            <a:off x="1005840" y="4617720"/>
            <a:ext cx="10241280" cy="640080"/>
          </a:xfrm>
          <a:prstGeom prst="rect">
            <a:avLst/>
          </a:prstGeom>
          <a:noFill/>
        </p:spPr>
        <p:txBody>
          <a:bodyPr wrap="square" anchor="t" lIns="0" rIns="0" tIns="0" bIns="0">
            <a:spAutoFit/>
          </a:bodyPr>
          <a:lstStyle/>
          <a:p>
            <a:pPr algn="l">
              <a:spcBef>
                <a:spcPts val="0"/>
              </a:spcBef>
              <a:spcAft>
                <a:spcPts val="400"/>
              </a:spcAft>
            </a:pPr>
            <a:r>
              <a:rPr sz="1700" b="1">
                <a:solidFill>
                  <a:srgbClr val="161B26"/>
                </a:solidFill>
                <a:latin typeface="Arial"/>
              </a:rPr>
              <a:t>Pull images, copy a served file out of nginx with docker cp, and inspect a container.</a:t>
            </a:r>
          </a:p>
        </p:txBody>
      </p:sp>
      <p:sp>
        <p:nvSpPr>
          <p:cNvPr id="14" name="TextBox 13"/>
          <p:cNvSpPr txBox="1"/>
          <p:nvPr/>
        </p:nvSpPr>
        <p:spPr>
          <a:xfrm>
            <a:off x="1005840" y="53492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commands:  </a:t>
            </a:r>
            <a:r>
              <a:rPr sz="1300" b="0">
                <a:solidFill>
                  <a:srgbClr val="5B6372"/>
                </a:solidFill>
                <a:latin typeface="Arial"/>
              </a:rPr>
              <a:t>docker pull · docker cp · docker inspect · » `docker</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21</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2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Images &amp; Inspecting Containers — pull, cp, inspect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Part A — Work with images</a:t>
            </a:r>
          </a:p>
        </p:txBody>
      </p:sp>
      <p:sp>
        <p:nvSpPr>
          <p:cNvPr id="8" name="Rounded Rectangle 7"/>
          <p:cNvSpPr/>
          <p:nvPr/>
        </p:nvSpPr>
        <p:spPr>
          <a:xfrm>
            <a:off x="777240" y="2075688"/>
            <a:ext cx="10652760" cy="708660"/>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7086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617220"/>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docker pull nginx:latest</a:t>
            </a:r>
          </a:p>
          <a:p>
            <a:pPr>
              <a:spcBef>
                <a:spcPts val="0"/>
              </a:spcBef>
              <a:spcAft>
                <a:spcPts val="0"/>
              </a:spcAft>
            </a:pPr>
            <a:r>
              <a:rPr sz="1050">
                <a:solidFill>
                  <a:srgbClr val="161B26"/>
                </a:solidFill>
                <a:latin typeface="Consolas"/>
              </a:rPr>
              <a:t>docker images                  # list local images</a:t>
            </a:r>
          </a:p>
          <a:p>
            <a:pPr>
              <a:spcBef>
                <a:spcPts val="0"/>
              </a:spcBef>
              <a:spcAft>
                <a:spcPts val="0"/>
              </a:spcAft>
            </a:pPr>
            <a:r>
              <a:rPr sz="1050">
                <a:solidFill>
                  <a:srgbClr val="161B26"/>
                </a:solidFill>
                <a:latin typeface="Consolas"/>
              </a:rPr>
              <a:t>docker run -d --name web -p 8080:80 nginx:latest</a:t>
            </a:r>
          </a:p>
        </p:txBody>
      </p:sp>
      <p:sp>
        <p:nvSpPr>
          <p:cNvPr id="11" name="TextBox 10"/>
          <p:cNvSpPr txBox="1"/>
          <p:nvPr/>
        </p:nvSpPr>
        <p:spPr>
          <a:xfrm>
            <a:off x="777240" y="2967228"/>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Part B — Copy a file out of the container (docker cp)</a:t>
            </a:r>
          </a:p>
        </p:txBody>
      </p:sp>
      <p:sp>
        <p:nvSpPr>
          <p:cNvPr id="12" name="Rounded Rectangle 11"/>
          <p:cNvSpPr/>
          <p:nvPr/>
        </p:nvSpPr>
        <p:spPr>
          <a:xfrm>
            <a:off x="777240" y="3351276"/>
            <a:ext cx="10652760" cy="896112"/>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351276"/>
            <a:ext cx="82296"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3415284"/>
            <a:ext cx="10323576" cy="804672"/>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docker cp web:/usr/share/nginx/html/index.html ./index.html</a:t>
            </a:r>
          </a:p>
          <a:p>
            <a:pPr>
              <a:spcBef>
                <a:spcPts val="0"/>
              </a:spcBef>
              <a:spcAft>
                <a:spcPts val="0"/>
              </a:spcAft>
            </a:pPr>
            <a:r>
              <a:rPr sz="1050">
                <a:solidFill>
                  <a:srgbClr val="161B26"/>
                </a:solidFill>
                <a:latin typeface="Consolas"/>
              </a:rPr>
              <a:t>echo '&lt;h1&gt;Hello from TaskBoard class!&lt;/h1&gt;' &gt; index.html</a:t>
            </a:r>
          </a:p>
          <a:p>
            <a:pPr>
              <a:spcBef>
                <a:spcPts val="0"/>
              </a:spcBef>
              <a:spcAft>
                <a:spcPts val="0"/>
              </a:spcAft>
            </a:pPr>
            <a:r>
              <a:rPr sz="1050">
                <a:solidFill>
                  <a:srgbClr val="161B26"/>
                </a:solidFill>
                <a:latin typeface="Consolas"/>
              </a:rPr>
              <a:t>docker cp ./index.html web:/usr/share/nginx/html/index.html</a:t>
            </a:r>
          </a:p>
          <a:p>
            <a:pPr>
              <a:spcBef>
                <a:spcPts val="0"/>
              </a:spcBef>
              <a:spcAft>
                <a:spcPts val="0"/>
              </a:spcAft>
            </a:pPr>
            <a:r>
              <a:rPr sz="1050">
                <a:solidFill>
                  <a:srgbClr val="161B26"/>
                </a:solidFill>
                <a:latin typeface="Consolas"/>
              </a:rPr>
              <a:t>curl http://localhost:8080     # shows your new page</a:t>
            </a:r>
          </a:p>
        </p:txBody>
      </p:sp>
      <p:sp>
        <p:nvSpPr>
          <p:cNvPr id="15" name="TextBox 14"/>
          <p:cNvSpPr txBox="1"/>
          <p:nvPr/>
        </p:nvSpPr>
        <p:spPr>
          <a:xfrm>
            <a:off x="777240" y="4430268"/>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Part C — Inspect the container</a:t>
            </a:r>
          </a:p>
        </p:txBody>
      </p:sp>
      <p:sp>
        <p:nvSpPr>
          <p:cNvPr id="16" name="Rounded Rectangle 15"/>
          <p:cNvSpPr/>
          <p:nvPr/>
        </p:nvSpPr>
        <p:spPr>
          <a:xfrm>
            <a:off x="777240" y="4814316"/>
            <a:ext cx="10652760" cy="708660"/>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814316"/>
            <a:ext cx="82296" cy="7086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96696" y="4878324"/>
            <a:ext cx="10323576" cy="617220"/>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docker inspect web | grep -i ipaddress</a:t>
            </a:r>
          </a:p>
          <a:p>
            <a:pPr>
              <a:spcBef>
                <a:spcPts val="0"/>
              </a:spcBef>
              <a:spcAft>
                <a:spcPts val="0"/>
              </a:spcAft>
            </a:pPr>
            <a:r>
              <a:rPr sz="1050">
                <a:solidFill>
                  <a:srgbClr val="161B26"/>
                </a:solidFill>
                <a:latin typeface="Consolas"/>
              </a:rPr>
              <a:t>docker stats --no-stream web   # CPU / memory snapshot</a:t>
            </a:r>
          </a:p>
          <a:p>
            <a:pPr>
              <a:spcBef>
                <a:spcPts val="0"/>
              </a:spcBef>
              <a:spcAft>
                <a:spcPts val="0"/>
              </a:spcAft>
            </a:pPr>
            <a:r>
              <a:rPr sz="1050">
                <a:solidFill>
                  <a:srgbClr val="161B26"/>
                </a:solidFill>
                <a:latin typeface="Consolas"/>
              </a:rPr>
              <a:t>docker rm -f web</a:t>
            </a:r>
          </a:p>
        </p:txBody>
      </p:sp>
      <p:sp>
        <p:nvSpPr>
          <p:cNvPr id="19" name="TextBox 1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20" name="TextBox 1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1" name="TextBox 2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22</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2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Images &amp; Inspecting Containers — pull, cp, inspect (cont.)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52760"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Note   </a:t>
            </a:r>
            <a:r>
              <a:rPr sz="1300" b="0">
                <a:solidFill>
                  <a:srgbClr val="5B6372"/>
                </a:solidFill>
                <a:latin typeface="Arial"/>
              </a:rPr>
              <a:t>docker cp copies files between a container and the host in either direction — handy for grabbing logs or config out of a running container.</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23</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2  ·  TEST IT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Images &amp; Inspecting Containers — pull, cp, inspect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10698480" cy="2560320"/>
          </a:xfrm>
          <a:prstGeom prst="roundRect">
            <a:avLst>
              <a:gd name="adj" fmla="val 5000"/>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200" b="1">
                <a:solidFill>
                  <a:srgbClr val="127A3E"/>
                </a:solidFill>
                <a:latin typeface="Arial"/>
              </a:rPr>
              <a:t>✅  Test it</a:t>
            </a:r>
          </a:p>
        </p:txBody>
      </p:sp>
      <p:sp>
        <p:nvSpPr>
          <p:cNvPr id="9" name="TextBox 8"/>
          <p:cNvSpPr txBox="1"/>
          <p:nvPr/>
        </p:nvSpPr>
        <p:spPr>
          <a:xfrm>
            <a:off x="1097280" y="3017520"/>
            <a:ext cx="10149840" cy="146304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After copying the edited file back, curl http://localhost:8080 should show your custom heading instead of the default nginx page.</a:t>
            </a:r>
          </a:p>
        </p:txBody>
      </p:sp>
      <p:sp>
        <p:nvSpPr>
          <p:cNvPr id="10" name="TextBox 9"/>
          <p:cNvSpPr txBox="1"/>
          <p:nvPr/>
        </p:nvSpPr>
        <p:spPr>
          <a:xfrm>
            <a:off x="777240" y="4983480"/>
            <a:ext cx="10698480" cy="365760"/>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KillerCoda:  </a:t>
            </a:r>
            <a:r>
              <a:rPr sz="1300" b="0">
                <a:solidFill>
                  <a:srgbClr val="5B6372"/>
                </a:solidFill>
                <a:latin typeface="Arial"/>
              </a:rPr>
              <a:t>https://killercoda.com/tertiary-labs/course/killercoda/day1-01-docker-fundamentals</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24</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2148840"/>
            <a:ext cx="231343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514600"/>
            <a:ext cx="12191695" cy="1097280"/>
          </a:xfrm>
          <a:prstGeom prst="rect">
            <a:avLst/>
          </a:prstGeom>
          <a:noFill/>
        </p:spPr>
        <p:txBody>
          <a:bodyPr wrap="square" anchor="t" lIns="0" rIns="0" tIns="0" bIns="0">
            <a:spAutoFit/>
          </a:bodyPr>
          <a:lstStyle/>
          <a:p>
            <a:pPr algn="ctr">
              <a:spcBef>
                <a:spcPts val="0"/>
              </a:spcBef>
              <a:spcAft>
                <a:spcPts val="400"/>
              </a:spcAft>
            </a:pPr>
            <a:r>
              <a:rPr sz="4800" b="1">
                <a:solidFill>
                  <a:srgbClr val="161B26"/>
                </a:solidFill>
                <a:latin typeface="Arial"/>
              </a:rPr>
              <a:t>Tea Break</a:t>
            </a:r>
          </a:p>
        </p:txBody>
      </p:sp>
      <p:sp>
        <p:nvSpPr>
          <p:cNvPr id="7" name="TextBox 6"/>
          <p:cNvSpPr txBox="1"/>
          <p:nvPr/>
        </p:nvSpPr>
        <p:spPr>
          <a:xfrm>
            <a:off x="0" y="3703320"/>
            <a:ext cx="12191695" cy="731520"/>
          </a:xfrm>
          <a:prstGeom prst="rect">
            <a:avLst/>
          </a:prstGeom>
          <a:noFill/>
        </p:spPr>
        <p:txBody>
          <a:bodyPr wrap="square" anchor="t" lIns="0" rIns="0" tIns="0" bIns="0">
            <a:spAutoFit/>
          </a:bodyPr>
          <a:lstStyle/>
          <a:p>
            <a:pPr algn="ctr">
              <a:spcBef>
                <a:spcPts val="0"/>
              </a:spcBef>
              <a:spcAft>
                <a:spcPts val="400"/>
              </a:spcAft>
            </a:pPr>
            <a:r>
              <a:rPr sz="2200" b="1">
                <a:solidFill>
                  <a:srgbClr val="10B981"/>
                </a:solidFill>
                <a:latin typeface="Arial"/>
              </a:rPr>
              <a:t>15 minutes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F6FEB"/>
                </a:solidFill>
                <a:latin typeface="Arial"/>
              </a:rPr>
              <a:t>TOPIC 2</a:t>
            </a:r>
          </a:p>
        </p:txBody>
      </p:sp>
      <p:sp>
        <p:nvSpPr>
          <p:cNvPr id="6" name="TextBox 5"/>
          <p:cNvSpPr txBox="1"/>
          <p:nvPr/>
        </p:nvSpPr>
        <p:spPr>
          <a:xfrm>
            <a:off x="1143000" y="2743200"/>
            <a:ext cx="10424160" cy="1463040"/>
          </a:xfrm>
          <a:prstGeom prst="rect">
            <a:avLst/>
          </a:prstGeom>
          <a:noFill/>
        </p:spPr>
        <p:txBody>
          <a:bodyPr wrap="square" anchor="t" lIns="0" rIns="0" tIns="0" bIns="0">
            <a:spAutoFit/>
          </a:bodyPr>
          <a:lstStyle/>
          <a:p>
            <a:pPr algn="l">
              <a:spcBef>
                <a:spcPts val="0"/>
              </a:spcBef>
              <a:spcAft>
                <a:spcPts val="400"/>
              </a:spcAft>
            </a:pPr>
            <a:r>
              <a:rPr sz="4000" b="1">
                <a:solidFill>
                  <a:srgbClr val="161B26"/>
                </a:solidFill>
                <a:latin typeface="Arial"/>
              </a:rPr>
              <a:t>Dockerfile &amp; Build</a:t>
            </a:r>
          </a:p>
        </p:txBody>
      </p:sp>
      <p:sp>
        <p:nvSpPr>
          <p:cNvPr id="7" name="TextBox 6"/>
          <p:cNvSpPr txBox="1"/>
          <p:nvPr/>
        </p:nvSpPr>
        <p:spPr>
          <a:xfrm>
            <a:off x="1161288" y="4114800"/>
            <a:ext cx="10058400" cy="731520"/>
          </a:xfrm>
          <a:prstGeom prst="rect">
            <a:avLst/>
          </a:prstGeom>
          <a:noFill/>
        </p:spPr>
        <p:txBody>
          <a:bodyPr wrap="square" anchor="t" lIns="0" rIns="0" tIns="0" bIns="0">
            <a:spAutoFit/>
          </a:bodyPr>
          <a:lstStyle/>
          <a:p>
            <a:pPr algn="l">
              <a:spcBef>
                <a:spcPts val="0"/>
              </a:spcBef>
              <a:spcAft>
                <a:spcPts val="400"/>
              </a:spcAft>
            </a:pPr>
            <a:r>
              <a:rPr sz="1600" b="0">
                <a:solidFill>
                  <a:srgbClr val="5B6372"/>
                </a:solidFill>
                <a:latin typeface="Arial"/>
              </a:rPr>
              <a:t>Build your own images — layers, cache, CMD vs ENTRYPOINT</a:t>
            </a:r>
          </a:p>
        </p:txBody>
      </p:sp>
      <p:sp>
        <p:nvSpPr>
          <p:cNvPr id="8" name="TextBox 7"/>
          <p:cNvSpPr txBox="1"/>
          <p:nvPr/>
        </p:nvSpPr>
        <p:spPr>
          <a:xfrm>
            <a:off x="9418320" y="640080"/>
            <a:ext cx="2286000" cy="1463040"/>
          </a:xfrm>
          <a:prstGeom prst="rect">
            <a:avLst/>
          </a:prstGeom>
          <a:noFill/>
        </p:spPr>
        <p:txBody>
          <a:bodyPr wrap="square" anchor="t" lIns="0" rIns="0" tIns="0" bIns="0">
            <a:spAutoFit/>
          </a:bodyPr>
          <a:lstStyle/>
          <a:p>
            <a:pPr algn="r">
              <a:spcBef>
                <a:spcPts val="0"/>
              </a:spcBef>
              <a:spcAft>
                <a:spcPts val="400"/>
              </a:spcAft>
            </a:pPr>
            <a:r>
              <a:rPr sz="7200" b="1">
                <a:solidFill>
                  <a:srgbClr val="E2E8F0"/>
                </a:solidFill>
                <a:latin typeface="Arial"/>
              </a:rPr>
              <a:t/>
            </a:r>
          </a:p>
        </p:txBody>
      </p:sp>
      <p:sp>
        <p:nvSpPr>
          <p:cNvPr id="9" name="TextBox 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26</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BUILDING IMAGES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What is a Dockerfile?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1900" b="1">
                <a:solidFill>
                  <a:srgbClr val="1F6FEB"/>
                </a:solidFill>
                <a:latin typeface="Arial"/>
              </a:rPr>
              <a:t>•  </a:t>
            </a:r>
            <a:r>
              <a:rPr sz="1900">
                <a:solidFill>
                  <a:srgbClr val="161B26"/>
                </a:solidFill>
                <a:latin typeface="Arial"/>
              </a:rPr>
              <a:t>A text recipe of instructions Docker runs to build an image automatically.</a:t>
            </a:r>
          </a:p>
          <a:p>
            <a:pPr>
              <a:spcBef>
                <a:spcPts val="0"/>
              </a:spcBef>
              <a:spcAft>
                <a:spcPts val="1000"/>
              </a:spcAft>
            </a:pPr>
            <a:r>
              <a:rPr sz="1900" b="1">
                <a:solidFill>
                  <a:srgbClr val="1F6FEB"/>
                </a:solidFill>
                <a:latin typeface="Arial"/>
              </a:rPr>
              <a:t>•  </a:t>
            </a:r>
            <a:r>
              <a:rPr sz="1900">
                <a:solidFill>
                  <a:srgbClr val="161B26"/>
                </a:solidFill>
                <a:latin typeface="Arial"/>
              </a:rPr>
              <a:t>FROM (base image) · WORKDIR · COPY · RUN · EXPOSE · ENV · CMD / ENTRYPOINT.</a:t>
            </a:r>
          </a:p>
          <a:p>
            <a:pPr>
              <a:spcBef>
                <a:spcPts val="0"/>
              </a:spcBef>
              <a:spcAft>
                <a:spcPts val="1000"/>
              </a:spcAft>
            </a:pPr>
            <a:r>
              <a:rPr sz="1900" b="1">
                <a:solidFill>
                  <a:srgbClr val="1F6FEB"/>
                </a:solidFill>
                <a:latin typeface="Arial"/>
              </a:rPr>
              <a:t>•  </a:t>
            </a:r>
            <a:r>
              <a:rPr sz="1900">
                <a:solidFill>
                  <a:srgbClr val="161B26"/>
                </a:solidFill>
                <a:latin typeface="Arial"/>
              </a:rPr>
              <a:t>Each instruction creates a cached layer — unchanged layers are reused.</a:t>
            </a:r>
          </a:p>
          <a:p>
            <a:pPr>
              <a:spcBef>
                <a:spcPts val="0"/>
              </a:spcBef>
              <a:spcAft>
                <a:spcPts val="1000"/>
              </a:spcAft>
            </a:pPr>
            <a:r>
              <a:rPr sz="1900" b="1">
                <a:solidFill>
                  <a:srgbClr val="1F6FEB"/>
                </a:solidFill>
                <a:latin typeface="Arial"/>
              </a:rPr>
              <a:t>•  </a:t>
            </a:r>
            <a:r>
              <a:rPr sz="1900">
                <a:solidFill>
                  <a:srgbClr val="161B26"/>
                </a:solidFill>
                <a:latin typeface="Arial"/>
              </a:rPr>
              <a:t>Order matters: put rarely-changing steps (dependencies) before source code.</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27</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LAYERS &amp; CACHE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Image Layers &amp; Build Cache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1900" b="1">
                <a:solidFill>
                  <a:srgbClr val="1F6FEB"/>
                </a:solidFill>
                <a:latin typeface="Arial"/>
              </a:rPr>
              <a:t>•  </a:t>
            </a:r>
            <a:r>
              <a:rPr sz="1900">
                <a:solidFill>
                  <a:srgbClr val="161B26"/>
                </a:solidFill>
                <a:latin typeface="Arial"/>
              </a:rPr>
              <a:t>An image is a stack of layers; each instruction adds one.</a:t>
            </a:r>
          </a:p>
          <a:p>
            <a:pPr>
              <a:spcBef>
                <a:spcPts val="0"/>
              </a:spcBef>
              <a:spcAft>
                <a:spcPts val="1000"/>
              </a:spcAft>
            </a:pPr>
            <a:r>
              <a:rPr sz="1900" b="1">
                <a:solidFill>
                  <a:srgbClr val="1F6FEB"/>
                </a:solidFill>
                <a:latin typeface="Arial"/>
              </a:rPr>
              <a:t>•  </a:t>
            </a:r>
            <a:r>
              <a:rPr sz="1900">
                <a:solidFill>
                  <a:srgbClr val="161B26"/>
                </a:solidFill>
                <a:latin typeface="Arial"/>
              </a:rPr>
              <a:t>If a layer is unchanged, Docker reuses it from cache — fast rebuilds.</a:t>
            </a:r>
          </a:p>
          <a:p>
            <a:pPr>
              <a:spcBef>
                <a:spcPts val="0"/>
              </a:spcBef>
              <a:spcAft>
                <a:spcPts val="1000"/>
              </a:spcAft>
            </a:pPr>
            <a:r>
              <a:rPr sz="1900" b="1">
                <a:solidFill>
                  <a:srgbClr val="1F6FEB"/>
                </a:solidFill>
                <a:latin typeface="Arial"/>
              </a:rPr>
              <a:t>•  </a:t>
            </a:r>
            <a:r>
              <a:rPr sz="1900">
                <a:solidFill>
                  <a:srgbClr val="161B26"/>
                </a:solidFill>
                <a:latin typeface="Arial"/>
              </a:rPr>
              <a:t>COPY requirements.txt + RUN pip install BEFORE COPY . . keeps deps cached.</a:t>
            </a:r>
          </a:p>
          <a:p>
            <a:pPr>
              <a:spcBef>
                <a:spcPts val="0"/>
              </a:spcBef>
              <a:spcAft>
                <a:spcPts val="1000"/>
              </a:spcAft>
            </a:pPr>
            <a:r>
              <a:rPr sz="1900" b="1">
                <a:solidFill>
                  <a:srgbClr val="1F6FEB"/>
                </a:solidFill>
                <a:latin typeface="Arial"/>
              </a:rPr>
              <a:t>•  </a:t>
            </a:r>
            <a:r>
              <a:rPr sz="1900">
                <a:solidFill>
                  <a:srgbClr val="161B26"/>
                </a:solidFill>
                <a:latin typeface="Arial"/>
              </a:rPr>
              <a:t>A .dockerignore keeps junk (.git, caches) out of the build context.</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28</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INSTRUCTIONS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CMD vs ENTRYPOINT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lIns="0" rIns="0" tIns="0" bIns="0">
            <a:spAutoFit/>
          </a:bodyPr>
          <a:lstStyle/>
          <a:p>
            <a:pPr algn="l">
              <a:spcBef>
                <a:spcPts val="0"/>
              </a:spcBef>
              <a:spcAft>
                <a:spcPts val="400"/>
              </a:spcAft>
            </a:pPr>
            <a:r>
              <a:rPr sz="1600" b="1">
                <a:solidFill>
                  <a:srgbClr val="1F6FEB"/>
                </a:solidFill>
                <a:latin typeface="Arial"/>
              </a:rPr>
              <a:t>CMD</a:t>
            </a:r>
          </a:p>
        </p:txBody>
      </p:sp>
      <p:sp>
        <p:nvSpPr>
          <p:cNvPr id="10" name="TextBox 9"/>
          <p:cNvSpPr txBox="1"/>
          <p:nvPr/>
        </p:nvSpPr>
        <p:spPr>
          <a:xfrm>
            <a:off x="6583680" y="1965960"/>
            <a:ext cx="4572000" cy="365760"/>
          </a:xfrm>
          <a:prstGeom prst="rect">
            <a:avLst/>
          </a:prstGeom>
          <a:noFill/>
        </p:spPr>
        <p:txBody>
          <a:bodyPr wrap="square" anchor="t" lIns="0" rIns="0" tIns="0" bIns="0">
            <a:spAutoFit/>
          </a:bodyPr>
          <a:lstStyle/>
          <a:p>
            <a:pPr algn="l">
              <a:spcBef>
                <a:spcPts val="0"/>
              </a:spcBef>
              <a:spcAft>
                <a:spcPts val="400"/>
              </a:spcAft>
            </a:pPr>
            <a:r>
              <a:rPr sz="1600" b="1">
                <a:solidFill>
                  <a:srgbClr val="10B981"/>
                </a:solidFill>
                <a:latin typeface="Arial"/>
              </a:rPr>
              <a:t>ENTRYPOINT</a:t>
            </a:r>
          </a:p>
        </p:txBody>
      </p:sp>
      <p:sp>
        <p:nvSpPr>
          <p:cNvPr id="11" name="TextBox 10"/>
          <p:cNvSpPr txBox="1"/>
          <p:nvPr/>
        </p:nvSpPr>
        <p:spPr>
          <a:xfrm>
            <a:off x="1005840" y="2468880"/>
            <a:ext cx="4754880" cy="3474720"/>
          </a:xfrm>
          <a:prstGeom prst="rect">
            <a:avLst/>
          </a:prstGeom>
          <a:noFill/>
        </p:spPr>
        <p:txBody>
          <a:bodyPr wrap="square" lIns="0" rIns="0">
            <a:spAutoFit/>
          </a:bodyPr>
          <a:lstStyle/>
          <a:p>
            <a:pPr>
              <a:spcBef>
                <a:spcPts val="0"/>
              </a:spcBef>
              <a:spcAft>
                <a:spcPts val="1000"/>
              </a:spcAft>
            </a:pPr>
            <a:r>
              <a:rPr sz="1600" b="1">
                <a:solidFill>
                  <a:srgbClr val="1F6FEB"/>
                </a:solidFill>
                <a:latin typeface="Arial"/>
              </a:rPr>
              <a:t>•  </a:t>
            </a:r>
            <a:r>
              <a:rPr sz="1600">
                <a:solidFill>
                  <a:srgbClr val="161B26"/>
                </a:solidFill>
                <a:latin typeface="Arial"/>
              </a:rPr>
              <a:t>Default command — overridable</a:t>
            </a:r>
          </a:p>
          <a:p>
            <a:pPr>
              <a:spcBef>
                <a:spcPts val="0"/>
              </a:spcBef>
              <a:spcAft>
                <a:spcPts val="1000"/>
              </a:spcAft>
            </a:pPr>
            <a:r>
              <a:rPr sz="1600" b="1">
                <a:solidFill>
                  <a:srgbClr val="1F6FEB"/>
                </a:solidFill>
                <a:latin typeface="Arial"/>
              </a:rPr>
              <a:t>•  </a:t>
            </a:r>
            <a:r>
              <a:rPr sz="1600">
                <a:solidFill>
                  <a:srgbClr val="161B26"/>
                </a:solidFill>
                <a:latin typeface="Arial"/>
              </a:rPr>
              <a:t>CMD ["python","app.py"]</a:t>
            </a:r>
          </a:p>
          <a:p>
            <a:pPr>
              <a:spcBef>
                <a:spcPts val="0"/>
              </a:spcBef>
              <a:spcAft>
                <a:spcPts val="1000"/>
              </a:spcAft>
            </a:pPr>
            <a:r>
              <a:rPr sz="1600" b="1">
                <a:solidFill>
                  <a:srgbClr val="1F6FEB"/>
                </a:solidFill>
                <a:latin typeface="Arial"/>
              </a:rPr>
              <a:t>•  </a:t>
            </a:r>
            <a:r>
              <a:rPr sz="1600">
                <a:solidFill>
                  <a:srgbClr val="161B26"/>
                </a:solidFill>
                <a:latin typeface="Arial"/>
              </a:rPr>
              <a:t>Override: docker run img bash</a:t>
            </a:r>
          </a:p>
          <a:p>
            <a:pPr>
              <a:spcBef>
                <a:spcPts val="0"/>
              </a:spcBef>
              <a:spcAft>
                <a:spcPts val="1000"/>
              </a:spcAft>
            </a:pPr>
            <a:r>
              <a:rPr sz="1600" b="1">
                <a:solidFill>
                  <a:srgbClr val="1F6FEB"/>
                </a:solidFill>
                <a:latin typeface="Arial"/>
              </a:rPr>
              <a:t>•  </a:t>
            </a:r>
            <a:r>
              <a:rPr sz="1600">
                <a:solidFill>
                  <a:srgbClr val="161B26"/>
                </a:solidFill>
                <a:latin typeface="Arial"/>
              </a:rPr>
              <a:t>Use for a replaceable default</a:t>
            </a:r>
          </a:p>
        </p:txBody>
      </p:sp>
      <p:sp>
        <p:nvSpPr>
          <p:cNvPr id="12" name="TextBox 11"/>
          <p:cNvSpPr txBox="1"/>
          <p:nvPr/>
        </p:nvSpPr>
        <p:spPr>
          <a:xfrm>
            <a:off x="6583680" y="2468880"/>
            <a:ext cx="4617720" cy="3474720"/>
          </a:xfrm>
          <a:prstGeom prst="rect">
            <a:avLst/>
          </a:prstGeom>
          <a:noFill/>
        </p:spPr>
        <p:txBody>
          <a:bodyPr wrap="square" lIns="0" rIns="0">
            <a:spAutoFit/>
          </a:bodyPr>
          <a:lstStyle/>
          <a:p>
            <a:pPr>
              <a:spcBef>
                <a:spcPts val="0"/>
              </a:spcBef>
              <a:spcAft>
                <a:spcPts val="1000"/>
              </a:spcAft>
            </a:pPr>
            <a:r>
              <a:rPr sz="1600" b="1">
                <a:solidFill>
                  <a:srgbClr val="10B981"/>
                </a:solidFill>
                <a:latin typeface="Arial"/>
              </a:rPr>
              <a:t>•  </a:t>
            </a:r>
            <a:r>
              <a:rPr sz="1600">
                <a:solidFill>
                  <a:srgbClr val="161B26"/>
                </a:solidFill>
                <a:latin typeface="Arial"/>
              </a:rPr>
              <a:t>Fixed executable — args appended</a:t>
            </a:r>
          </a:p>
          <a:p>
            <a:pPr>
              <a:spcBef>
                <a:spcPts val="0"/>
              </a:spcBef>
              <a:spcAft>
                <a:spcPts val="1000"/>
              </a:spcAft>
            </a:pPr>
            <a:r>
              <a:rPr sz="1600" b="1">
                <a:solidFill>
                  <a:srgbClr val="10B981"/>
                </a:solidFill>
                <a:latin typeface="Arial"/>
              </a:rPr>
              <a:t>•  </a:t>
            </a:r>
            <a:r>
              <a:rPr sz="1600">
                <a:solidFill>
                  <a:srgbClr val="161B26"/>
                </a:solidFill>
                <a:latin typeface="Arial"/>
              </a:rPr>
              <a:t>ENTRYPOINT ["python","cli.py"]</a:t>
            </a:r>
          </a:p>
          <a:p>
            <a:pPr>
              <a:spcBef>
                <a:spcPts val="0"/>
              </a:spcBef>
              <a:spcAft>
                <a:spcPts val="1000"/>
              </a:spcAft>
            </a:pPr>
            <a:r>
              <a:rPr sz="1600" b="1">
                <a:solidFill>
                  <a:srgbClr val="10B981"/>
                </a:solidFill>
                <a:latin typeface="Arial"/>
              </a:rPr>
              <a:t>•  </a:t>
            </a:r>
            <a:r>
              <a:rPr sz="1600">
                <a:solidFill>
                  <a:srgbClr val="161B26"/>
                </a:solidFill>
                <a:latin typeface="Arial"/>
              </a:rPr>
              <a:t>CMD ["list"]  → default arg</a:t>
            </a:r>
          </a:p>
          <a:p>
            <a:pPr>
              <a:spcBef>
                <a:spcPts val="0"/>
              </a:spcBef>
              <a:spcAft>
                <a:spcPts val="1000"/>
              </a:spcAft>
            </a:pPr>
            <a:r>
              <a:rPr sz="1600" b="1">
                <a:solidFill>
                  <a:srgbClr val="10B981"/>
                </a:solidFill>
                <a:latin typeface="Arial"/>
              </a:rPr>
              <a:t>•  </a:t>
            </a:r>
            <a:r>
              <a:rPr sz="1600">
                <a:solidFill>
                  <a:srgbClr val="161B26"/>
                </a:solidFill>
                <a:latin typeface="Arial"/>
              </a:rPr>
              <a:t>Use when the image IS a tool</a:t>
            </a:r>
          </a:p>
        </p:txBody>
      </p:sp>
      <p:sp>
        <p:nvSpPr>
          <p:cNvPr id="13" name="TextBox 12"/>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4" name="TextBox 13"/>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5" name="TextBox 14"/>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29</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DAY 1 · DOCKERFILE &amp; BUILD</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Build the TaskBoard Image with a Dockerfile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69164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69164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LAB 3</a:t>
            </a:r>
          </a:p>
        </p:txBody>
      </p:sp>
      <p:sp>
        <p:nvSpPr>
          <p:cNvPr id="9" name="TextBox 8"/>
          <p:cNvSpPr txBox="1"/>
          <p:nvPr/>
        </p:nvSpPr>
        <p:spPr>
          <a:xfrm>
            <a:off x="2697480" y="1691640"/>
            <a:ext cx="8778240" cy="411480"/>
          </a:xfrm>
          <a:prstGeom prst="rect">
            <a:avLst/>
          </a:prstGeom>
          <a:noFill/>
        </p:spPr>
        <p:txBody>
          <a:bodyPr wrap="square" anchor="ctr" lIns="0" rIns="0" tIns="0" bIns="0">
            <a:spAutoFit/>
          </a:bodyPr>
          <a:lstStyle/>
          <a:p>
            <a:pPr algn="l">
              <a:spcBef>
                <a:spcPts val="0"/>
              </a:spcBef>
              <a:spcAft>
                <a:spcPts val="400"/>
              </a:spcAft>
            </a:pPr>
            <a:r>
              <a:rPr sz="1400" b="1">
                <a:solidFill>
                  <a:srgbClr val="5B6372"/>
                </a:solidFill>
                <a:latin typeface="Arial"/>
              </a:rPr>
              <a:t>Docker Build / Dockerfile</a:t>
            </a:r>
          </a:p>
        </p:txBody>
      </p:sp>
      <p:sp>
        <p:nvSpPr>
          <p:cNvPr id="10" name="TextBox 9"/>
          <p:cNvSpPr txBox="1"/>
          <p:nvPr/>
        </p:nvSpPr>
        <p:spPr>
          <a:xfrm>
            <a:off x="777240" y="2286000"/>
            <a:ext cx="10698480" cy="1554480"/>
          </a:xfrm>
          <a:prstGeom prst="rect">
            <a:avLst/>
          </a:prstGeom>
          <a:noFill/>
        </p:spPr>
        <p:txBody>
          <a:bodyPr wrap="square" anchor="t" lIns="0" rIns="0" tIns="0" bIns="0">
            <a:spAutoFit/>
          </a:bodyPr>
          <a:lstStyle/>
          <a:p>
            <a:pPr algn="l">
              <a:spcBef>
                <a:spcPts val="0"/>
              </a:spcBef>
              <a:spcAft>
                <a:spcPts val="400"/>
              </a:spcAft>
            </a:pPr>
            <a:r>
              <a:rPr sz="1900" b="0">
                <a:solidFill>
                  <a:srgbClr val="161B26"/>
                </a:solidFill>
                <a:latin typeface="Arial"/>
              </a:rPr>
              <a:t>Package a real application — the TaskBoard Flask web app — into your own Docker image using a Dockerfile, then run it as a container. This image is reused by several later labs.</a:t>
            </a:r>
          </a:p>
        </p:txBody>
      </p:sp>
      <p:sp>
        <p:nvSpPr>
          <p:cNvPr id="11" name="Rounded Rectangle 10"/>
          <p:cNvSpPr/>
          <p:nvPr/>
        </p:nvSpPr>
        <p:spPr>
          <a:xfrm>
            <a:off x="777240" y="4069080"/>
            <a:ext cx="10698480" cy="178308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25196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3" name="TextBox 12"/>
          <p:cNvSpPr txBox="1"/>
          <p:nvPr/>
        </p:nvSpPr>
        <p:spPr>
          <a:xfrm>
            <a:off x="1005840" y="4617720"/>
            <a:ext cx="10241280" cy="640080"/>
          </a:xfrm>
          <a:prstGeom prst="rect">
            <a:avLst/>
          </a:prstGeom>
          <a:noFill/>
        </p:spPr>
        <p:txBody>
          <a:bodyPr wrap="square" anchor="t" lIns="0" rIns="0" tIns="0" bIns="0">
            <a:spAutoFit/>
          </a:bodyPr>
          <a:lstStyle/>
          <a:p>
            <a:pPr algn="l">
              <a:spcBef>
                <a:spcPts val="0"/>
              </a:spcBef>
              <a:spcAft>
                <a:spcPts val="400"/>
              </a:spcAft>
            </a:pPr>
            <a:r>
              <a:rPr sz="1700" b="1">
                <a:solidFill>
                  <a:srgbClr val="161B26"/>
                </a:solidFill>
                <a:latin typeface="Arial"/>
              </a:rPr>
              <a:t>Write a Dockerfile for the TaskBoard Flask app, build it, and run the container.</a:t>
            </a:r>
          </a:p>
        </p:txBody>
      </p:sp>
      <p:sp>
        <p:nvSpPr>
          <p:cNvPr id="14" name="TextBox 13"/>
          <p:cNvSpPr txBox="1"/>
          <p:nvPr/>
        </p:nvSpPr>
        <p:spPr>
          <a:xfrm>
            <a:off x="1005840" y="53492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commands:  </a:t>
            </a:r>
            <a:r>
              <a:rPr sz="1300" b="0">
                <a:solidFill>
                  <a:srgbClr val="5B6372"/>
                </a:solidFill>
                <a:latin typeface="Arial"/>
              </a:rPr>
              <a:t>FROM python:3.11-slim · docker build · docker run · » Tag</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30</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3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Build the TaskBoard Image with a Dockerfile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What's in the folder</a:t>
            </a:r>
          </a:p>
        </p:txBody>
      </p:sp>
      <p:sp>
        <p:nvSpPr>
          <p:cNvPr id="8" name="Rounded Rectangle 7"/>
          <p:cNvSpPr/>
          <p:nvPr/>
        </p:nvSpPr>
        <p:spPr>
          <a:xfrm>
            <a:off x="777240" y="2075688"/>
            <a:ext cx="10652760" cy="1458467"/>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145846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1367027"/>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FROM python:3.11-slim</a:t>
            </a:r>
          </a:p>
          <a:p>
            <a:pPr>
              <a:spcBef>
                <a:spcPts val="0"/>
              </a:spcBef>
              <a:spcAft>
                <a:spcPts val="0"/>
              </a:spcAft>
            </a:pPr>
            <a:r>
              <a:rPr sz="1050">
                <a:solidFill>
                  <a:srgbClr val="161B26"/>
                </a:solidFill>
                <a:latin typeface="Consolas"/>
              </a:rPr>
              <a:t>WORKDIR /app</a:t>
            </a:r>
          </a:p>
          <a:p>
            <a:pPr>
              <a:spcBef>
                <a:spcPts val="0"/>
              </a:spcBef>
              <a:spcAft>
                <a:spcPts val="0"/>
              </a:spcAft>
            </a:pPr>
            <a:r>
              <a:rPr sz="1050">
                <a:solidFill>
                  <a:srgbClr val="161B26"/>
                </a:solidFill>
                <a:latin typeface="Consolas"/>
              </a:rPr>
              <a:t>COPY requirements.txt .</a:t>
            </a:r>
          </a:p>
          <a:p>
            <a:pPr>
              <a:spcBef>
                <a:spcPts val="0"/>
              </a:spcBef>
              <a:spcAft>
                <a:spcPts val="0"/>
              </a:spcAft>
            </a:pPr>
            <a:r>
              <a:rPr sz="1050">
                <a:solidFill>
                  <a:srgbClr val="161B26"/>
                </a:solidFill>
                <a:latin typeface="Consolas"/>
              </a:rPr>
              <a:t>RUN pip install --no-cache-dir -r requirements.txt</a:t>
            </a:r>
          </a:p>
          <a:p>
            <a:pPr>
              <a:spcBef>
                <a:spcPts val="0"/>
              </a:spcBef>
              <a:spcAft>
                <a:spcPts val="0"/>
              </a:spcAft>
            </a:pPr>
            <a:r>
              <a:rPr sz="1050">
                <a:solidFill>
                  <a:srgbClr val="161B26"/>
                </a:solidFill>
                <a:latin typeface="Consolas"/>
              </a:rPr>
              <a:t>COPY . .</a:t>
            </a:r>
          </a:p>
          <a:p>
            <a:pPr>
              <a:spcBef>
                <a:spcPts val="0"/>
              </a:spcBef>
              <a:spcAft>
                <a:spcPts val="0"/>
              </a:spcAft>
            </a:pPr>
            <a:r>
              <a:rPr sz="1050">
                <a:solidFill>
                  <a:srgbClr val="161B26"/>
                </a:solidFill>
                <a:latin typeface="Consolas"/>
              </a:rPr>
              <a:t>EXPOSE 5000</a:t>
            </a:r>
          </a:p>
          <a:p>
            <a:pPr>
              <a:spcBef>
                <a:spcPts val="0"/>
              </a:spcBef>
              <a:spcAft>
                <a:spcPts val="0"/>
              </a:spcAft>
            </a:pPr>
            <a:r>
              <a:rPr sz="1050">
                <a:solidFill>
                  <a:srgbClr val="161B26"/>
                </a:solidFill>
                <a:latin typeface="Consolas"/>
              </a:rPr>
              <a:t>CMD ["python", "app.py"]</a:t>
            </a:r>
          </a:p>
        </p:txBody>
      </p:sp>
      <p:sp>
        <p:nvSpPr>
          <p:cNvPr id="11" name="TextBox 10"/>
          <p:cNvSpPr txBox="1"/>
          <p:nvPr/>
        </p:nvSpPr>
        <p:spPr>
          <a:xfrm>
            <a:off x="777240" y="3717035"/>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Build the image</a:t>
            </a:r>
          </a:p>
        </p:txBody>
      </p:sp>
      <p:sp>
        <p:nvSpPr>
          <p:cNvPr id="12" name="Rounded Rectangle 11"/>
          <p:cNvSpPr/>
          <p:nvPr/>
        </p:nvSpPr>
        <p:spPr>
          <a:xfrm>
            <a:off x="777240" y="4101083"/>
            <a:ext cx="10652760" cy="521207"/>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101083"/>
            <a:ext cx="82296" cy="52120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165091"/>
            <a:ext cx="10323576" cy="429767"/>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docker build -t taskboard:1.0 .</a:t>
            </a:r>
          </a:p>
          <a:p>
            <a:pPr>
              <a:spcBef>
                <a:spcPts val="0"/>
              </a:spcBef>
              <a:spcAft>
                <a:spcPts val="0"/>
              </a:spcAft>
            </a:pPr>
            <a:r>
              <a:rPr sz="1050">
                <a:solidFill>
                  <a:srgbClr val="161B26"/>
                </a:solidFill>
                <a:latin typeface="Consolas"/>
              </a:rPr>
              <a:t>docker images | grep taskboard</a:t>
            </a:r>
          </a:p>
        </p:txBody>
      </p:sp>
      <p:sp>
        <p:nvSpPr>
          <p:cNvPr id="15" name="TextBox 14"/>
          <p:cNvSpPr txBox="1"/>
          <p:nvPr/>
        </p:nvSpPr>
        <p:spPr>
          <a:xfrm>
            <a:off x="777240" y="480517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Run the container</a:t>
            </a:r>
          </a:p>
        </p:txBody>
      </p:sp>
      <p:sp>
        <p:nvSpPr>
          <p:cNvPr id="16" name="Rounded Rectangle 15"/>
          <p:cNvSpPr/>
          <p:nvPr/>
        </p:nvSpPr>
        <p:spPr>
          <a:xfrm>
            <a:off x="777240" y="5189218"/>
            <a:ext cx="10652760" cy="708660"/>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5189218"/>
            <a:ext cx="82296" cy="7086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96696" y="5253226"/>
            <a:ext cx="10323576" cy="617220"/>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docker run -d --name taskboard -p 8080:5000 taskboard:1.0</a:t>
            </a:r>
          </a:p>
          <a:p>
            <a:pPr>
              <a:spcBef>
                <a:spcPts val="0"/>
              </a:spcBef>
              <a:spcAft>
                <a:spcPts val="0"/>
              </a:spcAft>
            </a:pPr>
            <a:r>
              <a:rPr sz="1050">
                <a:solidFill>
                  <a:srgbClr val="161B26"/>
                </a:solidFill>
                <a:latin typeface="Consolas"/>
              </a:rPr>
              <a:t>curl http://localhost:8080/health</a:t>
            </a:r>
          </a:p>
          <a:p>
            <a:pPr>
              <a:spcBef>
                <a:spcPts val="0"/>
              </a:spcBef>
              <a:spcAft>
                <a:spcPts val="0"/>
              </a:spcAft>
            </a:pPr>
            <a:r>
              <a:rPr sz="1050">
                <a:solidFill>
                  <a:srgbClr val="161B26"/>
                </a:solidFill>
                <a:latin typeface="Consolas"/>
              </a:rPr>
              <a:t># open http://localhost:8080 and add a few tasks</a:t>
            </a:r>
          </a:p>
        </p:txBody>
      </p:sp>
      <p:sp>
        <p:nvSpPr>
          <p:cNvPr id="19" name="TextBox 1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20" name="TextBox 1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1" name="TextBox 2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31</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3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Build the TaskBoard Image with a Dockerfile (cont.)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Watch the build cache</a:t>
            </a:r>
          </a:p>
        </p:txBody>
      </p:sp>
      <p:sp>
        <p:nvSpPr>
          <p:cNvPr id="8" name="Rounded Rectangle 7"/>
          <p:cNvSpPr/>
          <p:nvPr/>
        </p:nvSpPr>
        <p:spPr>
          <a:xfrm>
            <a:off x="777240" y="2075688"/>
            <a:ext cx="10652760" cy="521207"/>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52120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429767"/>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docker build -t taskboard:1.0 .</a:t>
            </a:r>
          </a:p>
          <a:p>
            <a:pPr>
              <a:spcBef>
                <a:spcPts val="0"/>
              </a:spcBef>
              <a:spcAft>
                <a:spcPts val="0"/>
              </a:spcAft>
            </a:pPr>
            <a:r>
              <a:rPr sz="1050">
                <a:solidFill>
                  <a:srgbClr val="161B26"/>
                </a:solidFill>
                <a:latin typeface="Consolas"/>
              </a:rPr>
              <a:t>docker rm -f taskboard</a:t>
            </a:r>
          </a:p>
        </p:txBody>
      </p:sp>
      <p:sp>
        <p:nvSpPr>
          <p:cNvPr id="11" name="TextBox 10"/>
          <p:cNvSpPr txBox="1"/>
          <p:nvPr/>
        </p:nvSpPr>
        <p:spPr>
          <a:xfrm>
            <a:off x="777240" y="2779775"/>
            <a:ext cx="10652760"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Note   </a:t>
            </a:r>
            <a:r>
              <a:rPr sz="1300" b="0">
                <a:solidFill>
                  <a:srgbClr val="5B6372"/>
                </a:solidFill>
                <a:latin typeface="Arial"/>
              </a:rPr>
              <a:t>Tag images with a name and version (taskboard:1.0) so you can roll forward/back later — exactly what you'll do in the Kubernetes rollout lab.</a:t>
            </a:r>
          </a:p>
        </p:txBody>
      </p:sp>
      <p:sp>
        <p:nvSpPr>
          <p:cNvPr id="12" name="TextBox 11"/>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3" name="TextBox 12"/>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4" name="TextBox 13"/>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32</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3  ·  TEST IT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Build the TaskBoard Image with a Dockerfile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10698480" cy="2560320"/>
          </a:xfrm>
          <a:prstGeom prst="roundRect">
            <a:avLst>
              <a:gd name="adj" fmla="val 5000"/>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200" b="1">
                <a:solidFill>
                  <a:srgbClr val="127A3E"/>
                </a:solidFill>
                <a:latin typeface="Arial"/>
              </a:rPr>
              <a:t>✅  Test it</a:t>
            </a:r>
          </a:p>
        </p:txBody>
      </p:sp>
      <p:sp>
        <p:nvSpPr>
          <p:cNvPr id="9" name="TextBox 8"/>
          <p:cNvSpPr txBox="1"/>
          <p:nvPr/>
        </p:nvSpPr>
        <p:spPr>
          <a:xfrm>
            <a:off x="1097280" y="3017520"/>
            <a:ext cx="10149840" cy="146304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curl http://localhost:8080/health returns {"status": "ok", ...} and the board at http://localhost:8080 lets you add a task that appears in the list.</a:t>
            </a:r>
          </a:p>
        </p:txBody>
      </p:sp>
      <p:sp>
        <p:nvSpPr>
          <p:cNvPr id="10" name="TextBox 9"/>
          <p:cNvSpPr txBox="1"/>
          <p:nvPr/>
        </p:nvSpPr>
        <p:spPr>
          <a:xfrm>
            <a:off x="777240" y="4983480"/>
            <a:ext cx="10698480" cy="365760"/>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KillerCoda:  </a:t>
            </a:r>
            <a:r>
              <a:rPr sz="1300" b="0">
                <a:solidFill>
                  <a:srgbClr val="5B6372"/>
                </a:solidFill>
                <a:latin typeface="Arial"/>
              </a:rPr>
              <a:t>https://killercoda.com/tertiary-labs/course/killercoda/day1-01-docker-fundamentals</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33</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DAY 1 · DOCKERFILE &amp; BUILD</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Dockerfile Best Practices — .dockerignore &amp; layer caching</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69164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69164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LAB 4</a:t>
            </a:r>
          </a:p>
        </p:txBody>
      </p:sp>
      <p:sp>
        <p:nvSpPr>
          <p:cNvPr id="9" name="TextBox 8"/>
          <p:cNvSpPr txBox="1"/>
          <p:nvPr/>
        </p:nvSpPr>
        <p:spPr>
          <a:xfrm>
            <a:off x="2697480" y="1691640"/>
            <a:ext cx="8778240" cy="411480"/>
          </a:xfrm>
          <a:prstGeom prst="rect">
            <a:avLst/>
          </a:prstGeom>
          <a:noFill/>
        </p:spPr>
        <p:txBody>
          <a:bodyPr wrap="square" anchor="ctr" lIns="0" rIns="0" tIns="0" bIns="0">
            <a:spAutoFit/>
          </a:bodyPr>
          <a:lstStyle/>
          <a:p>
            <a:pPr algn="l">
              <a:spcBef>
                <a:spcPts val="0"/>
              </a:spcBef>
              <a:spcAft>
                <a:spcPts val="400"/>
              </a:spcAft>
            </a:pPr>
            <a:r>
              <a:rPr sz="1400" b="1">
                <a:solidFill>
                  <a:srgbClr val="5B6372"/>
                </a:solidFill>
                <a:latin typeface="Arial"/>
              </a:rPr>
              <a:t>Dockerfile best practices</a:t>
            </a:r>
          </a:p>
        </p:txBody>
      </p:sp>
      <p:sp>
        <p:nvSpPr>
          <p:cNvPr id="10" name="TextBox 9"/>
          <p:cNvSpPr txBox="1"/>
          <p:nvPr/>
        </p:nvSpPr>
        <p:spPr>
          <a:xfrm>
            <a:off x="777240" y="2286000"/>
            <a:ext cx="10698480" cy="1554480"/>
          </a:xfrm>
          <a:prstGeom prst="rect">
            <a:avLst/>
          </a:prstGeom>
          <a:noFill/>
        </p:spPr>
        <p:txBody>
          <a:bodyPr wrap="square" anchor="t" lIns="0" rIns="0" tIns="0" bIns="0">
            <a:spAutoFit/>
          </a:bodyPr>
          <a:lstStyle/>
          <a:p>
            <a:pPr algn="l">
              <a:spcBef>
                <a:spcPts val="0"/>
              </a:spcBef>
              <a:spcAft>
                <a:spcPts val="400"/>
              </a:spcAft>
            </a:pPr>
            <a:r>
              <a:rPr sz="1900" b="0">
                <a:solidFill>
                  <a:srgbClr val="161B26"/>
                </a:solidFill>
                <a:latin typeface="Arial"/>
              </a:rPr>
              <a:t>Make the TaskBoard image smaller and faster to build. You'll add a .dockerignore, order instructions for maximum cache reuse, and compare image sizes.</a:t>
            </a:r>
          </a:p>
        </p:txBody>
      </p:sp>
      <p:sp>
        <p:nvSpPr>
          <p:cNvPr id="11" name="Rounded Rectangle 10"/>
          <p:cNvSpPr/>
          <p:nvPr/>
        </p:nvSpPr>
        <p:spPr>
          <a:xfrm>
            <a:off x="777240" y="4069080"/>
            <a:ext cx="10698480" cy="178308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25196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3" name="TextBox 12"/>
          <p:cNvSpPr txBox="1"/>
          <p:nvPr/>
        </p:nvSpPr>
        <p:spPr>
          <a:xfrm>
            <a:off x="1005840" y="4617720"/>
            <a:ext cx="10241280" cy="640080"/>
          </a:xfrm>
          <a:prstGeom prst="rect">
            <a:avLst/>
          </a:prstGeom>
          <a:noFill/>
        </p:spPr>
        <p:txBody>
          <a:bodyPr wrap="square" anchor="t" lIns="0" rIns="0" tIns="0" bIns="0">
            <a:spAutoFit/>
          </a:bodyPr>
          <a:lstStyle/>
          <a:p>
            <a:pPr algn="l">
              <a:spcBef>
                <a:spcPts val="0"/>
              </a:spcBef>
              <a:spcAft>
                <a:spcPts val="400"/>
              </a:spcAft>
            </a:pPr>
            <a:r>
              <a:rPr sz="1700" b="1">
                <a:solidFill>
                  <a:srgbClr val="161B26"/>
                </a:solidFill>
                <a:latin typeface="Arial"/>
              </a:rPr>
              <a:t>Add a .dockerignore and cache-friendly layer ordering to slim the TaskBoard build.</a:t>
            </a:r>
          </a:p>
        </p:txBody>
      </p:sp>
      <p:sp>
        <p:nvSpPr>
          <p:cNvPr id="14" name="TextBox 13"/>
          <p:cNvSpPr txBox="1"/>
          <p:nvPr/>
        </p:nvSpPr>
        <p:spPr>
          <a:xfrm>
            <a:off x="1005840" y="53492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commands:  </a:t>
            </a:r>
            <a:r>
              <a:rPr sz="1300" b="0">
                <a:solidFill>
                  <a:srgbClr val="5B6372"/>
                </a:solidFill>
                <a:latin typeface="Arial"/>
              </a:rPr>
              <a:t>__pycache__/ · COPY requirements.txt · docker build · » `python:3.11-slim`</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34</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4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Dockerfile Best Practices — .dockerignore &amp; layer caching</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Why .dockerignore</a:t>
            </a:r>
          </a:p>
        </p:txBody>
      </p:sp>
      <p:sp>
        <p:nvSpPr>
          <p:cNvPr id="8" name="Rounded Rectangle 7"/>
          <p:cNvSpPr/>
          <p:nvPr/>
        </p:nvSpPr>
        <p:spPr>
          <a:xfrm>
            <a:off x="777240" y="2075688"/>
            <a:ext cx="10652760" cy="1271016"/>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127101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1179576"/>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__pycache__/</a:t>
            </a:r>
          </a:p>
          <a:p>
            <a:pPr>
              <a:spcBef>
                <a:spcPts val="0"/>
              </a:spcBef>
              <a:spcAft>
                <a:spcPts val="0"/>
              </a:spcAft>
            </a:pPr>
            <a:r>
              <a:rPr sz="1050">
                <a:solidFill>
                  <a:srgbClr val="161B26"/>
                </a:solidFill>
                <a:latin typeface="Consolas"/>
              </a:rPr>
              <a:t>*.pyc</a:t>
            </a:r>
          </a:p>
          <a:p>
            <a:pPr>
              <a:spcBef>
                <a:spcPts val="0"/>
              </a:spcBef>
              <a:spcAft>
                <a:spcPts val="0"/>
              </a:spcAft>
            </a:pPr>
            <a:r>
              <a:rPr sz="1050">
                <a:solidFill>
                  <a:srgbClr val="161B26"/>
                </a:solidFill>
                <a:latin typeface="Consolas"/>
              </a:rPr>
              <a:t>data/</a:t>
            </a:r>
          </a:p>
          <a:p>
            <a:pPr>
              <a:spcBef>
                <a:spcPts val="0"/>
              </a:spcBef>
              <a:spcAft>
                <a:spcPts val="0"/>
              </a:spcAft>
            </a:pPr>
            <a:r>
              <a:rPr sz="1050">
                <a:solidFill>
                  <a:srgbClr val="161B26"/>
                </a:solidFill>
                <a:latin typeface="Consolas"/>
              </a:rPr>
              <a:t>.git/</a:t>
            </a:r>
          </a:p>
          <a:p>
            <a:pPr>
              <a:spcBef>
                <a:spcPts val="0"/>
              </a:spcBef>
              <a:spcAft>
                <a:spcPts val="0"/>
              </a:spcAft>
            </a:pPr>
            <a:r>
              <a:rPr sz="1050">
                <a:solidFill>
                  <a:srgbClr val="161B26"/>
                </a:solidFill>
                <a:latin typeface="Consolas"/>
              </a:rPr>
              <a:t>.env</a:t>
            </a:r>
          </a:p>
          <a:p>
            <a:pPr>
              <a:spcBef>
                <a:spcPts val="0"/>
              </a:spcBef>
              <a:spcAft>
                <a:spcPts val="0"/>
              </a:spcAft>
            </a:pPr>
            <a:r>
              <a:rPr sz="1050">
                <a:solidFill>
                  <a:srgbClr val="161B26"/>
                </a:solidFill>
                <a:latin typeface="Consolas"/>
              </a:rPr>
              <a:t>*.md</a:t>
            </a:r>
          </a:p>
        </p:txBody>
      </p:sp>
      <p:sp>
        <p:nvSpPr>
          <p:cNvPr id="11" name="TextBox 10"/>
          <p:cNvSpPr txBox="1"/>
          <p:nvPr/>
        </p:nvSpPr>
        <p:spPr>
          <a:xfrm>
            <a:off x="777240" y="3529584"/>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Cache-friendly ordering</a:t>
            </a:r>
          </a:p>
        </p:txBody>
      </p:sp>
      <p:sp>
        <p:nvSpPr>
          <p:cNvPr id="12" name="Rounded Rectangle 11"/>
          <p:cNvSpPr/>
          <p:nvPr/>
        </p:nvSpPr>
        <p:spPr>
          <a:xfrm>
            <a:off x="777240" y="3913632"/>
            <a:ext cx="10652760" cy="708660"/>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913632"/>
            <a:ext cx="82296" cy="7086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3977640"/>
            <a:ext cx="10323576" cy="617220"/>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COPY requirements.txt .</a:t>
            </a:r>
          </a:p>
          <a:p>
            <a:pPr>
              <a:spcBef>
                <a:spcPts val="0"/>
              </a:spcBef>
              <a:spcAft>
                <a:spcPts val="0"/>
              </a:spcAft>
            </a:pPr>
            <a:r>
              <a:rPr sz="1050">
                <a:solidFill>
                  <a:srgbClr val="161B26"/>
                </a:solidFill>
                <a:latin typeface="Consolas"/>
              </a:rPr>
              <a:t>RUN pip install --no-cache-dir -r requirements.txt</a:t>
            </a:r>
          </a:p>
          <a:p>
            <a:pPr>
              <a:spcBef>
                <a:spcPts val="0"/>
              </a:spcBef>
              <a:spcAft>
                <a:spcPts val="0"/>
              </a:spcAft>
            </a:pPr>
            <a:r>
              <a:rPr sz="1050">
                <a:solidFill>
                  <a:srgbClr val="161B26"/>
                </a:solidFill>
                <a:latin typeface="Consolas"/>
              </a:rPr>
              <a:t>COPY . .</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35</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4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Dockerfile Best Practices — .dockerignore &amp; layer caching (cont.)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Build and compare</a:t>
            </a:r>
          </a:p>
        </p:txBody>
      </p:sp>
      <p:sp>
        <p:nvSpPr>
          <p:cNvPr id="8" name="Rounded Rectangle 7"/>
          <p:cNvSpPr/>
          <p:nvPr/>
        </p:nvSpPr>
        <p:spPr>
          <a:xfrm>
            <a:off x="777240" y="2075688"/>
            <a:ext cx="10652760" cy="896112"/>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804672"/>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docker build -t taskboard:slim .</a:t>
            </a:r>
          </a:p>
          <a:p>
            <a:pPr>
              <a:spcBef>
                <a:spcPts val="0"/>
              </a:spcBef>
              <a:spcAft>
                <a:spcPts val="0"/>
              </a:spcAft>
            </a:pPr>
            <a:r>
              <a:rPr sz="1050">
                <a:solidFill>
                  <a:srgbClr val="161B26"/>
                </a:solidFill>
                <a:latin typeface="Consolas"/>
              </a:rPr>
              <a:t>docker images taskboard</a:t>
            </a:r>
          </a:p>
          <a:p>
            <a:pPr>
              <a:spcBef>
                <a:spcPts val="0"/>
              </a:spcBef>
              <a:spcAft>
                <a:spcPts val="0"/>
              </a:spcAft>
            </a:pPr>
            <a:r>
              <a:rPr sz="1050">
                <a:solidFill>
                  <a:srgbClr val="161B26"/>
                </a:solidFill>
                <a:latin typeface="Consolas"/>
              </a:rPr>
              <a:t># edit app.py, rebuild, and watch most layers say 'CACHED'</a:t>
            </a:r>
          </a:p>
          <a:p>
            <a:pPr>
              <a:spcBef>
                <a:spcPts val="0"/>
              </a:spcBef>
              <a:spcAft>
                <a:spcPts val="0"/>
              </a:spcAft>
            </a:pPr>
            <a:r>
              <a:rPr sz="1050">
                <a:solidFill>
                  <a:srgbClr val="161B26"/>
                </a:solidFill>
                <a:latin typeface="Consolas"/>
              </a:rPr>
              <a:t>docker build -t taskboard:slim .</a:t>
            </a:r>
          </a:p>
        </p:txBody>
      </p:sp>
      <p:sp>
        <p:nvSpPr>
          <p:cNvPr id="11" name="TextBox 10"/>
          <p:cNvSpPr txBox="1"/>
          <p:nvPr/>
        </p:nvSpPr>
        <p:spPr>
          <a:xfrm>
            <a:off x="777240" y="3154680"/>
            <a:ext cx="10652760"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Note   </a:t>
            </a:r>
            <a:r>
              <a:rPr sz="1300" b="0">
                <a:solidFill>
                  <a:srgbClr val="5B6372"/>
                </a:solidFill>
                <a:latin typeface="Arial"/>
              </a:rPr>
              <a:t>python:3.11-slim is already a smaller base than python:3.11. For even smaller images, multi-stage builds copy only the artifacts you need into a fresh final stage.</a:t>
            </a:r>
          </a:p>
        </p:txBody>
      </p:sp>
      <p:sp>
        <p:nvSpPr>
          <p:cNvPr id="12" name="TextBox 11"/>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3" name="TextBox 12"/>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4" name="TextBox 13"/>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36</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4  ·  TEST IT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Dockerfile Best Practices — .dockerignore &amp; layer caching</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10698480" cy="2560320"/>
          </a:xfrm>
          <a:prstGeom prst="roundRect">
            <a:avLst>
              <a:gd name="adj" fmla="val 5000"/>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200" b="1">
                <a:solidFill>
                  <a:srgbClr val="127A3E"/>
                </a:solidFill>
                <a:latin typeface="Arial"/>
              </a:rPr>
              <a:t>✅  Test it</a:t>
            </a:r>
          </a:p>
        </p:txBody>
      </p:sp>
      <p:sp>
        <p:nvSpPr>
          <p:cNvPr id="9" name="TextBox 8"/>
          <p:cNvSpPr txBox="1"/>
          <p:nvPr/>
        </p:nvSpPr>
        <p:spPr>
          <a:xfrm>
            <a:off x="1097280" y="3017520"/>
            <a:ext cx="10149840" cy="146304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The second docker build completes in seconds with most steps showing CACHED, and docker images taskboard shows the image built from the slim base.</a:t>
            </a:r>
          </a:p>
        </p:txBody>
      </p:sp>
      <p:sp>
        <p:nvSpPr>
          <p:cNvPr id="10" name="TextBox 9"/>
          <p:cNvSpPr txBox="1"/>
          <p:nvPr/>
        </p:nvSpPr>
        <p:spPr>
          <a:xfrm>
            <a:off x="777240" y="4983480"/>
            <a:ext cx="10698480" cy="365760"/>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KillerCoda:  </a:t>
            </a:r>
            <a:r>
              <a:rPr sz="1300" b="0">
                <a:solidFill>
                  <a:srgbClr val="5B6372"/>
                </a:solidFill>
                <a:latin typeface="Arial"/>
              </a:rPr>
              <a:t>https://killercoda.com/tertiary-labs/course/killercoda/day1-01-docker-fundamentals</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37</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DAY 1 · CMD vs ENTRYPOINT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CMD vs ENTRYPOINT — the taskboard-cli tool</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69164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69164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LAB 5</a:t>
            </a:r>
          </a:p>
        </p:txBody>
      </p:sp>
      <p:sp>
        <p:nvSpPr>
          <p:cNvPr id="9" name="TextBox 8"/>
          <p:cNvSpPr txBox="1"/>
          <p:nvPr/>
        </p:nvSpPr>
        <p:spPr>
          <a:xfrm>
            <a:off x="2697480" y="1691640"/>
            <a:ext cx="8778240" cy="411480"/>
          </a:xfrm>
          <a:prstGeom prst="rect">
            <a:avLst/>
          </a:prstGeom>
          <a:noFill/>
        </p:spPr>
        <p:txBody>
          <a:bodyPr wrap="square" anchor="ctr" lIns="0" rIns="0" tIns="0" bIns="0">
            <a:spAutoFit/>
          </a:bodyPr>
          <a:lstStyle/>
          <a:p>
            <a:pPr algn="l">
              <a:spcBef>
                <a:spcPts val="0"/>
              </a:spcBef>
              <a:spcAft>
                <a:spcPts val="400"/>
              </a:spcAft>
            </a:pPr>
            <a:r>
              <a:rPr sz="1400" b="1">
                <a:solidFill>
                  <a:srgbClr val="5B6372"/>
                </a:solidFill>
                <a:latin typeface="Arial"/>
              </a:rPr>
              <a:t>CMD vs ENTRYPOINT</a:t>
            </a:r>
          </a:p>
        </p:txBody>
      </p:sp>
      <p:sp>
        <p:nvSpPr>
          <p:cNvPr id="10" name="TextBox 9"/>
          <p:cNvSpPr txBox="1"/>
          <p:nvPr/>
        </p:nvSpPr>
        <p:spPr>
          <a:xfrm>
            <a:off x="777240" y="2286000"/>
            <a:ext cx="10698480" cy="1554480"/>
          </a:xfrm>
          <a:prstGeom prst="rect">
            <a:avLst/>
          </a:prstGeom>
          <a:noFill/>
        </p:spPr>
        <p:txBody>
          <a:bodyPr wrap="square" anchor="t" lIns="0" rIns="0" tIns="0" bIns="0">
            <a:spAutoFit/>
          </a:bodyPr>
          <a:lstStyle/>
          <a:p>
            <a:pPr algn="l">
              <a:spcBef>
                <a:spcPts val="0"/>
              </a:spcBef>
              <a:spcAft>
                <a:spcPts val="400"/>
              </a:spcAft>
            </a:pPr>
            <a:r>
              <a:rPr sz="1900" b="0">
                <a:solidFill>
                  <a:srgbClr val="161B26"/>
                </a:solidFill>
                <a:latin typeface="Arial"/>
              </a:rPr>
              <a:t>Understand the difference between CMD and ENTRYPOINT by packaging a real command-line tool — taskboard-cli — that lists and adds tasks. ENTRYPOINT fixes the program; CMD supplies the default arguments you can override at runtime.</a:t>
            </a:r>
          </a:p>
        </p:txBody>
      </p:sp>
      <p:sp>
        <p:nvSpPr>
          <p:cNvPr id="11" name="Rounded Rectangle 10"/>
          <p:cNvSpPr/>
          <p:nvPr/>
        </p:nvSpPr>
        <p:spPr>
          <a:xfrm>
            <a:off x="777240" y="4069080"/>
            <a:ext cx="10698480" cy="178308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25196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3" name="TextBox 12"/>
          <p:cNvSpPr txBox="1"/>
          <p:nvPr/>
        </p:nvSpPr>
        <p:spPr>
          <a:xfrm>
            <a:off x="1005840" y="4617720"/>
            <a:ext cx="10241280" cy="640080"/>
          </a:xfrm>
          <a:prstGeom prst="rect">
            <a:avLst/>
          </a:prstGeom>
          <a:noFill/>
        </p:spPr>
        <p:txBody>
          <a:bodyPr wrap="square" anchor="t" lIns="0" rIns="0" tIns="0" bIns="0">
            <a:spAutoFit/>
          </a:bodyPr>
          <a:lstStyle/>
          <a:p>
            <a:pPr algn="l">
              <a:spcBef>
                <a:spcPts val="0"/>
              </a:spcBef>
              <a:spcAft>
                <a:spcPts val="400"/>
              </a:spcAft>
            </a:pPr>
            <a:r>
              <a:rPr sz="1700" b="1">
                <a:solidFill>
                  <a:srgbClr val="161B26"/>
                </a:solidFill>
                <a:latin typeface="Arial"/>
              </a:rPr>
              <a:t>Package taskboard-cli so ENTRYPOINT is fixed and CMD/args are overridable.</a:t>
            </a:r>
          </a:p>
        </p:txBody>
      </p:sp>
      <p:sp>
        <p:nvSpPr>
          <p:cNvPr id="14" name="TextBox 13"/>
          <p:cNvSpPr txBox="1"/>
          <p:nvPr/>
        </p:nvSpPr>
        <p:spPr>
          <a:xfrm>
            <a:off x="1005840" y="53492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commands:  </a:t>
            </a:r>
            <a:r>
              <a:rPr sz="1300" b="0">
                <a:solidFill>
                  <a:srgbClr val="5B6372"/>
                </a:solidFill>
                <a:latin typeface="Arial"/>
              </a:rPr>
              <a:t>FROM python:3.11-slim · docker build · docker run · » Use</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38</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5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CMD vs ENTRYPOINT — the taskboard-cli tool</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The Dockerfile</a:t>
            </a:r>
          </a:p>
        </p:txBody>
      </p:sp>
      <p:sp>
        <p:nvSpPr>
          <p:cNvPr id="8" name="Rounded Rectangle 7"/>
          <p:cNvSpPr/>
          <p:nvPr/>
        </p:nvSpPr>
        <p:spPr>
          <a:xfrm>
            <a:off x="777240" y="2075688"/>
            <a:ext cx="10652760" cy="1271016"/>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127101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1179576"/>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FROM python:3.11-slim</a:t>
            </a:r>
          </a:p>
          <a:p>
            <a:pPr>
              <a:spcBef>
                <a:spcPts val="0"/>
              </a:spcBef>
              <a:spcAft>
                <a:spcPts val="0"/>
              </a:spcAft>
            </a:pPr>
            <a:r>
              <a:rPr sz="1050">
                <a:solidFill>
                  <a:srgbClr val="161B26"/>
                </a:solidFill>
                <a:latin typeface="Consolas"/>
              </a:rPr>
              <a:t>WORKDIR /app</a:t>
            </a:r>
          </a:p>
          <a:p>
            <a:pPr>
              <a:spcBef>
                <a:spcPts val="0"/>
              </a:spcBef>
              <a:spcAft>
                <a:spcPts val="0"/>
              </a:spcAft>
            </a:pPr>
            <a:r>
              <a:rPr sz="1050">
                <a:solidFill>
                  <a:srgbClr val="161B26"/>
                </a:solidFill>
                <a:latin typeface="Consolas"/>
              </a:rPr>
              <a:t>COPY cli.py .</a:t>
            </a:r>
          </a:p>
          <a:p>
            <a:pPr>
              <a:spcBef>
                <a:spcPts val="0"/>
              </a:spcBef>
              <a:spcAft>
                <a:spcPts val="0"/>
              </a:spcAft>
            </a:pPr>
            <a:r>
              <a:rPr sz="1050">
                <a:solidFill>
                  <a:srgbClr val="161B26"/>
                </a:solidFill>
                <a:latin typeface="Consolas"/>
              </a:rPr>
              <a:t># ENTRYPOINT fixes the executable; CMD is the default argument (overridable).</a:t>
            </a:r>
          </a:p>
          <a:p>
            <a:pPr>
              <a:spcBef>
                <a:spcPts val="0"/>
              </a:spcBef>
              <a:spcAft>
                <a:spcPts val="0"/>
              </a:spcAft>
            </a:pPr>
            <a:r>
              <a:rPr sz="1050">
                <a:solidFill>
                  <a:srgbClr val="161B26"/>
                </a:solidFill>
                <a:latin typeface="Consolas"/>
              </a:rPr>
              <a:t>ENTRYPOINT ["python", "cli.py"]</a:t>
            </a:r>
          </a:p>
          <a:p>
            <a:pPr>
              <a:spcBef>
                <a:spcPts val="0"/>
              </a:spcBef>
              <a:spcAft>
                <a:spcPts val="0"/>
              </a:spcAft>
            </a:pPr>
            <a:r>
              <a:rPr sz="1050">
                <a:solidFill>
                  <a:srgbClr val="161B26"/>
                </a:solidFill>
                <a:latin typeface="Consolas"/>
              </a:rPr>
              <a:t>CMD ["list"]</a:t>
            </a:r>
          </a:p>
        </p:txBody>
      </p:sp>
      <p:sp>
        <p:nvSpPr>
          <p:cNvPr id="11" name="TextBox 10"/>
          <p:cNvSpPr txBox="1"/>
          <p:nvPr/>
        </p:nvSpPr>
        <p:spPr>
          <a:xfrm>
            <a:off x="777240" y="3529584"/>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Build it</a:t>
            </a:r>
          </a:p>
        </p:txBody>
      </p:sp>
      <p:sp>
        <p:nvSpPr>
          <p:cNvPr id="12" name="Rounded Rectangle 11"/>
          <p:cNvSpPr/>
          <p:nvPr/>
        </p:nvSpPr>
        <p:spPr>
          <a:xfrm>
            <a:off x="777240" y="3913632"/>
            <a:ext cx="10652760" cy="333756"/>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913632"/>
            <a:ext cx="82296" cy="33375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3977640"/>
            <a:ext cx="10323576" cy="242316"/>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docker build -t taskboard-cli .</a:t>
            </a:r>
          </a:p>
        </p:txBody>
      </p:sp>
      <p:sp>
        <p:nvSpPr>
          <p:cNvPr id="15" name="TextBox 14"/>
          <p:cNvSpPr txBox="1"/>
          <p:nvPr/>
        </p:nvSpPr>
        <p:spPr>
          <a:xfrm>
            <a:off x="777240" y="4430268"/>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CMD is the default; run args override it</a:t>
            </a:r>
          </a:p>
        </p:txBody>
      </p:sp>
      <p:sp>
        <p:nvSpPr>
          <p:cNvPr id="16" name="Rounded Rectangle 15"/>
          <p:cNvSpPr/>
          <p:nvPr/>
        </p:nvSpPr>
        <p:spPr>
          <a:xfrm>
            <a:off x="777240" y="4814316"/>
            <a:ext cx="10652760" cy="896112"/>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814316"/>
            <a:ext cx="82296"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96696" y="4878324"/>
            <a:ext cx="10323576" cy="804672"/>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docker run --rm taskboard-cli                 # runs the default: list</a:t>
            </a:r>
          </a:p>
          <a:p>
            <a:pPr>
              <a:spcBef>
                <a:spcPts val="0"/>
              </a:spcBef>
              <a:spcAft>
                <a:spcPts val="0"/>
              </a:spcAft>
            </a:pPr>
            <a:r>
              <a:rPr sz="1050">
                <a:solidFill>
                  <a:srgbClr val="161B26"/>
                </a:solidFill>
                <a:latin typeface="Consolas"/>
              </a:rPr>
              <a:t>docker run --rm taskboard-cli add "Buy milk"   # overrides CMD with: add ...</a:t>
            </a:r>
          </a:p>
          <a:p>
            <a:pPr>
              <a:spcBef>
                <a:spcPts val="0"/>
              </a:spcBef>
              <a:spcAft>
                <a:spcPts val="0"/>
              </a:spcAft>
            </a:pPr>
            <a:r>
              <a:rPr sz="1050">
                <a:solidFill>
                  <a:srgbClr val="161B26"/>
                </a:solidFill>
                <a:latin typeface="Consolas"/>
              </a:rPr>
              <a:t>docker run --rm taskboard-cli add "Ship release"</a:t>
            </a:r>
          </a:p>
          <a:p>
            <a:pPr>
              <a:spcBef>
                <a:spcPts val="0"/>
              </a:spcBef>
              <a:spcAft>
                <a:spcPts val="0"/>
              </a:spcAft>
            </a:pPr>
            <a:r>
              <a:rPr sz="1050">
                <a:solidFill>
                  <a:srgbClr val="161B26"/>
                </a:solidFill>
                <a:latin typeface="Consolas"/>
              </a:rPr>
              <a:t>docker run --rm taskboard-cli list</a:t>
            </a:r>
          </a:p>
        </p:txBody>
      </p:sp>
      <p:sp>
        <p:nvSpPr>
          <p:cNvPr id="19" name="TextBox 1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20" name="TextBox 1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1" name="TextBox 2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39</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5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CMD vs ENTRYPOINT — the taskboard-cli tool (cont.)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52760"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Note   </a:t>
            </a:r>
            <a:r>
              <a:rPr sz="1300" b="0">
                <a:solidFill>
                  <a:srgbClr val="5B6372"/>
                </a:solidFill>
                <a:latin typeface="Arial"/>
              </a:rPr>
              <a:t>Use ENTRYPOINT when the image *is* a specific tool and arguments vary (like our CLI). Use CMD alone when you want an easily replaceable default command. Both use the JSON *exec form* ["a","b"] to avoid an extra shell.</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40</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5  ·  TEST IT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CMD vs ENTRYPOINT — the taskboard-cli tool</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10698480" cy="2560320"/>
          </a:xfrm>
          <a:prstGeom prst="roundRect">
            <a:avLst>
              <a:gd name="adj" fmla="val 5000"/>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200" b="1">
                <a:solidFill>
                  <a:srgbClr val="127A3E"/>
                </a:solidFill>
                <a:latin typeface="Arial"/>
              </a:rPr>
              <a:t>✅  Test it</a:t>
            </a:r>
          </a:p>
        </p:txBody>
      </p:sp>
      <p:sp>
        <p:nvSpPr>
          <p:cNvPr id="9" name="TextBox 8"/>
          <p:cNvSpPr txBox="1"/>
          <p:nvPr/>
        </p:nvSpPr>
        <p:spPr>
          <a:xfrm>
            <a:off x="1097280" y="3017520"/>
            <a:ext cx="10149840" cy="146304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docker run --rm taskboard-cli prints the task list, and docker run --rm taskboard-cli add "Demo" adds a task — the same image, different CMD arguments.</a:t>
            </a:r>
          </a:p>
        </p:txBody>
      </p:sp>
      <p:sp>
        <p:nvSpPr>
          <p:cNvPr id="10" name="TextBox 9"/>
          <p:cNvSpPr txBox="1"/>
          <p:nvPr/>
        </p:nvSpPr>
        <p:spPr>
          <a:xfrm>
            <a:off x="777240" y="4983480"/>
            <a:ext cx="10698480" cy="365760"/>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KillerCoda:  </a:t>
            </a:r>
            <a:r>
              <a:rPr sz="1300" b="0">
                <a:solidFill>
                  <a:srgbClr val="5B6372"/>
                </a:solidFill>
                <a:latin typeface="Arial"/>
              </a:rPr>
              <a:t>https://killercoda.com/tertiary-labs/course/killercoda/day1-01-docker-fundamentals</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41</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2148840"/>
            <a:ext cx="23134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514600"/>
            <a:ext cx="12191695" cy="1097280"/>
          </a:xfrm>
          <a:prstGeom prst="rect">
            <a:avLst/>
          </a:prstGeom>
          <a:noFill/>
        </p:spPr>
        <p:txBody>
          <a:bodyPr wrap="square" anchor="t" lIns="0" rIns="0" tIns="0" bIns="0">
            <a:spAutoFit/>
          </a:bodyPr>
          <a:lstStyle/>
          <a:p>
            <a:pPr algn="ctr">
              <a:spcBef>
                <a:spcPts val="0"/>
              </a:spcBef>
              <a:spcAft>
                <a:spcPts val="400"/>
              </a:spcAft>
            </a:pPr>
            <a:r>
              <a:rPr sz="4800" b="1">
                <a:solidFill>
                  <a:srgbClr val="161B26"/>
                </a:solidFill>
                <a:latin typeface="Arial"/>
              </a:rPr>
              <a:t>Lunch Break</a:t>
            </a:r>
          </a:p>
        </p:txBody>
      </p:sp>
      <p:sp>
        <p:nvSpPr>
          <p:cNvPr id="7" name="TextBox 6"/>
          <p:cNvSpPr txBox="1"/>
          <p:nvPr/>
        </p:nvSpPr>
        <p:spPr>
          <a:xfrm>
            <a:off x="0" y="3703320"/>
            <a:ext cx="12191695" cy="731520"/>
          </a:xfrm>
          <a:prstGeom prst="rect">
            <a:avLst/>
          </a:prstGeom>
          <a:noFill/>
        </p:spPr>
        <p:txBody>
          <a:bodyPr wrap="square" anchor="t" lIns="0" rIns="0" tIns="0" bIns="0">
            <a:spAutoFit/>
          </a:bodyPr>
          <a:lstStyle/>
          <a:p>
            <a:pPr algn="ctr">
              <a:spcBef>
                <a:spcPts val="0"/>
              </a:spcBef>
              <a:spcAft>
                <a:spcPts val="400"/>
              </a:spcAft>
            </a:pPr>
            <a:r>
              <a:rPr sz="2200" b="1">
                <a:solidFill>
                  <a:srgbClr val="1F6FEB"/>
                </a:solidFill>
                <a:latin typeface="Arial"/>
              </a:rPr>
              <a:t>1 hour</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F6FEB"/>
                </a:solidFill>
                <a:latin typeface="Arial"/>
              </a:rPr>
              <a:t>TOPIC 3</a:t>
            </a:r>
          </a:p>
        </p:txBody>
      </p:sp>
      <p:sp>
        <p:nvSpPr>
          <p:cNvPr id="6" name="TextBox 5"/>
          <p:cNvSpPr txBox="1"/>
          <p:nvPr/>
        </p:nvSpPr>
        <p:spPr>
          <a:xfrm>
            <a:off x="1143000" y="2743200"/>
            <a:ext cx="10424160" cy="1463040"/>
          </a:xfrm>
          <a:prstGeom prst="rect">
            <a:avLst/>
          </a:prstGeom>
          <a:noFill/>
        </p:spPr>
        <p:txBody>
          <a:bodyPr wrap="square" anchor="t" lIns="0" rIns="0" tIns="0" bIns="0">
            <a:spAutoFit/>
          </a:bodyPr>
          <a:lstStyle/>
          <a:p>
            <a:pPr algn="l">
              <a:spcBef>
                <a:spcPts val="0"/>
              </a:spcBef>
              <a:spcAft>
                <a:spcPts val="400"/>
              </a:spcAft>
            </a:pPr>
            <a:r>
              <a:rPr sz="4000" b="1">
                <a:solidFill>
                  <a:srgbClr val="161B26"/>
                </a:solidFill>
                <a:latin typeface="Arial"/>
              </a:rPr>
              <a:t>Docker Storage</a:t>
            </a:r>
          </a:p>
        </p:txBody>
      </p:sp>
      <p:sp>
        <p:nvSpPr>
          <p:cNvPr id="7" name="TextBox 6"/>
          <p:cNvSpPr txBox="1"/>
          <p:nvPr/>
        </p:nvSpPr>
        <p:spPr>
          <a:xfrm>
            <a:off x="1161288" y="4114800"/>
            <a:ext cx="10058400" cy="731520"/>
          </a:xfrm>
          <a:prstGeom prst="rect">
            <a:avLst/>
          </a:prstGeom>
          <a:noFill/>
        </p:spPr>
        <p:txBody>
          <a:bodyPr wrap="square" anchor="t" lIns="0" rIns="0" tIns="0" bIns="0">
            <a:spAutoFit/>
          </a:bodyPr>
          <a:lstStyle/>
          <a:p>
            <a:pPr algn="l">
              <a:spcBef>
                <a:spcPts val="0"/>
              </a:spcBef>
              <a:spcAft>
                <a:spcPts val="400"/>
              </a:spcAft>
            </a:pPr>
            <a:r>
              <a:rPr sz="1600" b="0">
                <a:solidFill>
                  <a:srgbClr val="5B6372"/>
                </a:solidFill>
                <a:latin typeface="Arial"/>
              </a:rPr>
              <a:t>Persist data with volumes &amp; bind mounts</a:t>
            </a:r>
          </a:p>
        </p:txBody>
      </p:sp>
      <p:sp>
        <p:nvSpPr>
          <p:cNvPr id="8" name="TextBox 7"/>
          <p:cNvSpPr txBox="1"/>
          <p:nvPr/>
        </p:nvSpPr>
        <p:spPr>
          <a:xfrm>
            <a:off x="9418320" y="640080"/>
            <a:ext cx="2286000" cy="1463040"/>
          </a:xfrm>
          <a:prstGeom prst="rect">
            <a:avLst/>
          </a:prstGeom>
          <a:noFill/>
        </p:spPr>
        <p:txBody>
          <a:bodyPr wrap="square" anchor="t" lIns="0" rIns="0" tIns="0" bIns="0">
            <a:spAutoFit/>
          </a:bodyPr>
          <a:lstStyle/>
          <a:p>
            <a:pPr algn="r">
              <a:spcBef>
                <a:spcPts val="0"/>
              </a:spcBef>
              <a:spcAft>
                <a:spcPts val="400"/>
              </a:spcAft>
            </a:pPr>
            <a:r>
              <a:rPr sz="7200" b="1">
                <a:solidFill>
                  <a:srgbClr val="E2E8F0"/>
                </a:solidFill>
                <a:latin typeface="Arial"/>
              </a:rPr>
              <a:t/>
            </a:r>
          </a:p>
        </p:txBody>
      </p:sp>
      <p:sp>
        <p:nvSpPr>
          <p:cNvPr id="9" name="TextBox 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43</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PERSISTENCE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Why Volumes?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1900" b="1">
                <a:solidFill>
                  <a:srgbClr val="1F6FEB"/>
                </a:solidFill>
                <a:latin typeface="Arial"/>
              </a:rPr>
              <a:t>•  </a:t>
            </a:r>
            <a:r>
              <a:rPr sz="1900">
                <a:solidFill>
                  <a:srgbClr val="161B26"/>
                </a:solidFill>
                <a:latin typeface="Arial"/>
              </a:rPr>
              <a:t>Data written inside a container is lost when the container is removed.</a:t>
            </a:r>
          </a:p>
          <a:p>
            <a:pPr>
              <a:spcBef>
                <a:spcPts val="0"/>
              </a:spcBef>
              <a:spcAft>
                <a:spcPts val="1000"/>
              </a:spcAft>
            </a:pPr>
            <a:r>
              <a:rPr sz="1900" b="1">
                <a:solidFill>
                  <a:srgbClr val="1F6FEB"/>
                </a:solidFill>
                <a:latin typeface="Arial"/>
              </a:rPr>
              <a:t>•  </a:t>
            </a:r>
            <a:r>
              <a:rPr sz="1900">
                <a:solidFill>
                  <a:srgbClr val="161B26"/>
                </a:solidFill>
                <a:latin typeface="Arial"/>
              </a:rPr>
              <a:t>Named volumes — Docker-managed persistent storage; best for databases &amp; app data.</a:t>
            </a:r>
          </a:p>
          <a:p>
            <a:pPr>
              <a:spcBef>
                <a:spcPts val="0"/>
              </a:spcBef>
              <a:spcAft>
                <a:spcPts val="1000"/>
              </a:spcAft>
            </a:pPr>
            <a:r>
              <a:rPr sz="1900" b="1">
                <a:solidFill>
                  <a:srgbClr val="1F6FEB"/>
                </a:solidFill>
                <a:latin typeface="Arial"/>
              </a:rPr>
              <a:t>•  </a:t>
            </a:r>
            <a:r>
              <a:rPr sz="1900">
                <a:solidFill>
                  <a:srgbClr val="161B26"/>
                </a:solidFill>
                <a:latin typeface="Arial"/>
              </a:rPr>
              <a:t>Bind mounts — map an exact host folder in; best for live code editing in dev.</a:t>
            </a:r>
          </a:p>
          <a:p>
            <a:pPr>
              <a:spcBef>
                <a:spcPts val="0"/>
              </a:spcBef>
              <a:spcAft>
                <a:spcPts val="1000"/>
              </a:spcAft>
            </a:pPr>
            <a:r>
              <a:rPr sz="1900" b="1">
                <a:solidFill>
                  <a:srgbClr val="1F6FEB"/>
                </a:solidFill>
                <a:latin typeface="Arial"/>
              </a:rPr>
              <a:t>•  </a:t>
            </a:r>
            <a:r>
              <a:rPr sz="1900">
                <a:solidFill>
                  <a:srgbClr val="161B26"/>
                </a:solidFill>
                <a:latin typeface="Arial"/>
              </a:rPr>
              <a:t>Mount with -v name:/path (volume) or -v $(pwd)/dir:/path (bind mount).</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44</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DAY 1 · DOCKER STORAGE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Docker Storage — Named Volumes &amp; Bind Mounts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69164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69164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LAB 6</a:t>
            </a:r>
          </a:p>
        </p:txBody>
      </p:sp>
      <p:sp>
        <p:nvSpPr>
          <p:cNvPr id="9" name="TextBox 8"/>
          <p:cNvSpPr txBox="1"/>
          <p:nvPr/>
        </p:nvSpPr>
        <p:spPr>
          <a:xfrm>
            <a:off x="2697480" y="1691640"/>
            <a:ext cx="8778240" cy="411480"/>
          </a:xfrm>
          <a:prstGeom prst="rect">
            <a:avLst/>
          </a:prstGeom>
          <a:noFill/>
        </p:spPr>
        <p:txBody>
          <a:bodyPr wrap="square" anchor="ctr" lIns="0" rIns="0" tIns="0" bIns="0">
            <a:spAutoFit/>
          </a:bodyPr>
          <a:lstStyle/>
          <a:p>
            <a:pPr algn="l">
              <a:spcBef>
                <a:spcPts val="0"/>
              </a:spcBef>
              <a:spcAft>
                <a:spcPts val="400"/>
              </a:spcAft>
            </a:pPr>
            <a:r>
              <a:rPr sz="1400" b="1">
                <a:solidFill>
                  <a:srgbClr val="5B6372"/>
                </a:solidFill>
                <a:latin typeface="Arial"/>
              </a:rPr>
              <a:t>Volumes</a:t>
            </a:r>
          </a:p>
        </p:txBody>
      </p:sp>
      <p:sp>
        <p:nvSpPr>
          <p:cNvPr id="10" name="TextBox 9"/>
          <p:cNvSpPr txBox="1"/>
          <p:nvPr/>
        </p:nvSpPr>
        <p:spPr>
          <a:xfrm>
            <a:off x="777240" y="2286000"/>
            <a:ext cx="10698480" cy="1554480"/>
          </a:xfrm>
          <a:prstGeom prst="rect">
            <a:avLst/>
          </a:prstGeom>
          <a:noFill/>
        </p:spPr>
        <p:txBody>
          <a:bodyPr wrap="square" anchor="t" lIns="0" rIns="0" tIns="0" bIns="0">
            <a:spAutoFit/>
          </a:bodyPr>
          <a:lstStyle/>
          <a:p>
            <a:pPr algn="l">
              <a:spcBef>
                <a:spcPts val="0"/>
              </a:spcBef>
              <a:spcAft>
                <a:spcPts val="400"/>
              </a:spcAft>
            </a:pPr>
            <a:r>
              <a:rPr sz="1900" b="0">
                <a:solidFill>
                  <a:srgbClr val="161B26"/>
                </a:solidFill>
                <a:latin typeface="Arial"/>
              </a:rPr>
              <a:t>Make TaskBoard's data survive container removal. You'll persist its tasks.json in a named volume, prove the data outlives the container, then use a bind mount to edit files on the host and see them live in the container.</a:t>
            </a:r>
          </a:p>
        </p:txBody>
      </p:sp>
      <p:sp>
        <p:nvSpPr>
          <p:cNvPr id="11" name="Rounded Rectangle 10"/>
          <p:cNvSpPr/>
          <p:nvPr/>
        </p:nvSpPr>
        <p:spPr>
          <a:xfrm>
            <a:off x="777240" y="4069080"/>
            <a:ext cx="10698480" cy="178308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25196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3" name="TextBox 12"/>
          <p:cNvSpPr txBox="1"/>
          <p:nvPr/>
        </p:nvSpPr>
        <p:spPr>
          <a:xfrm>
            <a:off x="1005840" y="4617720"/>
            <a:ext cx="10241280" cy="640080"/>
          </a:xfrm>
          <a:prstGeom prst="rect">
            <a:avLst/>
          </a:prstGeom>
          <a:noFill/>
        </p:spPr>
        <p:txBody>
          <a:bodyPr wrap="square" anchor="t" lIns="0" rIns="0" tIns="0" bIns="0">
            <a:spAutoFit/>
          </a:bodyPr>
          <a:lstStyle/>
          <a:p>
            <a:pPr algn="l">
              <a:spcBef>
                <a:spcPts val="0"/>
              </a:spcBef>
              <a:spcAft>
                <a:spcPts val="400"/>
              </a:spcAft>
            </a:pPr>
            <a:r>
              <a:rPr sz="1700" b="1">
                <a:solidFill>
                  <a:srgbClr val="161B26"/>
                </a:solidFill>
                <a:latin typeface="Arial"/>
              </a:rPr>
              <a:t>Persist TaskBoard tasks in a named volume; live-edit host files via a bind mount.</a:t>
            </a:r>
          </a:p>
        </p:txBody>
      </p:sp>
      <p:sp>
        <p:nvSpPr>
          <p:cNvPr id="14" name="TextBox 13"/>
          <p:cNvSpPr txBox="1"/>
          <p:nvPr/>
        </p:nvSpPr>
        <p:spPr>
          <a:xfrm>
            <a:off x="1005840" y="53492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commands:  </a:t>
            </a:r>
            <a:r>
              <a:rPr sz="1300" b="0">
                <a:solidFill>
                  <a:srgbClr val="5B6372"/>
                </a:solidFill>
                <a:latin typeface="Arial"/>
              </a:rPr>
              <a:t>docker volume · docker run · mkdir -p · » Named</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45</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6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Docker Storage — Named Volumes &amp; Bind Mounts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Part A — Named volume (persistent app data)</a:t>
            </a:r>
          </a:p>
        </p:txBody>
      </p:sp>
      <p:sp>
        <p:nvSpPr>
          <p:cNvPr id="8" name="Rounded Rectangle 7"/>
          <p:cNvSpPr/>
          <p:nvPr/>
        </p:nvSpPr>
        <p:spPr>
          <a:xfrm>
            <a:off x="777240" y="2075688"/>
            <a:ext cx="10652760" cy="1083563"/>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1083563"/>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992123"/>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docker volume create taskboard-data</a:t>
            </a:r>
          </a:p>
          <a:p>
            <a:pPr>
              <a:spcBef>
                <a:spcPts val="0"/>
              </a:spcBef>
              <a:spcAft>
                <a:spcPts val="0"/>
              </a:spcAft>
            </a:pPr>
            <a:r>
              <a:rPr sz="1050">
                <a:solidFill>
                  <a:srgbClr val="161B26"/>
                </a:solidFill>
                <a:latin typeface="Consolas"/>
              </a:rPr>
              <a:t>docker run -d --name tb -p 8080:5000 \</a:t>
            </a:r>
          </a:p>
          <a:p>
            <a:pPr>
              <a:spcBef>
                <a:spcPts val="0"/>
              </a:spcBef>
              <a:spcAft>
                <a:spcPts val="0"/>
              </a:spcAft>
            </a:pPr>
            <a:r>
              <a:rPr sz="1050">
                <a:solidFill>
                  <a:srgbClr val="161B26"/>
                </a:solidFill>
                <a:latin typeface="Consolas"/>
              </a:rPr>
              <a:t>  -e DATA_DIR=/data -v taskboard-data:/data taskboard:1.0</a:t>
            </a:r>
          </a:p>
          <a:p>
            <a:pPr>
              <a:spcBef>
                <a:spcPts val="0"/>
              </a:spcBef>
              <a:spcAft>
                <a:spcPts val="0"/>
              </a:spcAft>
            </a:pPr>
            <a:r>
              <a:rPr sz="1050">
                <a:solidFill>
                  <a:srgbClr val="161B26"/>
                </a:solidFill>
                <a:latin typeface="Consolas"/>
              </a:rPr>
              <a:t># add a few tasks at http://localhost:8080, then:</a:t>
            </a:r>
          </a:p>
          <a:p>
            <a:pPr>
              <a:spcBef>
                <a:spcPts val="0"/>
              </a:spcBef>
              <a:spcAft>
                <a:spcPts val="0"/>
              </a:spcAft>
            </a:pPr>
            <a:r>
              <a:rPr sz="1050">
                <a:solidFill>
                  <a:srgbClr val="161B26"/>
                </a:solidFill>
                <a:latin typeface="Consolas"/>
              </a:rPr>
              <a:t>docker rm -f tb</a:t>
            </a:r>
          </a:p>
        </p:txBody>
      </p:sp>
      <p:sp>
        <p:nvSpPr>
          <p:cNvPr id="11" name="TextBox 10"/>
          <p:cNvSpPr txBox="1"/>
          <p:nvPr/>
        </p:nvSpPr>
        <p:spPr>
          <a:xfrm>
            <a:off x="777240" y="3342131"/>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Start a brand-new container on the same volume — your tasks are still there:</a:t>
            </a:r>
          </a:p>
        </p:txBody>
      </p:sp>
      <p:sp>
        <p:nvSpPr>
          <p:cNvPr id="12" name="Rounded Rectangle 11"/>
          <p:cNvSpPr/>
          <p:nvPr/>
        </p:nvSpPr>
        <p:spPr>
          <a:xfrm>
            <a:off x="777240" y="3726179"/>
            <a:ext cx="10652760" cy="896112"/>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726179"/>
            <a:ext cx="82296"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3790187"/>
            <a:ext cx="10323576" cy="804672"/>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docker run -d --name tb2 -p 8080:5000 \</a:t>
            </a:r>
          </a:p>
          <a:p>
            <a:pPr>
              <a:spcBef>
                <a:spcPts val="0"/>
              </a:spcBef>
              <a:spcAft>
                <a:spcPts val="0"/>
              </a:spcAft>
            </a:pPr>
            <a:r>
              <a:rPr sz="1050">
                <a:solidFill>
                  <a:srgbClr val="161B26"/>
                </a:solidFill>
                <a:latin typeface="Consolas"/>
              </a:rPr>
              <a:t>  -e DATA_DIR=/data -v taskboard-data:/data taskboard:1.0</a:t>
            </a:r>
          </a:p>
          <a:p>
            <a:pPr>
              <a:spcBef>
                <a:spcPts val="0"/>
              </a:spcBef>
              <a:spcAft>
                <a:spcPts val="0"/>
              </a:spcAft>
            </a:pPr>
            <a:r>
              <a:rPr sz="1050">
                <a:solidFill>
                  <a:srgbClr val="161B26"/>
                </a:solidFill>
                <a:latin typeface="Consolas"/>
              </a:rPr>
              <a:t>curl http://localhost:8080/api/tasks   # the tasks you added are back</a:t>
            </a:r>
          </a:p>
          <a:p>
            <a:pPr>
              <a:spcBef>
                <a:spcPts val="0"/>
              </a:spcBef>
              <a:spcAft>
                <a:spcPts val="0"/>
              </a:spcAft>
            </a:pPr>
            <a:r>
              <a:rPr sz="1050">
                <a:solidFill>
                  <a:srgbClr val="161B26"/>
                </a:solidFill>
                <a:latin typeface="Consolas"/>
              </a:rPr>
              <a:t>docker rm -f tb2</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46</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6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Docker Storage — Named Volumes &amp; Bind Mounts (cont.)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Part B — Bind mount (live host files)</a:t>
            </a:r>
          </a:p>
        </p:txBody>
      </p:sp>
      <p:sp>
        <p:nvSpPr>
          <p:cNvPr id="8" name="Rounded Rectangle 7"/>
          <p:cNvSpPr/>
          <p:nvPr/>
        </p:nvSpPr>
        <p:spPr>
          <a:xfrm>
            <a:off x="777240" y="2075688"/>
            <a:ext cx="10652760" cy="1271016"/>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127101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1179576"/>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mkdir -p data &amp;&amp; echo '[]' &gt; data/tasks.json</a:t>
            </a:r>
          </a:p>
          <a:p>
            <a:pPr>
              <a:spcBef>
                <a:spcPts val="0"/>
              </a:spcBef>
              <a:spcAft>
                <a:spcPts val="0"/>
              </a:spcAft>
            </a:pPr>
            <a:r>
              <a:rPr sz="1050">
                <a:solidFill>
                  <a:srgbClr val="161B26"/>
                </a:solidFill>
                <a:latin typeface="Consolas"/>
              </a:rPr>
              <a:t>docker run -d --name tb3 -p 8080:5000 \</a:t>
            </a:r>
          </a:p>
          <a:p>
            <a:pPr>
              <a:spcBef>
                <a:spcPts val="0"/>
              </a:spcBef>
              <a:spcAft>
                <a:spcPts val="0"/>
              </a:spcAft>
            </a:pPr>
            <a:r>
              <a:rPr sz="1050">
                <a:solidFill>
                  <a:srgbClr val="161B26"/>
                </a:solidFill>
                <a:latin typeface="Consolas"/>
              </a:rPr>
              <a:t>  -e DATA_DIR=/data -v $(pwd)/data:/data taskboard:1.0</a:t>
            </a:r>
          </a:p>
          <a:p>
            <a:pPr>
              <a:spcBef>
                <a:spcPts val="0"/>
              </a:spcBef>
              <a:spcAft>
                <a:spcPts val="0"/>
              </a:spcAft>
            </a:pPr>
            <a:r>
              <a:rPr sz="1050">
                <a:solidFill>
                  <a:srgbClr val="161B26"/>
                </a:solidFill>
                <a:latin typeface="Consolas"/>
              </a:rPr>
              <a:t># add tasks in the browser, then read them straight off the host:</a:t>
            </a:r>
          </a:p>
          <a:p>
            <a:pPr>
              <a:spcBef>
                <a:spcPts val="0"/>
              </a:spcBef>
              <a:spcAft>
                <a:spcPts val="0"/>
              </a:spcAft>
            </a:pPr>
            <a:r>
              <a:rPr sz="1050">
                <a:solidFill>
                  <a:srgbClr val="161B26"/>
                </a:solidFill>
                <a:latin typeface="Consolas"/>
              </a:rPr>
              <a:t>cat data/tasks.json</a:t>
            </a:r>
          </a:p>
          <a:p>
            <a:pPr>
              <a:spcBef>
                <a:spcPts val="0"/>
              </a:spcBef>
              <a:spcAft>
                <a:spcPts val="0"/>
              </a:spcAft>
            </a:pPr>
            <a:r>
              <a:rPr sz="1050">
                <a:solidFill>
                  <a:srgbClr val="161B26"/>
                </a:solidFill>
                <a:latin typeface="Consolas"/>
              </a:rPr>
              <a:t>docker rm -f tb3</a:t>
            </a:r>
          </a:p>
        </p:txBody>
      </p:sp>
      <p:sp>
        <p:nvSpPr>
          <p:cNvPr id="11" name="TextBox 10"/>
          <p:cNvSpPr txBox="1"/>
          <p:nvPr/>
        </p:nvSpPr>
        <p:spPr>
          <a:xfrm>
            <a:off x="777240" y="3529584"/>
            <a:ext cx="10652760"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Note   </a:t>
            </a:r>
            <a:r>
              <a:rPr sz="1300" b="0">
                <a:solidFill>
                  <a:srgbClr val="5B6372"/>
                </a:solidFill>
                <a:latin typeface="Arial"/>
              </a:rPr>
              <a:t>Named volumes are stored under Docker (/var/lib/docker/volumes) and are the right choice for databases; bind mounts tie you to an exact host path but are perfect for editing code live.</a:t>
            </a:r>
          </a:p>
        </p:txBody>
      </p:sp>
      <p:sp>
        <p:nvSpPr>
          <p:cNvPr id="12" name="TextBox 11"/>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3" name="TextBox 12"/>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4" name="TextBox 13"/>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47</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6  ·  TEST IT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Docker Storage — Named Volumes &amp; Bind Mounts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10698480" cy="2560320"/>
          </a:xfrm>
          <a:prstGeom prst="roundRect">
            <a:avLst>
              <a:gd name="adj" fmla="val 5000"/>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200" b="1">
                <a:solidFill>
                  <a:srgbClr val="127A3E"/>
                </a:solidFill>
                <a:latin typeface="Arial"/>
              </a:rPr>
              <a:t>✅  Test it</a:t>
            </a:r>
          </a:p>
        </p:txBody>
      </p:sp>
      <p:sp>
        <p:nvSpPr>
          <p:cNvPr id="9" name="TextBox 8"/>
          <p:cNvSpPr txBox="1"/>
          <p:nvPr/>
        </p:nvSpPr>
        <p:spPr>
          <a:xfrm>
            <a:off x="1097280" y="3017520"/>
            <a:ext cx="10149840" cy="146304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After removing tb and starting tb2 on the same named volume, curl http://localhost:8080/api/tasks returns the tasks you added earlier — they survived container deletion.</a:t>
            </a:r>
          </a:p>
        </p:txBody>
      </p:sp>
      <p:sp>
        <p:nvSpPr>
          <p:cNvPr id="10" name="TextBox 9"/>
          <p:cNvSpPr txBox="1"/>
          <p:nvPr/>
        </p:nvSpPr>
        <p:spPr>
          <a:xfrm>
            <a:off x="777240" y="4983480"/>
            <a:ext cx="10698480" cy="365760"/>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KillerCoda:  </a:t>
            </a:r>
            <a:r>
              <a:rPr sz="1300" b="0">
                <a:solidFill>
                  <a:srgbClr val="5B6372"/>
                </a:solidFill>
                <a:latin typeface="Arial"/>
              </a:rPr>
              <a:t>https://killercoda.com/tertiary-labs/course/killercoda/day1-02-docker-storage</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48</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F6FEB"/>
                </a:solidFill>
                <a:latin typeface="Arial"/>
              </a:rPr>
              <a:t>TOPIC 4</a:t>
            </a:r>
          </a:p>
        </p:txBody>
      </p:sp>
      <p:sp>
        <p:nvSpPr>
          <p:cNvPr id="6" name="TextBox 5"/>
          <p:cNvSpPr txBox="1"/>
          <p:nvPr/>
        </p:nvSpPr>
        <p:spPr>
          <a:xfrm>
            <a:off x="1143000" y="2743200"/>
            <a:ext cx="10424160" cy="1463040"/>
          </a:xfrm>
          <a:prstGeom prst="rect">
            <a:avLst/>
          </a:prstGeom>
          <a:noFill/>
        </p:spPr>
        <p:txBody>
          <a:bodyPr wrap="square" anchor="t" lIns="0" rIns="0" tIns="0" bIns="0">
            <a:spAutoFit/>
          </a:bodyPr>
          <a:lstStyle/>
          <a:p>
            <a:pPr algn="l">
              <a:spcBef>
                <a:spcPts val="0"/>
              </a:spcBef>
              <a:spcAft>
                <a:spcPts val="400"/>
              </a:spcAft>
            </a:pPr>
            <a:r>
              <a:rPr sz="4000" b="1">
                <a:solidFill>
                  <a:srgbClr val="161B26"/>
                </a:solidFill>
                <a:latin typeface="Arial"/>
              </a:rPr>
              <a:t>Docker Networking</a:t>
            </a:r>
          </a:p>
        </p:txBody>
      </p:sp>
      <p:sp>
        <p:nvSpPr>
          <p:cNvPr id="7" name="TextBox 6"/>
          <p:cNvSpPr txBox="1"/>
          <p:nvPr/>
        </p:nvSpPr>
        <p:spPr>
          <a:xfrm>
            <a:off x="1161288" y="4114800"/>
            <a:ext cx="10058400" cy="731520"/>
          </a:xfrm>
          <a:prstGeom prst="rect">
            <a:avLst/>
          </a:prstGeom>
          <a:noFill/>
        </p:spPr>
        <p:txBody>
          <a:bodyPr wrap="square" anchor="t" lIns="0" rIns="0" tIns="0" bIns="0">
            <a:spAutoFit/>
          </a:bodyPr>
          <a:lstStyle/>
          <a:p>
            <a:pPr algn="l">
              <a:spcBef>
                <a:spcPts val="0"/>
              </a:spcBef>
              <a:spcAft>
                <a:spcPts val="400"/>
              </a:spcAft>
            </a:pPr>
            <a:r>
              <a:rPr sz="1600" b="0">
                <a:solidFill>
                  <a:srgbClr val="5B6372"/>
                </a:solidFill>
                <a:latin typeface="Arial"/>
              </a:rPr>
              <a:t>Custom bridge networks, DNS &amp; port mapping</a:t>
            </a:r>
          </a:p>
        </p:txBody>
      </p:sp>
      <p:sp>
        <p:nvSpPr>
          <p:cNvPr id="8" name="TextBox 7"/>
          <p:cNvSpPr txBox="1"/>
          <p:nvPr/>
        </p:nvSpPr>
        <p:spPr>
          <a:xfrm>
            <a:off x="9418320" y="640080"/>
            <a:ext cx="2286000" cy="1463040"/>
          </a:xfrm>
          <a:prstGeom prst="rect">
            <a:avLst/>
          </a:prstGeom>
          <a:noFill/>
        </p:spPr>
        <p:txBody>
          <a:bodyPr wrap="square" anchor="t" lIns="0" rIns="0" tIns="0" bIns="0">
            <a:spAutoFit/>
          </a:bodyPr>
          <a:lstStyle/>
          <a:p>
            <a:pPr algn="r">
              <a:spcBef>
                <a:spcPts val="0"/>
              </a:spcBef>
              <a:spcAft>
                <a:spcPts val="400"/>
              </a:spcAft>
            </a:pPr>
            <a:r>
              <a:rPr sz="7200" b="1">
                <a:solidFill>
                  <a:srgbClr val="E2E8F0"/>
                </a:solidFill>
                <a:latin typeface="Arial"/>
              </a:rPr>
              <a:t/>
            </a:r>
          </a:p>
        </p:txBody>
      </p:sp>
      <p:sp>
        <p:nvSpPr>
          <p:cNvPr id="9" name="TextBox 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49</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CONNECTING CONTAINERS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Networking Concepts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1900" b="1">
                <a:solidFill>
                  <a:srgbClr val="1F6FEB"/>
                </a:solidFill>
                <a:latin typeface="Arial"/>
              </a:rPr>
              <a:t>•  </a:t>
            </a:r>
            <a:r>
              <a:rPr sz="1900">
                <a:solidFill>
                  <a:srgbClr val="161B26"/>
                </a:solidFill>
                <a:latin typeface="Arial"/>
              </a:rPr>
              <a:t>Default bridge: containers reach each other only by IP (which changes).</a:t>
            </a:r>
          </a:p>
          <a:p>
            <a:pPr>
              <a:spcBef>
                <a:spcPts val="0"/>
              </a:spcBef>
              <a:spcAft>
                <a:spcPts val="1000"/>
              </a:spcAft>
            </a:pPr>
            <a:r>
              <a:rPr sz="1900" b="1">
                <a:solidFill>
                  <a:srgbClr val="1F6FEB"/>
                </a:solidFill>
                <a:latin typeface="Arial"/>
              </a:rPr>
              <a:t>•  </a:t>
            </a:r>
            <a:r>
              <a:rPr sz="1900">
                <a:solidFill>
                  <a:srgbClr val="161B26"/>
                </a:solidFill>
                <a:latin typeface="Arial"/>
              </a:rPr>
              <a:t>Custom bridge: built-in DNS — containers reach each other by name.</a:t>
            </a:r>
          </a:p>
          <a:p>
            <a:pPr>
              <a:spcBef>
                <a:spcPts val="0"/>
              </a:spcBef>
              <a:spcAft>
                <a:spcPts val="1000"/>
              </a:spcAft>
            </a:pPr>
            <a:r>
              <a:rPr sz="1900" b="1">
                <a:solidFill>
                  <a:srgbClr val="1F6FEB"/>
                </a:solidFill>
                <a:latin typeface="Arial"/>
              </a:rPr>
              <a:t>•  </a:t>
            </a:r>
            <a:r>
              <a:rPr sz="1900">
                <a:solidFill>
                  <a:srgbClr val="161B26"/>
                </a:solidFill>
                <a:latin typeface="Arial"/>
              </a:rPr>
              <a:t>That's how a web app finds its database/cache: by container/service name.</a:t>
            </a:r>
          </a:p>
          <a:p>
            <a:pPr>
              <a:spcBef>
                <a:spcPts val="0"/>
              </a:spcBef>
              <a:spcAft>
                <a:spcPts val="1000"/>
              </a:spcAft>
            </a:pPr>
            <a:r>
              <a:rPr sz="1900" b="1">
                <a:solidFill>
                  <a:srgbClr val="1F6FEB"/>
                </a:solidFill>
                <a:latin typeface="Arial"/>
              </a:rPr>
              <a:t>•  </a:t>
            </a:r>
            <a:r>
              <a:rPr sz="1900">
                <a:solidFill>
                  <a:srgbClr val="161B26"/>
                </a:solidFill>
                <a:latin typeface="Arial"/>
              </a:rPr>
              <a:t>Port mapping (-p host:container) exposes a container to the host.</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50</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DAY 1 · DOCKER NETWORKING</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Docker Networking — Custom Bridge, DNS &amp; Port Mapping</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69164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69164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LAB 7</a:t>
            </a:r>
          </a:p>
        </p:txBody>
      </p:sp>
      <p:sp>
        <p:nvSpPr>
          <p:cNvPr id="9" name="TextBox 8"/>
          <p:cNvSpPr txBox="1"/>
          <p:nvPr/>
        </p:nvSpPr>
        <p:spPr>
          <a:xfrm>
            <a:off x="2697480" y="1691640"/>
            <a:ext cx="8778240" cy="411480"/>
          </a:xfrm>
          <a:prstGeom prst="rect">
            <a:avLst/>
          </a:prstGeom>
          <a:noFill/>
        </p:spPr>
        <p:txBody>
          <a:bodyPr wrap="square" anchor="ctr" lIns="0" rIns="0" tIns="0" bIns="0">
            <a:spAutoFit/>
          </a:bodyPr>
          <a:lstStyle/>
          <a:p>
            <a:pPr algn="l">
              <a:spcBef>
                <a:spcPts val="0"/>
              </a:spcBef>
              <a:spcAft>
                <a:spcPts val="400"/>
              </a:spcAft>
            </a:pPr>
            <a:r>
              <a:rPr sz="1400" b="1">
                <a:solidFill>
                  <a:srgbClr val="5B6372"/>
                </a:solidFill>
                <a:latin typeface="Arial"/>
              </a:rPr>
              <a:t>Networking</a:t>
            </a:r>
          </a:p>
        </p:txBody>
      </p:sp>
      <p:sp>
        <p:nvSpPr>
          <p:cNvPr id="10" name="TextBox 9"/>
          <p:cNvSpPr txBox="1"/>
          <p:nvPr/>
        </p:nvSpPr>
        <p:spPr>
          <a:xfrm>
            <a:off x="777240" y="2286000"/>
            <a:ext cx="10698480" cy="1554480"/>
          </a:xfrm>
          <a:prstGeom prst="rect">
            <a:avLst/>
          </a:prstGeom>
          <a:noFill/>
        </p:spPr>
        <p:txBody>
          <a:bodyPr wrap="square" anchor="t" lIns="0" rIns="0" tIns="0" bIns="0">
            <a:spAutoFit/>
          </a:bodyPr>
          <a:lstStyle/>
          <a:p>
            <a:pPr algn="l">
              <a:spcBef>
                <a:spcPts val="0"/>
              </a:spcBef>
              <a:spcAft>
                <a:spcPts val="400"/>
              </a:spcAft>
            </a:pPr>
            <a:r>
              <a:rPr sz="1900" b="0">
                <a:solidFill>
                  <a:srgbClr val="161B26"/>
                </a:solidFill>
                <a:latin typeface="Arial"/>
              </a:rPr>
              <a:t>Connect two containers the way real apps do: TaskBoard reaching a Redis cache by name over a custom bridge network. You'll see why a custom network (with built-in DNS) beats the default bridge, then publish the app to the host with port mapping.</a:t>
            </a:r>
          </a:p>
        </p:txBody>
      </p:sp>
      <p:sp>
        <p:nvSpPr>
          <p:cNvPr id="11" name="Rounded Rectangle 10"/>
          <p:cNvSpPr/>
          <p:nvPr/>
        </p:nvSpPr>
        <p:spPr>
          <a:xfrm>
            <a:off x="777240" y="4069080"/>
            <a:ext cx="10698480" cy="178308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25196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3" name="TextBox 12"/>
          <p:cNvSpPr txBox="1"/>
          <p:nvPr/>
        </p:nvSpPr>
        <p:spPr>
          <a:xfrm>
            <a:off x="1005840" y="4617720"/>
            <a:ext cx="10241280" cy="640080"/>
          </a:xfrm>
          <a:prstGeom prst="rect">
            <a:avLst/>
          </a:prstGeom>
          <a:noFill/>
        </p:spPr>
        <p:txBody>
          <a:bodyPr wrap="square" anchor="t" lIns="0" rIns="0" tIns="0" bIns="0">
            <a:spAutoFit/>
          </a:bodyPr>
          <a:lstStyle/>
          <a:p>
            <a:pPr algn="l">
              <a:spcBef>
                <a:spcPts val="0"/>
              </a:spcBef>
              <a:spcAft>
                <a:spcPts val="400"/>
              </a:spcAft>
            </a:pPr>
            <a:r>
              <a:rPr sz="1700" b="1">
                <a:solidFill>
                  <a:srgbClr val="161B26"/>
                </a:solidFill>
                <a:latin typeface="Arial"/>
              </a:rPr>
              <a:t>TaskBoard reaches Redis by DNS name on a custom network; publish ports to the host.</a:t>
            </a:r>
          </a:p>
        </p:txBody>
      </p:sp>
      <p:sp>
        <p:nvSpPr>
          <p:cNvPr id="14" name="TextBox 13"/>
          <p:cNvSpPr txBox="1"/>
          <p:nvPr/>
        </p:nvSpPr>
        <p:spPr>
          <a:xfrm>
            <a:off x="1005840" y="53492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commands:  </a:t>
            </a:r>
            <a:r>
              <a:rPr sz="1300" b="0">
                <a:solidFill>
                  <a:srgbClr val="5B6372"/>
                </a:solidFill>
                <a:latin typeface="Arial"/>
              </a:rPr>
              <a:t>docker network · docker run · docker exec · » Because</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51</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7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Docker Networking — Custom Bridge, DNS &amp; Port Mapping</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Part A — Create a network and a Redis cache</a:t>
            </a:r>
          </a:p>
        </p:txBody>
      </p:sp>
      <p:sp>
        <p:nvSpPr>
          <p:cNvPr id="8" name="Rounded Rectangle 7"/>
          <p:cNvSpPr/>
          <p:nvPr/>
        </p:nvSpPr>
        <p:spPr>
          <a:xfrm>
            <a:off x="777240" y="2075688"/>
            <a:ext cx="10652760" cy="521207"/>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52120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429767"/>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docker network create tasknet</a:t>
            </a:r>
          </a:p>
          <a:p>
            <a:pPr>
              <a:spcBef>
                <a:spcPts val="0"/>
              </a:spcBef>
              <a:spcAft>
                <a:spcPts val="0"/>
              </a:spcAft>
            </a:pPr>
            <a:r>
              <a:rPr sz="1050">
                <a:solidFill>
                  <a:srgbClr val="161B26"/>
                </a:solidFill>
                <a:latin typeface="Consolas"/>
              </a:rPr>
              <a:t>docker run -d --name redis --network tasknet redis:7-alpine</a:t>
            </a:r>
          </a:p>
        </p:txBody>
      </p:sp>
      <p:sp>
        <p:nvSpPr>
          <p:cNvPr id="11" name="TextBox 10"/>
          <p:cNvSpPr txBox="1"/>
          <p:nvPr/>
        </p:nvSpPr>
        <p:spPr>
          <a:xfrm>
            <a:off x="777240" y="2779775"/>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Part B — Run TaskBoard on the same network</a:t>
            </a:r>
          </a:p>
        </p:txBody>
      </p:sp>
      <p:sp>
        <p:nvSpPr>
          <p:cNvPr id="12" name="Rounded Rectangle 11"/>
          <p:cNvSpPr/>
          <p:nvPr/>
        </p:nvSpPr>
        <p:spPr>
          <a:xfrm>
            <a:off x="777240" y="3163823"/>
            <a:ext cx="10652760" cy="896112"/>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163823"/>
            <a:ext cx="82296"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3227831"/>
            <a:ext cx="10323576" cy="804672"/>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docker run -d --name tb --network tasknet -p 8080:5000 \</a:t>
            </a:r>
          </a:p>
          <a:p>
            <a:pPr>
              <a:spcBef>
                <a:spcPts val="0"/>
              </a:spcBef>
              <a:spcAft>
                <a:spcPts val="0"/>
              </a:spcAft>
            </a:pPr>
            <a:r>
              <a:rPr sz="1050">
                <a:solidFill>
                  <a:srgbClr val="161B26"/>
                </a:solidFill>
                <a:latin typeface="Consolas"/>
              </a:rPr>
              <a:t>  -e REDIS_HOST=redis taskboard:1.0</a:t>
            </a:r>
          </a:p>
          <a:p>
            <a:pPr>
              <a:spcBef>
                <a:spcPts val="0"/>
              </a:spcBef>
              <a:spcAft>
                <a:spcPts val="0"/>
              </a:spcAft>
            </a:pPr>
            <a:r>
              <a:rPr sz="1050">
                <a:solidFill>
                  <a:srgbClr val="161B26"/>
                </a:solidFill>
                <a:latin typeface="Consolas"/>
              </a:rPr>
              <a:t>curl http://localhost:8080      # 'visits' counter increments on each load</a:t>
            </a:r>
          </a:p>
          <a:p>
            <a:pPr>
              <a:spcBef>
                <a:spcPts val="0"/>
              </a:spcBef>
              <a:spcAft>
                <a:spcPts val="0"/>
              </a:spcAft>
            </a:pPr>
            <a:r>
              <a:rPr sz="1050">
                <a:solidFill>
                  <a:srgbClr val="161B26"/>
                </a:solidFill>
                <a:latin typeface="Consolas"/>
              </a:rPr>
              <a:t>curl http://localhost:8080</a:t>
            </a:r>
          </a:p>
        </p:txBody>
      </p:sp>
      <p:sp>
        <p:nvSpPr>
          <p:cNvPr id="15" name="TextBox 14"/>
          <p:cNvSpPr txBox="1"/>
          <p:nvPr/>
        </p:nvSpPr>
        <p:spPr>
          <a:xfrm>
            <a:off x="777240" y="4242815"/>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Prove the DNS name resolves from inside the app container:</a:t>
            </a:r>
          </a:p>
        </p:txBody>
      </p:sp>
      <p:sp>
        <p:nvSpPr>
          <p:cNvPr id="16" name="Rounded Rectangle 15"/>
          <p:cNvSpPr/>
          <p:nvPr/>
        </p:nvSpPr>
        <p:spPr>
          <a:xfrm>
            <a:off x="777240" y="4626863"/>
            <a:ext cx="10652760" cy="333756"/>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626863"/>
            <a:ext cx="82296" cy="33375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96696" y="4690871"/>
            <a:ext cx="10323576" cy="242316"/>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docker exec tb getent hosts redis   # resolves to redis's IP on tasknet</a:t>
            </a:r>
          </a:p>
        </p:txBody>
      </p:sp>
      <p:sp>
        <p:nvSpPr>
          <p:cNvPr id="19" name="TextBox 1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20" name="TextBox 1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1" name="TextBox 2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52</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7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Docker Networking — Custom Bridge, DNS &amp; Port Mapping (cont.)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Part C — Port mapping (host access)</a:t>
            </a:r>
          </a:p>
        </p:txBody>
      </p:sp>
      <p:sp>
        <p:nvSpPr>
          <p:cNvPr id="8" name="Rounded Rectangle 7"/>
          <p:cNvSpPr/>
          <p:nvPr/>
        </p:nvSpPr>
        <p:spPr>
          <a:xfrm>
            <a:off x="777240" y="2075688"/>
            <a:ext cx="10652760" cy="1083563"/>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1083563"/>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992123"/>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docker run -d --name tb-b --network tasknet -p 8081:5000 \</a:t>
            </a:r>
          </a:p>
          <a:p>
            <a:pPr>
              <a:spcBef>
                <a:spcPts val="0"/>
              </a:spcBef>
              <a:spcAft>
                <a:spcPts val="0"/>
              </a:spcAft>
            </a:pPr>
            <a:r>
              <a:rPr sz="1050">
                <a:solidFill>
                  <a:srgbClr val="161B26"/>
                </a:solidFill>
                <a:latin typeface="Consolas"/>
              </a:rPr>
              <a:t>  -e REDIS_HOST=redis taskboard:1.0</a:t>
            </a:r>
          </a:p>
          <a:p>
            <a:pPr>
              <a:spcBef>
                <a:spcPts val="0"/>
              </a:spcBef>
              <a:spcAft>
                <a:spcPts val="0"/>
              </a:spcAft>
            </a:pPr>
            <a:r>
              <a:rPr sz="1050">
                <a:solidFill>
                  <a:srgbClr val="161B26"/>
                </a:solidFill>
                <a:latin typeface="Consolas"/>
              </a:rPr>
              <a:t>curl http://localhost:8081/health</a:t>
            </a:r>
          </a:p>
          <a:p>
            <a:pPr>
              <a:spcBef>
                <a:spcPts val="0"/>
              </a:spcBef>
              <a:spcAft>
                <a:spcPts val="0"/>
              </a:spcAft>
            </a:pPr>
            <a:r>
              <a:rPr sz="1050">
                <a:solidFill>
                  <a:srgbClr val="161B26"/>
                </a:solidFill>
                <a:latin typeface="Consolas"/>
              </a:rPr>
              <a:t>docker rm -f tb tb-b redis</a:t>
            </a:r>
          </a:p>
          <a:p>
            <a:pPr>
              <a:spcBef>
                <a:spcPts val="0"/>
              </a:spcBef>
              <a:spcAft>
                <a:spcPts val="0"/>
              </a:spcAft>
            </a:pPr>
            <a:r>
              <a:rPr sz="1050">
                <a:solidFill>
                  <a:srgbClr val="161B26"/>
                </a:solidFill>
                <a:latin typeface="Consolas"/>
              </a:rPr>
              <a:t>docker network rm tasknet</a:t>
            </a:r>
          </a:p>
        </p:txBody>
      </p:sp>
      <p:sp>
        <p:nvSpPr>
          <p:cNvPr id="11" name="TextBox 10"/>
          <p:cNvSpPr txBox="1"/>
          <p:nvPr/>
        </p:nvSpPr>
        <p:spPr>
          <a:xfrm>
            <a:off x="777240" y="3342131"/>
            <a:ext cx="10652760"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Note   </a:t>
            </a:r>
            <a:r>
              <a:rPr sz="1300" b="0">
                <a:solidFill>
                  <a:srgbClr val="5B6372"/>
                </a:solidFill>
                <a:latin typeface="Arial"/>
              </a:rPr>
              <a:t>Because both TaskBoard instances share one Redis on the network, the visit counter is shared across them — your first taste of stateful, multi-container apps (which Compose and Kubernetes automate).</a:t>
            </a:r>
          </a:p>
        </p:txBody>
      </p:sp>
      <p:sp>
        <p:nvSpPr>
          <p:cNvPr id="12" name="TextBox 11"/>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3" name="TextBox 12"/>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4" name="TextBox 13"/>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53</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7  ·  TEST IT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Docker Networking — Custom Bridge, DNS &amp; Port Mapping</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10698480" cy="2560320"/>
          </a:xfrm>
          <a:prstGeom prst="roundRect">
            <a:avLst>
              <a:gd name="adj" fmla="val 5000"/>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200" b="1">
                <a:solidFill>
                  <a:srgbClr val="127A3E"/>
                </a:solidFill>
                <a:latin typeface="Arial"/>
              </a:rPr>
              <a:t>✅  Test it</a:t>
            </a:r>
          </a:p>
        </p:txBody>
      </p:sp>
      <p:sp>
        <p:nvSpPr>
          <p:cNvPr id="9" name="TextBox 8"/>
          <p:cNvSpPr txBox="1"/>
          <p:nvPr/>
        </p:nvSpPr>
        <p:spPr>
          <a:xfrm>
            <a:off x="1097280" y="3017520"/>
            <a:ext cx="10149840" cy="146304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Reloading http://localhost:8080 increases the visits count (served from Redis), and docker exec tb getent hosts redis resolves the redis name to an IP on the custom network.</a:t>
            </a:r>
          </a:p>
        </p:txBody>
      </p:sp>
      <p:sp>
        <p:nvSpPr>
          <p:cNvPr id="10" name="TextBox 9"/>
          <p:cNvSpPr txBox="1"/>
          <p:nvPr/>
        </p:nvSpPr>
        <p:spPr>
          <a:xfrm>
            <a:off x="777240" y="4983480"/>
            <a:ext cx="10698480" cy="365760"/>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KillerCoda:  </a:t>
            </a:r>
            <a:r>
              <a:rPr sz="1300" b="0">
                <a:solidFill>
                  <a:srgbClr val="5B6372"/>
                </a:solidFill>
                <a:latin typeface="Arial"/>
              </a:rPr>
              <a:t>https://killercoda.com/tertiary-labs/course/killercoda/day1-03-docker-networking</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54</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F6FEB"/>
                </a:solidFill>
                <a:latin typeface="Arial"/>
              </a:rPr>
              <a:t>TOPIC 5</a:t>
            </a:r>
          </a:p>
        </p:txBody>
      </p:sp>
      <p:sp>
        <p:nvSpPr>
          <p:cNvPr id="6" name="TextBox 5"/>
          <p:cNvSpPr txBox="1"/>
          <p:nvPr/>
        </p:nvSpPr>
        <p:spPr>
          <a:xfrm>
            <a:off x="1143000" y="2743200"/>
            <a:ext cx="10424160" cy="1463040"/>
          </a:xfrm>
          <a:prstGeom prst="rect">
            <a:avLst/>
          </a:prstGeom>
          <a:noFill/>
        </p:spPr>
        <p:txBody>
          <a:bodyPr wrap="square" anchor="t" lIns="0" rIns="0" tIns="0" bIns="0">
            <a:spAutoFit/>
          </a:bodyPr>
          <a:lstStyle/>
          <a:p>
            <a:pPr algn="l">
              <a:spcBef>
                <a:spcPts val="0"/>
              </a:spcBef>
              <a:spcAft>
                <a:spcPts val="400"/>
              </a:spcAft>
            </a:pPr>
            <a:r>
              <a:rPr sz="4000" b="1">
                <a:solidFill>
                  <a:srgbClr val="161B26"/>
                </a:solidFill>
                <a:latin typeface="Arial"/>
              </a:rPr>
              <a:t>Configuration &amp; Docker Hub</a:t>
            </a:r>
          </a:p>
        </p:txBody>
      </p:sp>
      <p:sp>
        <p:nvSpPr>
          <p:cNvPr id="7" name="TextBox 6"/>
          <p:cNvSpPr txBox="1"/>
          <p:nvPr/>
        </p:nvSpPr>
        <p:spPr>
          <a:xfrm>
            <a:off x="1161288" y="4114800"/>
            <a:ext cx="10058400" cy="731520"/>
          </a:xfrm>
          <a:prstGeom prst="rect">
            <a:avLst/>
          </a:prstGeom>
          <a:noFill/>
        </p:spPr>
        <p:txBody>
          <a:bodyPr wrap="square" anchor="t" lIns="0" rIns="0" tIns="0" bIns="0">
            <a:spAutoFit/>
          </a:bodyPr>
          <a:lstStyle/>
          <a:p>
            <a:pPr algn="l">
              <a:spcBef>
                <a:spcPts val="0"/>
              </a:spcBef>
              <a:spcAft>
                <a:spcPts val="400"/>
              </a:spcAft>
            </a:pPr>
            <a:r>
              <a:rPr sz="1600" b="0">
                <a:solidFill>
                  <a:srgbClr val="5B6372"/>
                </a:solidFill>
                <a:latin typeface="Arial"/>
              </a:rPr>
              <a:t>Runtime config &amp; sharing images</a:t>
            </a:r>
          </a:p>
        </p:txBody>
      </p:sp>
      <p:sp>
        <p:nvSpPr>
          <p:cNvPr id="8" name="TextBox 7"/>
          <p:cNvSpPr txBox="1"/>
          <p:nvPr/>
        </p:nvSpPr>
        <p:spPr>
          <a:xfrm>
            <a:off x="9418320" y="640080"/>
            <a:ext cx="2286000" cy="1463040"/>
          </a:xfrm>
          <a:prstGeom prst="rect">
            <a:avLst/>
          </a:prstGeom>
          <a:noFill/>
        </p:spPr>
        <p:txBody>
          <a:bodyPr wrap="square" anchor="t" lIns="0" rIns="0" tIns="0" bIns="0">
            <a:spAutoFit/>
          </a:bodyPr>
          <a:lstStyle/>
          <a:p>
            <a:pPr algn="r">
              <a:spcBef>
                <a:spcPts val="0"/>
              </a:spcBef>
              <a:spcAft>
                <a:spcPts val="400"/>
              </a:spcAft>
            </a:pPr>
            <a:r>
              <a:rPr sz="7200" b="1">
                <a:solidFill>
                  <a:srgbClr val="E2E8F0"/>
                </a:solidFill>
                <a:latin typeface="Arial"/>
              </a:rPr>
              <a:t/>
            </a:r>
          </a:p>
        </p:txBody>
      </p:sp>
      <p:sp>
        <p:nvSpPr>
          <p:cNvPr id="9" name="TextBox 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55</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CONFIG &amp; REGISTRY</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Environment Variables &amp; Registries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1900" b="1">
                <a:solidFill>
                  <a:srgbClr val="1F6FEB"/>
                </a:solidFill>
                <a:latin typeface="Arial"/>
              </a:rPr>
              <a:t>•  </a:t>
            </a:r>
            <a:r>
              <a:rPr sz="1900">
                <a:solidFill>
                  <a:srgbClr val="161B26"/>
                </a:solidFill>
                <a:latin typeface="Arial"/>
              </a:rPr>
              <a:t>Configure the same image per environment with ENV, -e and --env-file — no rebuild.</a:t>
            </a:r>
          </a:p>
          <a:p>
            <a:pPr>
              <a:spcBef>
                <a:spcPts val="0"/>
              </a:spcBef>
              <a:spcAft>
                <a:spcPts val="1000"/>
              </a:spcAft>
            </a:pPr>
            <a:r>
              <a:rPr sz="1900" b="1">
                <a:solidFill>
                  <a:srgbClr val="1F6FEB"/>
                </a:solidFill>
                <a:latin typeface="Arial"/>
              </a:rPr>
              <a:t>•  </a:t>
            </a:r>
            <a:r>
              <a:rPr sz="1900">
                <a:solidFill>
                  <a:srgbClr val="161B26"/>
                </a:solidFill>
                <a:latin typeface="Arial"/>
              </a:rPr>
              <a:t>Never bake secrets into an image; pass them at runtime.</a:t>
            </a:r>
          </a:p>
          <a:p>
            <a:pPr>
              <a:spcBef>
                <a:spcPts val="0"/>
              </a:spcBef>
              <a:spcAft>
                <a:spcPts val="1000"/>
              </a:spcAft>
            </a:pPr>
            <a:r>
              <a:rPr sz="1900" b="1">
                <a:solidFill>
                  <a:srgbClr val="1F6FEB"/>
                </a:solidFill>
                <a:latin typeface="Arial"/>
              </a:rPr>
              <a:t>•  </a:t>
            </a:r>
            <a:r>
              <a:rPr sz="1900">
                <a:solidFill>
                  <a:srgbClr val="161B26"/>
                </a:solidFill>
                <a:latin typeface="Arial"/>
              </a:rPr>
              <a:t>Docker Hub is the default public registry: docker tag → push → pull.</a:t>
            </a:r>
          </a:p>
          <a:p>
            <a:pPr>
              <a:spcBef>
                <a:spcPts val="0"/>
              </a:spcBef>
              <a:spcAft>
                <a:spcPts val="1000"/>
              </a:spcAft>
            </a:pPr>
            <a:r>
              <a:rPr sz="1900" b="1">
                <a:solidFill>
                  <a:srgbClr val="1F6FEB"/>
                </a:solidFill>
                <a:latin typeface="Arial"/>
              </a:rPr>
              <a:t>•  </a:t>
            </a:r>
            <a:r>
              <a:rPr sz="1900">
                <a:solidFill>
                  <a:srgbClr val="161B26"/>
                </a:solidFill>
                <a:latin typeface="Arial"/>
              </a:rPr>
              <a:t>Kubernetes pulls your image from a registry by name:tag (Day 2).</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56</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DAY 1 · CONFIGURATION</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Configuration with Environment Variables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69164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69164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LAB 8</a:t>
            </a:r>
          </a:p>
        </p:txBody>
      </p:sp>
      <p:sp>
        <p:nvSpPr>
          <p:cNvPr id="9" name="TextBox 8"/>
          <p:cNvSpPr txBox="1"/>
          <p:nvPr/>
        </p:nvSpPr>
        <p:spPr>
          <a:xfrm>
            <a:off x="2697480" y="1691640"/>
            <a:ext cx="8778240" cy="411480"/>
          </a:xfrm>
          <a:prstGeom prst="rect">
            <a:avLst/>
          </a:prstGeom>
          <a:noFill/>
        </p:spPr>
        <p:txBody>
          <a:bodyPr wrap="square" anchor="ctr" lIns="0" rIns="0" tIns="0" bIns="0">
            <a:spAutoFit/>
          </a:bodyPr>
          <a:lstStyle/>
          <a:p>
            <a:pPr algn="l">
              <a:spcBef>
                <a:spcPts val="0"/>
              </a:spcBef>
              <a:spcAft>
                <a:spcPts val="400"/>
              </a:spcAft>
            </a:pPr>
            <a:r>
              <a:rPr sz="1400" b="1">
                <a:solidFill>
                  <a:srgbClr val="5B6372"/>
                </a:solidFill>
                <a:latin typeface="Arial"/>
              </a:rPr>
              <a:t>Environment variables</a:t>
            </a:r>
          </a:p>
        </p:txBody>
      </p:sp>
      <p:sp>
        <p:nvSpPr>
          <p:cNvPr id="10" name="TextBox 9"/>
          <p:cNvSpPr txBox="1"/>
          <p:nvPr/>
        </p:nvSpPr>
        <p:spPr>
          <a:xfrm>
            <a:off x="777240" y="2286000"/>
            <a:ext cx="10698480" cy="1554480"/>
          </a:xfrm>
          <a:prstGeom prst="rect">
            <a:avLst/>
          </a:prstGeom>
          <a:noFill/>
        </p:spPr>
        <p:txBody>
          <a:bodyPr wrap="square" anchor="t" lIns="0" rIns="0" tIns="0" bIns="0">
            <a:spAutoFit/>
          </a:bodyPr>
          <a:lstStyle/>
          <a:p>
            <a:pPr algn="l">
              <a:spcBef>
                <a:spcPts val="0"/>
              </a:spcBef>
              <a:spcAft>
                <a:spcPts val="400"/>
              </a:spcAft>
            </a:pPr>
            <a:r>
              <a:rPr sz="1900" b="0">
                <a:solidFill>
                  <a:srgbClr val="161B26"/>
                </a:solidFill>
                <a:latin typeface="Arial"/>
              </a:rPr>
              <a:t>Configure the SAME TaskBoard image for different environments without rebuilding. You'll set defaults with ENV in the Dockerfile, override per-container with -e, and load many values at once from an --env-file.</a:t>
            </a:r>
          </a:p>
        </p:txBody>
      </p:sp>
      <p:sp>
        <p:nvSpPr>
          <p:cNvPr id="11" name="Rounded Rectangle 10"/>
          <p:cNvSpPr/>
          <p:nvPr/>
        </p:nvSpPr>
        <p:spPr>
          <a:xfrm>
            <a:off x="777240" y="4069080"/>
            <a:ext cx="10698480" cy="178308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25196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3" name="TextBox 12"/>
          <p:cNvSpPr txBox="1"/>
          <p:nvPr/>
        </p:nvSpPr>
        <p:spPr>
          <a:xfrm>
            <a:off x="1005840" y="4617720"/>
            <a:ext cx="10241280" cy="640080"/>
          </a:xfrm>
          <a:prstGeom prst="rect">
            <a:avLst/>
          </a:prstGeom>
          <a:noFill/>
        </p:spPr>
        <p:txBody>
          <a:bodyPr wrap="square" anchor="t" lIns="0" rIns="0" tIns="0" bIns="0">
            <a:spAutoFit/>
          </a:bodyPr>
          <a:lstStyle/>
          <a:p>
            <a:pPr algn="l">
              <a:spcBef>
                <a:spcPts val="0"/>
              </a:spcBef>
              <a:spcAft>
                <a:spcPts val="400"/>
              </a:spcAft>
            </a:pPr>
            <a:r>
              <a:rPr sz="1700" b="1">
                <a:solidFill>
                  <a:srgbClr val="161B26"/>
                </a:solidFill>
                <a:latin typeface="Arial"/>
              </a:rPr>
              <a:t>Configure TaskBoard (APP_ENV, APP_TITLE) via ENV, -e and --env-file — no rebuild.</a:t>
            </a:r>
          </a:p>
        </p:txBody>
      </p:sp>
      <p:sp>
        <p:nvSpPr>
          <p:cNvPr id="14" name="TextBox 13"/>
          <p:cNvSpPr txBox="1"/>
          <p:nvPr/>
        </p:nvSpPr>
        <p:spPr>
          <a:xfrm>
            <a:off x="1005840" y="53492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commands:  </a:t>
            </a:r>
            <a:r>
              <a:rPr sz="1300" b="0">
                <a:solidFill>
                  <a:srgbClr val="5B6372"/>
                </a:solidFill>
                <a:latin typeface="Arial"/>
              </a:rPr>
              <a:t>docker run · cat .env · » Never</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57</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8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Configuration with Environment Variables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1. Defaults baked into the image (ENV)</a:t>
            </a:r>
          </a:p>
        </p:txBody>
      </p:sp>
      <p:sp>
        <p:nvSpPr>
          <p:cNvPr id="8" name="Rounded Rectangle 7"/>
          <p:cNvSpPr/>
          <p:nvPr/>
        </p:nvSpPr>
        <p:spPr>
          <a:xfrm>
            <a:off x="777240" y="2075688"/>
            <a:ext cx="10652760" cy="708660"/>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7086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617220"/>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docker run -d --name tb -p 8080:5000 taskboard:1.0</a:t>
            </a:r>
          </a:p>
          <a:p>
            <a:pPr>
              <a:spcBef>
                <a:spcPts val="0"/>
              </a:spcBef>
              <a:spcAft>
                <a:spcPts val="0"/>
              </a:spcAft>
            </a:pPr>
            <a:r>
              <a:rPr sz="1050">
                <a:solidFill>
                  <a:srgbClr val="161B26"/>
                </a:solidFill>
                <a:latin typeface="Consolas"/>
              </a:rPr>
              <a:t>curl http://localhost:8080/health   # "env": "development"</a:t>
            </a:r>
          </a:p>
          <a:p>
            <a:pPr>
              <a:spcBef>
                <a:spcPts val="0"/>
              </a:spcBef>
              <a:spcAft>
                <a:spcPts val="0"/>
              </a:spcAft>
            </a:pPr>
            <a:r>
              <a:rPr sz="1050">
                <a:solidFill>
                  <a:srgbClr val="161B26"/>
                </a:solidFill>
                <a:latin typeface="Consolas"/>
              </a:rPr>
              <a:t>docker rm -f tb</a:t>
            </a:r>
          </a:p>
        </p:txBody>
      </p:sp>
      <p:sp>
        <p:nvSpPr>
          <p:cNvPr id="11" name="TextBox 10"/>
          <p:cNvSpPr txBox="1"/>
          <p:nvPr/>
        </p:nvSpPr>
        <p:spPr>
          <a:xfrm>
            <a:off x="777240" y="2967228"/>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2. Override per container with -e</a:t>
            </a:r>
          </a:p>
        </p:txBody>
      </p:sp>
      <p:sp>
        <p:nvSpPr>
          <p:cNvPr id="12" name="Rounded Rectangle 11"/>
          <p:cNvSpPr/>
          <p:nvPr/>
        </p:nvSpPr>
        <p:spPr>
          <a:xfrm>
            <a:off x="777240" y="3351276"/>
            <a:ext cx="10652760" cy="896112"/>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351276"/>
            <a:ext cx="82296"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3415284"/>
            <a:ext cx="10323576" cy="804672"/>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docker run -d --name tb -p 8080:5000 \</a:t>
            </a:r>
          </a:p>
          <a:p>
            <a:pPr>
              <a:spcBef>
                <a:spcPts val="0"/>
              </a:spcBef>
              <a:spcAft>
                <a:spcPts val="0"/>
              </a:spcAft>
            </a:pPr>
            <a:r>
              <a:rPr sz="1050">
                <a:solidFill>
                  <a:srgbClr val="161B26"/>
                </a:solidFill>
                <a:latin typeface="Consolas"/>
              </a:rPr>
              <a:t>  -e APP_ENV=staging -e 'APP_TITLE=TaskBoard (Staging)' taskboard:1.0</a:t>
            </a:r>
          </a:p>
          <a:p>
            <a:pPr>
              <a:spcBef>
                <a:spcPts val="0"/>
              </a:spcBef>
              <a:spcAft>
                <a:spcPts val="0"/>
              </a:spcAft>
            </a:pPr>
            <a:r>
              <a:rPr sz="1050">
                <a:solidFill>
                  <a:srgbClr val="161B26"/>
                </a:solidFill>
                <a:latin typeface="Consolas"/>
              </a:rPr>
              <a:t>curl http://localhost:8080/health   # "env": "staging"</a:t>
            </a:r>
          </a:p>
          <a:p>
            <a:pPr>
              <a:spcBef>
                <a:spcPts val="0"/>
              </a:spcBef>
              <a:spcAft>
                <a:spcPts val="0"/>
              </a:spcAft>
            </a:pPr>
            <a:r>
              <a:rPr sz="1050">
                <a:solidFill>
                  <a:srgbClr val="161B26"/>
                </a:solidFill>
                <a:latin typeface="Consolas"/>
              </a:rPr>
              <a:t>docker rm -f tb</a:t>
            </a:r>
          </a:p>
        </p:txBody>
      </p:sp>
      <p:sp>
        <p:nvSpPr>
          <p:cNvPr id="15" name="TextBox 14"/>
          <p:cNvSpPr txBox="1"/>
          <p:nvPr/>
        </p:nvSpPr>
        <p:spPr>
          <a:xfrm>
            <a:off x="777240" y="4430268"/>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3. Load many values from an --env-file</a:t>
            </a:r>
          </a:p>
        </p:txBody>
      </p:sp>
      <p:sp>
        <p:nvSpPr>
          <p:cNvPr id="16" name="Rounded Rectangle 15"/>
          <p:cNvSpPr/>
          <p:nvPr/>
        </p:nvSpPr>
        <p:spPr>
          <a:xfrm>
            <a:off x="777240" y="4814316"/>
            <a:ext cx="10652760" cy="896112"/>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814316"/>
            <a:ext cx="82296"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96696" y="4878324"/>
            <a:ext cx="10323576" cy="804672"/>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cat .env</a:t>
            </a:r>
          </a:p>
          <a:p>
            <a:pPr>
              <a:spcBef>
                <a:spcPts val="0"/>
              </a:spcBef>
              <a:spcAft>
                <a:spcPts val="0"/>
              </a:spcAft>
            </a:pPr>
            <a:r>
              <a:rPr sz="1050">
                <a:solidFill>
                  <a:srgbClr val="161B26"/>
                </a:solidFill>
                <a:latin typeface="Consolas"/>
              </a:rPr>
              <a:t>docker run -d --name tb -p 8080:5000 --env-file .env taskboard:1.0</a:t>
            </a:r>
          </a:p>
          <a:p>
            <a:pPr>
              <a:spcBef>
                <a:spcPts val="0"/>
              </a:spcBef>
              <a:spcAft>
                <a:spcPts val="0"/>
              </a:spcAft>
            </a:pPr>
            <a:r>
              <a:rPr sz="1050">
                <a:solidFill>
                  <a:srgbClr val="161B26"/>
                </a:solidFill>
                <a:latin typeface="Consolas"/>
              </a:rPr>
              <a:t>curl http://localhost:8080/health   # "env": "production"</a:t>
            </a:r>
          </a:p>
          <a:p>
            <a:pPr>
              <a:spcBef>
                <a:spcPts val="0"/>
              </a:spcBef>
              <a:spcAft>
                <a:spcPts val="0"/>
              </a:spcAft>
            </a:pPr>
            <a:r>
              <a:rPr sz="1050">
                <a:solidFill>
                  <a:srgbClr val="161B26"/>
                </a:solidFill>
                <a:latin typeface="Consolas"/>
              </a:rPr>
              <a:t>docker rm -f tb</a:t>
            </a:r>
          </a:p>
        </p:txBody>
      </p:sp>
      <p:sp>
        <p:nvSpPr>
          <p:cNvPr id="19" name="TextBox 1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20" name="TextBox 1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1" name="TextBox 2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58</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8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Configuration with Environment Variables (cont.)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52760"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Note   </a:t>
            </a:r>
            <a:r>
              <a:rPr sz="1300" b="0">
                <a:solidFill>
                  <a:srgbClr val="5B6372"/>
                </a:solidFill>
                <a:latin typeface="Arial"/>
              </a:rPr>
              <a:t>Never bake secrets into an image. Pass them at runtime with -e / --env-file (and in Kubernetes, with ConfigMaps and Secrets — Day 2).</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59</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8  ·  TEST IT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Configuration with Environment Variables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10698480" cy="2560320"/>
          </a:xfrm>
          <a:prstGeom prst="roundRect">
            <a:avLst>
              <a:gd name="adj" fmla="val 5000"/>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200" b="1">
                <a:solidFill>
                  <a:srgbClr val="127A3E"/>
                </a:solidFill>
                <a:latin typeface="Arial"/>
              </a:rPr>
              <a:t>✅  Test it</a:t>
            </a:r>
          </a:p>
        </p:txBody>
      </p:sp>
      <p:sp>
        <p:nvSpPr>
          <p:cNvPr id="9" name="TextBox 8"/>
          <p:cNvSpPr txBox="1"/>
          <p:nvPr/>
        </p:nvSpPr>
        <p:spPr>
          <a:xfrm>
            <a:off x="1097280" y="3017520"/>
            <a:ext cx="10149840" cy="146304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The /health endpoint reports development, then staging, then production as you change only the environment variables — the image is never rebuilt.</a:t>
            </a:r>
          </a:p>
        </p:txBody>
      </p:sp>
      <p:sp>
        <p:nvSpPr>
          <p:cNvPr id="10" name="TextBox 9"/>
          <p:cNvSpPr txBox="1"/>
          <p:nvPr/>
        </p:nvSpPr>
        <p:spPr>
          <a:xfrm>
            <a:off x="777240" y="4983480"/>
            <a:ext cx="10698480" cy="365760"/>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KillerCoda:  </a:t>
            </a:r>
            <a:r>
              <a:rPr sz="1300" b="0">
                <a:solidFill>
                  <a:srgbClr val="5B6372"/>
                </a:solidFill>
                <a:latin typeface="Arial"/>
              </a:rPr>
              <a:t>https://killercoda.com/tertiary-labs/course/killercoda/day1-04-docker-config</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60</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2148840"/>
            <a:ext cx="231343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514600"/>
            <a:ext cx="12191695" cy="1097280"/>
          </a:xfrm>
          <a:prstGeom prst="rect">
            <a:avLst/>
          </a:prstGeom>
          <a:noFill/>
        </p:spPr>
        <p:txBody>
          <a:bodyPr wrap="square" anchor="t" lIns="0" rIns="0" tIns="0" bIns="0">
            <a:spAutoFit/>
          </a:bodyPr>
          <a:lstStyle/>
          <a:p>
            <a:pPr algn="ctr">
              <a:spcBef>
                <a:spcPts val="0"/>
              </a:spcBef>
              <a:spcAft>
                <a:spcPts val="400"/>
              </a:spcAft>
            </a:pPr>
            <a:r>
              <a:rPr sz="4800" b="1">
                <a:solidFill>
                  <a:srgbClr val="161B26"/>
                </a:solidFill>
                <a:latin typeface="Arial"/>
              </a:rPr>
              <a:t>Tea Break</a:t>
            </a:r>
          </a:p>
        </p:txBody>
      </p:sp>
      <p:sp>
        <p:nvSpPr>
          <p:cNvPr id="7" name="TextBox 6"/>
          <p:cNvSpPr txBox="1"/>
          <p:nvPr/>
        </p:nvSpPr>
        <p:spPr>
          <a:xfrm>
            <a:off x="0" y="3703320"/>
            <a:ext cx="12191695" cy="731520"/>
          </a:xfrm>
          <a:prstGeom prst="rect">
            <a:avLst/>
          </a:prstGeom>
          <a:noFill/>
        </p:spPr>
        <p:txBody>
          <a:bodyPr wrap="square" anchor="t" lIns="0" rIns="0" tIns="0" bIns="0">
            <a:spAutoFit/>
          </a:bodyPr>
          <a:lstStyle/>
          <a:p>
            <a:pPr algn="ctr">
              <a:spcBef>
                <a:spcPts val="0"/>
              </a:spcBef>
              <a:spcAft>
                <a:spcPts val="400"/>
              </a:spcAft>
            </a:pPr>
            <a:r>
              <a:rPr sz="2200" b="1">
                <a:solidFill>
                  <a:srgbClr val="10B981"/>
                </a:solidFill>
                <a:latin typeface="Arial"/>
              </a:rPr>
              <a:t>15 minutes</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DAY 1 · DOCKER HUB</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Sharing Images — Push to Docker Hub</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69164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69164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LAB 9</a:t>
            </a:r>
          </a:p>
        </p:txBody>
      </p:sp>
      <p:sp>
        <p:nvSpPr>
          <p:cNvPr id="9" name="TextBox 8"/>
          <p:cNvSpPr txBox="1"/>
          <p:nvPr/>
        </p:nvSpPr>
        <p:spPr>
          <a:xfrm>
            <a:off x="2697480" y="1691640"/>
            <a:ext cx="8778240" cy="411480"/>
          </a:xfrm>
          <a:prstGeom prst="rect">
            <a:avLst/>
          </a:prstGeom>
          <a:noFill/>
        </p:spPr>
        <p:txBody>
          <a:bodyPr wrap="square" anchor="ctr" lIns="0" rIns="0" tIns="0" bIns="0">
            <a:spAutoFit/>
          </a:bodyPr>
          <a:lstStyle/>
          <a:p>
            <a:pPr algn="l">
              <a:spcBef>
                <a:spcPts val="0"/>
              </a:spcBef>
              <a:spcAft>
                <a:spcPts val="400"/>
              </a:spcAft>
            </a:pPr>
            <a:r>
              <a:rPr sz="1400" b="1">
                <a:solidFill>
                  <a:srgbClr val="5B6372"/>
                </a:solidFill>
                <a:latin typeface="Arial"/>
              </a:rPr>
              <a:t>Docker Hub</a:t>
            </a:r>
          </a:p>
        </p:txBody>
      </p:sp>
      <p:sp>
        <p:nvSpPr>
          <p:cNvPr id="10" name="TextBox 9"/>
          <p:cNvSpPr txBox="1"/>
          <p:nvPr/>
        </p:nvSpPr>
        <p:spPr>
          <a:xfrm>
            <a:off x="777240" y="2286000"/>
            <a:ext cx="10698480" cy="1554480"/>
          </a:xfrm>
          <a:prstGeom prst="rect">
            <a:avLst/>
          </a:prstGeom>
          <a:noFill/>
        </p:spPr>
        <p:txBody>
          <a:bodyPr wrap="square" anchor="t" lIns="0" rIns="0" tIns="0" bIns="0">
            <a:spAutoFit/>
          </a:bodyPr>
          <a:lstStyle/>
          <a:p>
            <a:pPr algn="l">
              <a:spcBef>
                <a:spcPts val="0"/>
              </a:spcBef>
              <a:spcAft>
                <a:spcPts val="400"/>
              </a:spcAft>
            </a:pPr>
            <a:r>
              <a:rPr sz="1900" b="0">
                <a:solidFill>
                  <a:srgbClr val="161B26"/>
                </a:solidFill>
                <a:latin typeface="Arial"/>
              </a:rPr>
              <a:t>Publish your TaskBoard image to Docker Hub so anyone (and any Kubernetes cluster) can pull and run it. You'll log in, tag the image under your account, push it, then pull and run it as if you were a new user.</a:t>
            </a:r>
          </a:p>
        </p:txBody>
      </p:sp>
      <p:sp>
        <p:nvSpPr>
          <p:cNvPr id="11" name="Rounded Rectangle 10"/>
          <p:cNvSpPr/>
          <p:nvPr/>
        </p:nvSpPr>
        <p:spPr>
          <a:xfrm>
            <a:off x="777240" y="4069080"/>
            <a:ext cx="10698480" cy="178308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25196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3" name="TextBox 12"/>
          <p:cNvSpPr txBox="1"/>
          <p:nvPr/>
        </p:nvSpPr>
        <p:spPr>
          <a:xfrm>
            <a:off x="1005840" y="4617720"/>
            <a:ext cx="10241280" cy="640080"/>
          </a:xfrm>
          <a:prstGeom prst="rect">
            <a:avLst/>
          </a:prstGeom>
          <a:noFill/>
        </p:spPr>
        <p:txBody>
          <a:bodyPr wrap="square" anchor="t" lIns="0" rIns="0" tIns="0" bIns="0">
            <a:spAutoFit/>
          </a:bodyPr>
          <a:lstStyle/>
          <a:p>
            <a:pPr algn="l">
              <a:spcBef>
                <a:spcPts val="0"/>
              </a:spcBef>
              <a:spcAft>
                <a:spcPts val="400"/>
              </a:spcAft>
            </a:pPr>
            <a:r>
              <a:rPr sz="1700" b="1">
                <a:solidFill>
                  <a:srgbClr val="161B26"/>
                </a:solidFill>
                <a:latin typeface="Arial"/>
              </a:rPr>
              <a:t>Tag, push and pull the TaskBoard image via Docker Hub.</a:t>
            </a:r>
          </a:p>
        </p:txBody>
      </p:sp>
      <p:sp>
        <p:nvSpPr>
          <p:cNvPr id="14" name="TextBox 13"/>
          <p:cNvSpPr txBox="1"/>
          <p:nvPr/>
        </p:nvSpPr>
        <p:spPr>
          <a:xfrm>
            <a:off x="1005840" y="53492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commands:  </a:t>
            </a:r>
            <a:r>
              <a:rPr sz="1300" b="0">
                <a:solidFill>
                  <a:srgbClr val="5B6372"/>
                </a:solidFill>
                <a:latin typeface="Arial"/>
              </a:rPr>
              <a:t>docker login · docker push · docker rmi · » This</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62</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9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Sharing Images — Push to Docker Hub</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Log in and tag</a:t>
            </a:r>
          </a:p>
        </p:txBody>
      </p:sp>
      <p:sp>
        <p:nvSpPr>
          <p:cNvPr id="8" name="Rounded Rectangle 7"/>
          <p:cNvSpPr/>
          <p:nvPr/>
        </p:nvSpPr>
        <p:spPr>
          <a:xfrm>
            <a:off x="777240" y="2075688"/>
            <a:ext cx="10652760" cy="521207"/>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52120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429767"/>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docker login</a:t>
            </a:r>
          </a:p>
          <a:p>
            <a:pPr>
              <a:spcBef>
                <a:spcPts val="0"/>
              </a:spcBef>
              <a:spcAft>
                <a:spcPts val="0"/>
              </a:spcAft>
            </a:pPr>
            <a:r>
              <a:rPr sz="1050">
                <a:solidFill>
                  <a:srgbClr val="161B26"/>
                </a:solidFill>
                <a:latin typeface="Consolas"/>
              </a:rPr>
              <a:t>docker tag taskboard:1.0 &lt;user&gt;/taskboard:1.0</a:t>
            </a:r>
          </a:p>
        </p:txBody>
      </p:sp>
      <p:sp>
        <p:nvSpPr>
          <p:cNvPr id="11" name="TextBox 10"/>
          <p:cNvSpPr txBox="1"/>
          <p:nvPr/>
        </p:nvSpPr>
        <p:spPr>
          <a:xfrm>
            <a:off x="777240" y="2779775"/>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Push</a:t>
            </a:r>
          </a:p>
        </p:txBody>
      </p:sp>
      <p:sp>
        <p:nvSpPr>
          <p:cNvPr id="12" name="Rounded Rectangle 11"/>
          <p:cNvSpPr/>
          <p:nvPr/>
        </p:nvSpPr>
        <p:spPr>
          <a:xfrm>
            <a:off x="777240" y="3163823"/>
            <a:ext cx="10652760" cy="521207"/>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163823"/>
            <a:ext cx="82296" cy="52120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3227831"/>
            <a:ext cx="10323576" cy="429767"/>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docker push &lt;user&gt;/taskboard:1.0</a:t>
            </a:r>
          </a:p>
          <a:p>
            <a:pPr>
              <a:spcBef>
                <a:spcPts val="0"/>
              </a:spcBef>
              <a:spcAft>
                <a:spcPts val="0"/>
              </a:spcAft>
            </a:pPr>
            <a:r>
              <a:rPr sz="1050">
                <a:solidFill>
                  <a:srgbClr val="161B26"/>
                </a:solidFill>
                <a:latin typeface="Consolas"/>
              </a:rPr>
              <a:t># browse to https://hub.docker.com/r/&lt;user&gt;/taskboard to see it</a:t>
            </a:r>
          </a:p>
        </p:txBody>
      </p:sp>
      <p:sp>
        <p:nvSpPr>
          <p:cNvPr id="15" name="TextBox 14"/>
          <p:cNvSpPr txBox="1"/>
          <p:nvPr/>
        </p:nvSpPr>
        <p:spPr>
          <a:xfrm>
            <a:off x="777240" y="386791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Pull &amp; run as a new user</a:t>
            </a:r>
          </a:p>
        </p:txBody>
      </p:sp>
      <p:sp>
        <p:nvSpPr>
          <p:cNvPr id="16" name="Rounded Rectangle 15"/>
          <p:cNvSpPr/>
          <p:nvPr/>
        </p:nvSpPr>
        <p:spPr>
          <a:xfrm>
            <a:off x="777240" y="4251958"/>
            <a:ext cx="10652760" cy="1083563"/>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251958"/>
            <a:ext cx="82296" cy="1083563"/>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96696" y="4315966"/>
            <a:ext cx="10323576" cy="992123"/>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docker rmi &lt;user&gt;/taskboard:1.0          # remove the local copy</a:t>
            </a:r>
          </a:p>
          <a:p>
            <a:pPr>
              <a:spcBef>
                <a:spcPts val="0"/>
              </a:spcBef>
              <a:spcAft>
                <a:spcPts val="0"/>
              </a:spcAft>
            </a:pPr>
            <a:r>
              <a:rPr sz="1050">
                <a:solidFill>
                  <a:srgbClr val="161B26"/>
                </a:solidFill>
                <a:latin typeface="Consolas"/>
              </a:rPr>
              <a:t>docker run -d --name tb -p 8080:5000 &lt;user&gt;/taskboard:1.0</a:t>
            </a:r>
          </a:p>
          <a:p>
            <a:pPr>
              <a:spcBef>
                <a:spcPts val="0"/>
              </a:spcBef>
              <a:spcAft>
                <a:spcPts val="0"/>
              </a:spcAft>
            </a:pPr>
            <a:r>
              <a:rPr sz="1050">
                <a:solidFill>
                  <a:srgbClr val="161B26"/>
                </a:solidFill>
                <a:latin typeface="Consolas"/>
              </a:rPr>
              <a:t>curl http://localhost:8080/health</a:t>
            </a:r>
          </a:p>
          <a:p>
            <a:pPr>
              <a:spcBef>
                <a:spcPts val="0"/>
              </a:spcBef>
              <a:spcAft>
                <a:spcPts val="0"/>
              </a:spcAft>
            </a:pPr>
            <a:r>
              <a:rPr sz="1050">
                <a:solidFill>
                  <a:srgbClr val="161B26"/>
                </a:solidFill>
                <a:latin typeface="Consolas"/>
              </a:rPr>
              <a:t>docker rm -f tb</a:t>
            </a:r>
          </a:p>
          <a:p>
            <a:pPr>
              <a:spcBef>
                <a:spcPts val="0"/>
              </a:spcBef>
              <a:spcAft>
                <a:spcPts val="0"/>
              </a:spcAft>
            </a:pPr>
            <a:r>
              <a:rPr sz="1050">
                <a:solidFill>
                  <a:srgbClr val="161B26"/>
                </a:solidFill>
                <a:latin typeface="Consolas"/>
              </a:rPr>
              <a:t>docker logout</a:t>
            </a:r>
          </a:p>
        </p:txBody>
      </p:sp>
      <p:sp>
        <p:nvSpPr>
          <p:cNvPr id="19" name="TextBox 1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20" name="TextBox 1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1" name="TextBox 2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63</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9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Sharing Images — Push to Docker Hub (cont.)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52760"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Note   </a:t>
            </a:r>
            <a:r>
              <a:rPr sz="1300" b="0">
                <a:solidFill>
                  <a:srgbClr val="5B6372"/>
                </a:solidFill>
                <a:latin typeface="Arial"/>
              </a:rPr>
              <a:t>This is exactly how Kubernetes gets your app on Day 2: the cluster pulls your image from a registry by name:tag. Always push a versioned tag, not just latest.</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64</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9  ·  TEST IT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Sharing Images — Push to Docker Hub</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10698480" cy="2560320"/>
          </a:xfrm>
          <a:prstGeom prst="roundRect">
            <a:avLst>
              <a:gd name="adj" fmla="val 5000"/>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200" b="1">
                <a:solidFill>
                  <a:srgbClr val="127A3E"/>
                </a:solidFill>
                <a:latin typeface="Arial"/>
              </a:rPr>
              <a:t>✅  Test it</a:t>
            </a:r>
          </a:p>
        </p:txBody>
      </p:sp>
      <p:sp>
        <p:nvSpPr>
          <p:cNvPr id="9" name="TextBox 8"/>
          <p:cNvSpPr txBox="1"/>
          <p:nvPr/>
        </p:nvSpPr>
        <p:spPr>
          <a:xfrm>
            <a:off x="1097280" y="3017520"/>
            <a:ext cx="10149840" cy="146304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Your image appears at hub.docker.com under &lt;user&gt;/taskboard, and after removing the local image you can docker run it straight from the registry.</a:t>
            </a:r>
          </a:p>
        </p:txBody>
      </p:sp>
      <p:sp>
        <p:nvSpPr>
          <p:cNvPr id="10" name="TextBox 9"/>
          <p:cNvSpPr txBox="1"/>
          <p:nvPr/>
        </p:nvSpPr>
        <p:spPr>
          <a:xfrm>
            <a:off x="777240" y="4983480"/>
            <a:ext cx="10698480" cy="365760"/>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KillerCoda:  </a:t>
            </a:r>
            <a:r>
              <a:rPr sz="1300" b="0">
                <a:solidFill>
                  <a:srgbClr val="5B6372"/>
                </a:solidFill>
                <a:latin typeface="Arial"/>
              </a:rPr>
              <a:t>https://killercoda.com/tertiary-labs/course/killercoda/day1-01-docker-fundamentals</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65</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F6FEB"/>
                </a:solidFill>
                <a:latin typeface="Arial"/>
              </a:rPr>
              <a:t>TOPIC 6</a:t>
            </a:r>
          </a:p>
        </p:txBody>
      </p:sp>
      <p:sp>
        <p:nvSpPr>
          <p:cNvPr id="6" name="TextBox 5"/>
          <p:cNvSpPr txBox="1"/>
          <p:nvPr/>
        </p:nvSpPr>
        <p:spPr>
          <a:xfrm>
            <a:off x="1143000" y="2743200"/>
            <a:ext cx="10424160" cy="1463040"/>
          </a:xfrm>
          <a:prstGeom prst="rect">
            <a:avLst/>
          </a:prstGeom>
          <a:noFill/>
        </p:spPr>
        <p:txBody>
          <a:bodyPr wrap="square" anchor="t" lIns="0" rIns="0" tIns="0" bIns="0">
            <a:spAutoFit/>
          </a:bodyPr>
          <a:lstStyle/>
          <a:p>
            <a:pPr algn="l">
              <a:spcBef>
                <a:spcPts val="0"/>
              </a:spcBef>
              <a:spcAft>
                <a:spcPts val="400"/>
              </a:spcAft>
            </a:pPr>
            <a:r>
              <a:rPr sz="4000" b="1">
                <a:solidFill>
                  <a:srgbClr val="161B26"/>
                </a:solidFill>
                <a:latin typeface="Arial"/>
              </a:rPr>
              <a:t>Docker Compose</a:t>
            </a:r>
          </a:p>
        </p:txBody>
      </p:sp>
      <p:sp>
        <p:nvSpPr>
          <p:cNvPr id="7" name="TextBox 6"/>
          <p:cNvSpPr txBox="1"/>
          <p:nvPr/>
        </p:nvSpPr>
        <p:spPr>
          <a:xfrm>
            <a:off x="1161288" y="4114800"/>
            <a:ext cx="10058400" cy="731520"/>
          </a:xfrm>
          <a:prstGeom prst="rect">
            <a:avLst/>
          </a:prstGeom>
          <a:noFill/>
        </p:spPr>
        <p:txBody>
          <a:bodyPr wrap="square" anchor="t" lIns="0" rIns="0" tIns="0" bIns="0">
            <a:spAutoFit/>
          </a:bodyPr>
          <a:lstStyle/>
          <a:p>
            <a:pPr algn="l">
              <a:spcBef>
                <a:spcPts val="0"/>
              </a:spcBef>
              <a:spcAft>
                <a:spcPts val="400"/>
              </a:spcAft>
            </a:pPr>
            <a:r>
              <a:rPr sz="1600" b="0">
                <a:solidFill>
                  <a:srgbClr val="5B6372"/>
                </a:solidFill>
                <a:latin typeface="Arial"/>
              </a:rPr>
              <a:t>Define multi-service apps in one YAML file</a:t>
            </a:r>
          </a:p>
        </p:txBody>
      </p:sp>
      <p:sp>
        <p:nvSpPr>
          <p:cNvPr id="8" name="TextBox 7"/>
          <p:cNvSpPr txBox="1"/>
          <p:nvPr/>
        </p:nvSpPr>
        <p:spPr>
          <a:xfrm>
            <a:off x="9418320" y="640080"/>
            <a:ext cx="2286000" cy="1463040"/>
          </a:xfrm>
          <a:prstGeom prst="rect">
            <a:avLst/>
          </a:prstGeom>
          <a:noFill/>
        </p:spPr>
        <p:txBody>
          <a:bodyPr wrap="square" anchor="t" lIns="0" rIns="0" tIns="0" bIns="0">
            <a:spAutoFit/>
          </a:bodyPr>
          <a:lstStyle/>
          <a:p>
            <a:pPr algn="r">
              <a:spcBef>
                <a:spcPts val="0"/>
              </a:spcBef>
              <a:spcAft>
                <a:spcPts val="400"/>
              </a:spcAft>
            </a:pPr>
            <a:r>
              <a:rPr sz="7200" b="1">
                <a:solidFill>
                  <a:srgbClr val="E2E8F0"/>
                </a:solidFill>
                <a:latin typeface="Arial"/>
              </a:rPr>
              <a:t/>
            </a:r>
          </a:p>
        </p:txBody>
      </p:sp>
      <p:sp>
        <p:nvSpPr>
          <p:cNvPr id="9" name="TextBox 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66</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MULTI-SERVICE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What is Docker Compose?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1900" b="1">
                <a:solidFill>
                  <a:srgbClr val="1F6FEB"/>
                </a:solidFill>
                <a:latin typeface="Arial"/>
              </a:rPr>
              <a:t>•  </a:t>
            </a:r>
            <a:r>
              <a:rPr sz="1900">
                <a:solidFill>
                  <a:srgbClr val="161B26"/>
                </a:solidFill>
                <a:latin typeface="Arial"/>
              </a:rPr>
              <a:t>Define all your services, networks and volumes in one docker-compose.yml.</a:t>
            </a:r>
          </a:p>
          <a:p>
            <a:pPr>
              <a:spcBef>
                <a:spcPts val="0"/>
              </a:spcBef>
              <a:spcAft>
                <a:spcPts val="1000"/>
              </a:spcAft>
            </a:pPr>
            <a:r>
              <a:rPr sz="1900" b="1">
                <a:solidFill>
                  <a:srgbClr val="1F6FEB"/>
                </a:solidFill>
                <a:latin typeface="Arial"/>
              </a:rPr>
              <a:t>•  </a:t>
            </a:r>
            <a:r>
              <a:rPr sz="1900">
                <a:solidFill>
                  <a:srgbClr val="161B26"/>
                </a:solidFill>
                <a:latin typeface="Arial"/>
              </a:rPr>
              <a:t>Compose creates a shared network; services reach each other by service name.</a:t>
            </a:r>
          </a:p>
          <a:p>
            <a:pPr>
              <a:spcBef>
                <a:spcPts val="0"/>
              </a:spcBef>
              <a:spcAft>
                <a:spcPts val="1000"/>
              </a:spcAft>
            </a:pPr>
            <a:r>
              <a:rPr sz="1900" b="1">
                <a:solidFill>
                  <a:srgbClr val="1F6FEB"/>
                </a:solidFill>
                <a:latin typeface="Arial"/>
              </a:rPr>
              <a:t>•  </a:t>
            </a:r>
            <a:r>
              <a:rPr sz="1900">
                <a:solidFill>
                  <a:srgbClr val="161B26"/>
                </a:solidFill>
                <a:latin typeface="Arial"/>
              </a:rPr>
              <a:t>Lifecycle: docker compose pull → up -d → ps / logs → down (and down -v).</a:t>
            </a:r>
          </a:p>
          <a:p>
            <a:pPr>
              <a:spcBef>
                <a:spcPts val="0"/>
              </a:spcBef>
              <a:spcAft>
                <a:spcPts val="1000"/>
              </a:spcAft>
            </a:pPr>
            <a:r>
              <a:rPr sz="1900" b="1">
                <a:solidFill>
                  <a:srgbClr val="1F6FEB"/>
                </a:solidFill>
                <a:latin typeface="Arial"/>
              </a:rPr>
              <a:t>•  </a:t>
            </a:r>
            <a:r>
              <a:rPr sz="1900">
                <a:solidFill>
                  <a:srgbClr val="161B26"/>
                </a:solidFill>
                <a:latin typeface="Arial"/>
              </a:rPr>
              <a:t>healthcheck + depends_on: condition lets the app wait for the database.</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67</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WEB + DB + CACHE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The TaskBoard Stack</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83080"/>
            <a:ext cx="3337560" cy="420624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57400"/>
            <a:ext cx="2926080" cy="548640"/>
          </a:xfrm>
          <a:prstGeom prst="rect">
            <a:avLst/>
          </a:prstGeom>
          <a:noFill/>
        </p:spPr>
        <p:txBody>
          <a:bodyPr wrap="square" anchor="t" lIns="0" rIns="0" tIns="0" bIns="0">
            <a:spAutoFit/>
          </a:bodyPr>
          <a:lstStyle/>
          <a:p>
            <a:pPr algn="l">
              <a:spcBef>
                <a:spcPts val="0"/>
              </a:spcBef>
              <a:spcAft>
                <a:spcPts val="400"/>
              </a:spcAft>
            </a:pPr>
            <a:r>
              <a:rPr sz="1900" b="1">
                <a:solidFill>
                  <a:srgbClr val="1F6FEB"/>
                </a:solidFill>
                <a:latin typeface="Arial"/>
              </a:rPr>
              <a:t>web</a:t>
            </a:r>
          </a:p>
        </p:txBody>
      </p:sp>
      <p:sp>
        <p:nvSpPr>
          <p:cNvPr id="10" name="TextBox 9"/>
          <p:cNvSpPr txBox="1"/>
          <p:nvPr/>
        </p:nvSpPr>
        <p:spPr>
          <a:xfrm>
            <a:off x="1005840" y="2697480"/>
            <a:ext cx="2926080" cy="3108960"/>
          </a:xfrm>
          <a:prstGeom prst="rect">
            <a:avLst/>
          </a:prstGeom>
          <a:noFill/>
        </p:spPr>
        <p:txBody>
          <a:bodyPr wrap="square" lIns="0" rIns="0">
            <a:spAutoFit/>
          </a:bodyPr>
          <a:lstStyle/>
          <a:p>
            <a:pPr>
              <a:spcBef>
                <a:spcPts val="0"/>
              </a:spcBef>
              <a:spcAft>
                <a:spcPts val="900"/>
              </a:spcAft>
            </a:pPr>
            <a:r>
              <a:rPr sz="1400" b="1">
                <a:solidFill>
                  <a:srgbClr val="1F6FEB"/>
                </a:solidFill>
                <a:latin typeface="Arial"/>
              </a:rPr>
              <a:t>•  </a:t>
            </a:r>
            <a:r>
              <a:rPr sz="1400">
                <a:solidFill>
                  <a:srgbClr val="161B26"/>
                </a:solidFill>
                <a:latin typeface="Arial"/>
              </a:rPr>
              <a:t>TaskBoard Flask app</a:t>
            </a:r>
          </a:p>
          <a:p>
            <a:pPr>
              <a:spcBef>
                <a:spcPts val="0"/>
              </a:spcBef>
              <a:spcAft>
                <a:spcPts val="900"/>
              </a:spcAft>
            </a:pPr>
            <a:r>
              <a:rPr sz="1400" b="1">
                <a:solidFill>
                  <a:srgbClr val="1F6FEB"/>
                </a:solidFill>
                <a:latin typeface="Arial"/>
              </a:rPr>
              <a:t>•  </a:t>
            </a:r>
            <a:r>
              <a:rPr sz="1400">
                <a:solidFill>
                  <a:srgbClr val="161B26"/>
                </a:solidFill>
                <a:latin typeface="Arial"/>
              </a:rPr>
              <a:t>Built from the Dockerfile</a:t>
            </a:r>
          </a:p>
          <a:p>
            <a:pPr>
              <a:spcBef>
                <a:spcPts val="0"/>
              </a:spcBef>
              <a:spcAft>
                <a:spcPts val="900"/>
              </a:spcAft>
            </a:pPr>
            <a:r>
              <a:rPr sz="1400" b="1">
                <a:solidFill>
                  <a:srgbClr val="1F6FEB"/>
                </a:solidFill>
                <a:latin typeface="Arial"/>
              </a:rPr>
              <a:t>•  </a:t>
            </a:r>
            <a:r>
              <a:rPr sz="1400">
                <a:solidFill>
                  <a:srgbClr val="161B26"/>
                </a:solidFill>
                <a:latin typeface="Arial"/>
              </a:rPr>
              <a:t>Port 8080 → 5000</a:t>
            </a:r>
          </a:p>
        </p:txBody>
      </p:sp>
      <p:sp>
        <p:nvSpPr>
          <p:cNvPr id="11" name="Rounded Rectangle 10"/>
          <p:cNvSpPr/>
          <p:nvPr/>
        </p:nvSpPr>
        <p:spPr>
          <a:xfrm>
            <a:off x="4572000" y="1783080"/>
            <a:ext cx="3337560" cy="420624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57400"/>
            <a:ext cx="2926080" cy="548640"/>
          </a:xfrm>
          <a:prstGeom prst="rect">
            <a:avLst/>
          </a:prstGeom>
          <a:noFill/>
        </p:spPr>
        <p:txBody>
          <a:bodyPr wrap="square" anchor="t" lIns="0" rIns="0" tIns="0" bIns="0">
            <a:spAutoFit/>
          </a:bodyPr>
          <a:lstStyle/>
          <a:p>
            <a:pPr algn="l">
              <a:spcBef>
                <a:spcPts val="0"/>
              </a:spcBef>
              <a:spcAft>
                <a:spcPts val="400"/>
              </a:spcAft>
            </a:pPr>
            <a:r>
              <a:rPr sz="1900" b="1">
                <a:solidFill>
                  <a:srgbClr val="7C3AED"/>
                </a:solidFill>
                <a:latin typeface="Arial"/>
              </a:rPr>
              <a:t>db (Postgres)</a:t>
            </a:r>
          </a:p>
        </p:txBody>
      </p:sp>
      <p:sp>
        <p:nvSpPr>
          <p:cNvPr id="14" name="TextBox 13"/>
          <p:cNvSpPr txBox="1"/>
          <p:nvPr/>
        </p:nvSpPr>
        <p:spPr>
          <a:xfrm>
            <a:off x="4800600" y="2697480"/>
            <a:ext cx="2926080" cy="3108960"/>
          </a:xfrm>
          <a:prstGeom prst="rect">
            <a:avLst/>
          </a:prstGeom>
          <a:noFill/>
        </p:spPr>
        <p:txBody>
          <a:bodyPr wrap="square" lIns="0" rIns="0">
            <a:spAutoFit/>
          </a:bodyPr>
          <a:lstStyle/>
          <a:p>
            <a:pPr>
              <a:spcBef>
                <a:spcPts val="0"/>
              </a:spcBef>
              <a:spcAft>
                <a:spcPts val="900"/>
              </a:spcAft>
            </a:pPr>
            <a:r>
              <a:rPr sz="1400" b="1">
                <a:solidFill>
                  <a:srgbClr val="7C3AED"/>
                </a:solidFill>
                <a:latin typeface="Arial"/>
              </a:rPr>
              <a:t>•  </a:t>
            </a:r>
            <a:r>
              <a:rPr sz="1400">
                <a:solidFill>
                  <a:srgbClr val="161B26"/>
                </a:solidFill>
                <a:latin typeface="Arial"/>
              </a:rPr>
              <a:t>Stores the tasks</a:t>
            </a:r>
          </a:p>
          <a:p>
            <a:pPr>
              <a:spcBef>
                <a:spcPts val="0"/>
              </a:spcBef>
              <a:spcAft>
                <a:spcPts val="900"/>
              </a:spcAft>
            </a:pPr>
            <a:r>
              <a:rPr sz="1400" b="1">
                <a:solidFill>
                  <a:srgbClr val="7C3AED"/>
                </a:solidFill>
                <a:latin typeface="Arial"/>
              </a:rPr>
              <a:t>•  </a:t>
            </a:r>
            <a:r>
              <a:rPr sz="1400">
                <a:solidFill>
                  <a:srgbClr val="161B26"/>
                </a:solidFill>
                <a:latin typeface="Arial"/>
              </a:rPr>
              <a:t>Health-checked</a:t>
            </a:r>
          </a:p>
          <a:p>
            <a:pPr>
              <a:spcBef>
                <a:spcPts val="0"/>
              </a:spcBef>
              <a:spcAft>
                <a:spcPts val="900"/>
              </a:spcAft>
            </a:pPr>
            <a:r>
              <a:rPr sz="1400" b="1">
                <a:solidFill>
                  <a:srgbClr val="7C3AED"/>
                </a:solidFill>
                <a:latin typeface="Arial"/>
              </a:rPr>
              <a:t>•  </a:t>
            </a:r>
            <a:r>
              <a:rPr sz="1400">
                <a:solidFill>
                  <a:srgbClr val="161B26"/>
                </a:solidFill>
                <a:latin typeface="Arial"/>
              </a:rPr>
              <a:t>pgdata volume</a:t>
            </a:r>
          </a:p>
        </p:txBody>
      </p:sp>
      <p:sp>
        <p:nvSpPr>
          <p:cNvPr id="15" name="Rounded Rectangle 14"/>
          <p:cNvSpPr/>
          <p:nvPr/>
        </p:nvSpPr>
        <p:spPr>
          <a:xfrm>
            <a:off x="8366760" y="1783080"/>
            <a:ext cx="3337560" cy="420624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57400"/>
            <a:ext cx="2926080" cy="548640"/>
          </a:xfrm>
          <a:prstGeom prst="rect">
            <a:avLst/>
          </a:prstGeom>
          <a:noFill/>
        </p:spPr>
        <p:txBody>
          <a:bodyPr wrap="square" anchor="t" lIns="0" rIns="0" tIns="0" bIns="0">
            <a:spAutoFit/>
          </a:bodyPr>
          <a:lstStyle/>
          <a:p>
            <a:pPr algn="l">
              <a:spcBef>
                <a:spcPts val="0"/>
              </a:spcBef>
              <a:spcAft>
                <a:spcPts val="400"/>
              </a:spcAft>
            </a:pPr>
            <a:r>
              <a:rPr sz="1900" b="1">
                <a:solidFill>
                  <a:srgbClr val="10B981"/>
                </a:solidFill>
                <a:latin typeface="Arial"/>
              </a:rPr>
              <a:t>redis</a:t>
            </a:r>
          </a:p>
        </p:txBody>
      </p:sp>
      <p:sp>
        <p:nvSpPr>
          <p:cNvPr id="18" name="TextBox 17"/>
          <p:cNvSpPr txBox="1"/>
          <p:nvPr/>
        </p:nvSpPr>
        <p:spPr>
          <a:xfrm>
            <a:off x="8595360" y="2697480"/>
            <a:ext cx="2926080" cy="3108960"/>
          </a:xfrm>
          <a:prstGeom prst="rect">
            <a:avLst/>
          </a:prstGeom>
          <a:noFill/>
        </p:spPr>
        <p:txBody>
          <a:bodyPr wrap="square" lIns="0" rIns="0">
            <a:spAutoFit/>
          </a:bodyPr>
          <a:lstStyle/>
          <a:p>
            <a:pPr>
              <a:spcBef>
                <a:spcPts val="0"/>
              </a:spcBef>
              <a:spcAft>
                <a:spcPts val="900"/>
              </a:spcAft>
            </a:pPr>
            <a:r>
              <a:rPr sz="1400" b="1">
                <a:solidFill>
                  <a:srgbClr val="10B981"/>
                </a:solidFill>
                <a:latin typeface="Arial"/>
              </a:rPr>
              <a:t>•  </a:t>
            </a:r>
            <a:r>
              <a:rPr sz="1400">
                <a:solidFill>
                  <a:srgbClr val="161B26"/>
                </a:solidFill>
                <a:latin typeface="Arial"/>
              </a:rPr>
              <a:t>Visit counter / cache</a:t>
            </a:r>
          </a:p>
          <a:p>
            <a:pPr>
              <a:spcBef>
                <a:spcPts val="0"/>
              </a:spcBef>
              <a:spcAft>
                <a:spcPts val="900"/>
              </a:spcAft>
            </a:pPr>
            <a:r>
              <a:rPr sz="1400" b="1">
                <a:solidFill>
                  <a:srgbClr val="10B981"/>
                </a:solidFill>
                <a:latin typeface="Arial"/>
              </a:rPr>
              <a:t>•  </a:t>
            </a:r>
            <a:r>
              <a:rPr sz="1400">
                <a:solidFill>
                  <a:srgbClr val="161B26"/>
                </a:solidFill>
                <a:latin typeface="Arial"/>
              </a:rPr>
              <a:t>redis:7-alpine</a:t>
            </a:r>
          </a:p>
          <a:p>
            <a:pPr>
              <a:spcBef>
                <a:spcPts val="0"/>
              </a:spcBef>
              <a:spcAft>
                <a:spcPts val="900"/>
              </a:spcAft>
            </a:pPr>
            <a:r>
              <a:rPr sz="1400" b="1">
                <a:solidFill>
                  <a:srgbClr val="10B981"/>
                </a:solidFill>
                <a:latin typeface="Arial"/>
              </a:rPr>
              <a:t>•  </a:t>
            </a:r>
            <a:r>
              <a:rPr sz="1400">
                <a:solidFill>
                  <a:srgbClr val="161B26"/>
                </a:solidFill>
                <a:latin typeface="Arial"/>
              </a:rPr>
              <a:t>Reached by name</a:t>
            </a:r>
          </a:p>
        </p:txBody>
      </p:sp>
      <p:sp>
        <p:nvSpPr>
          <p:cNvPr id="19" name="TextBox 1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20" name="TextBox 1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1" name="TextBox 2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68</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DAY 1 · DOCKER COMPOSE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Docker Compose — Single Service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69164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69164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LAB 10</a:t>
            </a:r>
          </a:p>
        </p:txBody>
      </p:sp>
      <p:sp>
        <p:nvSpPr>
          <p:cNvPr id="9" name="TextBox 8"/>
          <p:cNvSpPr txBox="1"/>
          <p:nvPr/>
        </p:nvSpPr>
        <p:spPr>
          <a:xfrm>
            <a:off x="2697480" y="1691640"/>
            <a:ext cx="8778240" cy="411480"/>
          </a:xfrm>
          <a:prstGeom prst="rect">
            <a:avLst/>
          </a:prstGeom>
          <a:noFill/>
        </p:spPr>
        <p:txBody>
          <a:bodyPr wrap="square" anchor="ctr" lIns="0" rIns="0" tIns="0" bIns="0">
            <a:spAutoFit/>
          </a:bodyPr>
          <a:lstStyle/>
          <a:p>
            <a:pPr algn="l">
              <a:spcBef>
                <a:spcPts val="0"/>
              </a:spcBef>
              <a:spcAft>
                <a:spcPts val="400"/>
              </a:spcAft>
            </a:pPr>
            <a:r>
              <a:rPr sz="1400" b="1">
                <a:solidFill>
                  <a:srgbClr val="5B6372"/>
                </a:solidFill>
                <a:latin typeface="Arial"/>
              </a:rPr>
              <a:t>Docker Compose</a:t>
            </a:r>
          </a:p>
        </p:txBody>
      </p:sp>
      <p:sp>
        <p:nvSpPr>
          <p:cNvPr id="10" name="TextBox 9"/>
          <p:cNvSpPr txBox="1"/>
          <p:nvPr/>
        </p:nvSpPr>
        <p:spPr>
          <a:xfrm>
            <a:off x="777240" y="2286000"/>
            <a:ext cx="10698480" cy="1554480"/>
          </a:xfrm>
          <a:prstGeom prst="rect">
            <a:avLst/>
          </a:prstGeom>
          <a:noFill/>
        </p:spPr>
        <p:txBody>
          <a:bodyPr wrap="square" anchor="t" lIns="0" rIns="0" tIns="0" bIns="0">
            <a:spAutoFit/>
          </a:bodyPr>
          <a:lstStyle/>
          <a:p>
            <a:pPr algn="l">
              <a:spcBef>
                <a:spcPts val="0"/>
              </a:spcBef>
              <a:spcAft>
                <a:spcPts val="400"/>
              </a:spcAft>
            </a:pPr>
            <a:r>
              <a:rPr sz="1900" b="0">
                <a:solidFill>
                  <a:srgbClr val="161B26"/>
                </a:solidFill>
                <a:latin typeface="Arial"/>
              </a:rPr>
              <a:t>Replace long docker run commands with a single declarative file. You'll define TaskBoard in a docker-compose.yml and manage it with the compose lifecycle: pull, up, ps, logs, down.</a:t>
            </a:r>
          </a:p>
        </p:txBody>
      </p:sp>
      <p:sp>
        <p:nvSpPr>
          <p:cNvPr id="11" name="Rounded Rectangle 10"/>
          <p:cNvSpPr/>
          <p:nvPr/>
        </p:nvSpPr>
        <p:spPr>
          <a:xfrm>
            <a:off x="777240" y="4069080"/>
            <a:ext cx="10698480" cy="178308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25196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3" name="TextBox 12"/>
          <p:cNvSpPr txBox="1"/>
          <p:nvPr/>
        </p:nvSpPr>
        <p:spPr>
          <a:xfrm>
            <a:off x="1005840" y="4617720"/>
            <a:ext cx="10241280" cy="640080"/>
          </a:xfrm>
          <a:prstGeom prst="rect">
            <a:avLst/>
          </a:prstGeom>
          <a:noFill/>
        </p:spPr>
        <p:txBody>
          <a:bodyPr wrap="square" anchor="t" lIns="0" rIns="0" tIns="0" bIns="0">
            <a:spAutoFit/>
          </a:bodyPr>
          <a:lstStyle/>
          <a:p>
            <a:pPr algn="l">
              <a:spcBef>
                <a:spcPts val="0"/>
              </a:spcBef>
              <a:spcAft>
                <a:spcPts val="400"/>
              </a:spcAft>
            </a:pPr>
            <a:r>
              <a:rPr sz="1700" b="1">
                <a:solidFill>
                  <a:srgbClr val="161B26"/>
                </a:solidFill>
                <a:latin typeface="Arial"/>
              </a:rPr>
              <a:t>Define TaskBoard in docker-compose.yml; manage it with pull / up / ps / logs / down.</a:t>
            </a:r>
          </a:p>
        </p:txBody>
      </p:sp>
      <p:sp>
        <p:nvSpPr>
          <p:cNvPr id="14" name="TextBox 13"/>
          <p:cNvSpPr txBox="1"/>
          <p:nvPr/>
        </p:nvSpPr>
        <p:spPr>
          <a:xfrm>
            <a:off x="1005840" y="53492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commands:  </a:t>
            </a:r>
            <a:r>
              <a:rPr sz="1300" b="0">
                <a:solidFill>
                  <a:srgbClr val="5B6372"/>
                </a:solidFill>
                <a:latin typeface="Arial"/>
              </a:rPr>
              <a:t>services: · docker compose · » `docker</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69</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10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Docker Compose — Single Service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The compose file</a:t>
            </a:r>
          </a:p>
        </p:txBody>
      </p:sp>
      <p:sp>
        <p:nvSpPr>
          <p:cNvPr id="8" name="Rounded Rectangle 7"/>
          <p:cNvSpPr/>
          <p:nvPr/>
        </p:nvSpPr>
        <p:spPr>
          <a:xfrm>
            <a:off x="777240" y="2075688"/>
            <a:ext cx="10652760" cy="1645919"/>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16459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1554479"/>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services:</a:t>
            </a:r>
          </a:p>
          <a:p>
            <a:pPr>
              <a:spcBef>
                <a:spcPts val="0"/>
              </a:spcBef>
              <a:spcAft>
                <a:spcPts val="0"/>
              </a:spcAft>
            </a:pPr>
            <a:r>
              <a:rPr sz="1050">
                <a:solidFill>
                  <a:srgbClr val="161B26"/>
                </a:solidFill>
                <a:latin typeface="Consolas"/>
              </a:rPr>
              <a:t>  web:</a:t>
            </a:r>
          </a:p>
          <a:p>
            <a:pPr>
              <a:spcBef>
                <a:spcPts val="0"/>
              </a:spcBef>
              <a:spcAft>
                <a:spcPts val="0"/>
              </a:spcAft>
            </a:pPr>
            <a:r>
              <a:rPr sz="1050">
                <a:solidFill>
                  <a:srgbClr val="161B26"/>
                </a:solidFill>
                <a:latin typeface="Consolas"/>
              </a:rPr>
              <a:t>    build: .            # build from the Dockerfile in this folder</a:t>
            </a:r>
          </a:p>
          <a:p>
            <a:pPr>
              <a:spcBef>
                <a:spcPts val="0"/>
              </a:spcBef>
              <a:spcAft>
                <a:spcPts val="0"/>
              </a:spcAft>
            </a:pPr>
            <a:r>
              <a:rPr sz="1050">
                <a:solidFill>
                  <a:srgbClr val="161B26"/>
                </a:solidFill>
                <a:latin typeface="Consolas"/>
              </a:rPr>
              <a:t>    ports:</a:t>
            </a:r>
          </a:p>
          <a:p>
            <a:pPr>
              <a:spcBef>
                <a:spcPts val="0"/>
              </a:spcBef>
              <a:spcAft>
                <a:spcPts val="0"/>
              </a:spcAft>
            </a:pPr>
            <a:r>
              <a:rPr sz="1050">
                <a:solidFill>
                  <a:srgbClr val="161B26"/>
                </a:solidFill>
                <a:latin typeface="Consolas"/>
              </a:rPr>
              <a:t>      - "8080:5000"     # host:container</a:t>
            </a:r>
          </a:p>
          <a:p>
            <a:pPr>
              <a:spcBef>
                <a:spcPts val="0"/>
              </a:spcBef>
              <a:spcAft>
                <a:spcPts val="0"/>
              </a:spcAft>
            </a:pPr>
            <a:r>
              <a:rPr sz="1050">
                <a:solidFill>
                  <a:srgbClr val="161B26"/>
                </a:solidFill>
                <a:latin typeface="Consolas"/>
              </a:rPr>
              <a:t>    environment:</a:t>
            </a:r>
          </a:p>
          <a:p>
            <a:pPr>
              <a:spcBef>
                <a:spcPts val="0"/>
              </a:spcBef>
              <a:spcAft>
                <a:spcPts val="0"/>
              </a:spcAft>
            </a:pPr>
            <a:r>
              <a:rPr sz="1050">
                <a:solidFill>
                  <a:srgbClr val="161B26"/>
                </a:solidFill>
                <a:latin typeface="Consolas"/>
              </a:rPr>
              <a:t>      - APP_ENV=development</a:t>
            </a:r>
          </a:p>
          <a:p>
            <a:pPr>
              <a:spcBef>
                <a:spcPts val="0"/>
              </a:spcBef>
              <a:spcAft>
                <a:spcPts val="0"/>
              </a:spcAft>
            </a:pPr>
            <a:r>
              <a:rPr sz="1050">
                <a:solidFill>
                  <a:srgbClr val="161B26"/>
                </a:solidFill>
                <a:latin typeface="Consolas"/>
              </a:rPr>
              <a:t>      - APP_TITLE=TaskBoard (Compose)</a:t>
            </a:r>
          </a:p>
        </p:txBody>
      </p:sp>
      <p:sp>
        <p:nvSpPr>
          <p:cNvPr id="11" name="TextBox 10"/>
          <p:cNvSpPr txBox="1"/>
          <p:nvPr/>
        </p:nvSpPr>
        <p:spPr>
          <a:xfrm>
            <a:off x="777240" y="3904487"/>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The Compose lifecycle</a:t>
            </a:r>
          </a:p>
        </p:txBody>
      </p:sp>
      <p:sp>
        <p:nvSpPr>
          <p:cNvPr id="12" name="Rounded Rectangle 11"/>
          <p:cNvSpPr/>
          <p:nvPr/>
        </p:nvSpPr>
        <p:spPr>
          <a:xfrm>
            <a:off x="777240" y="4288535"/>
            <a:ext cx="10652760" cy="1083563"/>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88535"/>
            <a:ext cx="82296" cy="1083563"/>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352543"/>
            <a:ext cx="10323576" cy="992123"/>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docker compose pull        # pull any pre-built images (none to build here)</a:t>
            </a:r>
          </a:p>
          <a:p>
            <a:pPr>
              <a:spcBef>
                <a:spcPts val="0"/>
              </a:spcBef>
              <a:spcAft>
                <a:spcPts val="0"/>
              </a:spcAft>
            </a:pPr>
            <a:r>
              <a:rPr sz="1050">
                <a:solidFill>
                  <a:srgbClr val="161B26"/>
                </a:solidFill>
                <a:latin typeface="Consolas"/>
              </a:rPr>
              <a:t>docker compose up -d       # build if needed and start in the background</a:t>
            </a:r>
          </a:p>
          <a:p>
            <a:pPr>
              <a:spcBef>
                <a:spcPts val="0"/>
              </a:spcBef>
              <a:spcAft>
                <a:spcPts val="0"/>
              </a:spcAft>
            </a:pPr>
            <a:r>
              <a:rPr sz="1050">
                <a:solidFill>
                  <a:srgbClr val="161B26"/>
                </a:solidFill>
                <a:latin typeface="Consolas"/>
              </a:rPr>
              <a:t>docker compose ps          # service status</a:t>
            </a:r>
          </a:p>
          <a:p>
            <a:pPr>
              <a:spcBef>
                <a:spcPts val="0"/>
              </a:spcBef>
              <a:spcAft>
                <a:spcPts val="0"/>
              </a:spcAft>
            </a:pPr>
            <a:r>
              <a:rPr sz="1050">
                <a:solidFill>
                  <a:srgbClr val="161B26"/>
                </a:solidFill>
                <a:latin typeface="Consolas"/>
              </a:rPr>
              <a:t>docker compose logs web    # logs for the web service</a:t>
            </a:r>
          </a:p>
          <a:p>
            <a:pPr>
              <a:spcBef>
                <a:spcPts val="0"/>
              </a:spcBef>
              <a:spcAft>
                <a:spcPts val="0"/>
              </a:spcAft>
            </a:pPr>
            <a:r>
              <a:rPr sz="1050">
                <a:solidFill>
                  <a:srgbClr val="161B26"/>
                </a:solidFill>
                <a:latin typeface="Consolas"/>
              </a:rPr>
              <a:t>curl http://localhost:8080/health</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70</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10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Docker Compose — Single Service (cont.)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Tear down</a:t>
            </a:r>
          </a:p>
        </p:txBody>
      </p:sp>
      <p:sp>
        <p:nvSpPr>
          <p:cNvPr id="8" name="Rounded Rectangle 7"/>
          <p:cNvSpPr/>
          <p:nvPr/>
        </p:nvSpPr>
        <p:spPr>
          <a:xfrm>
            <a:off x="777240" y="2075688"/>
            <a:ext cx="10652760" cy="521207"/>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52120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429767"/>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docker compose down        # stop and remove containers + network</a:t>
            </a:r>
          </a:p>
          <a:p>
            <a:pPr>
              <a:spcBef>
                <a:spcPts val="0"/>
              </a:spcBef>
              <a:spcAft>
                <a:spcPts val="0"/>
              </a:spcAft>
            </a:pPr>
            <a:r>
              <a:rPr sz="1050">
                <a:solidFill>
                  <a:srgbClr val="161B26"/>
                </a:solidFill>
                <a:latin typeface="Consolas"/>
              </a:rPr>
              <a:t>docker compose down -v     # also remove named volumes (full reset)</a:t>
            </a:r>
          </a:p>
        </p:txBody>
      </p:sp>
      <p:sp>
        <p:nvSpPr>
          <p:cNvPr id="11" name="TextBox 10"/>
          <p:cNvSpPr txBox="1"/>
          <p:nvPr/>
        </p:nvSpPr>
        <p:spPr>
          <a:xfrm>
            <a:off x="777240" y="2779775"/>
            <a:ext cx="10652760"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Note   </a:t>
            </a:r>
            <a:r>
              <a:rPr sz="1300" b="0">
                <a:solidFill>
                  <a:srgbClr val="5B6372"/>
                </a:solidFill>
                <a:latin typeface="Arial"/>
              </a:rPr>
              <a:t>docker compose up -d is idempotent — re-run it after editing the file and Compose only changes what's needed. One file replaces a page of docker run flags.</a:t>
            </a:r>
          </a:p>
        </p:txBody>
      </p:sp>
      <p:sp>
        <p:nvSpPr>
          <p:cNvPr id="12" name="TextBox 11"/>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3" name="TextBox 12"/>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4" name="TextBox 13"/>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71</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10  ·  TEST IT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Docker Compose — Single Service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10698480" cy="2560320"/>
          </a:xfrm>
          <a:prstGeom prst="roundRect">
            <a:avLst>
              <a:gd name="adj" fmla="val 5000"/>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200" b="1">
                <a:solidFill>
                  <a:srgbClr val="127A3E"/>
                </a:solidFill>
                <a:latin typeface="Arial"/>
              </a:rPr>
              <a:t>✅  Test it</a:t>
            </a:r>
          </a:p>
        </p:txBody>
      </p:sp>
      <p:sp>
        <p:nvSpPr>
          <p:cNvPr id="9" name="TextBox 8"/>
          <p:cNvSpPr txBox="1"/>
          <p:nvPr/>
        </p:nvSpPr>
        <p:spPr>
          <a:xfrm>
            <a:off x="1097280" y="3017520"/>
            <a:ext cx="10149840" cy="146304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docker compose up -d starts the service and http://localhost:8080 serves TaskBoard titled 'TaskBoard (Compose)'; docker compose down removes it cleanly.</a:t>
            </a:r>
          </a:p>
        </p:txBody>
      </p:sp>
      <p:sp>
        <p:nvSpPr>
          <p:cNvPr id="10" name="TextBox 9"/>
          <p:cNvSpPr txBox="1"/>
          <p:nvPr/>
        </p:nvSpPr>
        <p:spPr>
          <a:xfrm>
            <a:off x="777240" y="4983480"/>
            <a:ext cx="10698480" cy="365760"/>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KillerCoda:  </a:t>
            </a:r>
            <a:r>
              <a:rPr sz="1300" b="0">
                <a:solidFill>
                  <a:srgbClr val="5B6372"/>
                </a:solidFill>
                <a:latin typeface="Arial"/>
              </a:rPr>
              <a:t>https://killercoda.com/tertiary-labs/course/killercoda/day1-05-docker-compose</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72</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DAY 1 · DOCKER COMPOSE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Docker Compose — Multi-Service (Web + Redis)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69164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69164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LAB 11</a:t>
            </a:r>
          </a:p>
        </p:txBody>
      </p:sp>
      <p:sp>
        <p:nvSpPr>
          <p:cNvPr id="9" name="TextBox 8"/>
          <p:cNvSpPr txBox="1"/>
          <p:nvPr/>
        </p:nvSpPr>
        <p:spPr>
          <a:xfrm>
            <a:off x="2697480" y="1691640"/>
            <a:ext cx="8778240" cy="411480"/>
          </a:xfrm>
          <a:prstGeom prst="rect">
            <a:avLst/>
          </a:prstGeom>
          <a:noFill/>
        </p:spPr>
        <p:txBody>
          <a:bodyPr wrap="square" anchor="ctr" lIns="0" rIns="0" tIns="0" bIns="0">
            <a:spAutoFit/>
          </a:bodyPr>
          <a:lstStyle/>
          <a:p>
            <a:pPr algn="l">
              <a:spcBef>
                <a:spcPts val="0"/>
              </a:spcBef>
              <a:spcAft>
                <a:spcPts val="400"/>
              </a:spcAft>
            </a:pPr>
            <a:r>
              <a:rPr sz="1400" b="1">
                <a:solidFill>
                  <a:srgbClr val="5B6372"/>
                </a:solidFill>
                <a:latin typeface="Arial"/>
              </a:rPr>
              <a:t>Docker Compose</a:t>
            </a:r>
          </a:p>
        </p:txBody>
      </p:sp>
      <p:sp>
        <p:nvSpPr>
          <p:cNvPr id="10" name="TextBox 9"/>
          <p:cNvSpPr txBox="1"/>
          <p:nvPr/>
        </p:nvSpPr>
        <p:spPr>
          <a:xfrm>
            <a:off x="777240" y="2286000"/>
            <a:ext cx="10698480" cy="1554480"/>
          </a:xfrm>
          <a:prstGeom prst="rect">
            <a:avLst/>
          </a:prstGeom>
          <a:noFill/>
        </p:spPr>
        <p:txBody>
          <a:bodyPr wrap="square" anchor="t" lIns="0" rIns="0" tIns="0" bIns="0">
            <a:spAutoFit/>
          </a:bodyPr>
          <a:lstStyle/>
          <a:p>
            <a:pPr algn="l">
              <a:spcBef>
                <a:spcPts val="0"/>
              </a:spcBef>
              <a:spcAft>
                <a:spcPts val="400"/>
              </a:spcAft>
            </a:pPr>
            <a:r>
              <a:rPr sz="1900" b="0">
                <a:solidFill>
                  <a:srgbClr val="161B26"/>
                </a:solidFill>
                <a:latin typeface="Arial"/>
              </a:rPr>
              <a:t>Add a second service. Compose puts both containers on one network and gives each a DNS name equal to its service name, so TaskBoard reaches Redis at host redis with zero manual networking. The visit counter is now shared and survives restarts.</a:t>
            </a:r>
          </a:p>
        </p:txBody>
      </p:sp>
      <p:sp>
        <p:nvSpPr>
          <p:cNvPr id="11" name="Rounded Rectangle 10"/>
          <p:cNvSpPr/>
          <p:nvPr/>
        </p:nvSpPr>
        <p:spPr>
          <a:xfrm>
            <a:off x="777240" y="4069080"/>
            <a:ext cx="10698480" cy="178308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25196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3" name="TextBox 12"/>
          <p:cNvSpPr txBox="1"/>
          <p:nvPr/>
        </p:nvSpPr>
        <p:spPr>
          <a:xfrm>
            <a:off x="1005840" y="4617720"/>
            <a:ext cx="10241280" cy="640080"/>
          </a:xfrm>
          <a:prstGeom prst="rect">
            <a:avLst/>
          </a:prstGeom>
          <a:noFill/>
        </p:spPr>
        <p:txBody>
          <a:bodyPr wrap="square" anchor="t" lIns="0" rIns="0" tIns="0" bIns="0">
            <a:spAutoFit/>
          </a:bodyPr>
          <a:lstStyle/>
          <a:p>
            <a:pPr algn="l">
              <a:spcBef>
                <a:spcPts val="0"/>
              </a:spcBef>
              <a:spcAft>
                <a:spcPts val="400"/>
              </a:spcAft>
            </a:pPr>
            <a:r>
              <a:rPr sz="1700" b="1">
                <a:solidFill>
                  <a:srgbClr val="161B26"/>
                </a:solidFill>
                <a:latin typeface="Arial"/>
              </a:rPr>
              <a:t>Run TaskBoard + Redis with Compose; services find each other by name automatically.</a:t>
            </a:r>
          </a:p>
        </p:txBody>
      </p:sp>
      <p:sp>
        <p:nvSpPr>
          <p:cNvPr id="14" name="TextBox 13"/>
          <p:cNvSpPr txBox="1"/>
          <p:nvPr/>
        </p:nvSpPr>
        <p:spPr>
          <a:xfrm>
            <a:off x="1005840" y="53492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commands:  </a:t>
            </a:r>
            <a:r>
              <a:rPr sz="1300" b="0">
                <a:solidFill>
                  <a:srgbClr val="5B6372"/>
                </a:solidFill>
                <a:latin typeface="Arial"/>
              </a:rPr>
              <a:t>services: · docker compose · » `depends_on`</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73</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11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Docker Compose — Multi-Service (Web + Redis)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Two services, one file</a:t>
            </a:r>
          </a:p>
        </p:txBody>
      </p:sp>
      <p:sp>
        <p:nvSpPr>
          <p:cNvPr id="8" name="Rounded Rectangle 7"/>
          <p:cNvSpPr/>
          <p:nvPr/>
        </p:nvSpPr>
        <p:spPr>
          <a:xfrm>
            <a:off x="777240" y="2075688"/>
            <a:ext cx="10652760" cy="2395728"/>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2395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2304288"/>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services:</a:t>
            </a:r>
          </a:p>
          <a:p>
            <a:pPr>
              <a:spcBef>
                <a:spcPts val="0"/>
              </a:spcBef>
              <a:spcAft>
                <a:spcPts val="0"/>
              </a:spcAft>
            </a:pPr>
            <a:r>
              <a:rPr sz="1050">
                <a:solidFill>
                  <a:srgbClr val="161B26"/>
                </a:solidFill>
                <a:latin typeface="Consolas"/>
              </a:rPr>
              <a:t>  web:</a:t>
            </a:r>
          </a:p>
          <a:p>
            <a:pPr>
              <a:spcBef>
                <a:spcPts val="0"/>
              </a:spcBef>
              <a:spcAft>
                <a:spcPts val="0"/>
              </a:spcAft>
            </a:pPr>
            <a:r>
              <a:rPr sz="1050">
                <a:solidFill>
                  <a:srgbClr val="161B26"/>
                </a:solidFill>
                <a:latin typeface="Consolas"/>
              </a:rPr>
              <a:t>    build: .</a:t>
            </a:r>
          </a:p>
          <a:p>
            <a:pPr>
              <a:spcBef>
                <a:spcPts val="0"/>
              </a:spcBef>
              <a:spcAft>
                <a:spcPts val="0"/>
              </a:spcAft>
            </a:pPr>
            <a:r>
              <a:rPr sz="1050">
                <a:solidFill>
                  <a:srgbClr val="161B26"/>
                </a:solidFill>
                <a:latin typeface="Consolas"/>
              </a:rPr>
              <a:t>    ports: ["8080:5000"]</a:t>
            </a:r>
          </a:p>
          <a:p>
            <a:pPr>
              <a:spcBef>
                <a:spcPts val="0"/>
              </a:spcBef>
              <a:spcAft>
                <a:spcPts val="0"/>
              </a:spcAft>
            </a:pPr>
            <a:r>
              <a:rPr sz="1050">
                <a:solidFill>
                  <a:srgbClr val="161B26"/>
                </a:solidFill>
                <a:latin typeface="Consolas"/>
              </a:rPr>
              <a:t>    environment:</a:t>
            </a:r>
          </a:p>
          <a:p>
            <a:pPr>
              <a:spcBef>
                <a:spcPts val="0"/>
              </a:spcBef>
              <a:spcAft>
                <a:spcPts val="0"/>
              </a:spcAft>
            </a:pPr>
            <a:r>
              <a:rPr sz="1050">
                <a:solidFill>
                  <a:srgbClr val="161B26"/>
                </a:solidFill>
                <a:latin typeface="Consolas"/>
              </a:rPr>
              <a:t>      - REDIS_HOST=redis     # &lt;-- the other service's name</a:t>
            </a:r>
          </a:p>
          <a:p>
            <a:pPr>
              <a:spcBef>
                <a:spcPts val="0"/>
              </a:spcBef>
              <a:spcAft>
                <a:spcPts val="0"/>
              </a:spcAft>
            </a:pPr>
            <a:r>
              <a:rPr sz="1050">
                <a:solidFill>
                  <a:srgbClr val="161B26"/>
                </a:solidFill>
                <a:latin typeface="Consolas"/>
              </a:rPr>
              <a:t>    depends_on: [redis]</a:t>
            </a:r>
          </a:p>
          <a:p>
            <a:pPr>
              <a:spcBef>
                <a:spcPts val="0"/>
              </a:spcBef>
              <a:spcAft>
                <a:spcPts val="0"/>
              </a:spcAft>
            </a:pPr>
            <a:r>
              <a:rPr sz="1050">
                <a:solidFill>
                  <a:srgbClr val="161B26"/>
                </a:solidFill>
                <a:latin typeface="Consolas"/>
              </a:rPr>
              <a:t>  redis:</a:t>
            </a:r>
          </a:p>
          <a:p>
            <a:pPr>
              <a:spcBef>
                <a:spcPts val="0"/>
              </a:spcBef>
              <a:spcAft>
                <a:spcPts val="0"/>
              </a:spcAft>
            </a:pPr>
            <a:r>
              <a:rPr sz="1050">
                <a:solidFill>
                  <a:srgbClr val="161B26"/>
                </a:solidFill>
                <a:latin typeface="Consolas"/>
              </a:rPr>
              <a:t>    image: redis:7-alpine</a:t>
            </a:r>
          </a:p>
          <a:p>
            <a:pPr>
              <a:spcBef>
                <a:spcPts val="0"/>
              </a:spcBef>
              <a:spcAft>
                <a:spcPts val="0"/>
              </a:spcAft>
            </a:pPr>
            <a:r>
              <a:rPr sz="1050">
                <a:solidFill>
                  <a:srgbClr val="161B26"/>
                </a:solidFill>
                <a:latin typeface="Consolas"/>
              </a:rPr>
              <a:t>    volumes: [redis-data:/data]</a:t>
            </a:r>
          </a:p>
          <a:p>
            <a:pPr>
              <a:spcBef>
                <a:spcPts val="0"/>
              </a:spcBef>
              <a:spcAft>
                <a:spcPts val="0"/>
              </a:spcAft>
            </a:pPr>
            <a:r>
              <a:rPr sz="1050">
                <a:solidFill>
                  <a:srgbClr val="161B26"/>
                </a:solidFill>
                <a:latin typeface="Consolas"/>
              </a:rPr>
              <a:t>volumes:</a:t>
            </a:r>
          </a:p>
          <a:p>
            <a:pPr>
              <a:spcBef>
                <a:spcPts val="0"/>
              </a:spcBef>
              <a:spcAft>
                <a:spcPts val="0"/>
              </a:spcAft>
            </a:pPr>
            <a:r>
              <a:rPr sz="1050">
                <a:solidFill>
                  <a:srgbClr val="161B26"/>
                </a:solidFill>
                <a:latin typeface="Consolas"/>
              </a:rPr>
              <a:t>  redis-data:</a:t>
            </a:r>
          </a:p>
        </p:txBody>
      </p:sp>
      <p:sp>
        <p:nvSpPr>
          <p:cNvPr id="11" name="TextBox 10"/>
          <p:cNvSpPr txBox="1"/>
          <p:nvPr/>
        </p:nvSpPr>
        <p:spPr>
          <a:xfrm>
            <a:off x="777240" y="4654296"/>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Run the full lifecycle</a:t>
            </a:r>
          </a:p>
        </p:txBody>
      </p:sp>
      <p:sp>
        <p:nvSpPr>
          <p:cNvPr id="12" name="Rounded Rectangle 11"/>
          <p:cNvSpPr/>
          <p:nvPr/>
        </p:nvSpPr>
        <p:spPr>
          <a:xfrm>
            <a:off x="777240" y="5038344"/>
            <a:ext cx="10652760" cy="896112"/>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5038344"/>
            <a:ext cx="82296"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5102352"/>
            <a:ext cx="10323576" cy="804672"/>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docker compose pull        # pulls redis:7-alpine</a:t>
            </a:r>
          </a:p>
          <a:p>
            <a:pPr>
              <a:spcBef>
                <a:spcPts val="0"/>
              </a:spcBef>
              <a:spcAft>
                <a:spcPts val="0"/>
              </a:spcAft>
            </a:pPr>
            <a:r>
              <a:rPr sz="1050">
                <a:solidFill>
                  <a:srgbClr val="161B26"/>
                </a:solidFill>
                <a:latin typeface="Consolas"/>
              </a:rPr>
              <a:t>docker compose up -d</a:t>
            </a:r>
          </a:p>
          <a:p>
            <a:pPr>
              <a:spcBef>
                <a:spcPts val="0"/>
              </a:spcBef>
              <a:spcAft>
                <a:spcPts val="0"/>
              </a:spcAft>
            </a:pPr>
            <a:r>
              <a:rPr sz="1050">
                <a:solidFill>
                  <a:srgbClr val="161B26"/>
                </a:solidFill>
                <a:latin typeface="Consolas"/>
              </a:rPr>
              <a:t>docker compose ps</a:t>
            </a:r>
          </a:p>
          <a:p>
            <a:pPr>
              <a:spcBef>
                <a:spcPts val="0"/>
              </a:spcBef>
              <a:spcAft>
                <a:spcPts val="0"/>
              </a:spcAft>
            </a:pPr>
            <a:r>
              <a:rPr sz="1050">
                <a:solidFill>
                  <a:srgbClr val="161B26"/>
                </a:solidFill>
                <a:latin typeface="Consolas"/>
              </a:rPr>
              <a:t>curl http://localhost:8080 &amp;&amp; curl http://localhost:8080  # visits go up</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74</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11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Docker Compose — Multi-Service (Web + Redis) (cont.)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Prove persistence, then tear down</a:t>
            </a:r>
          </a:p>
        </p:txBody>
      </p:sp>
      <p:sp>
        <p:nvSpPr>
          <p:cNvPr id="8" name="Rounded Rectangle 7"/>
          <p:cNvSpPr/>
          <p:nvPr/>
        </p:nvSpPr>
        <p:spPr>
          <a:xfrm>
            <a:off x="777240" y="2075688"/>
            <a:ext cx="10652760" cy="896112"/>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804672"/>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docker compose restart web</a:t>
            </a:r>
          </a:p>
          <a:p>
            <a:pPr>
              <a:spcBef>
                <a:spcPts val="0"/>
              </a:spcBef>
              <a:spcAft>
                <a:spcPts val="0"/>
              </a:spcAft>
            </a:pPr>
            <a:r>
              <a:rPr sz="1050">
                <a:solidFill>
                  <a:srgbClr val="161B26"/>
                </a:solidFill>
                <a:latin typeface="Consolas"/>
              </a:rPr>
              <a:t>curl http://localhost:8080   # counter kept (it lives in redis-data)</a:t>
            </a:r>
          </a:p>
          <a:p>
            <a:pPr>
              <a:spcBef>
                <a:spcPts val="0"/>
              </a:spcBef>
              <a:spcAft>
                <a:spcPts val="0"/>
              </a:spcAft>
            </a:pPr>
            <a:r>
              <a:rPr sz="1050">
                <a:solidFill>
                  <a:srgbClr val="161B26"/>
                </a:solidFill>
                <a:latin typeface="Consolas"/>
              </a:rPr>
              <a:t>docker compose down          # keep the volume</a:t>
            </a:r>
          </a:p>
          <a:p>
            <a:pPr>
              <a:spcBef>
                <a:spcPts val="0"/>
              </a:spcBef>
              <a:spcAft>
                <a:spcPts val="0"/>
              </a:spcAft>
            </a:pPr>
            <a:r>
              <a:rPr sz="1050">
                <a:solidFill>
                  <a:srgbClr val="161B26"/>
                </a:solidFill>
                <a:latin typeface="Consolas"/>
              </a:rPr>
              <a:t>docker compose down -v       # remove the redis-data volume too</a:t>
            </a:r>
          </a:p>
        </p:txBody>
      </p:sp>
      <p:sp>
        <p:nvSpPr>
          <p:cNvPr id="11" name="TextBox 10"/>
          <p:cNvSpPr txBox="1"/>
          <p:nvPr/>
        </p:nvSpPr>
        <p:spPr>
          <a:xfrm>
            <a:off x="777240" y="3154680"/>
            <a:ext cx="10652760"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Note   </a:t>
            </a:r>
            <a:r>
              <a:rPr sz="1300" b="0">
                <a:solidFill>
                  <a:srgbClr val="5B6372"/>
                </a:solidFill>
                <a:latin typeface="Arial"/>
              </a:rPr>
              <a:t>depends_on controls start order, not readiness — the next lab adds a health check so the web service waits until the database is truly ready.</a:t>
            </a:r>
          </a:p>
        </p:txBody>
      </p:sp>
      <p:sp>
        <p:nvSpPr>
          <p:cNvPr id="12" name="TextBox 11"/>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3" name="TextBox 12"/>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4" name="TextBox 13"/>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75</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11  ·  TEST IT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Docker Compose — Multi-Service (Web + Redis)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10698480" cy="2560320"/>
          </a:xfrm>
          <a:prstGeom prst="roundRect">
            <a:avLst>
              <a:gd name="adj" fmla="val 5000"/>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200" b="1">
                <a:solidFill>
                  <a:srgbClr val="127A3E"/>
                </a:solidFill>
                <a:latin typeface="Arial"/>
              </a:rPr>
              <a:t>✅  Test it</a:t>
            </a:r>
          </a:p>
        </p:txBody>
      </p:sp>
      <p:sp>
        <p:nvSpPr>
          <p:cNvPr id="9" name="TextBox 8"/>
          <p:cNvSpPr txBox="1"/>
          <p:nvPr/>
        </p:nvSpPr>
        <p:spPr>
          <a:xfrm>
            <a:off x="1097280" y="3017520"/>
            <a:ext cx="10149840" cy="146304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Reloading http://localhost:8080 increments the visit counter, and the count survives docker compose restart web because it is stored in the redis-data volume.</a:t>
            </a:r>
          </a:p>
        </p:txBody>
      </p:sp>
      <p:sp>
        <p:nvSpPr>
          <p:cNvPr id="10" name="TextBox 9"/>
          <p:cNvSpPr txBox="1"/>
          <p:nvPr/>
        </p:nvSpPr>
        <p:spPr>
          <a:xfrm>
            <a:off x="777240" y="4983480"/>
            <a:ext cx="10698480" cy="365760"/>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KillerCoda:  </a:t>
            </a:r>
            <a:r>
              <a:rPr sz="1300" b="0">
                <a:solidFill>
                  <a:srgbClr val="5B6372"/>
                </a:solidFill>
                <a:latin typeface="Arial"/>
              </a:rPr>
              <a:t>https://killercoda.com/tertiary-labs/course/killercoda/day1-05-docker-compose</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76</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DAY 1 · DOCKER COMPOSE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Docker Compose — Full-Stack (Web + PostgreSQL + Redis)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69164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69164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LAB 12</a:t>
            </a:r>
          </a:p>
        </p:txBody>
      </p:sp>
      <p:sp>
        <p:nvSpPr>
          <p:cNvPr id="9" name="TextBox 8"/>
          <p:cNvSpPr txBox="1"/>
          <p:nvPr/>
        </p:nvSpPr>
        <p:spPr>
          <a:xfrm>
            <a:off x="2697480" y="1691640"/>
            <a:ext cx="8778240" cy="411480"/>
          </a:xfrm>
          <a:prstGeom prst="rect">
            <a:avLst/>
          </a:prstGeom>
          <a:noFill/>
        </p:spPr>
        <p:txBody>
          <a:bodyPr wrap="square" anchor="ctr" lIns="0" rIns="0" tIns="0" bIns="0">
            <a:spAutoFit/>
          </a:bodyPr>
          <a:lstStyle/>
          <a:p>
            <a:pPr algn="l">
              <a:spcBef>
                <a:spcPts val="0"/>
              </a:spcBef>
              <a:spcAft>
                <a:spcPts val="400"/>
              </a:spcAft>
            </a:pPr>
            <a:r>
              <a:rPr sz="1400" b="1">
                <a:solidFill>
                  <a:srgbClr val="5B6372"/>
                </a:solidFill>
                <a:latin typeface="Arial"/>
              </a:rPr>
              <a:t>Docker Compose</a:t>
            </a:r>
          </a:p>
        </p:txBody>
      </p:sp>
      <p:sp>
        <p:nvSpPr>
          <p:cNvPr id="10" name="TextBox 9"/>
          <p:cNvSpPr txBox="1"/>
          <p:nvPr/>
        </p:nvSpPr>
        <p:spPr>
          <a:xfrm>
            <a:off x="777240" y="2286000"/>
            <a:ext cx="10698480" cy="1554480"/>
          </a:xfrm>
          <a:prstGeom prst="rect">
            <a:avLst/>
          </a:prstGeom>
          <a:noFill/>
        </p:spPr>
        <p:txBody>
          <a:bodyPr wrap="square" anchor="t" lIns="0" rIns="0" tIns="0" bIns="0">
            <a:spAutoFit/>
          </a:bodyPr>
          <a:lstStyle/>
          <a:p>
            <a:pPr algn="l">
              <a:spcBef>
                <a:spcPts val="0"/>
              </a:spcBef>
              <a:spcAft>
                <a:spcPts val="400"/>
              </a:spcAft>
            </a:pPr>
            <a:r>
              <a:rPr sz="1900" b="0">
                <a:solidFill>
                  <a:srgbClr val="161B26"/>
                </a:solidFill>
                <a:latin typeface="Arial"/>
              </a:rPr>
              <a:t>Build the complete TaskBoard stack: the web app backed by PostgreSQL for tasks and Redis for the visit counter, with a health check so the app starts only once the database is ready. This is the architecture you'll deploy to Kubernetes on Day 2.</a:t>
            </a:r>
          </a:p>
        </p:txBody>
      </p:sp>
      <p:sp>
        <p:nvSpPr>
          <p:cNvPr id="11" name="Rounded Rectangle 10"/>
          <p:cNvSpPr/>
          <p:nvPr/>
        </p:nvSpPr>
        <p:spPr>
          <a:xfrm>
            <a:off x="777240" y="4069080"/>
            <a:ext cx="10698480" cy="178308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25196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3" name="TextBox 12"/>
          <p:cNvSpPr txBox="1"/>
          <p:nvPr/>
        </p:nvSpPr>
        <p:spPr>
          <a:xfrm>
            <a:off x="1005840" y="4617720"/>
            <a:ext cx="10241280" cy="640080"/>
          </a:xfrm>
          <a:prstGeom prst="rect">
            <a:avLst/>
          </a:prstGeom>
          <a:noFill/>
        </p:spPr>
        <p:txBody>
          <a:bodyPr wrap="square" anchor="t" lIns="0" rIns="0" tIns="0" bIns="0">
            <a:spAutoFit/>
          </a:bodyPr>
          <a:lstStyle/>
          <a:p>
            <a:pPr algn="l">
              <a:spcBef>
                <a:spcPts val="0"/>
              </a:spcBef>
              <a:spcAft>
                <a:spcPts val="400"/>
              </a:spcAft>
            </a:pPr>
            <a:r>
              <a:rPr sz="1700" b="1">
                <a:solidFill>
                  <a:srgbClr val="161B26"/>
                </a:solidFill>
                <a:latin typeface="Arial"/>
              </a:rPr>
              <a:t>Run TaskBoard + Postgres + Redis with healthchecks and condition-based depends_on.</a:t>
            </a:r>
          </a:p>
        </p:txBody>
      </p:sp>
      <p:sp>
        <p:nvSpPr>
          <p:cNvPr id="14" name="TextBox 13"/>
          <p:cNvSpPr txBox="1"/>
          <p:nvPr/>
        </p:nvSpPr>
        <p:spPr>
          <a:xfrm>
            <a:off x="1005840" y="53492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commands:  </a:t>
            </a:r>
            <a:r>
              <a:rPr sz="1300" b="0">
                <a:solidFill>
                  <a:srgbClr val="5B6372"/>
                </a:solidFill>
                <a:latin typeface="Arial"/>
              </a:rPr>
              <a:t>services: · docker compose · » This</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77</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12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Docker Compose — Full-Stack (Web + PostgreSQL + Redis)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The full stack</a:t>
            </a:r>
          </a:p>
        </p:txBody>
      </p:sp>
      <p:sp>
        <p:nvSpPr>
          <p:cNvPr id="8" name="Rounded Rectangle 7"/>
          <p:cNvSpPr/>
          <p:nvPr/>
        </p:nvSpPr>
        <p:spPr>
          <a:xfrm>
            <a:off x="777240" y="2075688"/>
            <a:ext cx="10652760" cy="3332988"/>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33329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3241548"/>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services:</a:t>
            </a:r>
          </a:p>
          <a:p>
            <a:pPr>
              <a:spcBef>
                <a:spcPts val="0"/>
              </a:spcBef>
              <a:spcAft>
                <a:spcPts val="0"/>
              </a:spcAft>
            </a:pPr>
            <a:r>
              <a:rPr sz="1050">
                <a:solidFill>
                  <a:srgbClr val="161B26"/>
                </a:solidFill>
                <a:latin typeface="Consolas"/>
              </a:rPr>
              <a:t>  web:</a:t>
            </a:r>
          </a:p>
          <a:p>
            <a:pPr>
              <a:spcBef>
                <a:spcPts val="0"/>
              </a:spcBef>
              <a:spcAft>
                <a:spcPts val="0"/>
              </a:spcAft>
            </a:pPr>
            <a:r>
              <a:rPr sz="1050">
                <a:solidFill>
                  <a:srgbClr val="161B26"/>
                </a:solidFill>
                <a:latin typeface="Consolas"/>
              </a:rPr>
              <a:t>    build: .</a:t>
            </a:r>
          </a:p>
          <a:p>
            <a:pPr>
              <a:spcBef>
                <a:spcPts val="0"/>
              </a:spcBef>
              <a:spcAft>
                <a:spcPts val="0"/>
              </a:spcAft>
            </a:pPr>
            <a:r>
              <a:rPr sz="1050">
                <a:solidFill>
                  <a:srgbClr val="161B26"/>
                </a:solidFill>
                <a:latin typeface="Consolas"/>
              </a:rPr>
              <a:t>    ports: ["8080:5000"]</a:t>
            </a:r>
          </a:p>
          <a:p>
            <a:pPr>
              <a:spcBef>
                <a:spcPts val="0"/>
              </a:spcBef>
              <a:spcAft>
                <a:spcPts val="0"/>
              </a:spcAft>
            </a:pPr>
            <a:r>
              <a:rPr sz="1050">
                <a:solidFill>
                  <a:srgbClr val="161B26"/>
                </a:solidFill>
                <a:latin typeface="Consolas"/>
              </a:rPr>
              <a:t>    environment:</a:t>
            </a:r>
          </a:p>
          <a:p>
            <a:pPr>
              <a:spcBef>
                <a:spcPts val="0"/>
              </a:spcBef>
              <a:spcAft>
                <a:spcPts val="0"/>
              </a:spcAft>
            </a:pPr>
            <a:r>
              <a:rPr sz="1050">
                <a:solidFill>
                  <a:srgbClr val="161B26"/>
                </a:solidFill>
                <a:latin typeface="Consolas"/>
              </a:rPr>
              <a:t>      - DATABASE_URL=postgresql://taskboard:secret@db:5432/taskboard</a:t>
            </a:r>
          </a:p>
          <a:p>
            <a:pPr>
              <a:spcBef>
                <a:spcPts val="0"/>
              </a:spcBef>
              <a:spcAft>
                <a:spcPts val="0"/>
              </a:spcAft>
            </a:pPr>
            <a:r>
              <a:rPr sz="1050">
                <a:solidFill>
                  <a:srgbClr val="161B26"/>
                </a:solidFill>
                <a:latin typeface="Consolas"/>
              </a:rPr>
              <a:t>      - REDIS_HOST=redis</a:t>
            </a:r>
          </a:p>
          <a:p>
            <a:pPr>
              <a:spcBef>
                <a:spcPts val="0"/>
              </a:spcBef>
              <a:spcAft>
                <a:spcPts val="0"/>
              </a:spcAft>
            </a:pPr>
            <a:r>
              <a:rPr sz="1050">
                <a:solidFill>
                  <a:srgbClr val="161B26"/>
                </a:solidFill>
                <a:latin typeface="Consolas"/>
              </a:rPr>
              <a:t>    depends_on:</a:t>
            </a:r>
          </a:p>
          <a:p>
            <a:pPr>
              <a:spcBef>
                <a:spcPts val="0"/>
              </a:spcBef>
              <a:spcAft>
                <a:spcPts val="0"/>
              </a:spcAft>
            </a:pPr>
            <a:r>
              <a:rPr sz="1050">
                <a:solidFill>
                  <a:srgbClr val="161B26"/>
                </a:solidFill>
                <a:latin typeface="Consolas"/>
              </a:rPr>
              <a:t>      db: { condition: service_healthy }</a:t>
            </a:r>
          </a:p>
          <a:p>
            <a:pPr>
              <a:spcBef>
                <a:spcPts val="0"/>
              </a:spcBef>
              <a:spcAft>
                <a:spcPts val="0"/>
              </a:spcAft>
            </a:pPr>
            <a:r>
              <a:rPr sz="1050">
                <a:solidFill>
                  <a:srgbClr val="161B26"/>
                </a:solidFill>
                <a:latin typeface="Consolas"/>
              </a:rPr>
              <a:t>      redis: { condition: service_started }</a:t>
            </a:r>
          </a:p>
          <a:p>
            <a:pPr>
              <a:spcBef>
                <a:spcPts val="0"/>
              </a:spcBef>
              <a:spcAft>
                <a:spcPts val="0"/>
              </a:spcAft>
            </a:pPr>
            <a:r>
              <a:rPr sz="1050">
                <a:solidFill>
                  <a:srgbClr val="161B26"/>
                </a:solidFill>
                <a:latin typeface="Consolas"/>
              </a:rPr>
              <a:t>  db:</a:t>
            </a:r>
          </a:p>
          <a:p>
            <a:pPr>
              <a:spcBef>
                <a:spcPts val="0"/>
              </a:spcBef>
              <a:spcAft>
                <a:spcPts val="0"/>
              </a:spcAft>
            </a:pPr>
            <a:r>
              <a:rPr sz="1050">
                <a:solidFill>
                  <a:srgbClr val="161B26"/>
                </a:solidFill>
                <a:latin typeface="Consolas"/>
              </a:rPr>
              <a:t>    image: postgres:16-alpine</a:t>
            </a:r>
          </a:p>
          <a:p>
            <a:pPr>
              <a:spcBef>
                <a:spcPts val="0"/>
              </a:spcBef>
              <a:spcAft>
                <a:spcPts val="0"/>
              </a:spcAft>
            </a:pPr>
            <a:r>
              <a:rPr sz="1050">
                <a:solidFill>
                  <a:srgbClr val="161B26"/>
                </a:solidFill>
                <a:latin typeface="Consolas"/>
              </a:rPr>
              <a:t>    healthcheck:</a:t>
            </a:r>
          </a:p>
          <a:p>
            <a:pPr>
              <a:spcBef>
                <a:spcPts val="0"/>
              </a:spcBef>
              <a:spcAft>
                <a:spcPts val="0"/>
              </a:spcAft>
            </a:pPr>
            <a:r>
              <a:rPr sz="1050">
                <a:solidFill>
                  <a:srgbClr val="161B26"/>
                </a:solidFill>
                <a:latin typeface="Consolas"/>
              </a:rPr>
              <a:t>      test: ["CMD-SHELL", "pg_isready -U taskboard"]</a:t>
            </a:r>
          </a:p>
          <a:p>
            <a:pPr>
              <a:spcBef>
                <a:spcPts val="0"/>
              </a:spcBef>
              <a:spcAft>
                <a:spcPts val="0"/>
              </a:spcAft>
            </a:pPr>
            <a:r>
              <a:rPr sz="1050">
                <a:solidFill>
                  <a:srgbClr val="161B26"/>
                </a:solidFill>
                <a:latin typeface="Consolas"/>
              </a:rPr>
              <a:t>      interval: 5s</a:t>
            </a:r>
          </a:p>
          <a:p>
            <a:pPr>
              <a:spcBef>
                <a:spcPts val="0"/>
              </a:spcBef>
              <a:spcAft>
                <a:spcPts val="0"/>
              </a:spcAft>
            </a:pPr>
            <a:r>
              <a:rPr sz="1050">
                <a:solidFill>
                  <a:srgbClr val="161B26"/>
                </a:solidFill>
                <a:latin typeface="Consolas"/>
              </a:rPr>
              <a:t>      retries: 5</a:t>
            </a:r>
          </a:p>
          <a:p>
            <a:pPr>
              <a:spcBef>
                <a:spcPts val="0"/>
              </a:spcBef>
              <a:spcAft>
                <a:spcPts val="0"/>
              </a:spcAft>
            </a:pPr>
            <a:r>
              <a:rPr sz="1050">
                <a:solidFill>
                  <a:srgbClr val="161B26"/>
                </a:solidFill>
                <a:latin typeface="Consolas"/>
              </a:rPr>
              <a:t>  redis: { image: redis:7-alpine }</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78</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12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Docker Compose — Full-Stack (Web + PostgreSQL + Redis) (cont.)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Run the lifecycle</a:t>
            </a:r>
          </a:p>
        </p:txBody>
      </p:sp>
      <p:sp>
        <p:nvSpPr>
          <p:cNvPr id="8" name="Rounded Rectangle 7"/>
          <p:cNvSpPr/>
          <p:nvPr/>
        </p:nvSpPr>
        <p:spPr>
          <a:xfrm>
            <a:off x="777240" y="2075688"/>
            <a:ext cx="10652760" cy="896112"/>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804672"/>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docker compose pull        # pulls postgres + redis</a:t>
            </a:r>
          </a:p>
          <a:p>
            <a:pPr>
              <a:spcBef>
                <a:spcPts val="0"/>
              </a:spcBef>
              <a:spcAft>
                <a:spcPts val="0"/>
              </a:spcAft>
            </a:pPr>
            <a:r>
              <a:rPr sz="1050">
                <a:solidFill>
                  <a:srgbClr val="161B26"/>
                </a:solidFill>
                <a:latin typeface="Consolas"/>
              </a:rPr>
              <a:t>docker compose up -d        # builds web, waits for db health, then starts web</a:t>
            </a:r>
          </a:p>
          <a:p>
            <a:pPr>
              <a:spcBef>
                <a:spcPts val="0"/>
              </a:spcBef>
              <a:spcAft>
                <a:spcPts val="0"/>
              </a:spcAft>
            </a:pPr>
            <a:r>
              <a:rPr sz="1050">
                <a:solidFill>
                  <a:srgbClr val="161B26"/>
                </a:solidFill>
                <a:latin typeface="Consolas"/>
              </a:rPr>
              <a:t>docker compose ps           # db shows (healthy)</a:t>
            </a:r>
          </a:p>
          <a:p>
            <a:pPr>
              <a:spcBef>
                <a:spcPts val="0"/>
              </a:spcBef>
              <a:spcAft>
                <a:spcPts val="0"/>
              </a:spcAft>
            </a:pPr>
            <a:r>
              <a:rPr sz="1050">
                <a:solidFill>
                  <a:srgbClr val="161B26"/>
                </a:solidFill>
                <a:latin typeface="Consolas"/>
              </a:rPr>
              <a:t>docker compose logs web</a:t>
            </a:r>
          </a:p>
        </p:txBody>
      </p:sp>
      <p:sp>
        <p:nvSpPr>
          <p:cNvPr id="11" name="TextBox 10"/>
          <p:cNvSpPr txBox="1"/>
          <p:nvPr/>
        </p:nvSpPr>
        <p:spPr>
          <a:xfrm>
            <a:off x="777240" y="315468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Verify tasks persist in Postgres</a:t>
            </a:r>
          </a:p>
        </p:txBody>
      </p:sp>
      <p:sp>
        <p:nvSpPr>
          <p:cNvPr id="12" name="Rounded Rectangle 11"/>
          <p:cNvSpPr/>
          <p:nvPr/>
        </p:nvSpPr>
        <p:spPr>
          <a:xfrm>
            <a:off x="777240" y="3538728"/>
            <a:ext cx="10652760" cy="896112"/>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538728"/>
            <a:ext cx="82296"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3602736"/>
            <a:ext cx="10323576" cy="804672"/>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 add tasks at http://localhost:8080, then prove they're in the DB:</a:t>
            </a:r>
          </a:p>
          <a:p>
            <a:pPr>
              <a:spcBef>
                <a:spcPts val="0"/>
              </a:spcBef>
              <a:spcAft>
                <a:spcPts val="0"/>
              </a:spcAft>
            </a:pPr>
            <a:r>
              <a:rPr sz="1050">
                <a:solidFill>
                  <a:srgbClr val="161B26"/>
                </a:solidFill>
                <a:latin typeface="Consolas"/>
              </a:rPr>
              <a:t>docker compose exec db psql -U taskboard -c 'SELECT id, text, done FROM tasks;'</a:t>
            </a:r>
          </a:p>
          <a:p>
            <a:pPr>
              <a:spcBef>
                <a:spcPts val="0"/>
              </a:spcBef>
              <a:spcAft>
                <a:spcPts val="0"/>
              </a:spcAft>
            </a:pPr>
            <a:r>
              <a:rPr sz="1050">
                <a:solidFill>
                  <a:srgbClr val="161B26"/>
                </a:solidFill>
                <a:latin typeface="Consolas"/>
              </a:rPr>
              <a:t>docker compose restart web</a:t>
            </a:r>
          </a:p>
          <a:p>
            <a:pPr>
              <a:spcBef>
                <a:spcPts val="0"/>
              </a:spcBef>
              <a:spcAft>
                <a:spcPts val="0"/>
              </a:spcAft>
            </a:pPr>
            <a:r>
              <a:rPr sz="1050">
                <a:solidFill>
                  <a:srgbClr val="161B26"/>
                </a:solidFill>
                <a:latin typeface="Consolas"/>
              </a:rPr>
              <a:t>curl http://localhost:8080/api/tasks   # tasks still there (in Postgres)</a:t>
            </a:r>
          </a:p>
        </p:txBody>
      </p:sp>
      <p:sp>
        <p:nvSpPr>
          <p:cNvPr id="15" name="TextBox 14"/>
          <p:cNvSpPr txBox="1"/>
          <p:nvPr/>
        </p:nvSpPr>
        <p:spPr>
          <a:xfrm>
            <a:off x="777240" y="461772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Tear down</a:t>
            </a:r>
          </a:p>
        </p:txBody>
      </p:sp>
      <p:sp>
        <p:nvSpPr>
          <p:cNvPr id="16" name="Rounded Rectangle 15"/>
          <p:cNvSpPr/>
          <p:nvPr/>
        </p:nvSpPr>
        <p:spPr>
          <a:xfrm>
            <a:off x="777240" y="5001768"/>
            <a:ext cx="10652760" cy="521207"/>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5001768"/>
            <a:ext cx="82296" cy="52120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96696" y="5065776"/>
            <a:ext cx="10323576" cy="429767"/>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docker compose down         # stop &amp; remove containers + network</a:t>
            </a:r>
          </a:p>
          <a:p>
            <a:pPr>
              <a:spcBef>
                <a:spcPts val="0"/>
              </a:spcBef>
              <a:spcAft>
                <a:spcPts val="0"/>
              </a:spcAft>
            </a:pPr>
            <a:r>
              <a:rPr sz="1050">
                <a:solidFill>
                  <a:srgbClr val="161B26"/>
                </a:solidFill>
                <a:latin typeface="Consolas"/>
              </a:rPr>
              <a:t>docker compose down -v      # also drop the pgdata volume</a:t>
            </a:r>
          </a:p>
        </p:txBody>
      </p:sp>
      <p:sp>
        <p:nvSpPr>
          <p:cNvPr id="19" name="TextBox 1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20" name="TextBox 1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1" name="TextBox 2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79</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12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Docker Compose — Full-Stack (Web + PostgreSQL + Redis) (cont.)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52760"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Note   </a:t>
            </a:r>
            <a:r>
              <a:rPr sz="1300" b="0">
                <a:solidFill>
                  <a:srgbClr val="5B6372"/>
                </a:solidFill>
                <a:latin typeface="Arial"/>
              </a:rPr>
              <a:t>This web + database + cache shape is the canonical cloud app. On Day 2 you'll deploy this very app to Kubernetes — as Pods, a Deployment, a Service, and persistent storage.</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80</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12  ·  TEST IT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Docker Compose — Full-Stack (Web + PostgreSQL + Redis)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10698480" cy="2560320"/>
          </a:xfrm>
          <a:prstGeom prst="roundRect">
            <a:avLst>
              <a:gd name="adj" fmla="val 5000"/>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200" b="1">
                <a:solidFill>
                  <a:srgbClr val="127A3E"/>
                </a:solidFill>
                <a:latin typeface="Arial"/>
              </a:rPr>
              <a:t>✅  Test it</a:t>
            </a:r>
          </a:p>
        </p:txBody>
      </p:sp>
      <p:sp>
        <p:nvSpPr>
          <p:cNvPr id="9" name="TextBox 8"/>
          <p:cNvSpPr txBox="1"/>
          <p:nvPr/>
        </p:nvSpPr>
        <p:spPr>
          <a:xfrm>
            <a:off x="1097280" y="3017520"/>
            <a:ext cx="10149840" cy="146304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docker compose ps shows db as (healthy), tasks added in the browser appear in SELECT * FROM tasks, and they survive docker compose restart web.</a:t>
            </a:r>
          </a:p>
        </p:txBody>
      </p:sp>
      <p:sp>
        <p:nvSpPr>
          <p:cNvPr id="10" name="TextBox 9"/>
          <p:cNvSpPr txBox="1"/>
          <p:nvPr/>
        </p:nvSpPr>
        <p:spPr>
          <a:xfrm>
            <a:off x="777240" y="4983480"/>
            <a:ext cx="10698480" cy="365760"/>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KillerCoda:  </a:t>
            </a:r>
            <a:r>
              <a:rPr sz="1300" b="0">
                <a:solidFill>
                  <a:srgbClr val="5B6372"/>
                </a:solidFill>
                <a:latin typeface="Arial"/>
              </a:rPr>
              <a:t>https://killercoda.com/tertiary-labs/course/killercoda/day1-05-docker-compose</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81</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lIns="0" rIns="0" tIns="0" bIns="0">
            <a:spAutoFit/>
          </a:bodyPr>
          <a:lstStyle/>
          <a:p>
            <a:pPr algn="l">
              <a:spcBef>
                <a:spcPts val="0"/>
              </a:spcBef>
              <a:spcAft>
                <a:spcPts val="400"/>
              </a:spcAft>
            </a:pPr>
            <a:r>
              <a:rPr sz="1600" b="1">
                <a:solidFill>
                  <a:srgbClr val="1F6FEB"/>
                </a:solidFill>
                <a:latin typeface="Arial"/>
              </a:rPr>
              <a:t>WRAP-UP</a:t>
            </a:r>
          </a:p>
        </p:txBody>
      </p:sp>
      <p:sp>
        <p:nvSpPr>
          <p:cNvPr id="5" name="TextBox 4"/>
          <p:cNvSpPr txBox="1"/>
          <p:nvPr/>
        </p:nvSpPr>
        <p:spPr>
          <a:xfrm>
            <a:off x="1005840" y="2560320"/>
            <a:ext cx="10332720" cy="2194560"/>
          </a:xfrm>
          <a:prstGeom prst="rect">
            <a:avLst/>
          </a:prstGeom>
          <a:noFill/>
        </p:spPr>
        <p:txBody>
          <a:bodyPr wrap="square" anchor="t" lIns="0" rIns="0" tIns="0" bIns="0">
            <a:spAutoFit/>
          </a:bodyPr>
          <a:lstStyle/>
          <a:p>
            <a:pPr algn="l">
              <a:spcBef>
                <a:spcPts val="0"/>
              </a:spcBef>
              <a:spcAft>
                <a:spcPts val="400"/>
              </a:spcAft>
            </a:pPr>
            <a:r>
              <a:rPr sz="3800" b="1">
                <a:solidFill>
                  <a:srgbClr val="161B26"/>
                </a:solidFill>
                <a:latin typeface="Arial"/>
              </a:rPr>
              <a:t>Day 1 done — you containerised a full app.</a:t>
            </a:r>
          </a:p>
        </p:txBody>
      </p:sp>
      <p:sp>
        <p:nvSpPr>
          <p:cNvPr id="6" name="TextBox 5"/>
          <p:cNvSpPr txBox="1"/>
          <p:nvPr/>
        </p:nvSpPr>
        <p:spPr>
          <a:xfrm>
            <a:off x="1024128" y="4389120"/>
            <a:ext cx="10058400" cy="1097280"/>
          </a:xfrm>
          <a:prstGeom prst="rect">
            <a:avLst/>
          </a:prstGeom>
          <a:noFill/>
        </p:spPr>
        <p:txBody>
          <a:bodyPr wrap="square" anchor="t" lIns="0" rIns="0" tIns="0" bIns="0">
            <a:spAutoFit/>
          </a:bodyPr>
          <a:lstStyle/>
          <a:p>
            <a:pPr algn="l">
              <a:spcBef>
                <a:spcPts val="0"/>
              </a:spcBef>
              <a:spcAft>
                <a:spcPts val="400"/>
              </a:spcAft>
            </a:pPr>
            <a:r>
              <a:rPr sz="2000" b="0">
                <a:solidFill>
                  <a:srgbClr val="5B6372"/>
                </a:solidFill>
                <a:latin typeface="Arial"/>
              </a:rPr>
              <a:t>Tomorrow: deploy TaskBoard to Kubernetes and scale it.</a:t>
            </a:r>
          </a:p>
        </p:txBody>
      </p:sp>
      <p:sp>
        <p:nvSpPr>
          <p:cNvPr id="7" name="TextBox 6"/>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8" name="TextBox 7"/>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9" name="TextBox 8"/>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82</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F6FEB"/>
                </a:solidFill>
                <a:latin typeface="Arial"/>
              </a:rPr>
              <a:t>DAY 2</a:t>
            </a:r>
          </a:p>
        </p:txBody>
      </p:sp>
      <p:sp>
        <p:nvSpPr>
          <p:cNvPr id="6" name="TextBox 5"/>
          <p:cNvSpPr txBox="1"/>
          <p:nvPr/>
        </p:nvSpPr>
        <p:spPr>
          <a:xfrm>
            <a:off x="1143000" y="2743200"/>
            <a:ext cx="10424160" cy="1463040"/>
          </a:xfrm>
          <a:prstGeom prst="rect">
            <a:avLst/>
          </a:prstGeom>
          <a:noFill/>
        </p:spPr>
        <p:txBody>
          <a:bodyPr wrap="square" anchor="t" lIns="0" rIns="0" tIns="0" bIns="0">
            <a:spAutoFit/>
          </a:bodyPr>
          <a:lstStyle/>
          <a:p>
            <a:pPr algn="l">
              <a:spcBef>
                <a:spcPts val="0"/>
              </a:spcBef>
              <a:spcAft>
                <a:spcPts val="400"/>
              </a:spcAft>
            </a:pPr>
            <a:r>
              <a:rPr sz="4000" b="1">
                <a:solidFill>
                  <a:srgbClr val="161B26"/>
                </a:solidFill>
                <a:latin typeface="Arial"/>
              </a:rPr>
              <a:t>Kubernetes</a:t>
            </a:r>
          </a:p>
        </p:txBody>
      </p:sp>
      <p:sp>
        <p:nvSpPr>
          <p:cNvPr id="7" name="TextBox 6"/>
          <p:cNvSpPr txBox="1"/>
          <p:nvPr/>
        </p:nvSpPr>
        <p:spPr>
          <a:xfrm>
            <a:off x="1161288" y="4114800"/>
            <a:ext cx="10058400" cy="731520"/>
          </a:xfrm>
          <a:prstGeom prst="rect">
            <a:avLst/>
          </a:prstGeom>
          <a:noFill/>
        </p:spPr>
        <p:txBody>
          <a:bodyPr wrap="square" anchor="t" lIns="0" rIns="0" tIns="0" bIns="0">
            <a:spAutoFit/>
          </a:bodyPr>
          <a:lstStyle/>
          <a:p>
            <a:pPr algn="l">
              <a:spcBef>
                <a:spcPts val="0"/>
              </a:spcBef>
              <a:spcAft>
                <a:spcPts val="400"/>
              </a:spcAft>
            </a:pPr>
            <a:r>
              <a:rPr sz="1600" b="0">
                <a:solidFill>
                  <a:srgbClr val="5B6372"/>
                </a:solidFill>
                <a:latin typeface="Arial"/>
              </a:rPr>
              <a:t>Pods · Deployments · Services · Storage</a:t>
            </a:r>
          </a:p>
        </p:txBody>
      </p:sp>
      <p:sp>
        <p:nvSpPr>
          <p:cNvPr id="8" name="TextBox 7"/>
          <p:cNvSpPr txBox="1"/>
          <p:nvPr/>
        </p:nvSpPr>
        <p:spPr>
          <a:xfrm>
            <a:off x="9418320" y="640080"/>
            <a:ext cx="2286000" cy="1463040"/>
          </a:xfrm>
          <a:prstGeom prst="rect">
            <a:avLst/>
          </a:prstGeom>
          <a:noFill/>
        </p:spPr>
        <p:txBody>
          <a:bodyPr wrap="square" anchor="t" lIns="0" rIns="0" tIns="0" bIns="0">
            <a:spAutoFit/>
          </a:bodyPr>
          <a:lstStyle/>
          <a:p>
            <a:pPr algn="r">
              <a:spcBef>
                <a:spcPts val="0"/>
              </a:spcBef>
              <a:spcAft>
                <a:spcPts val="400"/>
              </a:spcAft>
            </a:pPr>
            <a:r>
              <a:rPr sz="7200" b="1">
                <a:solidFill>
                  <a:srgbClr val="E2E8F0"/>
                </a:solidFill>
                <a:latin typeface="Arial"/>
              </a:rPr>
              <a:t>02</a:t>
            </a:r>
          </a:p>
        </p:txBody>
      </p:sp>
      <p:sp>
        <p:nvSpPr>
          <p:cNvPr id="9" name="TextBox 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83</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F6FEB"/>
                </a:solidFill>
                <a:latin typeface="Arial"/>
              </a:rPr>
              <a:t>TOPIC 7</a:t>
            </a:r>
          </a:p>
        </p:txBody>
      </p:sp>
      <p:sp>
        <p:nvSpPr>
          <p:cNvPr id="6" name="TextBox 5"/>
          <p:cNvSpPr txBox="1"/>
          <p:nvPr/>
        </p:nvSpPr>
        <p:spPr>
          <a:xfrm>
            <a:off x="1143000" y="2743200"/>
            <a:ext cx="10424160" cy="1463040"/>
          </a:xfrm>
          <a:prstGeom prst="rect">
            <a:avLst/>
          </a:prstGeom>
          <a:noFill/>
        </p:spPr>
        <p:txBody>
          <a:bodyPr wrap="square" anchor="t" lIns="0" rIns="0" tIns="0" bIns="0">
            <a:spAutoFit/>
          </a:bodyPr>
          <a:lstStyle/>
          <a:p>
            <a:pPr algn="l">
              <a:spcBef>
                <a:spcPts val="0"/>
              </a:spcBef>
              <a:spcAft>
                <a:spcPts val="400"/>
              </a:spcAft>
            </a:pPr>
            <a:r>
              <a:rPr sz="4000" b="1">
                <a:solidFill>
                  <a:srgbClr val="161B26"/>
                </a:solidFill>
                <a:latin typeface="Arial"/>
              </a:rPr>
              <a:t>Kubernetes Fundamentals</a:t>
            </a:r>
          </a:p>
        </p:txBody>
      </p:sp>
      <p:sp>
        <p:nvSpPr>
          <p:cNvPr id="7" name="TextBox 6"/>
          <p:cNvSpPr txBox="1"/>
          <p:nvPr/>
        </p:nvSpPr>
        <p:spPr>
          <a:xfrm>
            <a:off x="1161288" y="4114800"/>
            <a:ext cx="10058400" cy="731520"/>
          </a:xfrm>
          <a:prstGeom prst="rect">
            <a:avLst/>
          </a:prstGeom>
          <a:noFill/>
        </p:spPr>
        <p:txBody>
          <a:bodyPr wrap="square" anchor="t" lIns="0" rIns="0" tIns="0" bIns="0">
            <a:spAutoFit/>
          </a:bodyPr>
          <a:lstStyle/>
          <a:p>
            <a:pPr algn="l">
              <a:spcBef>
                <a:spcPts val="0"/>
              </a:spcBef>
              <a:spcAft>
                <a:spcPts val="400"/>
              </a:spcAft>
            </a:pPr>
            <a:r>
              <a:rPr sz="1600" b="0">
                <a:solidFill>
                  <a:srgbClr val="5B6372"/>
                </a:solidFill>
                <a:latin typeface="Arial"/>
              </a:rPr>
              <a:t>Architecture, the control plane &amp; kubectl</a:t>
            </a:r>
          </a:p>
        </p:txBody>
      </p:sp>
      <p:sp>
        <p:nvSpPr>
          <p:cNvPr id="8" name="TextBox 7"/>
          <p:cNvSpPr txBox="1"/>
          <p:nvPr/>
        </p:nvSpPr>
        <p:spPr>
          <a:xfrm>
            <a:off x="9418320" y="640080"/>
            <a:ext cx="2286000" cy="1463040"/>
          </a:xfrm>
          <a:prstGeom prst="rect">
            <a:avLst/>
          </a:prstGeom>
          <a:noFill/>
        </p:spPr>
        <p:txBody>
          <a:bodyPr wrap="square" anchor="t" lIns="0" rIns="0" tIns="0" bIns="0">
            <a:spAutoFit/>
          </a:bodyPr>
          <a:lstStyle/>
          <a:p>
            <a:pPr algn="r">
              <a:spcBef>
                <a:spcPts val="0"/>
              </a:spcBef>
              <a:spcAft>
                <a:spcPts val="400"/>
              </a:spcAft>
            </a:pPr>
            <a:r>
              <a:rPr sz="7200" b="1">
                <a:solidFill>
                  <a:srgbClr val="E2E8F0"/>
                </a:solidFill>
                <a:latin typeface="Arial"/>
              </a:rPr>
              <a:t/>
            </a:r>
          </a:p>
        </p:txBody>
      </p:sp>
      <p:sp>
        <p:nvSpPr>
          <p:cNvPr id="9" name="TextBox 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84</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ORCHESTRATION</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Why Kubernetes?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1900" b="1">
                <a:solidFill>
                  <a:srgbClr val="1F6FEB"/>
                </a:solidFill>
                <a:latin typeface="Arial"/>
              </a:rPr>
              <a:t>•  </a:t>
            </a:r>
            <a:r>
              <a:rPr sz="1900">
                <a:solidFill>
                  <a:srgbClr val="161B26"/>
                </a:solidFill>
                <a:latin typeface="Arial"/>
              </a:rPr>
              <a:t>Docker runs containers on one host; Kubernetes orchestrates them across a cluster.</a:t>
            </a:r>
          </a:p>
          <a:p>
            <a:pPr>
              <a:spcBef>
                <a:spcPts val="0"/>
              </a:spcBef>
              <a:spcAft>
                <a:spcPts val="1000"/>
              </a:spcAft>
            </a:pPr>
            <a:r>
              <a:rPr sz="1900" b="1">
                <a:solidFill>
                  <a:srgbClr val="1F6FEB"/>
                </a:solidFill>
                <a:latin typeface="Arial"/>
              </a:rPr>
              <a:t>•  </a:t>
            </a:r>
            <a:r>
              <a:rPr sz="1900">
                <a:solidFill>
                  <a:srgbClr val="161B26"/>
                </a:solidFill>
                <a:latin typeface="Arial"/>
              </a:rPr>
              <a:t>It self-heals (restarts failed Pods), scales, and rolls out updates with no downtime.</a:t>
            </a:r>
          </a:p>
          <a:p>
            <a:pPr>
              <a:spcBef>
                <a:spcPts val="0"/>
              </a:spcBef>
              <a:spcAft>
                <a:spcPts val="1000"/>
              </a:spcAft>
            </a:pPr>
            <a:r>
              <a:rPr sz="1900" b="1">
                <a:solidFill>
                  <a:srgbClr val="1F6FEB"/>
                </a:solidFill>
                <a:latin typeface="Arial"/>
              </a:rPr>
              <a:t>•  </a:t>
            </a:r>
            <a:r>
              <a:rPr sz="1900">
                <a:solidFill>
                  <a:srgbClr val="161B26"/>
                </a:solidFill>
                <a:latin typeface="Arial"/>
              </a:rPr>
              <a:t>Declarative: you describe desired state in YAML; Kubernetes makes it true.</a:t>
            </a:r>
          </a:p>
          <a:p>
            <a:pPr>
              <a:spcBef>
                <a:spcPts val="0"/>
              </a:spcBef>
              <a:spcAft>
                <a:spcPts val="1000"/>
              </a:spcAft>
            </a:pPr>
            <a:r>
              <a:rPr sz="1900" b="1">
                <a:solidFill>
                  <a:srgbClr val="1F6FEB"/>
                </a:solidFill>
                <a:latin typeface="Arial"/>
              </a:rPr>
              <a:t>•  </a:t>
            </a:r>
            <a:r>
              <a:rPr sz="1900">
                <a:solidFill>
                  <a:srgbClr val="161B26"/>
                </a:solidFill>
                <a:latin typeface="Arial"/>
              </a:rPr>
              <a:t>kubectl is the CLI: get / describe / apply / delete / scale / rollout.</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85</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HOW IT WORKS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Cluster Architecture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83080"/>
            <a:ext cx="3337560" cy="420624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57400"/>
            <a:ext cx="2926080" cy="548640"/>
          </a:xfrm>
          <a:prstGeom prst="rect">
            <a:avLst/>
          </a:prstGeom>
          <a:noFill/>
        </p:spPr>
        <p:txBody>
          <a:bodyPr wrap="square" anchor="t" lIns="0" rIns="0" tIns="0" bIns="0">
            <a:spAutoFit/>
          </a:bodyPr>
          <a:lstStyle/>
          <a:p>
            <a:pPr algn="l">
              <a:spcBef>
                <a:spcPts val="0"/>
              </a:spcBef>
              <a:spcAft>
                <a:spcPts val="400"/>
              </a:spcAft>
            </a:pPr>
            <a:r>
              <a:rPr sz="1900" b="1">
                <a:solidFill>
                  <a:srgbClr val="1F6FEB"/>
                </a:solidFill>
                <a:latin typeface="Arial"/>
              </a:rPr>
              <a:t>Control Plane</a:t>
            </a:r>
          </a:p>
        </p:txBody>
      </p:sp>
      <p:sp>
        <p:nvSpPr>
          <p:cNvPr id="10" name="TextBox 9"/>
          <p:cNvSpPr txBox="1"/>
          <p:nvPr/>
        </p:nvSpPr>
        <p:spPr>
          <a:xfrm>
            <a:off x="1005840" y="2697480"/>
            <a:ext cx="2926080" cy="3108960"/>
          </a:xfrm>
          <a:prstGeom prst="rect">
            <a:avLst/>
          </a:prstGeom>
          <a:noFill/>
        </p:spPr>
        <p:txBody>
          <a:bodyPr wrap="square" lIns="0" rIns="0">
            <a:spAutoFit/>
          </a:bodyPr>
          <a:lstStyle/>
          <a:p>
            <a:pPr>
              <a:spcBef>
                <a:spcPts val="0"/>
              </a:spcBef>
              <a:spcAft>
                <a:spcPts val="900"/>
              </a:spcAft>
            </a:pPr>
            <a:r>
              <a:rPr sz="1400" b="1">
                <a:solidFill>
                  <a:srgbClr val="1F6FEB"/>
                </a:solidFill>
                <a:latin typeface="Arial"/>
              </a:rPr>
              <a:t>•  </a:t>
            </a:r>
            <a:r>
              <a:rPr sz="1400">
                <a:solidFill>
                  <a:srgbClr val="161B26"/>
                </a:solidFill>
                <a:latin typeface="Arial"/>
              </a:rPr>
              <a:t>API Server</a:t>
            </a:r>
          </a:p>
          <a:p>
            <a:pPr>
              <a:spcBef>
                <a:spcPts val="0"/>
              </a:spcBef>
              <a:spcAft>
                <a:spcPts val="900"/>
              </a:spcAft>
            </a:pPr>
            <a:r>
              <a:rPr sz="1400" b="1">
                <a:solidFill>
                  <a:srgbClr val="1F6FEB"/>
                </a:solidFill>
                <a:latin typeface="Arial"/>
              </a:rPr>
              <a:t>•  </a:t>
            </a:r>
            <a:r>
              <a:rPr sz="1400">
                <a:solidFill>
                  <a:srgbClr val="161B26"/>
                </a:solidFill>
                <a:latin typeface="Arial"/>
              </a:rPr>
              <a:t>etcd (state store)</a:t>
            </a:r>
          </a:p>
          <a:p>
            <a:pPr>
              <a:spcBef>
                <a:spcPts val="0"/>
              </a:spcBef>
              <a:spcAft>
                <a:spcPts val="900"/>
              </a:spcAft>
            </a:pPr>
            <a:r>
              <a:rPr sz="1400" b="1">
                <a:solidFill>
                  <a:srgbClr val="1F6FEB"/>
                </a:solidFill>
                <a:latin typeface="Arial"/>
              </a:rPr>
              <a:t>•  </a:t>
            </a:r>
            <a:r>
              <a:rPr sz="1400">
                <a:solidFill>
                  <a:srgbClr val="161B26"/>
                </a:solidFill>
                <a:latin typeface="Arial"/>
              </a:rPr>
              <a:t>Scheduler</a:t>
            </a:r>
          </a:p>
          <a:p>
            <a:pPr>
              <a:spcBef>
                <a:spcPts val="0"/>
              </a:spcBef>
              <a:spcAft>
                <a:spcPts val="900"/>
              </a:spcAft>
            </a:pPr>
            <a:r>
              <a:rPr sz="1400" b="1">
                <a:solidFill>
                  <a:srgbClr val="1F6FEB"/>
                </a:solidFill>
                <a:latin typeface="Arial"/>
              </a:rPr>
              <a:t>•  </a:t>
            </a:r>
            <a:r>
              <a:rPr sz="1400">
                <a:solidFill>
                  <a:srgbClr val="161B26"/>
                </a:solidFill>
                <a:latin typeface="Arial"/>
              </a:rPr>
              <a:t>Controller Manager</a:t>
            </a:r>
          </a:p>
        </p:txBody>
      </p:sp>
      <p:sp>
        <p:nvSpPr>
          <p:cNvPr id="11" name="Rounded Rectangle 10"/>
          <p:cNvSpPr/>
          <p:nvPr/>
        </p:nvSpPr>
        <p:spPr>
          <a:xfrm>
            <a:off x="4572000" y="1783080"/>
            <a:ext cx="3337560" cy="420624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57400"/>
            <a:ext cx="2926080" cy="548640"/>
          </a:xfrm>
          <a:prstGeom prst="rect">
            <a:avLst/>
          </a:prstGeom>
          <a:noFill/>
        </p:spPr>
        <p:txBody>
          <a:bodyPr wrap="square" anchor="t" lIns="0" rIns="0" tIns="0" bIns="0">
            <a:spAutoFit/>
          </a:bodyPr>
          <a:lstStyle/>
          <a:p>
            <a:pPr algn="l">
              <a:spcBef>
                <a:spcPts val="0"/>
              </a:spcBef>
              <a:spcAft>
                <a:spcPts val="400"/>
              </a:spcAft>
            </a:pPr>
            <a:r>
              <a:rPr sz="1900" b="1">
                <a:solidFill>
                  <a:srgbClr val="10B981"/>
                </a:solidFill>
                <a:latin typeface="Arial"/>
              </a:rPr>
              <a:t>Worker Nodes</a:t>
            </a:r>
          </a:p>
        </p:txBody>
      </p:sp>
      <p:sp>
        <p:nvSpPr>
          <p:cNvPr id="14" name="TextBox 13"/>
          <p:cNvSpPr txBox="1"/>
          <p:nvPr/>
        </p:nvSpPr>
        <p:spPr>
          <a:xfrm>
            <a:off x="4800600" y="2697480"/>
            <a:ext cx="2926080" cy="3108960"/>
          </a:xfrm>
          <a:prstGeom prst="rect">
            <a:avLst/>
          </a:prstGeom>
          <a:noFill/>
        </p:spPr>
        <p:txBody>
          <a:bodyPr wrap="square" lIns="0" rIns="0">
            <a:spAutoFit/>
          </a:bodyPr>
          <a:lstStyle/>
          <a:p>
            <a:pPr>
              <a:spcBef>
                <a:spcPts val="0"/>
              </a:spcBef>
              <a:spcAft>
                <a:spcPts val="900"/>
              </a:spcAft>
            </a:pPr>
            <a:r>
              <a:rPr sz="1400" b="1">
                <a:solidFill>
                  <a:srgbClr val="10B981"/>
                </a:solidFill>
                <a:latin typeface="Arial"/>
              </a:rPr>
              <a:t>•  </a:t>
            </a:r>
            <a:r>
              <a:rPr sz="1400">
                <a:solidFill>
                  <a:srgbClr val="161B26"/>
                </a:solidFill>
                <a:latin typeface="Arial"/>
              </a:rPr>
              <a:t>kubelet (node agent)</a:t>
            </a:r>
          </a:p>
          <a:p>
            <a:pPr>
              <a:spcBef>
                <a:spcPts val="0"/>
              </a:spcBef>
              <a:spcAft>
                <a:spcPts val="900"/>
              </a:spcAft>
            </a:pPr>
            <a:r>
              <a:rPr sz="1400" b="1">
                <a:solidFill>
                  <a:srgbClr val="10B981"/>
                </a:solidFill>
                <a:latin typeface="Arial"/>
              </a:rPr>
              <a:t>•  </a:t>
            </a:r>
            <a:r>
              <a:rPr sz="1400">
                <a:solidFill>
                  <a:srgbClr val="161B26"/>
                </a:solidFill>
                <a:latin typeface="Arial"/>
              </a:rPr>
              <a:t>kube-proxy (networking)</a:t>
            </a:r>
          </a:p>
          <a:p>
            <a:pPr>
              <a:spcBef>
                <a:spcPts val="0"/>
              </a:spcBef>
              <a:spcAft>
                <a:spcPts val="900"/>
              </a:spcAft>
            </a:pPr>
            <a:r>
              <a:rPr sz="1400" b="1">
                <a:solidFill>
                  <a:srgbClr val="10B981"/>
                </a:solidFill>
                <a:latin typeface="Arial"/>
              </a:rPr>
              <a:t>•  </a:t>
            </a:r>
            <a:r>
              <a:rPr sz="1400">
                <a:solidFill>
                  <a:srgbClr val="161B26"/>
                </a:solidFill>
                <a:latin typeface="Arial"/>
              </a:rPr>
              <a:t>Run your Pods</a:t>
            </a:r>
          </a:p>
        </p:txBody>
      </p:sp>
      <p:sp>
        <p:nvSpPr>
          <p:cNvPr id="15" name="Rounded Rectangle 14"/>
          <p:cNvSpPr/>
          <p:nvPr/>
        </p:nvSpPr>
        <p:spPr>
          <a:xfrm>
            <a:off x="8366760" y="1783080"/>
            <a:ext cx="3337560" cy="420624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57400"/>
            <a:ext cx="2926080" cy="548640"/>
          </a:xfrm>
          <a:prstGeom prst="rect">
            <a:avLst/>
          </a:prstGeom>
          <a:noFill/>
        </p:spPr>
        <p:txBody>
          <a:bodyPr wrap="square" anchor="t" lIns="0" rIns="0" tIns="0" bIns="0">
            <a:spAutoFit/>
          </a:bodyPr>
          <a:lstStyle/>
          <a:p>
            <a:pPr algn="l">
              <a:spcBef>
                <a:spcPts val="0"/>
              </a:spcBef>
              <a:spcAft>
                <a:spcPts val="400"/>
              </a:spcAft>
            </a:pPr>
            <a:r>
              <a:rPr sz="1900" b="1">
                <a:solidFill>
                  <a:srgbClr val="7C3AED"/>
                </a:solidFill>
                <a:latin typeface="Arial"/>
              </a:rPr>
              <a:t>Core Objects</a:t>
            </a:r>
          </a:p>
        </p:txBody>
      </p:sp>
      <p:sp>
        <p:nvSpPr>
          <p:cNvPr id="18" name="TextBox 17"/>
          <p:cNvSpPr txBox="1"/>
          <p:nvPr/>
        </p:nvSpPr>
        <p:spPr>
          <a:xfrm>
            <a:off x="8595360" y="2697480"/>
            <a:ext cx="2926080" cy="3108960"/>
          </a:xfrm>
          <a:prstGeom prst="rect">
            <a:avLst/>
          </a:prstGeom>
          <a:noFill/>
        </p:spPr>
        <p:txBody>
          <a:bodyPr wrap="square" lIns="0" rIns="0">
            <a:spAutoFit/>
          </a:bodyPr>
          <a:lstStyle/>
          <a:p>
            <a:pPr>
              <a:spcBef>
                <a:spcPts val="0"/>
              </a:spcBef>
              <a:spcAft>
                <a:spcPts val="900"/>
              </a:spcAft>
            </a:pPr>
            <a:r>
              <a:rPr sz="1400" b="1">
                <a:solidFill>
                  <a:srgbClr val="7C3AED"/>
                </a:solidFill>
                <a:latin typeface="Arial"/>
              </a:rPr>
              <a:t>•  </a:t>
            </a:r>
            <a:r>
              <a:rPr sz="1400">
                <a:solidFill>
                  <a:srgbClr val="161B26"/>
                </a:solidFill>
                <a:latin typeface="Arial"/>
              </a:rPr>
              <a:t>Pod · Deployment</a:t>
            </a:r>
          </a:p>
          <a:p>
            <a:pPr>
              <a:spcBef>
                <a:spcPts val="0"/>
              </a:spcBef>
              <a:spcAft>
                <a:spcPts val="900"/>
              </a:spcAft>
            </a:pPr>
            <a:r>
              <a:rPr sz="1400" b="1">
                <a:solidFill>
                  <a:srgbClr val="7C3AED"/>
                </a:solidFill>
                <a:latin typeface="Arial"/>
              </a:rPr>
              <a:t>•  </a:t>
            </a:r>
            <a:r>
              <a:rPr sz="1400">
                <a:solidFill>
                  <a:srgbClr val="161B26"/>
                </a:solidFill>
                <a:latin typeface="Arial"/>
              </a:rPr>
              <a:t>Service · Namespace</a:t>
            </a:r>
          </a:p>
          <a:p>
            <a:pPr>
              <a:spcBef>
                <a:spcPts val="0"/>
              </a:spcBef>
              <a:spcAft>
                <a:spcPts val="900"/>
              </a:spcAft>
            </a:pPr>
            <a:r>
              <a:rPr sz="1400" b="1">
                <a:solidFill>
                  <a:srgbClr val="7C3AED"/>
                </a:solidFill>
                <a:latin typeface="Arial"/>
              </a:rPr>
              <a:t>•  </a:t>
            </a:r>
            <a:r>
              <a:rPr sz="1400">
                <a:solidFill>
                  <a:srgbClr val="161B26"/>
                </a:solidFill>
                <a:latin typeface="Arial"/>
              </a:rPr>
              <a:t>PV / PVC · Job</a:t>
            </a:r>
          </a:p>
        </p:txBody>
      </p:sp>
      <p:sp>
        <p:nvSpPr>
          <p:cNvPr id="19" name="TextBox 1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20" name="TextBox 1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1" name="TextBox 2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86</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F6FEB"/>
                </a:solidFill>
                <a:latin typeface="Arial"/>
              </a:rPr>
              <a:t>TOPIC 8</a:t>
            </a:r>
          </a:p>
        </p:txBody>
      </p:sp>
      <p:sp>
        <p:nvSpPr>
          <p:cNvPr id="6" name="TextBox 5"/>
          <p:cNvSpPr txBox="1"/>
          <p:nvPr/>
        </p:nvSpPr>
        <p:spPr>
          <a:xfrm>
            <a:off x="1143000" y="2743200"/>
            <a:ext cx="10424160" cy="1463040"/>
          </a:xfrm>
          <a:prstGeom prst="rect">
            <a:avLst/>
          </a:prstGeom>
          <a:noFill/>
        </p:spPr>
        <p:txBody>
          <a:bodyPr wrap="square" anchor="t" lIns="0" rIns="0" tIns="0" bIns="0">
            <a:spAutoFit/>
          </a:bodyPr>
          <a:lstStyle/>
          <a:p>
            <a:pPr algn="l">
              <a:spcBef>
                <a:spcPts val="0"/>
              </a:spcBef>
              <a:spcAft>
                <a:spcPts val="400"/>
              </a:spcAft>
            </a:pPr>
            <a:r>
              <a:rPr sz="4000" b="1">
                <a:solidFill>
                  <a:srgbClr val="161B26"/>
                </a:solidFill>
                <a:latin typeface="Arial"/>
              </a:rPr>
              <a:t>Pods &amp; Namespaces</a:t>
            </a:r>
          </a:p>
        </p:txBody>
      </p:sp>
      <p:sp>
        <p:nvSpPr>
          <p:cNvPr id="7" name="TextBox 6"/>
          <p:cNvSpPr txBox="1"/>
          <p:nvPr/>
        </p:nvSpPr>
        <p:spPr>
          <a:xfrm>
            <a:off x="1161288" y="4114800"/>
            <a:ext cx="10058400" cy="731520"/>
          </a:xfrm>
          <a:prstGeom prst="rect">
            <a:avLst/>
          </a:prstGeom>
          <a:noFill/>
        </p:spPr>
        <p:txBody>
          <a:bodyPr wrap="square" anchor="t" lIns="0" rIns="0" tIns="0" bIns="0">
            <a:spAutoFit/>
          </a:bodyPr>
          <a:lstStyle/>
          <a:p>
            <a:pPr algn="l">
              <a:spcBef>
                <a:spcPts val="0"/>
              </a:spcBef>
              <a:spcAft>
                <a:spcPts val="400"/>
              </a:spcAft>
            </a:pPr>
            <a:r>
              <a:rPr sz="1600" b="0">
                <a:solidFill>
                  <a:srgbClr val="5B6372"/>
                </a:solidFill>
                <a:latin typeface="Arial"/>
              </a:rPr>
              <a:t>The smallest unit &amp; environment isolation</a:t>
            </a:r>
          </a:p>
        </p:txBody>
      </p:sp>
      <p:sp>
        <p:nvSpPr>
          <p:cNvPr id="8" name="TextBox 7"/>
          <p:cNvSpPr txBox="1"/>
          <p:nvPr/>
        </p:nvSpPr>
        <p:spPr>
          <a:xfrm>
            <a:off x="9418320" y="640080"/>
            <a:ext cx="2286000" cy="1463040"/>
          </a:xfrm>
          <a:prstGeom prst="rect">
            <a:avLst/>
          </a:prstGeom>
          <a:noFill/>
        </p:spPr>
        <p:txBody>
          <a:bodyPr wrap="square" anchor="t" lIns="0" rIns="0" tIns="0" bIns="0">
            <a:spAutoFit/>
          </a:bodyPr>
          <a:lstStyle/>
          <a:p>
            <a:pPr algn="r">
              <a:spcBef>
                <a:spcPts val="0"/>
              </a:spcBef>
              <a:spcAft>
                <a:spcPts val="400"/>
              </a:spcAft>
            </a:pPr>
            <a:r>
              <a:rPr sz="7200" b="1">
                <a:solidFill>
                  <a:srgbClr val="E2E8F0"/>
                </a:solidFill>
                <a:latin typeface="Arial"/>
              </a:rPr>
              <a:t/>
            </a:r>
          </a:p>
        </p:txBody>
      </p:sp>
      <p:sp>
        <p:nvSpPr>
          <p:cNvPr id="9" name="TextBox 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87</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FOUNDATIONS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Pods &amp; Namespaces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1900" b="1">
                <a:solidFill>
                  <a:srgbClr val="1F6FEB"/>
                </a:solidFill>
                <a:latin typeface="Arial"/>
              </a:rPr>
              <a:t>•  </a:t>
            </a:r>
            <a:r>
              <a:rPr sz="1900">
                <a:solidFill>
                  <a:srgbClr val="161B26"/>
                </a:solidFill>
                <a:latin typeface="Arial"/>
              </a:rPr>
              <a:t>A Pod is the smallest unit — one or more containers sharing network &amp; storage.</a:t>
            </a:r>
          </a:p>
          <a:p>
            <a:pPr>
              <a:spcBef>
                <a:spcPts val="0"/>
              </a:spcBef>
              <a:spcAft>
                <a:spcPts val="1000"/>
              </a:spcAft>
            </a:pPr>
            <a:r>
              <a:rPr sz="1900" b="1">
                <a:solidFill>
                  <a:srgbClr val="1F6FEB"/>
                </a:solidFill>
                <a:latin typeface="Arial"/>
              </a:rPr>
              <a:t>•  </a:t>
            </a:r>
            <a:r>
              <a:rPr sz="1900">
                <a:solidFill>
                  <a:srgbClr val="161B26"/>
                </a:solidFill>
                <a:latin typeface="Arial"/>
              </a:rPr>
              <a:t>Pods are ephemeral; you normally run them via a Deployment (self-healing).</a:t>
            </a:r>
          </a:p>
          <a:p>
            <a:pPr>
              <a:spcBef>
                <a:spcPts val="0"/>
              </a:spcBef>
              <a:spcAft>
                <a:spcPts val="1000"/>
              </a:spcAft>
            </a:pPr>
            <a:r>
              <a:rPr sz="1900" b="1">
                <a:solidFill>
                  <a:srgbClr val="1F6FEB"/>
                </a:solidFill>
                <a:latin typeface="Arial"/>
              </a:rPr>
              <a:t>•  </a:t>
            </a:r>
            <a:r>
              <a:rPr sz="1900">
                <a:solidFill>
                  <a:srgbClr val="161B26"/>
                </a:solidFill>
                <a:latin typeface="Arial"/>
              </a:rPr>
              <a:t>Create Pods imperatively (kubectl run) or declaratively (kubectl apply -f).</a:t>
            </a:r>
          </a:p>
          <a:p>
            <a:pPr>
              <a:spcBef>
                <a:spcPts val="0"/>
              </a:spcBef>
              <a:spcAft>
                <a:spcPts val="1000"/>
              </a:spcAft>
            </a:pPr>
            <a:r>
              <a:rPr sz="1900" b="1">
                <a:solidFill>
                  <a:srgbClr val="1F6FEB"/>
                </a:solidFill>
                <a:latin typeface="Arial"/>
              </a:rPr>
              <a:t>•  </a:t>
            </a:r>
            <a:r>
              <a:rPr sz="1900">
                <a:solidFill>
                  <a:srgbClr val="161B26"/>
                </a:solidFill>
                <a:latin typeface="Arial"/>
              </a:rPr>
              <a:t>Namespaces isolate environments (dev / staging / prod) on one cluster.</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88</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DAY 2 · PODS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Kubernetes Pods — Imperative &amp; Declarative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69164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69164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LAB 13</a:t>
            </a:r>
          </a:p>
        </p:txBody>
      </p:sp>
      <p:sp>
        <p:nvSpPr>
          <p:cNvPr id="9" name="TextBox 8"/>
          <p:cNvSpPr txBox="1"/>
          <p:nvPr/>
        </p:nvSpPr>
        <p:spPr>
          <a:xfrm>
            <a:off x="2697480" y="1691640"/>
            <a:ext cx="8778240" cy="411480"/>
          </a:xfrm>
          <a:prstGeom prst="rect">
            <a:avLst/>
          </a:prstGeom>
          <a:noFill/>
        </p:spPr>
        <p:txBody>
          <a:bodyPr wrap="square" anchor="ctr" lIns="0" rIns="0" tIns="0" bIns="0">
            <a:spAutoFit/>
          </a:bodyPr>
          <a:lstStyle/>
          <a:p>
            <a:pPr algn="l">
              <a:spcBef>
                <a:spcPts val="0"/>
              </a:spcBef>
              <a:spcAft>
                <a:spcPts val="400"/>
              </a:spcAft>
            </a:pPr>
            <a:r>
              <a:rPr sz="1400" b="1">
                <a:solidFill>
                  <a:srgbClr val="5B6372"/>
                </a:solidFill>
                <a:latin typeface="Arial"/>
              </a:rPr>
              <a:t>Pods</a:t>
            </a:r>
          </a:p>
        </p:txBody>
      </p:sp>
      <p:sp>
        <p:nvSpPr>
          <p:cNvPr id="10" name="TextBox 9"/>
          <p:cNvSpPr txBox="1"/>
          <p:nvPr/>
        </p:nvSpPr>
        <p:spPr>
          <a:xfrm>
            <a:off x="777240" y="2286000"/>
            <a:ext cx="10698480" cy="1554480"/>
          </a:xfrm>
          <a:prstGeom prst="rect">
            <a:avLst/>
          </a:prstGeom>
          <a:noFill/>
        </p:spPr>
        <p:txBody>
          <a:bodyPr wrap="square" anchor="t" lIns="0" rIns="0" tIns="0" bIns="0">
            <a:spAutoFit/>
          </a:bodyPr>
          <a:lstStyle/>
          <a:p>
            <a:pPr algn="l">
              <a:spcBef>
                <a:spcPts val="0"/>
              </a:spcBef>
              <a:spcAft>
                <a:spcPts val="400"/>
              </a:spcAft>
            </a:pPr>
            <a:r>
              <a:rPr sz="1900" b="0">
                <a:solidFill>
                  <a:srgbClr val="161B26"/>
                </a:solidFill>
                <a:latin typeface="Arial"/>
              </a:rPr>
              <a:t>Meet the smallest deployable unit in Kubernetes — the Pod. You'll create one imperatively with a single command, inspect it, then create one declaratively from a YAML file (the approach you'll use for everything afterwards).</a:t>
            </a:r>
          </a:p>
        </p:txBody>
      </p:sp>
      <p:sp>
        <p:nvSpPr>
          <p:cNvPr id="11" name="Rounded Rectangle 10"/>
          <p:cNvSpPr/>
          <p:nvPr/>
        </p:nvSpPr>
        <p:spPr>
          <a:xfrm>
            <a:off x="777240" y="4069080"/>
            <a:ext cx="10698480" cy="178308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25196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3" name="TextBox 12"/>
          <p:cNvSpPr txBox="1"/>
          <p:nvPr/>
        </p:nvSpPr>
        <p:spPr>
          <a:xfrm>
            <a:off x="1005840" y="4617720"/>
            <a:ext cx="10241280" cy="640080"/>
          </a:xfrm>
          <a:prstGeom prst="rect">
            <a:avLst/>
          </a:prstGeom>
          <a:noFill/>
        </p:spPr>
        <p:txBody>
          <a:bodyPr wrap="square" anchor="t" lIns="0" rIns="0" tIns="0" bIns="0">
            <a:spAutoFit/>
          </a:bodyPr>
          <a:lstStyle/>
          <a:p>
            <a:pPr algn="l">
              <a:spcBef>
                <a:spcPts val="0"/>
              </a:spcBef>
              <a:spcAft>
                <a:spcPts val="400"/>
              </a:spcAft>
            </a:pPr>
            <a:r>
              <a:rPr sz="1700" b="1">
                <a:solidFill>
                  <a:srgbClr val="161B26"/>
                </a:solidFill>
                <a:latin typeface="Arial"/>
              </a:rPr>
              <a:t>Create, inspect and delete a Pod both imperatively and from a pod.yaml manifest.</a:t>
            </a:r>
          </a:p>
        </p:txBody>
      </p:sp>
      <p:sp>
        <p:nvSpPr>
          <p:cNvPr id="14" name="TextBox 13"/>
          <p:cNvSpPr txBox="1"/>
          <p:nvPr/>
        </p:nvSpPr>
        <p:spPr>
          <a:xfrm>
            <a:off x="1005840" y="53492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commands:  </a:t>
            </a:r>
            <a:r>
              <a:rPr sz="1300" b="0">
                <a:solidFill>
                  <a:srgbClr val="5B6372"/>
                </a:solidFill>
                <a:latin typeface="Arial"/>
              </a:rPr>
              <a:t>kubectl run · kubectl logs · apiVersion: v1 · kubectl apply · » Pods</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89</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13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Kubernetes Pods — Imperative &amp; Declarative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Part A — Imperative (one command)</a:t>
            </a:r>
          </a:p>
        </p:txBody>
      </p:sp>
      <p:sp>
        <p:nvSpPr>
          <p:cNvPr id="8" name="Rounded Rectangle 7"/>
          <p:cNvSpPr/>
          <p:nvPr/>
        </p:nvSpPr>
        <p:spPr>
          <a:xfrm>
            <a:off x="777240" y="2075688"/>
            <a:ext cx="10652760" cy="896112"/>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804672"/>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run web --image=nginx</a:t>
            </a:r>
          </a:p>
          <a:p>
            <a:pPr>
              <a:spcBef>
                <a:spcPts val="0"/>
              </a:spcBef>
              <a:spcAft>
                <a:spcPts val="0"/>
              </a:spcAft>
            </a:pPr>
            <a:r>
              <a:rPr sz="1050">
                <a:solidFill>
                  <a:srgbClr val="161B26"/>
                </a:solidFill>
                <a:latin typeface="Consolas"/>
              </a:rPr>
              <a:t>kubectl get pods</a:t>
            </a:r>
          </a:p>
          <a:p>
            <a:pPr>
              <a:spcBef>
                <a:spcPts val="0"/>
              </a:spcBef>
              <a:spcAft>
                <a:spcPts val="0"/>
              </a:spcAft>
            </a:pPr>
            <a:r>
              <a:rPr sz="1050">
                <a:solidFill>
                  <a:srgbClr val="161B26"/>
                </a:solidFill>
                <a:latin typeface="Consolas"/>
              </a:rPr>
              <a:t>kubectl get pods -o wide          # node + Pod IP</a:t>
            </a:r>
          </a:p>
          <a:p>
            <a:pPr>
              <a:spcBef>
                <a:spcPts val="0"/>
              </a:spcBef>
              <a:spcAft>
                <a:spcPts val="0"/>
              </a:spcAft>
            </a:pPr>
            <a:r>
              <a:rPr sz="1050">
                <a:solidFill>
                  <a:srgbClr val="161B26"/>
                </a:solidFill>
                <a:latin typeface="Consolas"/>
              </a:rPr>
              <a:t>kubectl describe pod web          # events, container, volumes</a:t>
            </a:r>
          </a:p>
        </p:txBody>
      </p:sp>
      <p:sp>
        <p:nvSpPr>
          <p:cNvPr id="11" name="TextBox 10"/>
          <p:cNvSpPr txBox="1"/>
          <p:nvPr/>
        </p:nvSpPr>
        <p:spPr>
          <a:xfrm>
            <a:off x="777240" y="315468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Look inside the Pod, then remove it:</a:t>
            </a:r>
          </a:p>
        </p:txBody>
      </p:sp>
      <p:sp>
        <p:nvSpPr>
          <p:cNvPr id="12" name="Rounded Rectangle 11"/>
          <p:cNvSpPr/>
          <p:nvPr/>
        </p:nvSpPr>
        <p:spPr>
          <a:xfrm>
            <a:off x="777240" y="3538728"/>
            <a:ext cx="10652760" cy="896112"/>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538728"/>
            <a:ext cx="82296"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3602736"/>
            <a:ext cx="10323576" cy="804672"/>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logs web</a:t>
            </a:r>
          </a:p>
          <a:p>
            <a:pPr>
              <a:spcBef>
                <a:spcPts val="0"/>
              </a:spcBef>
              <a:spcAft>
                <a:spcPts val="0"/>
              </a:spcAft>
            </a:pPr>
            <a:r>
              <a:rPr sz="1050">
                <a:solidFill>
                  <a:srgbClr val="161B26"/>
                </a:solidFill>
                <a:latin typeface="Consolas"/>
              </a:rPr>
              <a:t>kubectl exec web -- cat /etc/hostname</a:t>
            </a:r>
          </a:p>
          <a:p>
            <a:pPr>
              <a:spcBef>
                <a:spcPts val="0"/>
              </a:spcBef>
              <a:spcAft>
                <a:spcPts val="0"/>
              </a:spcAft>
            </a:pPr>
            <a:r>
              <a:rPr sz="1050">
                <a:solidFill>
                  <a:srgbClr val="161B26"/>
                </a:solidFill>
                <a:latin typeface="Consolas"/>
              </a:rPr>
              <a:t>kubectl exec -it web -- /bin/sh   # interactive shell, then 'exit'</a:t>
            </a:r>
          </a:p>
          <a:p>
            <a:pPr>
              <a:spcBef>
                <a:spcPts val="0"/>
              </a:spcBef>
              <a:spcAft>
                <a:spcPts val="0"/>
              </a:spcAft>
            </a:pPr>
            <a:r>
              <a:rPr sz="1050">
                <a:solidFill>
                  <a:srgbClr val="161B26"/>
                </a:solidFill>
                <a:latin typeface="Consolas"/>
              </a:rPr>
              <a:t>kubectl delete pod web</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90</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13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Kubernetes Pods — Imperative &amp; Declarative (cont.)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Part B — Declarative (pod.yaml)</a:t>
            </a:r>
          </a:p>
        </p:txBody>
      </p:sp>
      <p:sp>
        <p:nvSpPr>
          <p:cNvPr id="8" name="Rounded Rectangle 7"/>
          <p:cNvSpPr/>
          <p:nvPr/>
        </p:nvSpPr>
        <p:spPr>
          <a:xfrm>
            <a:off x="777240" y="2075688"/>
            <a:ext cx="10652760" cy="2395728"/>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2395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2304288"/>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apiVersion: v1</a:t>
            </a:r>
          </a:p>
          <a:p>
            <a:pPr>
              <a:spcBef>
                <a:spcPts val="0"/>
              </a:spcBef>
              <a:spcAft>
                <a:spcPts val="0"/>
              </a:spcAft>
            </a:pPr>
            <a:r>
              <a:rPr sz="1050">
                <a:solidFill>
                  <a:srgbClr val="161B26"/>
                </a:solidFill>
                <a:latin typeface="Consolas"/>
              </a:rPr>
              <a:t>kind: Pod</a:t>
            </a:r>
          </a:p>
          <a:p>
            <a:pPr>
              <a:spcBef>
                <a:spcPts val="0"/>
              </a:spcBef>
              <a:spcAft>
                <a:spcPts val="0"/>
              </a:spcAft>
            </a:pPr>
            <a:r>
              <a:rPr sz="1050">
                <a:solidFill>
                  <a:srgbClr val="161B26"/>
                </a:solidFill>
                <a:latin typeface="Consolas"/>
              </a:rPr>
              <a:t>metadata:</a:t>
            </a:r>
          </a:p>
          <a:p>
            <a:pPr>
              <a:spcBef>
                <a:spcPts val="0"/>
              </a:spcBef>
              <a:spcAft>
                <a:spcPts val="0"/>
              </a:spcAft>
            </a:pPr>
            <a:r>
              <a:rPr sz="1050">
                <a:solidFill>
                  <a:srgbClr val="161B26"/>
                </a:solidFill>
                <a:latin typeface="Consolas"/>
              </a:rPr>
              <a:t>  name: taskboard</a:t>
            </a:r>
          </a:p>
          <a:p>
            <a:pPr>
              <a:spcBef>
                <a:spcPts val="0"/>
              </a:spcBef>
              <a:spcAft>
                <a:spcPts val="0"/>
              </a:spcAft>
            </a:pPr>
            <a:r>
              <a:rPr sz="1050">
                <a:solidFill>
                  <a:srgbClr val="161B26"/>
                </a:solidFill>
                <a:latin typeface="Consolas"/>
              </a:rPr>
              <a:t>  labels:</a:t>
            </a:r>
          </a:p>
          <a:p>
            <a:pPr>
              <a:spcBef>
                <a:spcPts val="0"/>
              </a:spcBef>
              <a:spcAft>
                <a:spcPts val="0"/>
              </a:spcAft>
            </a:pPr>
            <a:r>
              <a:rPr sz="1050">
                <a:solidFill>
                  <a:srgbClr val="161B26"/>
                </a:solidFill>
                <a:latin typeface="Consolas"/>
              </a:rPr>
              <a:t>    app: taskboard</a:t>
            </a:r>
          </a:p>
          <a:p>
            <a:pPr>
              <a:spcBef>
                <a:spcPts val="0"/>
              </a:spcBef>
              <a:spcAft>
                <a:spcPts val="0"/>
              </a:spcAft>
            </a:pPr>
            <a:r>
              <a:rPr sz="1050">
                <a:solidFill>
                  <a:srgbClr val="161B26"/>
                </a:solidFill>
                <a:latin typeface="Consolas"/>
              </a:rPr>
              <a:t>spec:</a:t>
            </a:r>
          </a:p>
          <a:p>
            <a:pPr>
              <a:spcBef>
                <a:spcPts val="0"/>
              </a:spcBef>
              <a:spcAft>
                <a:spcPts val="0"/>
              </a:spcAft>
            </a:pPr>
            <a:r>
              <a:rPr sz="1050">
                <a:solidFill>
                  <a:srgbClr val="161B26"/>
                </a:solidFill>
                <a:latin typeface="Consolas"/>
              </a:rPr>
              <a:t>  containers:</a:t>
            </a:r>
          </a:p>
          <a:p>
            <a:pPr>
              <a:spcBef>
                <a:spcPts val="0"/>
              </a:spcBef>
              <a:spcAft>
                <a:spcPts val="0"/>
              </a:spcAft>
            </a:pPr>
            <a:r>
              <a:rPr sz="1050">
                <a:solidFill>
                  <a:srgbClr val="161B26"/>
                </a:solidFill>
                <a:latin typeface="Consolas"/>
              </a:rPr>
              <a:t>    - name: web</a:t>
            </a:r>
          </a:p>
          <a:p>
            <a:pPr>
              <a:spcBef>
                <a:spcPts val="0"/>
              </a:spcBef>
              <a:spcAft>
                <a:spcPts val="0"/>
              </a:spcAft>
            </a:pPr>
            <a:r>
              <a:rPr sz="1050">
                <a:solidFill>
                  <a:srgbClr val="161B26"/>
                </a:solidFill>
                <a:latin typeface="Consolas"/>
              </a:rPr>
              <a:t>      image: nginx          # swap for &lt;user&gt;/taskboard:1.0 to run your own image</a:t>
            </a:r>
          </a:p>
          <a:p>
            <a:pPr>
              <a:spcBef>
                <a:spcPts val="0"/>
              </a:spcBef>
              <a:spcAft>
                <a:spcPts val="0"/>
              </a:spcAft>
            </a:pPr>
            <a:r>
              <a:rPr sz="1050">
                <a:solidFill>
                  <a:srgbClr val="161B26"/>
                </a:solidFill>
                <a:latin typeface="Consolas"/>
              </a:rPr>
              <a:t>      ports:</a:t>
            </a:r>
          </a:p>
          <a:p>
            <a:pPr>
              <a:spcBef>
                <a:spcPts val="0"/>
              </a:spcBef>
              <a:spcAft>
                <a:spcPts val="0"/>
              </a:spcAft>
            </a:pPr>
            <a:r>
              <a:rPr sz="1050">
                <a:solidFill>
                  <a:srgbClr val="161B26"/>
                </a:solidFill>
                <a:latin typeface="Consolas"/>
              </a:rPr>
              <a:t>        - containerPort: 80</a:t>
            </a:r>
          </a:p>
        </p:txBody>
      </p:sp>
      <p:sp>
        <p:nvSpPr>
          <p:cNvPr id="11" name="Rounded Rectangle 10"/>
          <p:cNvSpPr/>
          <p:nvPr/>
        </p:nvSpPr>
        <p:spPr>
          <a:xfrm>
            <a:off x="777240" y="4654296"/>
            <a:ext cx="10652760" cy="896112"/>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4654296"/>
            <a:ext cx="82296"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4718304"/>
            <a:ext cx="10323576" cy="804672"/>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apply -f pod.yaml</a:t>
            </a:r>
          </a:p>
          <a:p>
            <a:pPr>
              <a:spcBef>
                <a:spcPts val="0"/>
              </a:spcBef>
              <a:spcAft>
                <a:spcPts val="0"/>
              </a:spcAft>
            </a:pPr>
            <a:r>
              <a:rPr sz="1050">
                <a:solidFill>
                  <a:srgbClr val="161B26"/>
                </a:solidFill>
                <a:latin typeface="Consolas"/>
              </a:rPr>
              <a:t>kubectl get pods</a:t>
            </a:r>
          </a:p>
          <a:p>
            <a:pPr>
              <a:spcBef>
                <a:spcPts val="0"/>
              </a:spcBef>
              <a:spcAft>
                <a:spcPts val="0"/>
              </a:spcAft>
            </a:pPr>
            <a:r>
              <a:rPr sz="1050">
                <a:solidFill>
                  <a:srgbClr val="161B26"/>
                </a:solidFill>
                <a:latin typeface="Consolas"/>
              </a:rPr>
              <a:t>kubectl describe pod taskboard</a:t>
            </a:r>
          </a:p>
          <a:p>
            <a:pPr>
              <a:spcBef>
                <a:spcPts val="0"/>
              </a:spcBef>
              <a:spcAft>
                <a:spcPts val="0"/>
              </a:spcAft>
            </a:pPr>
            <a:r>
              <a:rPr sz="1050">
                <a:solidFill>
                  <a:srgbClr val="161B26"/>
                </a:solidFill>
                <a:latin typeface="Consolas"/>
              </a:rPr>
              <a:t>kubectl delete -f pod.yaml</a:t>
            </a:r>
          </a:p>
        </p:txBody>
      </p:sp>
      <p:sp>
        <p:nvSpPr>
          <p:cNvPr id="14" name="TextBox 13"/>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5" name="TextBox 14"/>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6" name="TextBox 15"/>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91</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13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Kubernetes Pods — Imperative &amp; Declarative (cont.)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52760"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Note   </a:t>
            </a:r>
            <a:r>
              <a:rPr sz="1300" b="0">
                <a:solidFill>
                  <a:srgbClr val="5B6372"/>
                </a:solidFill>
                <a:latin typeface="Arial"/>
              </a:rPr>
              <a:t>Pods are ephemeral — if a Pod dies it is not recreated. That's why you almost always run Pods through a Deployment (Lab 15), not on their own.</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92</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13  ·  TEST IT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Kubernetes Pods — Imperative &amp; Declarative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10698480" cy="2560320"/>
          </a:xfrm>
          <a:prstGeom prst="roundRect">
            <a:avLst>
              <a:gd name="adj" fmla="val 5000"/>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200" b="1">
                <a:solidFill>
                  <a:srgbClr val="127A3E"/>
                </a:solidFill>
                <a:latin typeface="Arial"/>
              </a:rPr>
              <a:t>✅  Test it</a:t>
            </a:r>
          </a:p>
        </p:txBody>
      </p:sp>
      <p:sp>
        <p:nvSpPr>
          <p:cNvPr id="9" name="TextBox 8"/>
          <p:cNvSpPr txBox="1"/>
          <p:nvPr/>
        </p:nvSpPr>
        <p:spPr>
          <a:xfrm>
            <a:off x="1097280" y="3017520"/>
            <a:ext cx="10149840" cy="146304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kubectl get pods shows the taskboard Pod as Running after kubectl apply, and it disappears after kubectl delete -f pod.yaml.</a:t>
            </a:r>
          </a:p>
        </p:txBody>
      </p:sp>
      <p:sp>
        <p:nvSpPr>
          <p:cNvPr id="10" name="TextBox 9"/>
          <p:cNvSpPr txBox="1"/>
          <p:nvPr/>
        </p:nvSpPr>
        <p:spPr>
          <a:xfrm>
            <a:off x="777240" y="4983480"/>
            <a:ext cx="10698480" cy="365760"/>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KillerCoda:  </a:t>
            </a:r>
            <a:r>
              <a:rPr sz="1300" b="0">
                <a:solidFill>
                  <a:srgbClr val="5B6372"/>
                </a:solidFill>
                <a:latin typeface="Arial"/>
              </a:rPr>
              <a:t>https://killercoda.com/tertiary-labs/course/killercoda/day2-01-k8s-pods-namespaces</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93</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DAY 2 · NAMESPACES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Kubernetes Namespaces — Environment Isolation</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69164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69164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LAB 14</a:t>
            </a:r>
          </a:p>
        </p:txBody>
      </p:sp>
      <p:sp>
        <p:nvSpPr>
          <p:cNvPr id="9" name="TextBox 8"/>
          <p:cNvSpPr txBox="1"/>
          <p:nvPr/>
        </p:nvSpPr>
        <p:spPr>
          <a:xfrm>
            <a:off x="2697480" y="1691640"/>
            <a:ext cx="8778240" cy="411480"/>
          </a:xfrm>
          <a:prstGeom prst="rect">
            <a:avLst/>
          </a:prstGeom>
          <a:noFill/>
        </p:spPr>
        <p:txBody>
          <a:bodyPr wrap="square" anchor="ctr" lIns="0" rIns="0" tIns="0" bIns="0">
            <a:spAutoFit/>
          </a:bodyPr>
          <a:lstStyle/>
          <a:p>
            <a:pPr algn="l">
              <a:spcBef>
                <a:spcPts val="0"/>
              </a:spcBef>
              <a:spcAft>
                <a:spcPts val="400"/>
              </a:spcAft>
            </a:pPr>
            <a:r>
              <a:rPr sz="1400" b="1">
                <a:solidFill>
                  <a:srgbClr val="5B6372"/>
                </a:solidFill>
                <a:latin typeface="Arial"/>
              </a:rPr>
              <a:t>Namespaces</a:t>
            </a:r>
          </a:p>
        </p:txBody>
      </p:sp>
      <p:sp>
        <p:nvSpPr>
          <p:cNvPr id="10" name="TextBox 9"/>
          <p:cNvSpPr txBox="1"/>
          <p:nvPr/>
        </p:nvSpPr>
        <p:spPr>
          <a:xfrm>
            <a:off x="777240" y="2286000"/>
            <a:ext cx="10698480" cy="1554480"/>
          </a:xfrm>
          <a:prstGeom prst="rect">
            <a:avLst/>
          </a:prstGeom>
          <a:noFill/>
        </p:spPr>
        <p:txBody>
          <a:bodyPr wrap="square" anchor="t" lIns="0" rIns="0" tIns="0" bIns="0">
            <a:spAutoFit/>
          </a:bodyPr>
          <a:lstStyle/>
          <a:p>
            <a:pPr algn="l">
              <a:spcBef>
                <a:spcPts val="0"/>
              </a:spcBef>
              <a:spcAft>
                <a:spcPts val="400"/>
              </a:spcAft>
            </a:pPr>
            <a:r>
              <a:rPr sz="1900" b="0">
                <a:solidFill>
                  <a:srgbClr val="161B26"/>
                </a:solidFill>
                <a:latin typeface="Arial"/>
              </a:rPr>
              <a:t>Use namespaces to keep environments apart inside one cluster. You'll create a dev namespace, run a Pod in it, and see how resources are isolated by namespace.</a:t>
            </a:r>
          </a:p>
        </p:txBody>
      </p:sp>
      <p:sp>
        <p:nvSpPr>
          <p:cNvPr id="11" name="Rounded Rectangle 10"/>
          <p:cNvSpPr/>
          <p:nvPr/>
        </p:nvSpPr>
        <p:spPr>
          <a:xfrm>
            <a:off x="777240" y="4069080"/>
            <a:ext cx="10698480" cy="178308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25196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3" name="TextBox 12"/>
          <p:cNvSpPr txBox="1"/>
          <p:nvPr/>
        </p:nvSpPr>
        <p:spPr>
          <a:xfrm>
            <a:off x="1005840" y="4617720"/>
            <a:ext cx="10241280" cy="640080"/>
          </a:xfrm>
          <a:prstGeom prst="rect">
            <a:avLst/>
          </a:prstGeom>
          <a:noFill/>
        </p:spPr>
        <p:txBody>
          <a:bodyPr wrap="square" anchor="t" lIns="0" rIns="0" tIns="0" bIns="0">
            <a:spAutoFit/>
          </a:bodyPr>
          <a:lstStyle/>
          <a:p>
            <a:pPr algn="l">
              <a:spcBef>
                <a:spcPts val="0"/>
              </a:spcBef>
              <a:spcAft>
                <a:spcPts val="400"/>
              </a:spcAft>
            </a:pPr>
            <a:r>
              <a:rPr sz="1700" b="1">
                <a:solidFill>
                  <a:srgbClr val="161B26"/>
                </a:solidFill>
                <a:latin typeface="Arial"/>
              </a:rPr>
              <a:t>Create a dev namespace, run a Pod inside it, and list resources per namespace.</a:t>
            </a:r>
          </a:p>
        </p:txBody>
      </p:sp>
      <p:sp>
        <p:nvSpPr>
          <p:cNvPr id="14" name="TextBox 13"/>
          <p:cNvSpPr txBox="1"/>
          <p:nvPr/>
        </p:nvSpPr>
        <p:spPr>
          <a:xfrm>
            <a:off x="1005840" y="53492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commands:  </a:t>
            </a:r>
            <a:r>
              <a:rPr sz="1300" b="0">
                <a:solidFill>
                  <a:srgbClr val="5B6372"/>
                </a:solidFill>
                <a:latin typeface="Arial"/>
              </a:rPr>
              <a:t>kubectl get · kubectl run · kubectl delete · » Namespaces</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94</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14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Kubernetes Namespaces — Environment Isolation</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List and create namespaces</a:t>
            </a:r>
          </a:p>
        </p:txBody>
      </p:sp>
      <p:sp>
        <p:nvSpPr>
          <p:cNvPr id="8" name="Rounded Rectangle 7"/>
          <p:cNvSpPr/>
          <p:nvPr/>
        </p:nvSpPr>
        <p:spPr>
          <a:xfrm>
            <a:off x="777240" y="2075688"/>
            <a:ext cx="10652760" cy="521207"/>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52120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429767"/>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get namespaces</a:t>
            </a:r>
          </a:p>
          <a:p>
            <a:pPr>
              <a:spcBef>
                <a:spcPts val="0"/>
              </a:spcBef>
              <a:spcAft>
                <a:spcPts val="0"/>
              </a:spcAft>
            </a:pPr>
            <a:r>
              <a:rPr sz="1050">
                <a:solidFill>
                  <a:srgbClr val="161B26"/>
                </a:solidFill>
                <a:latin typeface="Consolas"/>
              </a:rPr>
              <a:t>kubectl create namespace dev</a:t>
            </a:r>
          </a:p>
        </p:txBody>
      </p:sp>
      <p:sp>
        <p:nvSpPr>
          <p:cNvPr id="11" name="TextBox 10"/>
          <p:cNvSpPr txBox="1"/>
          <p:nvPr/>
        </p:nvSpPr>
        <p:spPr>
          <a:xfrm>
            <a:off x="777240" y="2779775"/>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Run a Pod inside a namespace</a:t>
            </a:r>
          </a:p>
        </p:txBody>
      </p:sp>
      <p:sp>
        <p:nvSpPr>
          <p:cNvPr id="12" name="Rounded Rectangle 11"/>
          <p:cNvSpPr/>
          <p:nvPr/>
        </p:nvSpPr>
        <p:spPr>
          <a:xfrm>
            <a:off x="777240" y="3163823"/>
            <a:ext cx="10652760" cy="896112"/>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163823"/>
            <a:ext cx="82296"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3227831"/>
            <a:ext cx="10323576" cy="804672"/>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run web --image=nginx -n dev</a:t>
            </a:r>
          </a:p>
          <a:p>
            <a:pPr>
              <a:spcBef>
                <a:spcPts val="0"/>
              </a:spcBef>
              <a:spcAft>
                <a:spcPts val="0"/>
              </a:spcAft>
            </a:pPr>
            <a:r>
              <a:rPr sz="1050">
                <a:solidFill>
                  <a:srgbClr val="161B26"/>
                </a:solidFill>
                <a:latin typeface="Consolas"/>
              </a:rPr>
              <a:t>kubectl get pods -n dev</a:t>
            </a:r>
          </a:p>
          <a:p>
            <a:pPr>
              <a:spcBef>
                <a:spcPts val="0"/>
              </a:spcBef>
              <a:spcAft>
                <a:spcPts val="0"/>
              </a:spcAft>
            </a:pPr>
            <a:r>
              <a:rPr sz="1050">
                <a:solidFill>
                  <a:srgbClr val="161B26"/>
                </a:solidFill>
                <a:latin typeface="Consolas"/>
              </a:rPr>
              <a:t>kubectl get pods                  # default ns: not shown here</a:t>
            </a:r>
          </a:p>
          <a:p>
            <a:pPr>
              <a:spcBef>
                <a:spcPts val="0"/>
              </a:spcBef>
              <a:spcAft>
                <a:spcPts val="0"/>
              </a:spcAft>
            </a:pPr>
            <a:r>
              <a:rPr sz="1050">
                <a:solidFill>
                  <a:srgbClr val="161B26"/>
                </a:solidFill>
                <a:latin typeface="Consolas"/>
              </a:rPr>
              <a:t>kubectl get pods --all-namespaces</a:t>
            </a:r>
          </a:p>
        </p:txBody>
      </p:sp>
      <p:sp>
        <p:nvSpPr>
          <p:cNvPr id="15" name="TextBox 14"/>
          <p:cNvSpPr txBox="1"/>
          <p:nvPr/>
        </p:nvSpPr>
        <p:spPr>
          <a:xfrm>
            <a:off x="777240" y="4242815"/>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Clean up the whole namespace</a:t>
            </a:r>
          </a:p>
        </p:txBody>
      </p:sp>
      <p:sp>
        <p:nvSpPr>
          <p:cNvPr id="16" name="Rounded Rectangle 15"/>
          <p:cNvSpPr/>
          <p:nvPr/>
        </p:nvSpPr>
        <p:spPr>
          <a:xfrm>
            <a:off x="777240" y="4626863"/>
            <a:ext cx="10652760" cy="333756"/>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626863"/>
            <a:ext cx="82296" cy="33375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96696" y="4690871"/>
            <a:ext cx="10323576" cy="242316"/>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delete namespace dev</a:t>
            </a:r>
          </a:p>
        </p:txBody>
      </p:sp>
      <p:sp>
        <p:nvSpPr>
          <p:cNvPr id="19" name="TextBox 18"/>
          <p:cNvSpPr txBox="1"/>
          <p:nvPr/>
        </p:nvSpPr>
        <p:spPr>
          <a:xfrm>
            <a:off x="777240" y="5143499"/>
            <a:ext cx="10652760"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Note   </a:t>
            </a:r>
            <a:r>
              <a:rPr sz="1300" b="0">
                <a:solidFill>
                  <a:srgbClr val="5B6372"/>
                </a:solidFill>
                <a:latin typeface="Arial"/>
              </a:rPr>
              <a:t>Namespaces are perfect for separating dev / staging / prod (or per-team quotas) on a single shared cluster.</a:t>
            </a:r>
          </a:p>
        </p:txBody>
      </p:sp>
      <p:sp>
        <p:nvSpPr>
          <p:cNvPr id="20" name="TextBox 19"/>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21" name="TextBox 20"/>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2" name="TextBox 21"/>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95</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14  ·  TEST IT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Kubernetes Namespaces — Environment Isolation</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10698480" cy="2560320"/>
          </a:xfrm>
          <a:prstGeom prst="roundRect">
            <a:avLst>
              <a:gd name="adj" fmla="val 5000"/>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200" b="1">
                <a:solidFill>
                  <a:srgbClr val="127A3E"/>
                </a:solidFill>
                <a:latin typeface="Arial"/>
              </a:rPr>
              <a:t>✅  Test it</a:t>
            </a:r>
          </a:p>
        </p:txBody>
      </p:sp>
      <p:sp>
        <p:nvSpPr>
          <p:cNvPr id="9" name="TextBox 8"/>
          <p:cNvSpPr txBox="1"/>
          <p:nvPr/>
        </p:nvSpPr>
        <p:spPr>
          <a:xfrm>
            <a:off x="1097280" y="3017520"/>
            <a:ext cx="10149840" cy="146304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kubectl get pods -n dev lists the Pod while it exists, and kubectl delete namespace dev removes the namespace and its Pod together.</a:t>
            </a:r>
          </a:p>
        </p:txBody>
      </p:sp>
      <p:sp>
        <p:nvSpPr>
          <p:cNvPr id="10" name="TextBox 9"/>
          <p:cNvSpPr txBox="1"/>
          <p:nvPr/>
        </p:nvSpPr>
        <p:spPr>
          <a:xfrm>
            <a:off x="777240" y="4983480"/>
            <a:ext cx="10698480" cy="365760"/>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KillerCoda:  </a:t>
            </a:r>
            <a:r>
              <a:rPr sz="1300" b="0">
                <a:solidFill>
                  <a:srgbClr val="5B6372"/>
                </a:solidFill>
                <a:latin typeface="Arial"/>
              </a:rPr>
              <a:t>https://killercoda.com/tertiary-labs/course/killercoda/day2-01-k8s-pods-namespaces</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96</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2148840"/>
            <a:ext cx="231343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514600"/>
            <a:ext cx="12191695" cy="1097280"/>
          </a:xfrm>
          <a:prstGeom prst="rect">
            <a:avLst/>
          </a:prstGeom>
          <a:noFill/>
        </p:spPr>
        <p:txBody>
          <a:bodyPr wrap="square" anchor="t" lIns="0" rIns="0" tIns="0" bIns="0">
            <a:spAutoFit/>
          </a:bodyPr>
          <a:lstStyle/>
          <a:p>
            <a:pPr algn="ctr">
              <a:spcBef>
                <a:spcPts val="0"/>
              </a:spcBef>
              <a:spcAft>
                <a:spcPts val="400"/>
              </a:spcAft>
            </a:pPr>
            <a:r>
              <a:rPr sz="4800" b="1">
                <a:solidFill>
                  <a:srgbClr val="161B26"/>
                </a:solidFill>
                <a:latin typeface="Arial"/>
              </a:rPr>
              <a:t>Tea Break</a:t>
            </a:r>
          </a:p>
        </p:txBody>
      </p:sp>
      <p:sp>
        <p:nvSpPr>
          <p:cNvPr id="7" name="TextBox 6"/>
          <p:cNvSpPr txBox="1"/>
          <p:nvPr/>
        </p:nvSpPr>
        <p:spPr>
          <a:xfrm>
            <a:off x="0" y="3703320"/>
            <a:ext cx="12191695" cy="731520"/>
          </a:xfrm>
          <a:prstGeom prst="rect">
            <a:avLst/>
          </a:prstGeom>
          <a:noFill/>
        </p:spPr>
        <p:txBody>
          <a:bodyPr wrap="square" anchor="t" lIns="0" rIns="0" tIns="0" bIns="0">
            <a:spAutoFit/>
          </a:bodyPr>
          <a:lstStyle/>
          <a:p>
            <a:pPr algn="ctr">
              <a:spcBef>
                <a:spcPts val="0"/>
              </a:spcBef>
              <a:spcAft>
                <a:spcPts val="400"/>
              </a:spcAft>
            </a:pPr>
            <a:r>
              <a:rPr sz="2200" b="1">
                <a:solidFill>
                  <a:srgbClr val="10B981"/>
                </a:solidFill>
                <a:latin typeface="Arial"/>
              </a:rPr>
              <a:t>15 minutes</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F6FEB"/>
                </a:solidFill>
                <a:latin typeface="Arial"/>
              </a:rPr>
              <a:t>TOPIC 9</a:t>
            </a:r>
          </a:p>
        </p:txBody>
      </p:sp>
      <p:sp>
        <p:nvSpPr>
          <p:cNvPr id="6" name="TextBox 5"/>
          <p:cNvSpPr txBox="1"/>
          <p:nvPr/>
        </p:nvSpPr>
        <p:spPr>
          <a:xfrm>
            <a:off x="1143000" y="2743200"/>
            <a:ext cx="10424160" cy="1463040"/>
          </a:xfrm>
          <a:prstGeom prst="rect">
            <a:avLst/>
          </a:prstGeom>
          <a:noFill/>
        </p:spPr>
        <p:txBody>
          <a:bodyPr wrap="square" anchor="t" lIns="0" rIns="0" tIns="0" bIns="0">
            <a:spAutoFit/>
          </a:bodyPr>
          <a:lstStyle/>
          <a:p>
            <a:pPr algn="l">
              <a:spcBef>
                <a:spcPts val="0"/>
              </a:spcBef>
              <a:spcAft>
                <a:spcPts val="400"/>
              </a:spcAft>
            </a:pPr>
            <a:r>
              <a:rPr sz="4000" b="1">
                <a:solidFill>
                  <a:srgbClr val="161B26"/>
                </a:solidFill>
                <a:latin typeface="Arial"/>
              </a:rPr>
              <a:t>Deployments &amp; Rollouts</a:t>
            </a:r>
          </a:p>
        </p:txBody>
      </p:sp>
      <p:sp>
        <p:nvSpPr>
          <p:cNvPr id="7" name="TextBox 6"/>
          <p:cNvSpPr txBox="1"/>
          <p:nvPr/>
        </p:nvSpPr>
        <p:spPr>
          <a:xfrm>
            <a:off x="1161288" y="4114800"/>
            <a:ext cx="10058400" cy="731520"/>
          </a:xfrm>
          <a:prstGeom prst="rect">
            <a:avLst/>
          </a:prstGeom>
          <a:noFill/>
        </p:spPr>
        <p:txBody>
          <a:bodyPr wrap="square" anchor="t" lIns="0" rIns="0" tIns="0" bIns="0">
            <a:spAutoFit/>
          </a:bodyPr>
          <a:lstStyle/>
          <a:p>
            <a:pPr algn="l">
              <a:spcBef>
                <a:spcPts val="0"/>
              </a:spcBef>
              <a:spcAft>
                <a:spcPts val="400"/>
              </a:spcAft>
            </a:pPr>
            <a:r>
              <a:rPr sz="1600" b="0">
                <a:solidFill>
                  <a:srgbClr val="5B6372"/>
                </a:solidFill>
                <a:latin typeface="Arial"/>
              </a:rPr>
              <a:t>Scaling, self-healing &amp; zero-downtime updates</a:t>
            </a:r>
          </a:p>
        </p:txBody>
      </p:sp>
      <p:sp>
        <p:nvSpPr>
          <p:cNvPr id="8" name="TextBox 7"/>
          <p:cNvSpPr txBox="1"/>
          <p:nvPr/>
        </p:nvSpPr>
        <p:spPr>
          <a:xfrm>
            <a:off x="9418320" y="640080"/>
            <a:ext cx="2286000" cy="1463040"/>
          </a:xfrm>
          <a:prstGeom prst="rect">
            <a:avLst/>
          </a:prstGeom>
          <a:noFill/>
        </p:spPr>
        <p:txBody>
          <a:bodyPr wrap="square" anchor="t" lIns="0" rIns="0" tIns="0" bIns="0">
            <a:spAutoFit/>
          </a:bodyPr>
          <a:lstStyle/>
          <a:p>
            <a:pPr algn="r">
              <a:spcBef>
                <a:spcPts val="0"/>
              </a:spcBef>
              <a:spcAft>
                <a:spcPts val="400"/>
              </a:spcAft>
            </a:pPr>
            <a:r>
              <a:rPr sz="7200" b="1">
                <a:solidFill>
                  <a:srgbClr val="E2E8F0"/>
                </a:solidFill>
                <a:latin typeface="Arial"/>
              </a:rPr>
              <a:t/>
            </a:r>
          </a:p>
        </p:txBody>
      </p:sp>
      <p:sp>
        <p:nvSpPr>
          <p:cNvPr id="9" name="TextBox 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98</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RUN AT SCALE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Deployments, ReplicaSets &amp; Rollouts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1900" b="1">
                <a:solidFill>
                  <a:srgbClr val="1F6FEB"/>
                </a:solidFill>
                <a:latin typeface="Arial"/>
              </a:rPr>
              <a:t>•  </a:t>
            </a:r>
            <a:r>
              <a:rPr sz="1900">
                <a:solidFill>
                  <a:srgbClr val="161B26"/>
                </a:solidFill>
                <a:latin typeface="Arial"/>
              </a:rPr>
              <a:t>A Deployment manages a ReplicaSet that keeps N identical Pods running.</a:t>
            </a:r>
          </a:p>
          <a:p>
            <a:pPr>
              <a:spcBef>
                <a:spcPts val="0"/>
              </a:spcBef>
              <a:spcAft>
                <a:spcPts val="1000"/>
              </a:spcAft>
            </a:pPr>
            <a:r>
              <a:rPr sz="1900" b="1">
                <a:solidFill>
                  <a:srgbClr val="1F6FEB"/>
                </a:solidFill>
                <a:latin typeface="Arial"/>
              </a:rPr>
              <a:t>•  </a:t>
            </a:r>
            <a:r>
              <a:rPr sz="1900">
                <a:solidFill>
                  <a:srgbClr val="161B26"/>
                </a:solidFill>
                <a:latin typeface="Arial"/>
              </a:rPr>
              <a:t>Self-healing: delete a Pod and the ReplicaSet recreates it automatically.</a:t>
            </a:r>
          </a:p>
          <a:p>
            <a:pPr>
              <a:spcBef>
                <a:spcPts val="0"/>
              </a:spcBef>
              <a:spcAft>
                <a:spcPts val="1000"/>
              </a:spcAft>
            </a:pPr>
            <a:r>
              <a:rPr sz="1900" b="1">
                <a:solidFill>
                  <a:srgbClr val="1F6FEB"/>
                </a:solidFill>
                <a:latin typeface="Arial"/>
              </a:rPr>
              <a:t>•  </a:t>
            </a:r>
            <a:r>
              <a:rPr sz="1900">
                <a:solidFill>
                  <a:srgbClr val="161B26"/>
                </a:solidFill>
                <a:latin typeface="Arial"/>
              </a:rPr>
              <a:t>Scale with kubectl scale; update the image with kubectl set image.</a:t>
            </a:r>
          </a:p>
          <a:p>
            <a:pPr>
              <a:spcBef>
                <a:spcPts val="0"/>
              </a:spcBef>
              <a:spcAft>
                <a:spcPts val="1000"/>
              </a:spcAft>
            </a:pPr>
            <a:r>
              <a:rPr sz="1900" b="1">
                <a:solidFill>
                  <a:srgbClr val="1F6FEB"/>
                </a:solidFill>
                <a:latin typeface="Arial"/>
              </a:rPr>
              <a:t>•  </a:t>
            </a:r>
            <a:r>
              <a:rPr sz="1900">
                <a:solidFill>
                  <a:srgbClr val="161B26"/>
                </a:solidFill>
                <a:latin typeface="Arial"/>
              </a:rPr>
              <a:t>Rolling updates keep old + new Pods running; rollback = kubectl rollout undo.</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99</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DAY 2 · DEPLOYMENTS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Deployments — Scaling &amp; Self-Healing</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69164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69164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LAB 15</a:t>
            </a:r>
          </a:p>
        </p:txBody>
      </p:sp>
      <p:sp>
        <p:nvSpPr>
          <p:cNvPr id="9" name="TextBox 8"/>
          <p:cNvSpPr txBox="1"/>
          <p:nvPr/>
        </p:nvSpPr>
        <p:spPr>
          <a:xfrm>
            <a:off x="2697480" y="1691640"/>
            <a:ext cx="8778240" cy="411480"/>
          </a:xfrm>
          <a:prstGeom prst="rect">
            <a:avLst/>
          </a:prstGeom>
          <a:noFill/>
        </p:spPr>
        <p:txBody>
          <a:bodyPr wrap="square" anchor="ctr" lIns="0" rIns="0" tIns="0" bIns="0">
            <a:spAutoFit/>
          </a:bodyPr>
          <a:lstStyle/>
          <a:p>
            <a:pPr algn="l">
              <a:spcBef>
                <a:spcPts val="0"/>
              </a:spcBef>
              <a:spcAft>
                <a:spcPts val="400"/>
              </a:spcAft>
            </a:pPr>
            <a:r>
              <a:rPr sz="1400" b="1">
                <a:solidFill>
                  <a:srgbClr val="5B6372"/>
                </a:solidFill>
                <a:latin typeface="Arial"/>
              </a:rPr>
              <a:t>Deployments</a:t>
            </a:r>
          </a:p>
        </p:txBody>
      </p:sp>
      <p:sp>
        <p:nvSpPr>
          <p:cNvPr id="10" name="TextBox 9"/>
          <p:cNvSpPr txBox="1"/>
          <p:nvPr/>
        </p:nvSpPr>
        <p:spPr>
          <a:xfrm>
            <a:off x="777240" y="2286000"/>
            <a:ext cx="10698480" cy="1554480"/>
          </a:xfrm>
          <a:prstGeom prst="rect">
            <a:avLst/>
          </a:prstGeom>
          <a:noFill/>
        </p:spPr>
        <p:txBody>
          <a:bodyPr wrap="square" anchor="t" lIns="0" rIns="0" tIns="0" bIns="0">
            <a:spAutoFit/>
          </a:bodyPr>
          <a:lstStyle/>
          <a:p>
            <a:pPr algn="l">
              <a:spcBef>
                <a:spcPts val="0"/>
              </a:spcBef>
              <a:spcAft>
                <a:spcPts val="400"/>
              </a:spcAft>
            </a:pPr>
            <a:r>
              <a:rPr sz="1900" b="0">
                <a:solidFill>
                  <a:srgbClr val="161B26"/>
                </a:solidFill>
                <a:latin typeface="Arial"/>
              </a:rPr>
              <a:t>Run TaskBoard the production way — as a Deployment that keeps a desired number of replicas alive. You'll scale it, watch it self-heal when a Pod is deleted, and manage it both imperatively and from YAML.</a:t>
            </a:r>
          </a:p>
        </p:txBody>
      </p:sp>
      <p:sp>
        <p:nvSpPr>
          <p:cNvPr id="11" name="Rounded Rectangle 10"/>
          <p:cNvSpPr/>
          <p:nvPr/>
        </p:nvSpPr>
        <p:spPr>
          <a:xfrm>
            <a:off x="777240" y="4069080"/>
            <a:ext cx="10698480" cy="178308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25196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3" name="TextBox 12"/>
          <p:cNvSpPr txBox="1"/>
          <p:nvPr/>
        </p:nvSpPr>
        <p:spPr>
          <a:xfrm>
            <a:off x="1005840" y="4617720"/>
            <a:ext cx="10241280" cy="640080"/>
          </a:xfrm>
          <a:prstGeom prst="rect">
            <a:avLst/>
          </a:prstGeom>
          <a:noFill/>
        </p:spPr>
        <p:txBody>
          <a:bodyPr wrap="square" anchor="t" lIns="0" rIns="0" tIns="0" bIns="0">
            <a:spAutoFit/>
          </a:bodyPr>
          <a:lstStyle/>
          <a:p>
            <a:pPr algn="l">
              <a:spcBef>
                <a:spcPts val="0"/>
              </a:spcBef>
              <a:spcAft>
                <a:spcPts val="400"/>
              </a:spcAft>
            </a:pPr>
            <a:r>
              <a:rPr sz="1700" b="1">
                <a:solidFill>
                  <a:srgbClr val="161B26"/>
                </a:solidFill>
                <a:latin typeface="Arial"/>
              </a:rPr>
              <a:t>Create a Deployment, scale it, and watch Kubernetes self-heal a deleted Pod.</a:t>
            </a:r>
          </a:p>
        </p:txBody>
      </p:sp>
      <p:sp>
        <p:nvSpPr>
          <p:cNvPr id="14" name="TextBox 13"/>
          <p:cNvSpPr txBox="1"/>
          <p:nvPr/>
        </p:nvSpPr>
        <p:spPr>
          <a:xfrm>
            <a:off x="1005840" y="53492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commands:  </a:t>
            </a:r>
            <a:r>
              <a:rPr sz="1300" b="0">
                <a:solidFill>
                  <a:srgbClr val="5B6372"/>
                </a:solidFill>
                <a:latin typeface="Arial"/>
              </a:rPr>
              <a:t>kubectl create · kubectl get · apiVersion: apps/v1 · kubectl delete · » A</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100</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15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Deployments — Scaling &amp; Self-Healing</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Part A — Create and scale (imperative)</a:t>
            </a:r>
          </a:p>
        </p:txBody>
      </p:sp>
      <p:sp>
        <p:nvSpPr>
          <p:cNvPr id="8" name="Rounded Rectangle 7"/>
          <p:cNvSpPr/>
          <p:nvPr/>
        </p:nvSpPr>
        <p:spPr>
          <a:xfrm>
            <a:off x="777240" y="2075688"/>
            <a:ext cx="10652760" cy="1083563"/>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1083563"/>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992123"/>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create deployment taskboard --image=nginx</a:t>
            </a:r>
          </a:p>
          <a:p>
            <a:pPr>
              <a:spcBef>
                <a:spcPts val="0"/>
              </a:spcBef>
              <a:spcAft>
                <a:spcPts val="0"/>
              </a:spcAft>
            </a:pPr>
            <a:r>
              <a:rPr sz="1050">
                <a:solidFill>
                  <a:srgbClr val="161B26"/>
                </a:solidFill>
                <a:latin typeface="Consolas"/>
              </a:rPr>
              <a:t>kubectl get deployments</a:t>
            </a:r>
          </a:p>
          <a:p>
            <a:pPr>
              <a:spcBef>
                <a:spcPts val="0"/>
              </a:spcBef>
              <a:spcAft>
                <a:spcPts val="0"/>
              </a:spcAft>
            </a:pPr>
            <a:r>
              <a:rPr sz="1050">
                <a:solidFill>
                  <a:srgbClr val="161B26"/>
                </a:solidFill>
                <a:latin typeface="Consolas"/>
              </a:rPr>
              <a:t>kubectl get pods</a:t>
            </a:r>
          </a:p>
          <a:p>
            <a:pPr>
              <a:spcBef>
                <a:spcPts val="0"/>
              </a:spcBef>
              <a:spcAft>
                <a:spcPts val="0"/>
              </a:spcAft>
            </a:pPr>
            <a:r>
              <a:rPr sz="1050">
                <a:solidFill>
                  <a:srgbClr val="161B26"/>
                </a:solidFill>
                <a:latin typeface="Consolas"/>
              </a:rPr>
              <a:t>kubectl scale deployment taskboard --replicas=3</a:t>
            </a:r>
          </a:p>
          <a:p>
            <a:pPr>
              <a:spcBef>
                <a:spcPts val="0"/>
              </a:spcBef>
              <a:spcAft>
                <a:spcPts val="0"/>
              </a:spcAft>
            </a:pPr>
            <a:r>
              <a:rPr sz="1050">
                <a:solidFill>
                  <a:srgbClr val="161B26"/>
                </a:solidFill>
                <a:latin typeface="Consolas"/>
              </a:rPr>
              <a:t>kubectl get pods               # now 3 Pods</a:t>
            </a:r>
          </a:p>
        </p:txBody>
      </p:sp>
      <p:sp>
        <p:nvSpPr>
          <p:cNvPr id="11" name="TextBox 10"/>
          <p:cNvSpPr txBox="1"/>
          <p:nvPr/>
        </p:nvSpPr>
        <p:spPr>
          <a:xfrm>
            <a:off x="777240" y="3342131"/>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Part B — Watch it self-heal</a:t>
            </a:r>
          </a:p>
        </p:txBody>
      </p:sp>
      <p:sp>
        <p:nvSpPr>
          <p:cNvPr id="12" name="Rounded Rectangle 11"/>
          <p:cNvSpPr/>
          <p:nvPr/>
        </p:nvSpPr>
        <p:spPr>
          <a:xfrm>
            <a:off x="777240" y="3726179"/>
            <a:ext cx="10652760" cy="708660"/>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726179"/>
            <a:ext cx="82296" cy="7086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3790187"/>
            <a:ext cx="10323576" cy="617220"/>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get pods</a:t>
            </a:r>
          </a:p>
          <a:p>
            <a:pPr>
              <a:spcBef>
                <a:spcPts val="0"/>
              </a:spcBef>
              <a:spcAft>
                <a:spcPts val="0"/>
              </a:spcAft>
            </a:pPr>
            <a:r>
              <a:rPr sz="1050">
                <a:solidFill>
                  <a:srgbClr val="161B26"/>
                </a:solidFill>
                <a:latin typeface="Consolas"/>
              </a:rPr>
              <a:t>kubectl delete pod &lt;one-pod-name&gt;</a:t>
            </a:r>
          </a:p>
          <a:p>
            <a:pPr>
              <a:spcBef>
                <a:spcPts val="0"/>
              </a:spcBef>
              <a:spcAft>
                <a:spcPts val="0"/>
              </a:spcAft>
            </a:pPr>
            <a:r>
              <a:rPr sz="1050">
                <a:solidFill>
                  <a:srgbClr val="161B26"/>
                </a:solidFill>
                <a:latin typeface="Consolas"/>
              </a:rPr>
              <a:t>kubectl get pods               # a new Pod is already being created</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101</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15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Deployments — Scaling &amp; Self-Healing (cont.)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Part C — Declarative (deployment.yaml)</a:t>
            </a:r>
          </a:p>
        </p:txBody>
      </p:sp>
      <p:sp>
        <p:nvSpPr>
          <p:cNvPr id="8" name="Rounded Rectangle 7"/>
          <p:cNvSpPr/>
          <p:nvPr/>
        </p:nvSpPr>
        <p:spPr>
          <a:xfrm>
            <a:off x="777240" y="2075688"/>
            <a:ext cx="10652760" cy="3707891"/>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370789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3616451"/>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apiVersion: apps/v1</a:t>
            </a:r>
          </a:p>
          <a:p>
            <a:pPr>
              <a:spcBef>
                <a:spcPts val="0"/>
              </a:spcBef>
              <a:spcAft>
                <a:spcPts val="0"/>
              </a:spcAft>
            </a:pPr>
            <a:r>
              <a:rPr sz="1050">
                <a:solidFill>
                  <a:srgbClr val="161B26"/>
                </a:solidFill>
                <a:latin typeface="Consolas"/>
              </a:rPr>
              <a:t>kind: Deployment</a:t>
            </a:r>
          </a:p>
          <a:p>
            <a:pPr>
              <a:spcBef>
                <a:spcPts val="0"/>
              </a:spcBef>
              <a:spcAft>
                <a:spcPts val="0"/>
              </a:spcAft>
            </a:pPr>
            <a:r>
              <a:rPr sz="1050">
                <a:solidFill>
                  <a:srgbClr val="161B26"/>
                </a:solidFill>
                <a:latin typeface="Consolas"/>
              </a:rPr>
              <a:t>metadata:</a:t>
            </a:r>
          </a:p>
          <a:p>
            <a:pPr>
              <a:spcBef>
                <a:spcPts val="0"/>
              </a:spcBef>
              <a:spcAft>
                <a:spcPts val="0"/>
              </a:spcAft>
            </a:pPr>
            <a:r>
              <a:rPr sz="1050">
                <a:solidFill>
                  <a:srgbClr val="161B26"/>
                </a:solidFill>
                <a:latin typeface="Consolas"/>
              </a:rPr>
              <a:t>  name: taskboard</a:t>
            </a:r>
          </a:p>
          <a:p>
            <a:pPr>
              <a:spcBef>
                <a:spcPts val="0"/>
              </a:spcBef>
              <a:spcAft>
                <a:spcPts val="0"/>
              </a:spcAft>
            </a:pPr>
            <a:r>
              <a:rPr sz="1050">
                <a:solidFill>
                  <a:srgbClr val="161B26"/>
                </a:solidFill>
                <a:latin typeface="Consolas"/>
              </a:rPr>
              <a:t>spec:</a:t>
            </a:r>
          </a:p>
          <a:p>
            <a:pPr>
              <a:spcBef>
                <a:spcPts val="0"/>
              </a:spcBef>
              <a:spcAft>
                <a:spcPts val="0"/>
              </a:spcAft>
            </a:pPr>
            <a:r>
              <a:rPr sz="1050">
                <a:solidFill>
                  <a:srgbClr val="161B26"/>
                </a:solidFill>
                <a:latin typeface="Consolas"/>
              </a:rPr>
              <a:t>  replicas: 3</a:t>
            </a:r>
          </a:p>
          <a:p>
            <a:pPr>
              <a:spcBef>
                <a:spcPts val="0"/>
              </a:spcBef>
              <a:spcAft>
                <a:spcPts val="0"/>
              </a:spcAft>
            </a:pPr>
            <a:r>
              <a:rPr sz="1050">
                <a:solidFill>
                  <a:srgbClr val="161B26"/>
                </a:solidFill>
                <a:latin typeface="Consolas"/>
              </a:rPr>
              <a:t>  selector:</a:t>
            </a:r>
          </a:p>
          <a:p>
            <a:pPr>
              <a:spcBef>
                <a:spcPts val="0"/>
              </a:spcBef>
              <a:spcAft>
                <a:spcPts val="0"/>
              </a:spcAft>
            </a:pPr>
            <a:r>
              <a:rPr sz="1050">
                <a:solidFill>
                  <a:srgbClr val="161B26"/>
                </a:solidFill>
                <a:latin typeface="Consolas"/>
              </a:rPr>
              <a:t>    matchLabels:</a:t>
            </a:r>
          </a:p>
          <a:p>
            <a:pPr>
              <a:spcBef>
                <a:spcPts val="0"/>
              </a:spcBef>
              <a:spcAft>
                <a:spcPts val="0"/>
              </a:spcAft>
            </a:pPr>
            <a:r>
              <a:rPr sz="1050">
                <a:solidFill>
                  <a:srgbClr val="161B26"/>
                </a:solidFill>
                <a:latin typeface="Consolas"/>
              </a:rPr>
              <a:t>      app: taskboard</a:t>
            </a:r>
          </a:p>
          <a:p>
            <a:pPr>
              <a:spcBef>
                <a:spcPts val="0"/>
              </a:spcBef>
              <a:spcAft>
                <a:spcPts val="0"/>
              </a:spcAft>
            </a:pPr>
            <a:r>
              <a:rPr sz="1050">
                <a:solidFill>
                  <a:srgbClr val="161B26"/>
                </a:solidFill>
                <a:latin typeface="Consolas"/>
              </a:rPr>
              <a:t>  template:</a:t>
            </a:r>
          </a:p>
          <a:p>
            <a:pPr>
              <a:spcBef>
                <a:spcPts val="0"/>
              </a:spcBef>
              <a:spcAft>
                <a:spcPts val="0"/>
              </a:spcAft>
            </a:pPr>
            <a:r>
              <a:rPr sz="1050">
                <a:solidFill>
                  <a:srgbClr val="161B26"/>
                </a:solidFill>
                <a:latin typeface="Consolas"/>
              </a:rPr>
              <a:t>    metadata:</a:t>
            </a:r>
          </a:p>
          <a:p>
            <a:pPr>
              <a:spcBef>
                <a:spcPts val="0"/>
              </a:spcBef>
              <a:spcAft>
                <a:spcPts val="0"/>
              </a:spcAft>
            </a:pPr>
            <a:r>
              <a:rPr sz="1050">
                <a:solidFill>
                  <a:srgbClr val="161B26"/>
                </a:solidFill>
                <a:latin typeface="Consolas"/>
              </a:rPr>
              <a:t>      labels:</a:t>
            </a:r>
          </a:p>
          <a:p>
            <a:pPr>
              <a:spcBef>
                <a:spcPts val="0"/>
              </a:spcBef>
              <a:spcAft>
                <a:spcPts val="0"/>
              </a:spcAft>
            </a:pPr>
            <a:r>
              <a:rPr sz="1050">
                <a:solidFill>
                  <a:srgbClr val="161B26"/>
                </a:solidFill>
                <a:latin typeface="Consolas"/>
              </a:rPr>
              <a:t>        app: taskboard</a:t>
            </a:r>
          </a:p>
          <a:p>
            <a:pPr>
              <a:spcBef>
                <a:spcPts val="0"/>
              </a:spcBef>
              <a:spcAft>
                <a:spcPts val="0"/>
              </a:spcAft>
            </a:pPr>
            <a:r>
              <a:rPr sz="1050">
                <a:solidFill>
                  <a:srgbClr val="161B26"/>
                </a:solidFill>
                <a:latin typeface="Consolas"/>
              </a:rPr>
              <a:t>    spec:</a:t>
            </a:r>
          </a:p>
          <a:p>
            <a:pPr>
              <a:spcBef>
                <a:spcPts val="0"/>
              </a:spcBef>
              <a:spcAft>
                <a:spcPts val="0"/>
              </a:spcAft>
            </a:pPr>
            <a:r>
              <a:rPr sz="1050">
                <a:solidFill>
                  <a:srgbClr val="161B26"/>
                </a:solidFill>
                <a:latin typeface="Consolas"/>
              </a:rPr>
              <a:t>      containers:</a:t>
            </a:r>
          </a:p>
          <a:p>
            <a:pPr>
              <a:spcBef>
                <a:spcPts val="0"/>
              </a:spcBef>
              <a:spcAft>
                <a:spcPts val="0"/>
              </a:spcAft>
            </a:pPr>
            <a:r>
              <a:rPr sz="1050">
                <a:solidFill>
                  <a:srgbClr val="161B26"/>
                </a:solidFill>
                <a:latin typeface="Consolas"/>
              </a:rPr>
              <a:t>        - name: web</a:t>
            </a:r>
          </a:p>
          <a:p>
            <a:pPr>
              <a:spcBef>
                <a:spcPts val="0"/>
              </a:spcBef>
              <a:spcAft>
                <a:spcPts val="0"/>
              </a:spcAft>
            </a:pPr>
            <a:r>
              <a:rPr sz="1050">
                <a:solidFill>
                  <a:srgbClr val="161B26"/>
                </a:solidFill>
                <a:latin typeface="Consolas"/>
              </a:rPr>
              <a:t>          image: nginx</a:t>
            </a:r>
          </a:p>
          <a:p>
            <a:pPr>
              <a:spcBef>
                <a:spcPts val="0"/>
              </a:spcBef>
              <a:spcAft>
                <a:spcPts val="0"/>
              </a:spcAft>
            </a:pPr>
            <a:r>
              <a:rPr sz="1050">
                <a:solidFill>
                  <a:srgbClr val="161B26"/>
                </a:solidFill>
                <a:latin typeface="Consolas"/>
              </a:rPr>
              <a:t>          ports:</a:t>
            </a:r>
          </a:p>
          <a:p>
            <a:pPr>
              <a:spcBef>
                <a:spcPts val="0"/>
              </a:spcBef>
              <a:spcAft>
                <a:spcPts val="0"/>
              </a:spcAft>
            </a:pPr>
            <a:r>
              <a:rPr sz="1050">
                <a:solidFill>
                  <a:srgbClr val="161B26"/>
                </a:solidFill>
                <a:latin typeface="Consolas"/>
              </a:rPr>
              <a:t>            - containerPort: 80</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102</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15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Deployments — Scaling &amp; Self-Healing (cont.)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691640"/>
            <a:ext cx="10652760" cy="896112"/>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691640"/>
            <a:ext cx="82296"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96696" y="1755648"/>
            <a:ext cx="10323576" cy="804672"/>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delete deployment taskboard</a:t>
            </a:r>
          </a:p>
          <a:p>
            <a:pPr>
              <a:spcBef>
                <a:spcPts val="0"/>
              </a:spcBef>
              <a:spcAft>
                <a:spcPts val="0"/>
              </a:spcAft>
            </a:pPr>
            <a:r>
              <a:rPr sz="1050">
                <a:solidFill>
                  <a:srgbClr val="161B26"/>
                </a:solidFill>
                <a:latin typeface="Consolas"/>
              </a:rPr>
              <a:t>kubectl apply -f deployment.yaml</a:t>
            </a:r>
          </a:p>
          <a:p>
            <a:pPr>
              <a:spcBef>
                <a:spcPts val="0"/>
              </a:spcBef>
              <a:spcAft>
                <a:spcPts val="0"/>
              </a:spcAft>
            </a:pPr>
            <a:r>
              <a:rPr sz="1050">
                <a:solidFill>
                  <a:srgbClr val="161B26"/>
                </a:solidFill>
                <a:latin typeface="Consolas"/>
              </a:rPr>
              <a:t>kubectl get pods</a:t>
            </a:r>
          </a:p>
          <a:p>
            <a:pPr>
              <a:spcBef>
                <a:spcPts val="0"/>
              </a:spcBef>
              <a:spcAft>
                <a:spcPts val="0"/>
              </a:spcAft>
            </a:pPr>
            <a:r>
              <a:rPr sz="1050">
                <a:solidFill>
                  <a:srgbClr val="161B26"/>
                </a:solidFill>
                <a:latin typeface="Consolas"/>
              </a:rPr>
              <a:t>kubectl delete -f deployment.yaml</a:t>
            </a:r>
          </a:p>
        </p:txBody>
      </p:sp>
      <p:sp>
        <p:nvSpPr>
          <p:cNvPr id="10" name="TextBox 9"/>
          <p:cNvSpPr txBox="1"/>
          <p:nvPr/>
        </p:nvSpPr>
        <p:spPr>
          <a:xfrm>
            <a:off x="777240" y="2770632"/>
            <a:ext cx="10652760"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Note   </a:t>
            </a:r>
            <a:r>
              <a:rPr sz="1300" b="0">
                <a:solidFill>
                  <a:srgbClr val="5B6372"/>
                </a:solidFill>
                <a:latin typeface="Arial"/>
              </a:rPr>
              <a:t>A Deployment manages a ReplicaSet, which guarantees the desired Pod count is always running — this is the self-healing that naked Pods (Lab 13) lack.</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103</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15  ·  TEST IT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Deployments — Scaling &amp; Self-Healing</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10698480" cy="2560320"/>
          </a:xfrm>
          <a:prstGeom prst="roundRect">
            <a:avLst>
              <a:gd name="adj" fmla="val 5000"/>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200" b="1">
                <a:solidFill>
                  <a:srgbClr val="127A3E"/>
                </a:solidFill>
                <a:latin typeface="Arial"/>
              </a:rPr>
              <a:t>✅  Test it</a:t>
            </a:r>
          </a:p>
        </p:txBody>
      </p:sp>
      <p:sp>
        <p:nvSpPr>
          <p:cNvPr id="9" name="TextBox 8"/>
          <p:cNvSpPr txBox="1"/>
          <p:nvPr/>
        </p:nvSpPr>
        <p:spPr>
          <a:xfrm>
            <a:off x="1097280" y="3017520"/>
            <a:ext cx="10149840" cy="146304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After kubectl delete pod &lt;name&gt;, kubectl get pods still shows 3 Pods because the Deployment recreated the missing one automatically.</a:t>
            </a:r>
          </a:p>
        </p:txBody>
      </p:sp>
      <p:sp>
        <p:nvSpPr>
          <p:cNvPr id="10" name="TextBox 9"/>
          <p:cNvSpPr txBox="1"/>
          <p:nvPr/>
        </p:nvSpPr>
        <p:spPr>
          <a:xfrm>
            <a:off x="777240" y="4983480"/>
            <a:ext cx="10698480" cy="365760"/>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KillerCoda:  </a:t>
            </a:r>
            <a:r>
              <a:rPr sz="1300" b="0">
                <a:solidFill>
                  <a:srgbClr val="5B6372"/>
                </a:solidFill>
                <a:latin typeface="Arial"/>
              </a:rPr>
              <a:t>https://killercoda.com/tertiary-labs/course/killercoda/day2-02-k8s-deployments</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104</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DAY 2 · ROLLOUTS &amp; ROLLBACKS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Rolling Updates &amp; Rollbacks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69164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69164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LAB 16</a:t>
            </a:r>
          </a:p>
        </p:txBody>
      </p:sp>
      <p:sp>
        <p:nvSpPr>
          <p:cNvPr id="9" name="TextBox 8"/>
          <p:cNvSpPr txBox="1"/>
          <p:nvPr/>
        </p:nvSpPr>
        <p:spPr>
          <a:xfrm>
            <a:off x="2697480" y="1691640"/>
            <a:ext cx="8778240" cy="411480"/>
          </a:xfrm>
          <a:prstGeom prst="rect">
            <a:avLst/>
          </a:prstGeom>
          <a:noFill/>
        </p:spPr>
        <p:txBody>
          <a:bodyPr wrap="square" anchor="ctr" lIns="0" rIns="0" tIns="0" bIns="0">
            <a:spAutoFit/>
          </a:bodyPr>
          <a:lstStyle/>
          <a:p>
            <a:pPr algn="l">
              <a:spcBef>
                <a:spcPts val="0"/>
              </a:spcBef>
              <a:spcAft>
                <a:spcPts val="400"/>
              </a:spcAft>
            </a:pPr>
            <a:r>
              <a:rPr sz="1400" b="1">
                <a:solidFill>
                  <a:srgbClr val="5B6372"/>
                </a:solidFill>
                <a:latin typeface="Arial"/>
              </a:rPr>
              <a:t>Rolling updates &amp; rollbacks</a:t>
            </a:r>
          </a:p>
        </p:txBody>
      </p:sp>
      <p:sp>
        <p:nvSpPr>
          <p:cNvPr id="10" name="TextBox 9"/>
          <p:cNvSpPr txBox="1"/>
          <p:nvPr/>
        </p:nvSpPr>
        <p:spPr>
          <a:xfrm>
            <a:off x="777240" y="2286000"/>
            <a:ext cx="10698480" cy="1554480"/>
          </a:xfrm>
          <a:prstGeom prst="rect">
            <a:avLst/>
          </a:prstGeom>
          <a:noFill/>
        </p:spPr>
        <p:txBody>
          <a:bodyPr wrap="square" anchor="t" lIns="0" rIns="0" tIns="0" bIns="0">
            <a:spAutoFit/>
          </a:bodyPr>
          <a:lstStyle/>
          <a:p>
            <a:pPr algn="l">
              <a:spcBef>
                <a:spcPts val="0"/>
              </a:spcBef>
              <a:spcAft>
                <a:spcPts val="400"/>
              </a:spcAft>
            </a:pPr>
            <a:r>
              <a:rPr sz="1900" b="0">
                <a:solidFill>
                  <a:srgbClr val="161B26"/>
                </a:solidFill>
                <a:latin typeface="Arial"/>
              </a:rPr>
              <a:t>Ship a new version of TaskBoard with zero downtime, then instantly roll back when something's wrong. You'll update the container image, track the rollout, and revert to a previous revision.</a:t>
            </a:r>
          </a:p>
        </p:txBody>
      </p:sp>
      <p:sp>
        <p:nvSpPr>
          <p:cNvPr id="11" name="Rounded Rectangle 10"/>
          <p:cNvSpPr/>
          <p:nvPr/>
        </p:nvSpPr>
        <p:spPr>
          <a:xfrm>
            <a:off x="777240" y="4069080"/>
            <a:ext cx="10698480" cy="178308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25196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3" name="TextBox 12"/>
          <p:cNvSpPr txBox="1"/>
          <p:nvPr/>
        </p:nvSpPr>
        <p:spPr>
          <a:xfrm>
            <a:off x="1005840" y="4617720"/>
            <a:ext cx="10241280" cy="640080"/>
          </a:xfrm>
          <a:prstGeom prst="rect">
            <a:avLst/>
          </a:prstGeom>
          <a:noFill/>
        </p:spPr>
        <p:txBody>
          <a:bodyPr wrap="square" anchor="t" lIns="0" rIns="0" tIns="0" bIns="0">
            <a:spAutoFit/>
          </a:bodyPr>
          <a:lstStyle/>
          <a:p>
            <a:pPr algn="l">
              <a:spcBef>
                <a:spcPts val="0"/>
              </a:spcBef>
              <a:spcAft>
                <a:spcPts val="400"/>
              </a:spcAft>
            </a:pPr>
            <a:r>
              <a:rPr sz="1700" b="1">
                <a:solidFill>
                  <a:srgbClr val="161B26"/>
                </a:solidFill>
                <a:latin typeface="Arial"/>
              </a:rPr>
              <a:t>Roll a Deployment forward to a new image with no downtime, then roll it back.</a:t>
            </a:r>
          </a:p>
        </p:txBody>
      </p:sp>
      <p:sp>
        <p:nvSpPr>
          <p:cNvPr id="14" name="TextBox 13"/>
          <p:cNvSpPr txBox="1"/>
          <p:nvPr/>
        </p:nvSpPr>
        <p:spPr>
          <a:xfrm>
            <a:off x="1005840" y="53492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commands:  </a:t>
            </a:r>
            <a:r>
              <a:rPr sz="1300" b="0">
                <a:solidFill>
                  <a:srgbClr val="5B6372"/>
                </a:solidFill>
                <a:latin typeface="Arial"/>
              </a:rPr>
              <a:t>kubectl create · kubectl set · kubectl rollout · » Rolling</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105</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16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Rolling Updates &amp; Rollbacks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Part A — Deploy v1, then update the image</a:t>
            </a:r>
          </a:p>
        </p:txBody>
      </p:sp>
      <p:sp>
        <p:nvSpPr>
          <p:cNvPr id="8" name="Rounded Rectangle 7"/>
          <p:cNvSpPr/>
          <p:nvPr/>
        </p:nvSpPr>
        <p:spPr>
          <a:xfrm>
            <a:off x="777240" y="2075688"/>
            <a:ext cx="10652760" cy="708660"/>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7086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617220"/>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create deployment taskboard --image=nginx:1.24 --replicas=3</a:t>
            </a:r>
          </a:p>
          <a:p>
            <a:pPr>
              <a:spcBef>
                <a:spcPts val="0"/>
              </a:spcBef>
              <a:spcAft>
                <a:spcPts val="0"/>
              </a:spcAft>
            </a:pPr>
            <a:r>
              <a:rPr sz="1050">
                <a:solidFill>
                  <a:srgbClr val="161B26"/>
                </a:solidFill>
                <a:latin typeface="Consolas"/>
              </a:rPr>
              <a:t>kubectl rollout status deployment taskboard</a:t>
            </a:r>
          </a:p>
          <a:p>
            <a:pPr>
              <a:spcBef>
                <a:spcPts val="0"/>
              </a:spcBef>
              <a:spcAft>
                <a:spcPts val="0"/>
              </a:spcAft>
            </a:pPr>
            <a:r>
              <a:rPr sz="1050">
                <a:solidFill>
                  <a:srgbClr val="161B26"/>
                </a:solidFill>
                <a:latin typeface="Consolas"/>
              </a:rPr>
              <a:t>kubectl describe deployment taskboard | grep Image</a:t>
            </a:r>
          </a:p>
        </p:txBody>
      </p:sp>
      <p:sp>
        <p:nvSpPr>
          <p:cNvPr id="11" name="TextBox 10"/>
          <p:cNvSpPr txBox="1"/>
          <p:nvPr/>
        </p:nvSpPr>
        <p:spPr>
          <a:xfrm>
            <a:off x="777240" y="2967228"/>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Update the image — Kubernetes shifts Pods gradually from the old to the new ReplicaSet (rolling update, the default strategy):</a:t>
            </a:r>
          </a:p>
        </p:txBody>
      </p:sp>
      <p:sp>
        <p:nvSpPr>
          <p:cNvPr id="12" name="Rounded Rectangle 11"/>
          <p:cNvSpPr/>
          <p:nvPr/>
        </p:nvSpPr>
        <p:spPr>
          <a:xfrm>
            <a:off x="777240" y="3351276"/>
            <a:ext cx="10652760" cy="708660"/>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351276"/>
            <a:ext cx="82296" cy="7086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3415284"/>
            <a:ext cx="10323576" cy="617220"/>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set image deployment/taskboard nginx=nginx:1.25</a:t>
            </a:r>
          </a:p>
          <a:p>
            <a:pPr>
              <a:spcBef>
                <a:spcPts val="0"/>
              </a:spcBef>
              <a:spcAft>
                <a:spcPts val="0"/>
              </a:spcAft>
            </a:pPr>
            <a:r>
              <a:rPr sz="1050">
                <a:solidFill>
                  <a:srgbClr val="161B26"/>
                </a:solidFill>
                <a:latin typeface="Consolas"/>
              </a:rPr>
              <a:t>kubectl rollout status deployment taskboard</a:t>
            </a:r>
          </a:p>
          <a:p>
            <a:pPr>
              <a:spcBef>
                <a:spcPts val="0"/>
              </a:spcBef>
              <a:spcAft>
                <a:spcPts val="0"/>
              </a:spcAft>
            </a:pPr>
            <a:r>
              <a:rPr sz="1050">
                <a:solidFill>
                  <a:srgbClr val="161B26"/>
                </a:solidFill>
                <a:latin typeface="Consolas"/>
              </a:rPr>
              <a:t>kubectl describe deployment taskboard | grep Image   # now 1.25</a:t>
            </a:r>
          </a:p>
        </p:txBody>
      </p:sp>
      <p:sp>
        <p:nvSpPr>
          <p:cNvPr id="15" name="TextBox 14"/>
          <p:cNvSpPr txBox="1"/>
          <p:nvPr/>
        </p:nvSpPr>
        <p:spPr>
          <a:xfrm>
            <a:off x="777240" y="4242816"/>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Part B — Roll back</a:t>
            </a:r>
          </a:p>
        </p:txBody>
      </p:sp>
      <p:sp>
        <p:nvSpPr>
          <p:cNvPr id="16" name="Rounded Rectangle 15"/>
          <p:cNvSpPr/>
          <p:nvPr/>
        </p:nvSpPr>
        <p:spPr>
          <a:xfrm>
            <a:off x="777240" y="4626864"/>
            <a:ext cx="10652760" cy="1083563"/>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626864"/>
            <a:ext cx="82296" cy="1083563"/>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96696" y="4690872"/>
            <a:ext cx="10323576" cy="992123"/>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rollout history deployment taskboard</a:t>
            </a:r>
          </a:p>
          <a:p>
            <a:pPr>
              <a:spcBef>
                <a:spcPts val="0"/>
              </a:spcBef>
              <a:spcAft>
                <a:spcPts val="0"/>
              </a:spcAft>
            </a:pPr>
            <a:r>
              <a:rPr sz="1050">
                <a:solidFill>
                  <a:srgbClr val="161B26"/>
                </a:solidFill>
                <a:latin typeface="Consolas"/>
              </a:rPr>
              <a:t>kubectl rollout undo deployment taskboard            # back to 1.24</a:t>
            </a:r>
          </a:p>
          <a:p>
            <a:pPr>
              <a:spcBef>
                <a:spcPts val="0"/>
              </a:spcBef>
              <a:spcAft>
                <a:spcPts val="0"/>
              </a:spcAft>
            </a:pPr>
            <a:r>
              <a:rPr sz="1050">
                <a:solidFill>
                  <a:srgbClr val="161B26"/>
                </a:solidFill>
                <a:latin typeface="Consolas"/>
              </a:rPr>
              <a:t>kubectl describe deployment taskboard | grep Image</a:t>
            </a:r>
          </a:p>
          <a:p>
            <a:pPr>
              <a:spcBef>
                <a:spcPts val="0"/>
              </a:spcBef>
              <a:spcAft>
                <a:spcPts val="0"/>
              </a:spcAft>
            </a:pPr>
            <a:r>
              <a:rPr sz="1050">
                <a:solidFill>
                  <a:srgbClr val="161B26"/>
                </a:solidFill>
                <a:latin typeface="Consolas"/>
              </a:rPr>
              <a:t>kubectl rollout undo deployment taskboard --to-revision=2   # forward to 1.25 again</a:t>
            </a:r>
          </a:p>
          <a:p>
            <a:pPr>
              <a:spcBef>
                <a:spcPts val="0"/>
              </a:spcBef>
              <a:spcAft>
                <a:spcPts val="0"/>
              </a:spcAft>
            </a:pPr>
            <a:r>
              <a:rPr sz="1050">
                <a:solidFill>
                  <a:srgbClr val="161B26"/>
                </a:solidFill>
                <a:latin typeface="Consolas"/>
              </a:rPr>
              <a:t>kubectl delete deployment taskboard</a:t>
            </a:r>
          </a:p>
        </p:txBody>
      </p:sp>
      <p:sp>
        <p:nvSpPr>
          <p:cNvPr id="19" name="TextBox 1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20" name="TextBox 1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1" name="TextBox 2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106</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16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Rolling Updates &amp; Rollbacks (cont.)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52760"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Note   </a:t>
            </a:r>
            <a:r>
              <a:rPr sz="1300" b="0">
                <a:solidFill>
                  <a:srgbClr val="5B6372"/>
                </a:solidFill>
                <a:latin typeface="Arial"/>
              </a:rPr>
              <a:t>Rolling updates keep old and new Pods running simultaneously so users never see downtime; a rollback is just a rollout to a previous revision.</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107</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16  ·  TEST IT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Rolling Updates &amp; Rollbacks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10698480" cy="2560320"/>
          </a:xfrm>
          <a:prstGeom prst="roundRect">
            <a:avLst>
              <a:gd name="adj" fmla="val 5000"/>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200" b="1">
                <a:solidFill>
                  <a:srgbClr val="127A3E"/>
                </a:solidFill>
                <a:latin typeface="Arial"/>
              </a:rPr>
              <a:t>✅  Test it</a:t>
            </a:r>
          </a:p>
        </p:txBody>
      </p:sp>
      <p:sp>
        <p:nvSpPr>
          <p:cNvPr id="9" name="TextBox 8"/>
          <p:cNvSpPr txBox="1"/>
          <p:nvPr/>
        </p:nvSpPr>
        <p:spPr>
          <a:xfrm>
            <a:off x="1097280" y="3017520"/>
            <a:ext cx="10149840" cy="146304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kubectl describe deployment taskboard | grep Image shows nginx:1.25 after the update and nginx:1.24 after kubectl rollout undo.</a:t>
            </a:r>
          </a:p>
        </p:txBody>
      </p:sp>
      <p:sp>
        <p:nvSpPr>
          <p:cNvPr id="10" name="TextBox 9"/>
          <p:cNvSpPr txBox="1"/>
          <p:nvPr/>
        </p:nvSpPr>
        <p:spPr>
          <a:xfrm>
            <a:off x="777240" y="4983480"/>
            <a:ext cx="10698480" cy="365760"/>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KillerCoda:  </a:t>
            </a:r>
            <a:r>
              <a:rPr sz="1300" b="0">
                <a:solidFill>
                  <a:srgbClr val="5B6372"/>
                </a:solidFill>
                <a:latin typeface="Arial"/>
              </a:rPr>
              <a:t>https://killercoda.com/tertiary-labs/course/killercoda/day2-03-k8s-rollouts</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108</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2148840"/>
            <a:ext cx="23134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514600"/>
            <a:ext cx="12191695" cy="1097280"/>
          </a:xfrm>
          <a:prstGeom prst="rect">
            <a:avLst/>
          </a:prstGeom>
          <a:noFill/>
        </p:spPr>
        <p:txBody>
          <a:bodyPr wrap="square" anchor="t" lIns="0" rIns="0" tIns="0" bIns="0">
            <a:spAutoFit/>
          </a:bodyPr>
          <a:lstStyle/>
          <a:p>
            <a:pPr algn="ctr">
              <a:spcBef>
                <a:spcPts val="0"/>
              </a:spcBef>
              <a:spcAft>
                <a:spcPts val="400"/>
              </a:spcAft>
            </a:pPr>
            <a:r>
              <a:rPr sz="4800" b="1">
                <a:solidFill>
                  <a:srgbClr val="161B26"/>
                </a:solidFill>
                <a:latin typeface="Arial"/>
              </a:rPr>
              <a:t>Lunch Break</a:t>
            </a:r>
          </a:p>
        </p:txBody>
      </p:sp>
      <p:sp>
        <p:nvSpPr>
          <p:cNvPr id="7" name="TextBox 6"/>
          <p:cNvSpPr txBox="1"/>
          <p:nvPr/>
        </p:nvSpPr>
        <p:spPr>
          <a:xfrm>
            <a:off x="0" y="3703320"/>
            <a:ext cx="12191695" cy="731520"/>
          </a:xfrm>
          <a:prstGeom prst="rect">
            <a:avLst/>
          </a:prstGeom>
          <a:noFill/>
        </p:spPr>
        <p:txBody>
          <a:bodyPr wrap="square" anchor="t" lIns="0" rIns="0" tIns="0" bIns="0">
            <a:spAutoFit/>
          </a:bodyPr>
          <a:lstStyle/>
          <a:p>
            <a:pPr algn="ctr">
              <a:spcBef>
                <a:spcPts val="0"/>
              </a:spcBef>
              <a:spcAft>
                <a:spcPts val="400"/>
              </a:spcAft>
            </a:pPr>
            <a:r>
              <a:rPr sz="2200" b="1">
                <a:solidFill>
                  <a:srgbClr val="1F6FEB"/>
                </a:solidFill>
                <a:latin typeface="Arial"/>
              </a:rPr>
              <a:t>1 hour</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F6FEB"/>
                </a:solidFill>
                <a:latin typeface="Arial"/>
              </a:rPr>
              <a:t>TOPIC 10</a:t>
            </a:r>
          </a:p>
        </p:txBody>
      </p:sp>
      <p:sp>
        <p:nvSpPr>
          <p:cNvPr id="6" name="TextBox 5"/>
          <p:cNvSpPr txBox="1"/>
          <p:nvPr/>
        </p:nvSpPr>
        <p:spPr>
          <a:xfrm>
            <a:off x="1143000" y="2743200"/>
            <a:ext cx="10424160" cy="1463040"/>
          </a:xfrm>
          <a:prstGeom prst="rect">
            <a:avLst/>
          </a:prstGeom>
          <a:noFill/>
        </p:spPr>
        <p:txBody>
          <a:bodyPr wrap="square" anchor="t" lIns="0" rIns="0" tIns="0" bIns="0">
            <a:spAutoFit/>
          </a:bodyPr>
          <a:lstStyle/>
          <a:p>
            <a:pPr algn="l">
              <a:spcBef>
                <a:spcPts val="0"/>
              </a:spcBef>
              <a:spcAft>
                <a:spcPts val="400"/>
              </a:spcAft>
            </a:pPr>
            <a:r>
              <a:rPr sz="4000" b="1">
                <a:solidFill>
                  <a:srgbClr val="161B26"/>
                </a:solidFill>
                <a:latin typeface="Arial"/>
              </a:rPr>
              <a:t>Services</a:t>
            </a:r>
          </a:p>
        </p:txBody>
      </p:sp>
      <p:sp>
        <p:nvSpPr>
          <p:cNvPr id="7" name="TextBox 6"/>
          <p:cNvSpPr txBox="1"/>
          <p:nvPr/>
        </p:nvSpPr>
        <p:spPr>
          <a:xfrm>
            <a:off x="1161288" y="4114800"/>
            <a:ext cx="10058400" cy="731520"/>
          </a:xfrm>
          <a:prstGeom prst="rect">
            <a:avLst/>
          </a:prstGeom>
          <a:noFill/>
        </p:spPr>
        <p:txBody>
          <a:bodyPr wrap="square" anchor="t" lIns="0" rIns="0" tIns="0" bIns="0">
            <a:spAutoFit/>
          </a:bodyPr>
          <a:lstStyle/>
          <a:p>
            <a:pPr algn="l">
              <a:spcBef>
                <a:spcPts val="0"/>
              </a:spcBef>
              <a:spcAft>
                <a:spcPts val="400"/>
              </a:spcAft>
            </a:pPr>
            <a:r>
              <a:rPr sz="1600" b="0">
                <a:solidFill>
                  <a:srgbClr val="5B6372"/>
                </a:solidFill>
                <a:latin typeface="Arial"/>
              </a:rPr>
              <a:t>Stable endpoints &amp; load balancing</a:t>
            </a:r>
          </a:p>
        </p:txBody>
      </p:sp>
      <p:sp>
        <p:nvSpPr>
          <p:cNvPr id="8" name="TextBox 7"/>
          <p:cNvSpPr txBox="1"/>
          <p:nvPr/>
        </p:nvSpPr>
        <p:spPr>
          <a:xfrm>
            <a:off x="9418320" y="640080"/>
            <a:ext cx="2286000" cy="1463040"/>
          </a:xfrm>
          <a:prstGeom prst="rect">
            <a:avLst/>
          </a:prstGeom>
          <a:noFill/>
        </p:spPr>
        <p:txBody>
          <a:bodyPr wrap="square" anchor="t" lIns="0" rIns="0" tIns="0" bIns="0">
            <a:spAutoFit/>
          </a:bodyPr>
          <a:lstStyle/>
          <a:p>
            <a:pPr algn="r">
              <a:spcBef>
                <a:spcPts val="0"/>
              </a:spcBef>
              <a:spcAft>
                <a:spcPts val="400"/>
              </a:spcAft>
            </a:pPr>
            <a:r>
              <a:rPr sz="7200" b="1">
                <a:solidFill>
                  <a:srgbClr val="E2E8F0"/>
                </a:solidFill>
                <a:latin typeface="Arial"/>
              </a:rPr>
              <a:t/>
            </a:r>
          </a:p>
        </p:txBody>
      </p:sp>
      <p:sp>
        <p:nvSpPr>
          <p:cNvPr id="9" name="TextBox 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110</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NETWORKING</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Why Services?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1900" b="1">
                <a:solidFill>
                  <a:srgbClr val="1F6FEB"/>
                </a:solidFill>
                <a:latin typeface="Arial"/>
              </a:rPr>
              <a:t>•  </a:t>
            </a:r>
            <a:r>
              <a:rPr sz="1900">
                <a:solidFill>
                  <a:srgbClr val="161B26"/>
                </a:solidFill>
                <a:latin typeface="Arial"/>
              </a:rPr>
              <a:t>Pod IPs change on every restart, scale or update — you can't rely on them.</a:t>
            </a:r>
          </a:p>
          <a:p>
            <a:pPr>
              <a:spcBef>
                <a:spcPts val="0"/>
              </a:spcBef>
              <a:spcAft>
                <a:spcPts val="1000"/>
              </a:spcAft>
            </a:pPr>
            <a:r>
              <a:rPr sz="1900" b="1">
                <a:solidFill>
                  <a:srgbClr val="1F6FEB"/>
                </a:solidFill>
                <a:latin typeface="Arial"/>
              </a:rPr>
              <a:t>•  </a:t>
            </a:r>
            <a:r>
              <a:rPr sz="1900">
                <a:solidFill>
                  <a:srgbClr val="161B26"/>
                </a:solidFill>
                <a:latin typeface="Arial"/>
              </a:rPr>
              <a:t>A Service gives a stable address and load-balances across matching Pods.</a:t>
            </a:r>
          </a:p>
          <a:p>
            <a:pPr>
              <a:spcBef>
                <a:spcPts val="0"/>
              </a:spcBef>
              <a:spcAft>
                <a:spcPts val="1000"/>
              </a:spcAft>
            </a:pPr>
            <a:r>
              <a:rPr sz="1900" b="1">
                <a:solidFill>
                  <a:srgbClr val="1F6FEB"/>
                </a:solidFill>
                <a:latin typeface="Arial"/>
              </a:rPr>
              <a:t>•  </a:t>
            </a:r>
            <a:r>
              <a:rPr sz="1900">
                <a:solidFill>
                  <a:srgbClr val="161B26"/>
                </a:solidFill>
                <a:latin typeface="Arial"/>
              </a:rPr>
              <a:t>ClusterIP — internal only (service-to-service).</a:t>
            </a:r>
          </a:p>
          <a:p>
            <a:pPr>
              <a:spcBef>
                <a:spcPts val="0"/>
              </a:spcBef>
              <a:spcAft>
                <a:spcPts val="1000"/>
              </a:spcAft>
            </a:pPr>
            <a:r>
              <a:rPr sz="1900" b="1">
                <a:solidFill>
                  <a:srgbClr val="1F6FEB"/>
                </a:solidFill>
                <a:latin typeface="Arial"/>
              </a:rPr>
              <a:t>•  </a:t>
            </a:r>
            <a:r>
              <a:rPr sz="1900">
                <a:solidFill>
                  <a:srgbClr val="161B26"/>
                </a:solidFill>
                <a:latin typeface="Arial"/>
              </a:rPr>
              <a:t>NodePort — opens a port on every node for external access (30000–32767).</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111</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DAY 2 · SERVICES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Services — ClusterIP &amp; NodePort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69164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69164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LAB 17</a:t>
            </a:r>
          </a:p>
        </p:txBody>
      </p:sp>
      <p:sp>
        <p:nvSpPr>
          <p:cNvPr id="9" name="TextBox 8"/>
          <p:cNvSpPr txBox="1"/>
          <p:nvPr/>
        </p:nvSpPr>
        <p:spPr>
          <a:xfrm>
            <a:off x="2697480" y="1691640"/>
            <a:ext cx="8778240" cy="411480"/>
          </a:xfrm>
          <a:prstGeom prst="rect">
            <a:avLst/>
          </a:prstGeom>
          <a:noFill/>
        </p:spPr>
        <p:txBody>
          <a:bodyPr wrap="square" anchor="ctr" lIns="0" rIns="0" tIns="0" bIns="0">
            <a:spAutoFit/>
          </a:bodyPr>
          <a:lstStyle/>
          <a:p>
            <a:pPr algn="l">
              <a:spcBef>
                <a:spcPts val="0"/>
              </a:spcBef>
              <a:spcAft>
                <a:spcPts val="400"/>
              </a:spcAft>
            </a:pPr>
            <a:r>
              <a:rPr sz="1400" b="1">
                <a:solidFill>
                  <a:srgbClr val="5B6372"/>
                </a:solidFill>
                <a:latin typeface="Arial"/>
              </a:rPr>
              <a:t>Services</a:t>
            </a:r>
          </a:p>
        </p:txBody>
      </p:sp>
      <p:sp>
        <p:nvSpPr>
          <p:cNvPr id="10" name="TextBox 9"/>
          <p:cNvSpPr txBox="1"/>
          <p:nvPr/>
        </p:nvSpPr>
        <p:spPr>
          <a:xfrm>
            <a:off x="777240" y="2286000"/>
            <a:ext cx="10698480" cy="1554480"/>
          </a:xfrm>
          <a:prstGeom prst="rect">
            <a:avLst/>
          </a:prstGeom>
          <a:noFill/>
        </p:spPr>
        <p:txBody>
          <a:bodyPr wrap="square" anchor="t" lIns="0" rIns="0" tIns="0" bIns="0">
            <a:spAutoFit/>
          </a:bodyPr>
          <a:lstStyle/>
          <a:p>
            <a:pPr algn="l">
              <a:spcBef>
                <a:spcPts val="0"/>
              </a:spcBef>
              <a:spcAft>
                <a:spcPts val="400"/>
              </a:spcAft>
            </a:pPr>
            <a:r>
              <a:rPr sz="1900" b="0">
                <a:solidFill>
                  <a:srgbClr val="161B26"/>
                </a:solidFill>
                <a:latin typeface="Arial"/>
              </a:rPr>
              <a:t>Give your Pods a stable address. Pod IPs change constantly; a Service provides one durable endpoint with built-in load balancing. You'll expose TaskBoard internally with ClusterIP and externally with NodePort, both imperatively and from YAML.</a:t>
            </a:r>
          </a:p>
        </p:txBody>
      </p:sp>
      <p:sp>
        <p:nvSpPr>
          <p:cNvPr id="11" name="Rounded Rectangle 10"/>
          <p:cNvSpPr/>
          <p:nvPr/>
        </p:nvSpPr>
        <p:spPr>
          <a:xfrm>
            <a:off x="777240" y="4069080"/>
            <a:ext cx="10698480" cy="178308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25196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3" name="TextBox 12"/>
          <p:cNvSpPr txBox="1"/>
          <p:nvPr/>
        </p:nvSpPr>
        <p:spPr>
          <a:xfrm>
            <a:off x="1005840" y="4617720"/>
            <a:ext cx="10241280" cy="640080"/>
          </a:xfrm>
          <a:prstGeom prst="rect">
            <a:avLst/>
          </a:prstGeom>
          <a:noFill/>
        </p:spPr>
        <p:txBody>
          <a:bodyPr wrap="square" anchor="t" lIns="0" rIns="0" tIns="0" bIns="0">
            <a:spAutoFit/>
          </a:bodyPr>
          <a:lstStyle/>
          <a:p>
            <a:pPr algn="l">
              <a:spcBef>
                <a:spcPts val="0"/>
              </a:spcBef>
              <a:spcAft>
                <a:spcPts val="400"/>
              </a:spcAft>
            </a:pPr>
            <a:r>
              <a:rPr sz="1700" b="1">
                <a:solidFill>
                  <a:srgbClr val="161B26"/>
                </a:solidFill>
                <a:latin typeface="Arial"/>
              </a:rPr>
              <a:t>Expose a Deployment with ClusterIP (internal) and NodePort (external) Services.</a:t>
            </a:r>
          </a:p>
        </p:txBody>
      </p:sp>
      <p:sp>
        <p:nvSpPr>
          <p:cNvPr id="14" name="TextBox 13"/>
          <p:cNvSpPr txBox="1"/>
          <p:nvPr/>
        </p:nvSpPr>
        <p:spPr>
          <a:xfrm>
            <a:off x="1005840" y="53492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commands:  </a:t>
            </a:r>
            <a:r>
              <a:rPr sz="1300" b="0">
                <a:solidFill>
                  <a:srgbClr val="5B6372"/>
                </a:solidFill>
                <a:latin typeface="Arial"/>
              </a:rPr>
              <a:t>kubectl create · kubectl delete · apiVersion: v1 · » ClusterIP</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112</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17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Services — ClusterIP &amp; NodePort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Part A — ClusterIP (internal)</a:t>
            </a:r>
          </a:p>
        </p:txBody>
      </p:sp>
      <p:sp>
        <p:nvSpPr>
          <p:cNvPr id="8" name="Rounded Rectangle 7"/>
          <p:cNvSpPr/>
          <p:nvPr/>
        </p:nvSpPr>
        <p:spPr>
          <a:xfrm>
            <a:off x="777240" y="2075688"/>
            <a:ext cx="10652760" cy="896112"/>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804672"/>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create deployment taskboard --image=nginx --replicas=2</a:t>
            </a:r>
          </a:p>
          <a:p>
            <a:pPr>
              <a:spcBef>
                <a:spcPts val="0"/>
              </a:spcBef>
              <a:spcAft>
                <a:spcPts val="0"/>
              </a:spcAft>
            </a:pPr>
            <a:r>
              <a:rPr sz="1050">
                <a:solidFill>
                  <a:srgbClr val="161B26"/>
                </a:solidFill>
                <a:latin typeface="Consolas"/>
              </a:rPr>
              <a:t>kubectl expose deployment taskboard --port=80 --target-port=80</a:t>
            </a:r>
          </a:p>
          <a:p>
            <a:pPr>
              <a:spcBef>
                <a:spcPts val="0"/>
              </a:spcBef>
              <a:spcAft>
                <a:spcPts val="0"/>
              </a:spcAft>
            </a:pPr>
            <a:r>
              <a:rPr sz="1050">
                <a:solidFill>
                  <a:srgbClr val="161B26"/>
                </a:solidFill>
                <a:latin typeface="Consolas"/>
              </a:rPr>
              <a:t>kubectl get service taskboard</a:t>
            </a:r>
          </a:p>
          <a:p>
            <a:pPr>
              <a:spcBef>
                <a:spcPts val="0"/>
              </a:spcBef>
              <a:spcAft>
                <a:spcPts val="0"/>
              </a:spcAft>
            </a:pPr>
            <a:r>
              <a:rPr sz="1050">
                <a:solidFill>
                  <a:srgbClr val="161B26"/>
                </a:solidFill>
                <a:latin typeface="Consolas"/>
              </a:rPr>
              <a:t>kubectl get endpoints taskboard      # the Pod IPs behind the Service</a:t>
            </a:r>
          </a:p>
        </p:txBody>
      </p:sp>
      <p:sp>
        <p:nvSpPr>
          <p:cNvPr id="11" name="TextBox 10"/>
          <p:cNvSpPr txBox="1"/>
          <p:nvPr/>
        </p:nvSpPr>
        <p:spPr>
          <a:xfrm>
            <a:off x="777240" y="315468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Part B — NodePort (external)</a:t>
            </a:r>
          </a:p>
        </p:txBody>
      </p:sp>
      <p:sp>
        <p:nvSpPr>
          <p:cNvPr id="12" name="Rounded Rectangle 11"/>
          <p:cNvSpPr/>
          <p:nvPr/>
        </p:nvSpPr>
        <p:spPr>
          <a:xfrm>
            <a:off x="777240" y="3538728"/>
            <a:ext cx="10652760" cy="896112"/>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538728"/>
            <a:ext cx="82296"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3602736"/>
            <a:ext cx="10323576" cy="804672"/>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delete service taskboard</a:t>
            </a:r>
          </a:p>
          <a:p>
            <a:pPr>
              <a:spcBef>
                <a:spcPts val="0"/>
              </a:spcBef>
              <a:spcAft>
                <a:spcPts val="0"/>
              </a:spcAft>
            </a:pPr>
            <a:r>
              <a:rPr sz="1050">
                <a:solidFill>
                  <a:srgbClr val="161B26"/>
                </a:solidFill>
                <a:latin typeface="Consolas"/>
              </a:rPr>
              <a:t>kubectl expose deployment taskboard \</a:t>
            </a:r>
          </a:p>
          <a:p>
            <a:pPr>
              <a:spcBef>
                <a:spcPts val="0"/>
              </a:spcBef>
              <a:spcAft>
                <a:spcPts val="0"/>
              </a:spcAft>
            </a:pPr>
            <a:r>
              <a:rPr sz="1050">
                <a:solidFill>
                  <a:srgbClr val="161B26"/>
                </a:solidFill>
                <a:latin typeface="Consolas"/>
              </a:rPr>
              <a:t>  --type=NodePort --port=80 --target-port=80</a:t>
            </a:r>
          </a:p>
          <a:p>
            <a:pPr>
              <a:spcBef>
                <a:spcPts val="0"/>
              </a:spcBef>
              <a:spcAft>
                <a:spcPts val="0"/>
              </a:spcAft>
            </a:pPr>
            <a:r>
              <a:rPr sz="1050">
                <a:solidFill>
                  <a:srgbClr val="161B26"/>
                </a:solidFill>
                <a:latin typeface="Consolas"/>
              </a:rPr>
              <a:t>kubectl get service taskboard         # note the 3xxxx port</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113</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17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Services — ClusterIP &amp; NodePort (cont.)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Part C — Declarative (Service + Deployment YAML)</a:t>
            </a:r>
          </a:p>
        </p:txBody>
      </p:sp>
      <p:sp>
        <p:nvSpPr>
          <p:cNvPr id="8" name="Rounded Rectangle 7"/>
          <p:cNvSpPr/>
          <p:nvPr/>
        </p:nvSpPr>
        <p:spPr>
          <a:xfrm>
            <a:off x="777240" y="2075688"/>
            <a:ext cx="10652760" cy="2395728"/>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2395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2304288"/>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apiVersion: v1</a:t>
            </a:r>
          </a:p>
          <a:p>
            <a:pPr>
              <a:spcBef>
                <a:spcPts val="0"/>
              </a:spcBef>
              <a:spcAft>
                <a:spcPts val="0"/>
              </a:spcAft>
            </a:pPr>
            <a:r>
              <a:rPr sz="1050">
                <a:solidFill>
                  <a:srgbClr val="161B26"/>
                </a:solidFill>
                <a:latin typeface="Consolas"/>
              </a:rPr>
              <a:t>kind: Service</a:t>
            </a:r>
          </a:p>
          <a:p>
            <a:pPr>
              <a:spcBef>
                <a:spcPts val="0"/>
              </a:spcBef>
              <a:spcAft>
                <a:spcPts val="0"/>
              </a:spcAft>
            </a:pPr>
            <a:r>
              <a:rPr sz="1050">
                <a:solidFill>
                  <a:srgbClr val="161B26"/>
                </a:solidFill>
                <a:latin typeface="Consolas"/>
              </a:rPr>
              <a:t>metadata:</a:t>
            </a:r>
          </a:p>
          <a:p>
            <a:pPr>
              <a:spcBef>
                <a:spcPts val="0"/>
              </a:spcBef>
              <a:spcAft>
                <a:spcPts val="0"/>
              </a:spcAft>
            </a:pPr>
            <a:r>
              <a:rPr sz="1050">
                <a:solidFill>
                  <a:srgbClr val="161B26"/>
                </a:solidFill>
                <a:latin typeface="Consolas"/>
              </a:rPr>
              <a:t>  name: taskboard-svc</a:t>
            </a:r>
          </a:p>
          <a:p>
            <a:pPr>
              <a:spcBef>
                <a:spcPts val="0"/>
              </a:spcBef>
              <a:spcAft>
                <a:spcPts val="0"/>
              </a:spcAft>
            </a:pPr>
            <a:r>
              <a:rPr sz="1050">
                <a:solidFill>
                  <a:srgbClr val="161B26"/>
                </a:solidFill>
                <a:latin typeface="Consolas"/>
              </a:rPr>
              <a:t>spec:</a:t>
            </a:r>
          </a:p>
          <a:p>
            <a:pPr>
              <a:spcBef>
                <a:spcPts val="0"/>
              </a:spcBef>
              <a:spcAft>
                <a:spcPts val="0"/>
              </a:spcAft>
            </a:pPr>
            <a:r>
              <a:rPr sz="1050">
                <a:solidFill>
                  <a:srgbClr val="161B26"/>
                </a:solidFill>
                <a:latin typeface="Consolas"/>
              </a:rPr>
              <a:t>  type: NodePort</a:t>
            </a:r>
          </a:p>
          <a:p>
            <a:pPr>
              <a:spcBef>
                <a:spcPts val="0"/>
              </a:spcBef>
              <a:spcAft>
                <a:spcPts val="0"/>
              </a:spcAft>
            </a:pPr>
            <a:r>
              <a:rPr sz="1050">
                <a:solidFill>
                  <a:srgbClr val="161B26"/>
                </a:solidFill>
                <a:latin typeface="Consolas"/>
              </a:rPr>
              <a:t>  selector:</a:t>
            </a:r>
          </a:p>
          <a:p>
            <a:pPr>
              <a:spcBef>
                <a:spcPts val="0"/>
              </a:spcBef>
              <a:spcAft>
                <a:spcPts val="0"/>
              </a:spcAft>
            </a:pPr>
            <a:r>
              <a:rPr sz="1050">
                <a:solidFill>
                  <a:srgbClr val="161B26"/>
                </a:solidFill>
                <a:latin typeface="Consolas"/>
              </a:rPr>
              <a:t>    app: taskboard</a:t>
            </a:r>
          </a:p>
          <a:p>
            <a:pPr>
              <a:spcBef>
                <a:spcPts val="0"/>
              </a:spcBef>
              <a:spcAft>
                <a:spcPts val="0"/>
              </a:spcAft>
            </a:pPr>
            <a:r>
              <a:rPr sz="1050">
                <a:solidFill>
                  <a:srgbClr val="161B26"/>
                </a:solidFill>
                <a:latin typeface="Consolas"/>
              </a:rPr>
              <a:t>  ports:</a:t>
            </a:r>
          </a:p>
          <a:p>
            <a:pPr>
              <a:spcBef>
                <a:spcPts val="0"/>
              </a:spcBef>
              <a:spcAft>
                <a:spcPts val="0"/>
              </a:spcAft>
            </a:pPr>
            <a:r>
              <a:rPr sz="1050">
                <a:solidFill>
                  <a:srgbClr val="161B26"/>
                </a:solidFill>
                <a:latin typeface="Consolas"/>
              </a:rPr>
              <a:t>    - port: 80</a:t>
            </a:r>
          </a:p>
          <a:p>
            <a:pPr>
              <a:spcBef>
                <a:spcPts val="0"/>
              </a:spcBef>
              <a:spcAft>
                <a:spcPts val="0"/>
              </a:spcAft>
            </a:pPr>
            <a:r>
              <a:rPr sz="1050">
                <a:solidFill>
                  <a:srgbClr val="161B26"/>
                </a:solidFill>
                <a:latin typeface="Consolas"/>
              </a:rPr>
              <a:t>      targetPort: 80</a:t>
            </a:r>
          </a:p>
          <a:p>
            <a:pPr>
              <a:spcBef>
                <a:spcPts val="0"/>
              </a:spcBef>
              <a:spcAft>
                <a:spcPts val="0"/>
              </a:spcAft>
            </a:pPr>
            <a:r>
              <a:rPr sz="1050">
                <a:solidFill>
                  <a:srgbClr val="161B26"/>
                </a:solidFill>
                <a:latin typeface="Consolas"/>
              </a:rPr>
              <a:t>      nodePort: 30080</a:t>
            </a:r>
          </a:p>
        </p:txBody>
      </p:sp>
      <p:sp>
        <p:nvSpPr>
          <p:cNvPr id="11" name="Rounded Rectangle 10"/>
          <p:cNvSpPr/>
          <p:nvPr/>
        </p:nvSpPr>
        <p:spPr>
          <a:xfrm>
            <a:off x="777240" y="4654296"/>
            <a:ext cx="10652760" cy="1083563"/>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4654296"/>
            <a:ext cx="82296" cy="1083563"/>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4718304"/>
            <a:ext cx="10323576" cy="992123"/>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delete deployment taskboard service taskboard</a:t>
            </a:r>
          </a:p>
          <a:p>
            <a:pPr>
              <a:spcBef>
                <a:spcPts val="0"/>
              </a:spcBef>
              <a:spcAft>
                <a:spcPts val="0"/>
              </a:spcAft>
            </a:pPr>
            <a:r>
              <a:rPr sz="1050">
                <a:solidFill>
                  <a:srgbClr val="161B26"/>
                </a:solidFill>
                <a:latin typeface="Consolas"/>
              </a:rPr>
              <a:t>kubectl apply -f deployment.yaml</a:t>
            </a:r>
          </a:p>
          <a:p>
            <a:pPr>
              <a:spcBef>
                <a:spcPts val="0"/>
              </a:spcBef>
              <a:spcAft>
                <a:spcPts val="0"/>
              </a:spcAft>
            </a:pPr>
            <a:r>
              <a:rPr sz="1050">
                <a:solidFill>
                  <a:srgbClr val="161B26"/>
                </a:solidFill>
                <a:latin typeface="Consolas"/>
              </a:rPr>
              <a:t>kubectl apply -f service.yaml</a:t>
            </a:r>
          </a:p>
          <a:p>
            <a:pPr>
              <a:spcBef>
                <a:spcPts val="0"/>
              </a:spcBef>
              <a:spcAft>
                <a:spcPts val="0"/>
              </a:spcAft>
            </a:pPr>
            <a:r>
              <a:rPr sz="1050">
                <a:solidFill>
                  <a:srgbClr val="161B26"/>
                </a:solidFill>
                <a:latin typeface="Consolas"/>
              </a:rPr>
              <a:t>kubectl get svc taskboard-svc          # NodePort 30080</a:t>
            </a:r>
          </a:p>
          <a:p>
            <a:pPr>
              <a:spcBef>
                <a:spcPts val="0"/>
              </a:spcBef>
              <a:spcAft>
                <a:spcPts val="0"/>
              </a:spcAft>
            </a:pPr>
            <a:r>
              <a:rPr sz="1050">
                <a:solidFill>
                  <a:srgbClr val="161B26"/>
                </a:solidFill>
                <a:latin typeface="Consolas"/>
              </a:rPr>
              <a:t>kubectl delete -f service.yaml -f deployment.yaml</a:t>
            </a:r>
          </a:p>
        </p:txBody>
      </p:sp>
      <p:sp>
        <p:nvSpPr>
          <p:cNvPr id="14" name="TextBox 13"/>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5" name="TextBox 14"/>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6" name="TextBox 15"/>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114</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17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Services — ClusterIP &amp; NodePort (cont.)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52760"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Note   </a:t>
            </a:r>
            <a:r>
              <a:rPr sz="1300" b="0">
                <a:solidFill>
                  <a:srgbClr val="5B6372"/>
                </a:solidFill>
                <a:latin typeface="Arial"/>
              </a:rPr>
              <a:t>ClusterIP is internal-only (service-to-service). NodePort opens a port on every node for outside access. In the cloud, LoadBalancer fronts NodePort with a real external IP.</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115</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17  ·  TEST IT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Services — ClusterIP &amp; NodePort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10698480" cy="2560320"/>
          </a:xfrm>
          <a:prstGeom prst="roundRect">
            <a:avLst>
              <a:gd name="adj" fmla="val 5000"/>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200" b="1">
                <a:solidFill>
                  <a:srgbClr val="127A3E"/>
                </a:solidFill>
                <a:latin typeface="Arial"/>
              </a:rPr>
              <a:t>✅  Test it</a:t>
            </a:r>
          </a:p>
        </p:txBody>
      </p:sp>
      <p:sp>
        <p:nvSpPr>
          <p:cNvPr id="9" name="TextBox 8"/>
          <p:cNvSpPr txBox="1"/>
          <p:nvPr/>
        </p:nvSpPr>
        <p:spPr>
          <a:xfrm>
            <a:off x="1097280" y="3017520"/>
            <a:ext cx="10149840" cy="146304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kubectl get endpoints taskboard lists 2 Pod IPs behind the Service, and the NodePort Service shows a port in the 30000–32767 range.</a:t>
            </a:r>
          </a:p>
        </p:txBody>
      </p:sp>
      <p:sp>
        <p:nvSpPr>
          <p:cNvPr id="10" name="TextBox 9"/>
          <p:cNvSpPr txBox="1"/>
          <p:nvPr/>
        </p:nvSpPr>
        <p:spPr>
          <a:xfrm>
            <a:off x="777240" y="4983480"/>
            <a:ext cx="10698480" cy="365760"/>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KillerCoda:  </a:t>
            </a:r>
            <a:r>
              <a:rPr sz="1300" b="0">
                <a:solidFill>
                  <a:srgbClr val="5B6372"/>
                </a:solidFill>
                <a:latin typeface="Arial"/>
              </a:rPr>
              <a:t>https://killercoda.com/tertiary-labs/course/killercoda/day2-04-k8s-services</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116</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F6FEB"/>
                </a:solidFill>
                <a:latin typeface="Arial"/>
              </a:rPr>
              <a:t>TOPIC 11</a:t>
            </a:r>
          </a:p>
        </p:txBody>
      </p:sp>
      <p:sp>
        <p:nvSpPr>
          <p:cNvPr id="6" name="TextBox 5"/>
          <p:cNvSpPr txBox="1"/>
          <p:nvPr/>
        </p:nvSpPr>
        <p:spPr>
          <a:xfrm>
            <a:off x="1143000" y="2743200"/>
            <a:ext cx="10424160" cy="1463040"/>
          </a:xfrm>
          <a:prstGeom prst="rect">
            <a:avLst/>
          </a:prstGeom>
          <a:noFill/>
        </p:spPr>
        <p:txBody>
          <a:bodyPr wrap="square" anchor="t" lIns="0" rIns="0" tIns="0" bIns="0">
            <a:spAutoFit/>
          </a:bodyPr>
          <a:lstStyle/>
          <a:p>
            <a:pPr algn="l">
              <a:spcBef>
                <a:spcPts val="0"/>
              </a:spcBef>
              <a:spcAft>
                <a:spcPts val="400"/>
              </a:spcAft>
            </a:pPr>
            <a:r>
              <a:rPr sz="4000" b="1">
                <a:solidFill>
                  <a:srgbClr val="161B26"/>
                </a:solidFill>
                <a:latin typeface="Arial"/>
              </a:rPr>
              <a:t>Storage, Jobs &amp; CronJobs</a:t>
            </a:r>
          </a:p>
        </p:txBody>
      </p:sp>
      <p:sp>
        <p:nvSpPr>
          <p:cNvPr id="7" name="TextBox 6"/>
          <p:cNvSpPr txBox="1"/>
          <p:nvPr/>
        </p:nvSpPr>
        <p:spPr>
          <a:xfrm>
            <a:off x="1161288" y="4114800"/>
            <a:ext cx="10058400" cy="731520"/>
          </a:xfrm>
          <a:prstGeom prst="rect">
            <a:avLst/>
          </a:prstGeom>
          <a:noFill/>
        </p:spPr>
        <p:txBody>
          <a:bodyPr wrap="square" anchor="t" lIns="0" rIns="0" tIns="0" bIns="0">
            <a:spAutoFit/>
          </a:bodyPr>
          <a:lstStyle/>
          <a:p>
            <a:pPr algn="l">
              <a:spcBef>
                <a:spcPts val="0"/>
              </a:spcBef>
              <a:spcAft>
                <a:spcPts val="400"/>
              </a:spcAft>
            </a:pPr>
            <a:r>
              <a:rPr sz="1600" b="0">
                <a:solidFill>
                  <a:srgbClr val="5B6372"/>
                </a:solidFill>
                <a:latin typeface="Arial"/>
              </a:rPr>
              <a:t>Persist data &amp; run batch work</a:t>
            </a:r>
          </a:p>
        </p:txBody>
      </p:sp>
      <p:sp>
        <p:nvSpPr>
          <p:cNvPr id="8" name="TextBox 7"/>
          <p:cNvSpPr txBox="1"/>
          <p:nvPr/>
        </p:nvSpPr>
        <p:spPr>
          <a:xfrm>
            <a:off x="9418320" y="640080"/>
            <a:ext cx="2286000" cy="1463040"/>
          </a:xfrm>
          <a:prstGeom prst="rect">
            <a:avLst/>
          </a:prstGeom>
          <a:noFill/>
        </p:spPr>
        <p:txBody>
          <a:bodyPr wrap="square" anchor="t" lIns="0" rIns="0" tIns="0" bIns="0">
            <a:spAutoFit/>
          </a:bodyPr>
          <a:lstStyle/>
          <a:p>
            <a:pPr algn="r">
              <a:spcBef>
                <a:spcPts val="0"/>
              </a:spcBef>
              <a:spcAft>
                <a:spcPts val="400"/>
              </a:spcAft>
            </a:pPr>
            <a:r>
              <a:rPr sz="7200" b="1">
                <a:solidFill>
                  <a:srgbClr val="E2E8F0"/>
                </a:solidFill>
                <a:latin typeface="Arial"/>
              </a:rPr>
              <a:t/>
            </a:r>
          </a:p>
        </p:txBody>
      </p:sp>
      <p:sp>
        <p:nvSpPr>
          <p:cNvPr id="9" name="TextBox 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117</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PERSIST &amp; SCHEDULE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Storage &amp; Batch Workloads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1900" b="1">
                <a:solidFill>
                  <a:srgbClr val="1F6FEB"/>
                </a:solidFill>
                <a:latin typeface="Arial"/>
              </a:rPr>
              <a:t>•  </a:t>
            </a:r>
            <a:r>
              <a:rPr sz="1900">
                <a:solidFill>
                  <a:srgbClr val="161B26"/>
                </a:solidFill>
                <a:latin typeface="Arial"/>
              </a:rPr>
              <a:t>emptyDir — scratch storage shared by containers in a Pod (lost with the Pod).</a:t>
            </a:r>
          </a:p>
          <a:p>
            <a:pPr>
              <a:spcBef>
                <a:spcPts val="0"/>
              </a:spcBef>
              <a:spcAft>
                <a:spcPts val="1000"/>
              </a:spcAft>
            </a:pPr>
            <a:r>
              <a:rPr sz="1900" b="1">
                <a:solidFill>
                  <a:srgbClr val="1F6FEB"/>
                </a:solidFill>
                <a:latin typeface="Arial"/>
              </a:rPr>
              <a:t>•  </a:t>
            </a:r>
            <a:r>
              <a:rPr sz="1900">
                <a:solidFill>
                  <a:srgbClr val="161B26"/>
                </a:solidFill>
                <a:latin typeface="Arial"/>
              </a:rPr>
              <a:t>PersistentVolume (PV) + PersistentVolumeClaim (PVC) — durable storage that outlives Pods.</a:t>
            </a:r>
          </a:p>
          <a:p>
            <a:pPr>
              <a:spcBef>
                <a:spcPts val="0"/>
              </a:spcBef>
              <a:spcAft>
                <a:spcPts val="1000"/>
              </a:spcAft>
            </a:pPr>
            <a:r>
              <a:rPr sz="1900" b="1">
                <a:solidFill>
                  <a:srgbClr val="1F6FEB"/>
                </a:solidFill>
                <a:latin typeface="Arial"/>
              </a:rPr>
              <a:t>•  </a:t>
            </a:r>
            <a:r>
              <a:rPr sz="1900">
                <a:solidFill>
                  <a:srgbClr val="161B26"/>
                </a:solidFill>
                <a:latin typeface="Arial"/>
              </a:rPr>
              <a:t>A Job runs Pods to completion (e.g. a report); it doesn't restart on success.</a:t>
            </a:r>
          </a:p>
          <a:p>
            <a:pPr>
              <a:spcBef>
                <a:spcPts val="0"/>
              </a:spcBef>
              <a:spcAft>
                <a:spcPts val="1000"/>
              </a:spcAft>
            </a:pPr>
            <a:r>
              <a:rPr sz="1900" b="1">
                <a:solidFill>
                  <a:srgbClr val="1F6FEB"/>
                </a:solidFill>
                <a:latin typeface="Arial"/>
              </a:rPr>
              <a:t>•  </a:t>
            </a:r>
            <a:r>
              <a:rPr sz="1900">
                <a:solidFill>
                  <a:srgbClr val="161B26"/>
                </a:solidFill>
                <a:latin typeface="Arial"/>
              </a:rPr>
              <a:t>A CronJob runs Jobs on a schedule (standard cron syntax).</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118</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DAY 2 · STORAGE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Kubernetes Storage — emptyDir, PV &amp; PVC</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69164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69164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LAB 18</a:t>
            </a:r>
          </a:p>
        </p:txBody>
      </p:sp>
      <p:sp>
        <p:nvSpPr>
          <p:cNvPr id="9" name="TextBox 8"/>
          <p:cNvSpPr txBox="1"/>
          <p:nvPr/>
        </p:nvSpPr>
        <p:spPr>
          <a:xfrm>
            <a:off x="2697480" y="1691640"/>
            <a:ext cx="8778240" cy="411480"/>
          </a:xfrm>
          <a:prstGeom prst="rect">
            <a:avLst/>
          </a:prstGeom>
          <a:noFill/>
        </p:spPr>
        <p:txBody>
          <a:bodyPr wrap="square" anchor="ctr" lIns="0" rIns="0" tIns="0" bIns="0">
            <a:spAutoFit/>
          </a:bodyPr>
          <a:lstStyle/>
          <a:p>
            <a:pPr algn="l">
              <a:spcBef>
                <a:spcPts val="0"/>
              </a:spcBef>
              <a:spcAft>
                <a:spcPts val="400"/>
              </a:spcAft>
            </a:pPr>
            <a:r>
              <a:rPr sz="1400" b="1">
                <a:solidFill>
                  <a:srgbClr val="5B6372"/>
                </a:solidFill>
                <a:latin typeface="Arial"/>
              </a:rPr>
              <a:t>Storage</a:t>
            </a:r>
          </a:p>
        </p:txBody>
      </p:sp>
      <p:sp>
        <p:nvSpPr>
          <p:cNvPr id="10" name="TextBox 9"/>
          <p:cNvSpPr txBox="1"/>
          <p:nvPr/>
        </p:nvSpPr>
        <p:spPr>
          <a:xfrm>
            <a:off x="777240" y="2286000"/>
            <a:ext cx="10698480" cy="1554480"/>
          </a:xfrm>
          <a:prstGeom prst="rect">
            <a:avLst/>
          </a:prstGeom>
          <a:noFill/>
        </p:spPr>
        <p:txBody>
          <a:bodyPr wrap="square" anchor="t" lIns="0" rIns="0" tIns="0" bIns="0">
            <a:spAutoFit/>
          </a:bodyPr>
          <a:lstStyle/>
          <a:p>
            <a:pPr algn="l">
              <a:spcBef>
                <a:spcPts val="0"/>
              </a:spcBef>
              <a:spcAft>
                <a:spcPts val="400"/>
              </a:spcAft>
            </a:pPr>
            <a:r>
              <a:rPr sz="1900" b="0">
                <a:solidFill>
                  <a:srgbClr val="161B26"/>
                </a:solidFill>
                <a:latin typeface="Arial"/>
              </a:rPr>
              <a:t>Persist data in Kubernetes. You'll share a scratch directory between two containers with emptyDir, then provision durable storage with a PersistentVolume and claim it with a PersistentVolumeClaim so data survives Pod deletion.</a:t>
            </a:r>
          </a:p>
        </p:txBody>
      </p:sp>
      <p:sp>
        <p:nvSpPr>
          <p:cNvPr id="11" name="Rounded Rectangle 10"/>
          <p:cNvSpPr/>
          <p:nvPr/>
        </p:nvSpPr>
        <p:spPr>
          <a:xfrm>
            <a:off x="777240" y="4069080"/>
            <a:ext cx="10698480" cy="178308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25196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3" name="TextBox 12"/>
          <p:cNvSpPr txBox="1"/>
          <p:nvPr/>
        </p:nvSpPr>
        <p:spPr>
          <a:xfrm>
            <a:off x="1005840" y="4617720"/>
            <a:ext cx="10241280" cy="640080"/>
          </a:xfrm>
          <a:prstGeom prst="rect">
            <a:avLst/>
          </a:prstGeom>
          <a:noFill/>
        </p:spPr>
        <p:txBody>
          <a:bodyPr wrap="square" anchor="t" lIns="0" rIns="0" tIns="0" bIns="0">
            <a:spAutoFit/>
          </a:bodyPr>
          <a:lstStyle/>
          <a:p>
            <a:pPr algn="l">
              <a:spcBef>
                <a:spcPts val="0"/>
              </a:spcBef>
              <a:spcAft>
                <a:spcPts val="400"/>
              </a:spcAft>
            </a:pPr>
            <a:r>
              <a:rPr sz="1700" b="1">
                <a:solidFill>
                  <a:srgbClr val="161B26"/>
                </a:solidFill>
                <a:latin typeface="Arial"/>
              </a:rPr>
              <a:t>Share data with emptyDir; provision durable storage with a PV + PVC.</a:t>
            </a:r>
          </a:p>
        </p:txBody>
      </p:sp>
      <p:sp>
        <p:nvSpPr>
          <p:cNvPr id="14" name="TextBox 13"/>
          <p:cNvSpPr txBox="1"/>
          <p:nvPr/>
        </p:nvSpPr>
        <p:spPr>
          <a:xfrm>
            <a:off x="1005840" y="53492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commands:  </a:t>
            </a:r>
            <a:r>
              <a:rPr sz="1300" b="0">
                <a:solidFill>
                  <a:srgbClr val="5B6372"/>
                </a:solidFill>
                <a:latin typeface="Arial"/>
              </a:rPr>
              <a:t>apiVersion: v1 · kubectl apply · » This</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119</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18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Kubernetes Storage — emptyDir, PV &amp; PVC</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Part A — emptyDir (shared, temporary)</a:t>
            </a:r>
          </a:p>
        </p:txBody>
      </p:sp>
      <p:sp>
        <p:nvSpPr>
          <p:cNvPr id="8" name="Rounded Rectangle 7"/>
          <p:cNvSpPr/>
          <p:nvPr/>
        </p:nvSpPr>
        <p:spPr>
          <a:xfrm>
            <a:off x="777240" y="2075688"/>
            <a:ext cx="10652760" cy="4082796"/>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40827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3991356"/>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apiVersion: v1</a:t>
            </a:r>
          </a:p>
          <a:p>
            <a:pPr>
              <a:spcBef>
                <a:spcPts val="0"/>
              </a:spcBef>
              <a:spcAft>
                <a:spcPts val="0"/>
              </a:spcAft>
            </a:pPr>
            <a:r>
              <a:rPr sz="1050">
                <a:solidFill>
                  <a:srgbClr val="161B26"/>
                </a:solidFill>
                <a:latin typeface="Consolas"/>
              </a:rPr>
              <a:t>kind: Pod</a:t>
            </a:r>
          </a:p>
          <a:p>
            <a:pPr>
              <a:spcBef>
                <a:spcPts val="0"/>
              </a:spcBef>
              <a:spcAft>
                <a:spcPts val="0"/>
              </a:spcAft>
            </a:pPr>
            <a:r>
              <a:rPr sz="1050">
                <a:solidFill>
                  <a:srgbClr val="161B26"/>
                </a:solidFill>
                <a:latin typeface="Consolas"/>
              </a:rPr>
              <a:t>metadata:</a:t>
            </a:r>
          </a:p>
          <a:p>
            <a:pPr>
              <a:spcBef>
                <a:spcPts val="0"/>
              </a:spcBef>
              <a:spcAft>
                <a:spcPts val="0"/>
              </a:spcAft>
            </a:pPr>
            <a:r>
              <a:rPr sz="1050">
                <a:solidFill>
                  <a:srgbClr val="161B26"/>
                </a:solidFill>
                <a:latin typeface="Consolas"/>
              </a:rPr>
              <a:t>  name: shared-pod</a:t>
            </a:r>
          </a:p>
          <a:p>
            <a:pPr>
              <a:spcBef>
                <a:spcPts val="0"/>
              </a:spcBef>
              <a:spcAft>
                <a:spcPts val="0"/>
              </a:spcAft>
            </a:pPr>
            <a:r>
              <a:rPr sz="1050">
                <a:solidFill>
                  <a:srgbClr val="161B26"/>
                </a:solidFill>
                <a:latin typeface="Consolas"/>
              </a:rPr>
              <a:t>spec:</a:t>
            </a:r>
          </a:p>
          <a:p>
            <a:pPr>
              <a:spcBef>
                <a:spcPts val="0"/>
              </a:spcBef>
              <a:spcAft>
                <a:spcPts val="0"/>
              </a:spcAft>
            </a:pPr>
            <a:r>
              <a:rPr sz="1050">
                <a:solidFill>
                  <a:srgbClr val="161B26"/>
                </a:solidFill>
                <a:latin typeface="Consolas"/>
              </a:rPr>
              <a:t>  containers:</a:t>
            </a:r>
          </a:p>
          <a:p>
            <a:pPr>
              <a:spcBef>
                <a:spcPts val="0"/>
              </a:spcBef>
              <a:spcAft>
                <a:spcPts val="0"/>
              </a:spcAft>
            </a:pPr>
            <a:r>
              <a:rPr sz="1050">
                <a:solidFill>
                  <a:srgbClr val="161B26"/>
                </a:solidFill>
                <a:latin typeface="Consolas"/>
              </a:rPr>
              <a:t>    - name: writer</a:t>
            </a:r>
          </a:p>
          <a:p>
            <a:pPr>
              <a:spcBef>
                <a:spcPts val="0"/>
              </a:spcBef>
              <a:spcAft>
                <a:spcPts val="0"/>
              </a:spcAft>
            </a:pPr>
            <a:r>
              <a:rPr sz="1050">
                <a:solidFill>
                  <a:srgbClr val="161B26"/>
                </a:solidFill>
                <a:latin typeface="Consolas"/>
              </a:rPr>
              <a:t>      image: busybox</a:t>
            </a:r>
          </a:p>
          <a:p>
            <a:pPr>
              <a:spcBef>
                <a:spcPts val="0"/>
              </a:spcBef>
              <a:spcAft>
                <a:spcPts val="0"/>
              </a:spcAft>
            </a:pPr>
            <a:r>
              <a:rPr sz="1050">
                <a:solidFill>
                  <a:srgbClr val="161B26"/>
                </a:solidFill>
                <a:latin typeface="Consolas"/>
              </a:rPr>
              <a:t>      command: ["sh", "-c", "echo 'hello from writer' &gt; /data/message.txt &amp;&amp; sleep 3600"]</a:t>
            </a:r>
          </a:p>
          <a:p>
            <a:pPr>
              <a:spcBef>
                <a:spcPts val="0"/>
              </a:spcBef>
              <a:spcAft>
                <a:spcPts val="0"/>
              </a:spcAft>
            </a:pPr>
            <a:r>
              <a:rPr sz="1050">
                <a:solidFill>
                  <a:srgbClr val="161B26"/>
                </a:solidFill>
                <a:latin typeface="Consolas"/>
              </a:rPr>
              <a:t>      volumeMounts:</a:t>
            </a:r>
          </a:p>
          <a:p>
            <a:pPr>
              <a:spcBef>
                <a:spcPts val="0"/>
              </a:spcBef>
              <a:spcAft>
                <a:spcPts val="0"/>
              </a:spcAft>
            </a:pPr>
            <a:r>
              <a:rPr sz="1050">
                <a:solidFill>
                  <a:srgbClr val="161B26"/>
                </a:solidFill>
                <a:latin typeface="Consolas"/>
              </a:rPr>
              <a:t>        - name: shared-data</a:t>
            </a:r>
          </a:p>
          <a:p>
            <a:pPr>
              <a:spcBef>
                <a:spcPts val="0"/>
              </a:spcBef>
              <a:spcAft>
                <a:spcPts val="0"/>
              </a:spcAft>
            </a:pPr>
            <a:r>
              <a:rPr sz="1050">
                <a:solidFill>
                  <a:srgbClr val="161B26"/>
                </a:solidFill>
                <a:latin typeface="Consolas"/>
              </a:rPr>
              <a:t>          mountPath: /data</a:t>
            </a:r>
          </a:p>
          <a:p>
            <a:pPr>
              <a:spcBef>
                <a:spcPts val="0"/>
              </a:spcBef>
              <a:spcAft>
                <a:spcPts val="0"/>
              </a:spcAft>
            </a:pPr>
            <a:r>
              <a:rPr sz="1050">
                <a:solidFill>
                  <a:srgbClr val="161B26"/>
                </a:solidFill>
                <a:latin typeface="Consolas"/>
              </a:rPr>
              <a:t>    - name: reader</a:t>
            </a:r>
          </a:p>
          <a:p>
            <a:pPr>
              <a:spcBef>
                <a:spcPts val="0"/>
              </a:spcBef>
              <a:spcAft>
                <a:spcPts val="0"/>
              </a:spcAft>
            </a:pPr>
            <a:r>
              <a:rPr sz="1050">
                <a:solidFill>
                  <a:srgbClr val="161B26"/>
                </a:solidFill>
                <a:latin typeface="Consolas"/>
              </a:rPr>
              <a:t>      image: busybox</a:t>
            </a:r>
          </a:p>
          <a:p>
            <a:pPr>
              <a:spcBef>
                <a:spcPts val="0"/>
              </a:spcBef>
              <a:spcAft>
                <a:spcPts val="0"/>
              </a:spcAft>
            </a:pPr>
            <a:r>
              <a:rPr sz="1050">
                <a:solidFill>
                  <a:srgbClr val="161B26"/>
                </a:solidFill>
                <a:latin typeface="Consolas"/>
              </a:rPr>
              <a:t>      command: ["sh", "-c", "sleep 5 &amp;&amp; cat /data/message.txt &amp;&amp; sleep 3600"]</a:t>
            </a:r>
          </a:p>
          <a:p>
            <a:pPr>
              <a:spcBef>
                <a:spcPts val="0"/>
              </a:spcBef>
              <a:spcAft>
                <a:spcPts val="0"/>
              </a:spcAft>
            </a:pPr>
            <a:r>
              <a:rPr sz="1050">
                <a:solidFill>
                  <a:srgbClr val="161B26"/>
                </a:solidFill>
                <a:latin typeface="Consolas"/>
              </a:rPr>
              <a:t>      volumeMounts:</a:t>
            </a:r>
          </a:p>
          <a:p>
            <a:pPr>
              <a:spcBef>
                <a:spcPts val="0"/>
              </a:spcBef>
              <a:spcAft>
                <a:spcPts val="0"/>
              </a:spcAft>
            </a:pPr>
            <a:r>
              <a:rPr sz="1050">
                <a:solidFill>
                  <a:srgbClr val="161B26"/>
                </a:solidFill>
                <a:latin typeface="Consolas"/>
              </a:rPr>
              <a:t>        - name: shared-data</a:t>
            </a:r>
          </a:p>
          <a:p>
            <a:pPr>
              <a:spcBef>
                <a:spcPts val="0"/>
              </a:spcBef>
              <a:spcAft>
                <a:spcPts val="0"/>
              </a:spcAft>
            </a:pPr>
            <a:r>
              <a:rPr sz="1050">
                <a:solidFill>
                  <a:srgbClr val="161B26"/>
                </a:solidFill>
                <a:latin typeface="Consolas"/>
              </a:rPr>
              <a:t>          mountPath: /data</a:t>
            </a:r>
          </a:p>
          <a:p>
            <a:pPr>
              <a:spcBef>
                <a:spcPts val="0"/>
              </a:spcBef>
              <a:spcAft>
                <a:spcPts val="0"/>
              </a:spcAft>
            </a:pPr>
            <a:r>
              <a:rPr sz="1050">
                <a:solidFill>
                  <a:srgbClr val="161B26"/>
                </a:solidFill>
                <a:latin typeface="Consolas"/>
              </a:rPr>
              <a:t>  volumes:</a:t>
            </a:r>
          </a:p>
          <a:p>
            <a:pPr>
              <a:spcBef>
                <a:spcPts val="0"/>
              </a:spcBef>
              <a:spcAft>
                <a:spcPts val="0"/>
              </a:spcAft>
            </a:pPr>
            <a:r>
              <a:rPr sz="1050">
                <a:solidFill>
                  <a:srgbClr val="161B26"/>
                </a:solidFill>
                <a:latin typeface="Consolas"/>
              </a:rPr>
              <a:t>    - name: shared-data</a:t>
            </a:r>
          </a:p>
          <a:p>
            <a:pPr>
              <a:spcBef>
                <a:spcPts val="0"/>
              </a:spcBef>
              <a:spcAft>
                <a:spcPts val="0"/>
              </a:spcAft>
            </a:pPr>
            <a:r>
              <a:rPr sz="1050">
                <a:solidFill>
                  <a:srgbClr val="161B26"/>
                </a:solidFill>
                <a:latin typeface="Consolas"/>
              </a:rPr>
              <a:t>      emptyDir: {}</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120</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18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Kubernetes Storage — emptyDir, PV &amp; PVC (cont.)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691640"/>
            <a:ext cx="10652760" cy="708660"/>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691640"/>
            <a:ext cx="82296" cy="7086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96696" y="1755648"/>
            <a:ext cx="10323576" cy="617220"/>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apply -f emptydir-pod.yaml</a:t>
            </a:r>
          </a:p>
          <a:p>
            <a:pPr>
              <a:spcBef>
                <a:spcPts val="0"/>
              </a:spcBef>
              <a:spcAft>
                <a:spcPts val="0"/>
              </a:spcAft>
            </a:pPr>
            <a:r>
              <a:rPr sz="1050">
                <a:solidFill>
                  <a:srgbClr val="161B26"/>
                </a:solidFill>
                <a:latin typeface="Consolas"/>
              </a:rPr>
              <a:t>kubectl exec shared-pod -c reader -- cat /data/message.txt</a:t>
            </a:r>
          </a:p>
          <a:p>
            <a:pPr>
              <a:spcBef>
                <a:spcPts val="0"/>
              </a:spcBef>
              <a:spcAft>
                <a:spcPts val="0"/>
              </a:spcAft>
            </a:pPr>
            <a:r>
              <a:rPr sz="1050">
                <a:solidFill>
                  <a:srgbClr val="161B26"/>
                </a:solidFill>
                <a:latin typeface="Consolas"/>
              </a:rPr>
              <a:t>kubectl delete pod shared-pod      # emptyDir data is gone</a:t>
            </a:r>
          </a:p>
        </p:txBody>
      </p:sp>
      <p:sp>
        <p:nvSpPr>
          <p:cNvPr id="10" name="TextBox 9"/>
          <p:cNvSpPr txBox="1"/>
          <p:nvPr/>
        </p:nvSpPr>
        <p:spPr>
          <a:xfrm>
            <a:off x="777240" y="258318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Part B — PersistentVolume &amp; Claim (durable)</a:t>
            </a:r>
          </a:p>
        </p:txBody>
      </p:sp>
      <p:sp>
        <p:nvSpPr>
          <p:cNvPr id="11" name="Rounded Rectangle 10"/>
          <p:cNvSpPr/>
          <p:nvPr/>
        </p:nvSpPr>
        <p:spPr>
          <a:xfrm>
            <a:off x="777240" y="2967228"/>
            <a:ext cx="10652760" cy="708660"/>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2967228"/>
            <a:ext cx="82296" cy="7086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031236"/>
            <a:ext cx="10323576" cy="617220"/>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apply -f pv.yaml</a:t>
            </a:r>
          </a:p>
          <a:p>
            <a:pPr>
              <a:spcBef>
                <a:spcPts val="0"/>
              </a:spcBef>
              <a:spcAft>
                <a:spcPts val="0"/>
              </a:spcAft>
            </a:pPr>
            <a:r>
              <a:rPr sz="1050">
                <a:solidFill>
                  <a:srgbClr val="161B26"/>
                </a:solidFill>
                <a:latin typeface="Consolas"/>
              </a:rPr>
              <a:t>kubectl apply -f pvc.yaml</a:t>
            </a:r>
          </a:p>
          <a:p>
            <a:pPr>
              <a:spcBef>
                <a:spcPts val="0"/>
              </a:spcBef>
              <a:spcAft>
                <a:spcPts val="0"/>
              </a:spcAft>
            </a:pPr>
            <a:r>
              <a:rPr sz="1050">
                <a:solidFill>
                  <a:srgbClr val="161B26"/>
                </a:solidFill>
                <a:latin typeface="Consolas"/>
              </a:rPr>
              <a:t>kubectl get pv,pvc                 # both should show Bound</a:t>
            </a:r>
          </a:p>
        </p:txBody>
      </p:sp>
      <p:sp>
        <p:nvSpPr>
          <p:cNvPr id="14" name="Rounded Rectangle 13"/>
          <p:cNvSpPr/>
          <p:nvPr/>
        </p:nvSpPr>
        <p:spPr>
          <a:xfrm>
            <a:off x="777240" y="3858768"/>
            <a:ext cx="10652760" cy="1458467"/>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858768"/>
            <a:ext cx="82296" cy="145846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96696" y="3922776"/>
            <a:ext cx="10323576" cy="1367027"/>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apply -f pod-with-pvc.yaml</a:t>
            </a:r>
          </a:p>
          <a:p>
            <a:pPr>
              <a:spcBef>
                <a:spcPts val="0"/>
              </a:spcBef>
              <a:spcAft>
                <a:spcPts val="0"/>
              </a:spcAft>
            </a:pPr>
            <a:r>
              <a:rPr sz="1050">
                <a:solidFill>
                  <a:srgbClr val="161B26"/>
                </a:solidFill>
                <a:latin typeface="Consolas"/>
              </a:rPr>
              <a:t>kubectl exec pvc-pod -- cat /data/file.txt</a:t>
            </a:r>
          </a:p>
          <a:p>
            <a:pPr>
              <a:spcBef>
                <a:spcPts val="0"/>
              </a:spcBef>
              <a:spcAft>
                <a:spcPts val="0"/>
              </a:spcAft>
            </a:pPr>
            <a:r>
              <a:rPr sz="1050">
                <a:solidFill>
                  <a:srgbClr val="161B26"/>
                </a:solidFill>
                <a:latin typeface="Consolas"/>
              </a:rPr>
              <a:t>kubectl delete pod pvc-pod</a:t>
            </a:r>
          </a:p>
          <a:p>
            <a:pPr>
              <a:spcBef>
                <a:spcPts val="0"/>
              </a:spcBef>
              <a:spcAft>
                <a:spcPts val="0"/>
              </a:spcAft>
            </a:pPr>
            <a:r>
              <a:rPr sz="1050">
                <a:solidFill>
                  <a:srgbClr val="161B26"/>
                </a:solidFill>
                <a:latin typeface="Consolas"/>
              </a:rPr>
              <a:t>kubectl apply -f pod-with-pvc.yaml # recreate...</a:t>
            </a:r>
          </a:p>
          <a:p>
            <a:pPr>
              <a:spcBef>
                <a:spcPts val="0"/>
              </a:spcBef>
              <a:spcAft>
                <a:spcPts val="0"/>
              </a:spcAft>
            </a:pPr>
            <a:r>
              <a:rPr sz="1050">
                <a:solidFill>
                  <a:srgbClr val="161B26"/>
                </a:solidFill>
                <a:latin typeface="Consolas"/>
              </a:rPr>
              <a:t>kubectl exec pvc-pod -- cat /data/file.txt   # ...data is still there</a:t>
            </a:r>
          </a:p>
          <a:p>
            <a:pPr>
              <a:spcBef>
                <a:spcPts val="0"/>
              </a:spcBef>
              <a:spcAft>
                <a:spcPts val="0"/>
              </a:spcAft>
            </a:pPr>
            <a:r>
              <a:rPr sz="1050">
                <a:solidFill>
                  <a:srgbClr val="161B26"/>
                </a:solidFill>
                <a:latin typeface="Consolas"/>
              </a:rPr>
              <a:t>kubectl delete pod pvc-pod</a:t>
            </a:r>
          </a:p>
          <a:p>
            <a:pPr>
              <a:spcBef>
                <a:spcPts val="0"/>
              </a:spcBef>
              <a:spcAft>
                <a:spcPts val="0"/>
              </a:spcAft>
            </a:pPr>
            <a:r>
              <a:rPr sz="1050">
                <a:solidFill>
                  <a:srgbClr val="161B26"/>
                </a:solidFill>
                <a:latin typeface="Consolas"/>
              </a:rPr>
              <a:t>kubectl delete -f pvc.yaml -f pv.yaml</a:t>
            </a:r>
          </a:p>
        </p:txBody>
      </p:sp>
      <p:sp>
        <p:nvSpPr>
          <p:cNvPr id="17" name="TextBox 16"/>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8" name="TextBox 17"/>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9" name="TextBox 18"/>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121</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18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Kubernetes Storage — emptyDir, PV &amp; PVC (cont.)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52760"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Note   </a:t>
            </a:r>
            <a:r>
              <a:rPr sz="1300" b="0">
                <a:solidFill>
                  <a:srgbClr val="5B6372"/>
                </a:solidFill>
                <a:latin typeface="Arial"/>
              </a:rPr>
              <a:t>This PV/PVC pattern is how a real TaskBoard Postgres database keeps its data in Kubernetes — storage outlives any individual Pod.</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122</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18  ·  TEST IT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Kubernetes Storage — emptyDir, PV &amp; PVC</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10698480" cy="2560320"/>
          </a:xfrm>
          <a:prstGeom prst="roundRect">
            <a:avLst>
              <a:gd name="adj" fmla="val 5000"/>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200" b="1">
                <a:solidFill>
                  <a:srgbClr val="127A3E"/>
                </a:solidFill>
                <a:latin typeface="Arial"/>
              </a:rPr>
              <a:t>✅  Test it</a:t>
            </a:r>
          </a:p>
        </p:txBody>
      </p:sp>
      <p:sp>
        <p:nvSpPr>
          <p:cNvPr id="9" name="TextBox 8"/>
          <p:cNvSpPr txBox="1"/>
          <p:nvPr/>
        </p:nvSpPr>
        <p:spPr>
          <a:xfrm>
            <a:off x="1097280" y="3017520"/>
            <a:ext cx="10149840" cy="146304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After deleting and recreating pvc-pod, kubectl exec pvc-pod -- cat /data/file.txt still prints persistent data — the PVC kept it across Pod deletion.</a:t>
            </a:r>
          </a:p>
        </p:txBody>
      </p:sp>
      <p:sp>
        <p:nvSpPr>
          <p:cNvPr id="10" name="TextBox 9"/>
          <p:cNvSpPr txBox="1"/>
          <p:nvPr/>
        </p:nvSpPr>
        <p:spPr>
          <a:xfrm>
            <a:off x="777240" y="4983480"/>
            <a:ext cx="10698480" cy="365760"/>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KillerCoda:  </a:t>
            </a:r>
            <a:r>
              <a:rPr sz="1300" b="0">
                <a:solidFill>
                  <a:srgbClr val="5B6372"/>
                </a:solidFill>
                <a:latin typeface="Arial"/>
              </a:rPr>
              <a:t>https://killercoda.com/tertiary-labs/course/killercoda/day2-05-k8s-storage-jobs</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123</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DAY 2 · JOBS &amp; CRONJOBS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Jobs &amp; CronJobs — Batch and Scheduled Tasks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69164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69164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LAB 19</a:t>
            </a:r>
          </a:p>
        </p:txBody>
      </p:sp>
      <p:sp>
        <p:nvSpPr>
          <p:cNvPr id="9" name="TextBox 8"/>
          <p:cNvSpPr txBox="1"/>
          <p:nvPr/>
        </p:nvSpPr>
        <p:spPr>
          <a:xfrm>
            <a:off x="2697480" y="1691640"/>
            <a:ext cx="8778240" cy="411480"/>
          </a:xfrm>
          <a:prstGeom prst="rect">
            <a:avLst/>
          </a:prstGeom>
          <a:noFill/>
        </p:spPr>
        <p:txBody>
          <a:bodyPr wrap="square" anchor="ctr" lIns="0" rIns="0" tIns="0" bIns="0">
            <a:spAutoFit/>
          </a:bodyPr>
          <a:lstStyle/>
          <a:p>
            <a:pPr algn="l">
              <a:spcBef>
                <a:spcPts val="0"/>
              </a:spcBef>
              <a:spcAft>
                <a:spcPts val="400"/>
              </a:spcAft>
            </a:pPr>
            <a:r>
              <a:rPr sz="1400" b="1">
                <a:solidFill>
                  <a:srgbClr val="5B6372"/>
                </a:solidFill>
                <a:latin typeface="Arial"/>
              </a:rPr>
              <a:t>Jobs &amp; CronJobs</a:t>
            </a:r>
          </a:p>
        </p:txBody>
      </p:sp>
      <p:sp>
        <p:nvSpPr>
          <p:cNvPr id="10" name="TextBox 9"/>
          <p:cNvSpPr txBox="1"/>
          <p:nvPr/>
        </p:nvSpPr>
        <p:spPr>
          <a:xfrm>
            <a:off x="777240" y="2286000"/>
            <a:ext cx="10698480" cy="1554480"/>
          </a:xfrm>
          <a:prstGeom prst="rect">
            <a:avLst/>
          </a:prstGeom>
          <a:noFill/>
        </p:spPr>
        <p:txBody>
          <a:bodyPr wrap="square" anchor="t" lIns="0" rIns="0" tIns="0" bIns="0">
            <a:spAutoFit/>
          </a:bodyPr>
          <a:lstStyle/>
          <a:p>
            <a:pPr algn="l">
              <a:spcBef>
                <a:spcPts val="0"/>
              </a:spcBef>
              <a:spcAft>
                <a:spcPts val="400"/>
              </a:spcAft>
            </a:pPr>
            <a:r>
              <a:rPr sz="1900" b="0">
                <a:solidFill>
                  <a:srgbClr val="161B26"/>
                </a:solidFill>
                <a:latin typeface="Arial"/>
              </a:rPr>
              <a:t>Run work that finishes (unlike a web server that runs forever). A Job runs Pods to completion — perfect for a TaskBoard report — and a CronJob runs Jobs on a schedule, perfect for a nightly cleanup.</a:t>
            </a:r>
          </a:p>
        </p:txBody>
      </p:sp>
      <p:sp>
        <p:nvSpPr>
          <p:cNvPr id="11" name="Rounded Rectangle 10"/>
          <p:cNvSpPr/>
          <p:nvPr/>
        </p:nvSpPr>
        <p:spPr>
          <a:xfrm>
            <a:off x="777240" y="4069080"/>
            <a:ext cx="10698480" cy="178308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25196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3" name="TextBox 12"/>
          <p:cNvSpPr txBox="1"/>
          <p:nvPr/>
        </p:nvSpPr>
        <p:spPr>
          <a:xfrm>
            <a:off x="1005840" y="4617720"/>
            <a:ext cx="10241280" cy="640080"/>
          </a:xfrm>
          <a:prstGeom prst="rect">
            <a:avLst/>
          </a:prstGeom>
          <a:noFill/>
        </p:spPr>
        <p:txBody>
          <a:bodyPr wrap="square" anchor="t" lIns="0" rIns="0" tIns="0" bIns="0">
            <a:spAutoFit/>
          </a:bodyPr>
          <a:lstStyle/>
          <a:p>
            <a:pPr algn="l">
              <a:spcBef>
                <a:spcPts val="0"/>
              </a:spcBef>
              <a:spcAft>
                <a:spcPts val="400"/>
              </a:spcAft>
            </a:pPr>
            <a:r>
              <a:rPr sz="1700" b="1">
                <a:solidFill>
                  <a:srgbClr val="161B26"/>
                </a:solidFill>
                <a:latin typeface="Arial"/>
              </a:rPr>
              <a:t>Run a batch Job (report) to completion and a scheduled CronJob (cleanup).</a:t>
            </a:r>
          </a:p>
        </p:txBody>
      </p:sp>
      <p:sp>
        <p:nvSpPr>
          <p:cNvPr id="14" name="TextBox 13"/>
          <p:cNvSpPr txBox="1"/>
          <p:nvPr/>
        </p:nvSpPr>
        <p:spPr>
          <a:xfrm>
            <a:off x="1005840" y="53492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commands:  </a:t>
            </a:r>
            <a:r>
              <a:rPr sz="1300" b="0">
                <a:solidFill>
                  <a:srgbClr val="5B6372"/>
                </a:solidFill>
                <a:latin typeface="Arial"/>
              </a:rPr>
              <a:t>kubectl create · apiVersion: batch/v1 · kubectl apply · » Jobs</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124</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19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Jobs &amp; CronJobs — Batch and Scheduled Tasks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Part A — Job (run to completion)</a:t>
            </a:r>
          </a:p>
        </p:txBody>
      </p:sp>
      <p:sp>
        <p:nvSpPr>
          <p:cNvPr id="8" name="Rounded Rectangle 7"/>
          <p:cNvSpPr/>
          <p:nvPr/>
        </p:nvSpPr>
        <p:spPr>
          <a:xfrm>
            <a:off x="777240" y="2075688"/>
            <a:ext cx="10652760" cy="896112"/>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804672"/>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create job hello --image=busybox -- echo 'Hello from a Job!'</a:t>
            </a:r>
          </a:p>
          <a:p>
            <a:pPr>
              <a:spcBef>
                <a:spcPts val="0"/>
              </a:spcBef>
              <a:spcAft>
                <a:spcPts val="0"/>
              </a:spcAft>
            </a:pPr>
            <a:r>
              <a:rPr sz="1050">
                <a:solidFill>
                  <a:srgbClr val="161B26"/>
                </a:solidFill>
                <a:latin typeface="Consolas"/>
              </a:rPr>
              <a:t>kubectl get jobs</a:t>
            </a:r>
          </a:p>
          <a:p>
            <a:pPr>
              <a:spcBef>
                <a:spcPts val="0"/>
              </a:spcBef>
              <a:spcAft>
                <a:spcPts val="0"/>
              </a:spcAft>
            </a:pPr>
            <a:r>
              <a:rPr sz="1050">
                <a:solidFill>
                  <a:srgbClr val="161B26"/>
                </a:solidFill>
                <a:latin typeface="Consolas"/>
              </a:rPr>
              <a:t>kubectl logs job/hello</a:t>
            </a:r>
          </a:p>
          <a:p>
            <a:pPr>
              <a:spcBef>
                <a:spcPts val="0"/>
              </a:spcBef>
              <a:spcAft>
                <a:spcPts val="0"/>
              </a:spcAft>
            </a:pPr>
            <a:r>
              <a:rPr sz="1050">
                <a:solidFill>
                  <a:srgbClr val="161B26"/>
                </a:solidFill>
                <a:latin typeface="Consolas"/>
              </a:rPr>
              <a:t>kubectl delete job hello</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125</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19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Jobs &amp; CronJobs — Batch and Scheduled Tasks (cont.)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Declarative — 3 completions, 2 running in parallel:</a:t>
            </a:r>
          </a:p>
        </p:txBody>
      </p:sp>
      <p:sp>
        <p:nvSpPr>
          <p:cNvPr id="8" name="Rounded Rectangle 7"/>
          <p:cNvSpPr/>
          <p:nvPr/>
        </p:nvSpPr>
        <p:spPr>
          <a:xfrm>
            <a:off x="777240" y="2075688"/>
            <a:ext cx="10652760" cy="2770632"/>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27706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2679192"/>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apiVersion: batch/v1</a:t>
            </a:r>
          </a:p>
          <a:p>
            <a:pPr>
              <a:spcBef>
                <a:spcPts val="0"/>
              </a:spcBef>
              <a:spcAft>
                <a:spcPts val="0"/>
              </a:spcAft>
            </a:pPr>
            <a:r>
              <a:rPr sz="1050">
                <a:solidFill>
                  <a:srgbClr val="161B26"/>
                </a:solidFill>
                <a:latin typeface="Consolas"/>
              </a:rPr>
              <a:t>kind: Job</a:t>
            </a:r>
          </a:p>
          <a:p>
            <a:pPr>
              <a:spcBef>
                <a:spcPts val="0"/>
              </a:spcBef>
              <a:spcAft>
                <a:spcPts val="0"/>
              </a:spcAft>
            </a:pPr>
            <a:r>
              <a:rPr sz="1050">
                <a:solidFill>
                  <a:srgbClr val="161B26"/>
                </a:solidFill>
                <a:latin typeface="Consolas"/>
              </a:rPr>
              <a:t>metadata:</a:t>
            </a:r>
          </a:p>
          <a:p>
            <a:pPr>
              <a:spcBef>
                <a:spcPts val="0"/>
              </a:spcBef>
              <a:spcAft>
                <a:spcPts val="0"/>
              </a:spcAft>
            </a:pPr>
            <a:r>
              <a:rPr sz="1050">
                <a:solidFill>
                  <a:srgbClr val="161B26"/>
                </a:solidFill>
                <a:latin typeface="Consolas"/>
              </a:rPr>
              <a:t>  name: taskboard-report</a:t>
            </a:r>
          </a:p>
          <a:p>
            <a:pPr>
              <a:spcBef>
                <a:spcPts val="0"/>
              </a:spcBef>
              <a:spcAft>
                <a:spcPts val="0"/>
              </a:spcAft>
            </a:pPr>
            <a:r>
              <a:rPr sz="1050">
                <a:solidFill>
                  <a:srgbClr val="161B26"/>
                </a:solidFill>
                <a:latin typeface="Consolas"/>
              </a:rPr>
              <a:t>spec:</a:t>
            </a:r>
          </a:p>
          <a:p>
            <a:pPr>
              <a:spcBef>
                <a:spcPts val="0"/>
              </a:spcBef>
              <a:spcAft>
                <a:spcPts val="0"/>
              </a:spcAft>
            </a:pPr>
            <a:r>
              <a:rPr sz="1050">
                <a:solidFill>
                  <a:srgbClr val="161B26"/>
                </a:solidFill>
                <a:latin typeface="Consolas"/>
              </a:rPr>
              <a:t>  completions: 3</a:t>
            </a:r>
          </a:p>
          <a:p>
            <a:pPr>
              <a:spcBef>
                <a:spcPts val="0"/>
              </a:spcBef>
              <a:spcAft>
                <a:spcPts val="0"/>
              </a:spcAft>
            </a:pPr>
            <a:r>
              <a:rPr sz="1050">
                <a:solidFill>
                  <a:srgbClr val="161B26"/>
                </a:solidFill>
                <a:latin typeface="Consolas"/>
              </a:rPr>
              <a:t>  parallelism: 2</a:t>
            </a:r>
          </a:p>
          <a:p>
            <a:pPr>
              <a:spcBef>
                <a:spcPts val="0"/>
              </a:spcBef>
              <a:spcAft>
                <a:spcPts val="0"/>
              </a:spcAft>
            </a:pPr>
            <a:r>
              <a:rPr sz="1050">
                <a:solidFill>
                  <a:srgbClr val="161B26"/>
                </a:solidFill>
                <a:latin typeface="Consolas"/>
              </a:rPr>
              <a:t>  template:</a:t>
            </a:r>
          </a:p>
          <a:p>
            <a:pPr>
              <a:spcBef>
                <a:spcPts val="0"/>
              </a:spcBef>
              <a:spcAft>
                <a:spcPts val="0"/>
              </a:spcAft>
            </a:pPr>
            <a:r>
              <a:rPr sz="1050">
                <a:solidFill>
                  <a:srgbClr val="161B26"/>
                </a:solidFill>
                <a:latin typeface="Consolas"/>
              </a:rPr>
              <a:t>    spec:</a:t>
            </a:r>
          </a:p>
          <a:p>
            <a:pPr>
              <a:spcBef>
                <a:spcPts val="0"/>
              </a:spcBef>
              <a:spcAft>
                <a:spcPts val="0"/>
              </a:spcAft>
            </a:pPr>
            <a:r>
              <a:rPr sz="1050">
                <a:solidFill>
                  <a:srgbClr val="161B26"/>
                </a:solidFill>
                <a:latin typeface="Consolas"/>
              </a:rPr>
              <a:t>      restartPolicy: Never</a:t>
            </a:r>
          </a:p>
          <a:p>
            <a:pPr>
              <a:spcBef>
                <a:spcPts val="0"/>
              </a:spcBef>
              <a:spcAft>
                <a:spcPts val="0"/>
              </a:spcAft>
            </a:pPr>
            <a:r>
              <a:rPr sz="1050">
                <a:solidFill>
                  <a:srgbClr val="161B26"/>
                </a:solidFill>
                <a:latin typeface="Consolas"/>
              </a:rPr>
              <a:t>      containers:</a:t>
            </a:r>
          </a:p>
          <a:p>
            <a:pPr>
              <a:spcBef>
                <a:spcPts val="0"/>
              </a:spcBef>
              <a:spcAft>
                <a:spcPts val="0"/>
              </a:spcAft>
            </a:pPr>
            <a:r>
              <a:rPr sz="1050">
                <a:solidFill>
                  <a:srgbClr val="161B26"/>
                </a:solidFill>
                <a:latin typeface="Consolas"/>
              </a:rPr>
              <a:t>        - name: report</a:t>
            </a:r>
          </a:p>
          <a:p>
            <a:pPr>
              <a:spcBef>
                <a:spcPts val="0"/>
              </a:spcBef>
              <a:spcAft>
                <a:spcPts val="0"/>
              </a:spcAft>
            </a:pPr>
            <a:r>
              <a:rPr sz="1050">
                <a:solidFill>
                  <a:srgbClr val="161B26"/>
                </a:solidFill>
                <a:latin typeface="Consolas"/>
              </a:rPr>
              <a:t>          image: busybox</a:t>
            </a:r>
          </a:p>
          <a:p>
            <a:pPr>
              <a:spcBef>
                <a:spcPts val="0"/>
              </a:spcBef>
              <a:spcAft>
                <a:spcPts val="0"/>
              </a:spcAft>
            </a:pPr>
            <a:r>
              <a:rPr sz="1050">
                <a:solidFill>
                  <a:srgbClr val="161B26"/>
                </a:solidFill>
                <a:latin typeface="Consolas"/>
              </a:rPr>
              <a:t>          command: ["sh", "-c", "echo 'Generating TaskBoard report...'; sleep 5; echo done"]</a:t>
            </a:r>
          </a:p>
        </p:txBody>
      </p:sp>
      <p:sp>
        <p:nvSpPr>
          <p:cNvPr id="11" name="Rounded Rectangle 10"/>
          <p:cNvSpPr/>
          <p:nvPr/>
        </p:nvSpPr>
        <p:spPr>
          <a:xfrm>
            <a:off x="777240" y="5029200"/>
            <a:ext cx="10652760" cy="896112"/>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5029200"/>
            <a:ext cx="82296"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5093208"/>
            <a:ext cx="10323576" cy="804672"/>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apply -f job.yaml</a:t>
            </a:r>
          </a:p>
          <a:p>
            <a:pPr>
              <a:spcBef>
                <a:spcPts val="0"/>
              </a:spcBef>
              <a:spcAft>
                <a:spcPts val="0"/>
              </a:spcAft>
            </a:pPr>
            <a:r>
              <a:rPr sz="1050">
                <a:solidFill>
                  <a:srgbClr val="161B26"/>
                </a:solidFill>
                <a:latin typeface="Consolas"/>
              </a:rPr>
              <a:t>kubectl get pods                 # up to 2 running at once</a:t>
            </a:r>
          </a:p>
          <a:p>
            <a:pPr>
              <a:spcBef>
                <a:spcPts val="0"/>
              </a:spcBef>
              <a:spcAft>
                <a:spcPts val="0"/>
              </a:spcAft>
            </a:pPr>
            <a:r>
              <a:rPr sz="1050">
                <a:solidFill>
                  <a:srgbClr val="161B26"/>
                </a:solidFill>
                <a:latin typeface="Consolas"/>
              </a:rPr>
              <a:t>kubectl get job taskboard-report # COMPLETIONS climbs to 3/3</a:t>
            </a:r>
          </a:p>
          <a:p>
            <a:pPr>
              <a:spcBef>
                <a:spcPts val="0"/>
              </a:spcBef>
              <a:spcAft>
                <a:spcPts val="0"/>
              </a:spcAft>
            </a:pPr>
            <a:r>
              <a:rPr sz="1050">
                <a:solidFill>
                  <a:srgbClr val="161B26"/>
                </a:solidFill>
                <a:latin typeface="Consolas"/>
              </a:rPr>
              <a:t>kubectl delete -f job.yaml</a:t>
            </a:r>
          </a:p>
        </p:txBody>
      </p:sp>
      <p:sp>
        <p:nvSpPr>
          <p:cNvPr id="14" name="TextBox 13"/>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5" name="TextBox 14"/>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6" name="TextBox 15"/>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126</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19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Jobs &amp; CronJobs — Batch and Scheduled Tasks (cont.)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Part B — CronJob (scheduled)</a:t>
            </a:r>
          </a:p>
        </p:txBody>
      </p:sp>
      <p:sp>
        <p:nvSpPr>
          <p:cNvPr id="8" name="Rounded Rectangle 7"/>
          <p:cNvSpPr/>
          <p:nvPr/>
        </p:nvSpPr>
        <p:spPr>
          <a:xfrm>
            <a:off x="777240" y="2075688"/>
            <a:ext cx="10652760" cy="2958084"/>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29580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2866644"/>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apiVersion: batch/v1</a:t>
            </a:r>
          </a:p>
          <a:p>
            <a:pPr>
              <a:spcBef>
                <a:spcPts val="0"/>
              </a:spcBef>
              <a:spcAft>
                <a:spcPts val="0"/>
              </a:spcAft>
            </a:pPr>
            <a:r>
              <a:rPr sz="1050">
                <a:solidFill>
                  <a:srgbClr val="161B26"/>
                </a:solidFill>
                <a:latin typeface="Consolas"/>
              </a:rPr>
              <a:t>kind: CronJob</a:t>
            </a:r>
          </a:p>
          <a:p>
            <a:pPr>
              <a:spcBef>
                <a:spcPts val="0"/>
              </a:spcBef>
              <a:spcAft>
                <a:spcPts val="0"/>
              </a:spcAft>
            </a:pPr>
            <a:r>
              <a:rPr sz="1050">
                <a:solidFill>
                  <a:srgbClr val="161B26"/>
                </a:solidFill>
                <a:latin typeface="Consolas"/>
              </a:rPr>
              <a:t>metadata:</a:t>
            </a:r>
          </a:p>
          <a:p>
            <a:pPr>
              <a:spcBef>
                <a:spcPts val="0"/>
              </a:spcBef>
              <a:spcAft>
                <a:spcPts val="0"/>
              </a:spcAft>
            </a:pPr>
            <a:r>
              <a:rPr sz="1050">
                <a:solidFill>
                  <a:srgbClr val="161B26"/>
                </a:solidFill>
                <a:latin typeface="Consolas"/>
              </a:rPr>
              <a:t>  name: taskboard-cleanup</a:t>
            </a:r>
          </a:p>
          <a:p>
            <a:pPr>
              <a:spcBef>
                <a:spcPts val="0"/>
              </a:spcBef>
              <a:spcAft>
                <a:spcPts val="0"/>
              </a:spcAft>
            </a:pPr>
            <a:r>
              <a:rPr sz="1050">
                <a:solidFill>
                  <a:srgbClr val="161B26"/>
                </a:solidFill>
                <a:latin typeface="Consolas"/>
              </a:rPr>
              <a:t>spec:</a:t>
            </a:r>
          </a:p>
          <a:p>
            <a:pPr>
              <a:spcBef>
                <a:spcPts val="0"/>
              </a:spcBef>
              <a:spcAft>
                <a:spcPts val="0"/>
              </a:spcAft>
            </a:pPr>
            <a:r>
              <a:rPr sz="1050">
                <a:solidFill>
                  <a:srgbClr val="161B26"/>
                </a:solidFill>
                <a:latin typeface="Consolas"/>
              </a:rPr>
              <a:t>  schedule: "*/1 * * * *"     # every minute (demo); real cleanup might be nightly</a:t>
            </a:r>
          </a:p>
          <a:p>
            <a:pPr>
              <a:spcBef>
                <a:spcPts val="0"/>
              </a:spcBef>
              <a:spcAft>
                <a:spcPts val="0"/>
              </a:spcAft>
            </a:pPr>
            <a:r>
              <a:rPr sz="1050">
                <a:solidFill>
                  <a:srgbClr val="161B26"/>
                </a:solidFill>
                <a:latin typeface="Consolas"/>
              </a:rPr>
              <a:t>  jobTemplate:</a:t>
            </a:r>
          </a:p>
          <a:p>
            <a:pPr>
              <a:spcBef>
                <a:spcPts val="0"/>
              </a:spcBef>
              <a:spcAft>
                <a:spcPts val="0"/>
              </a:spcAft>
            </a:pPr>
            <a:r>
              <a:rPr sz="1050">
                <a:solidFill>
                  <a:srgbClr val="161B26"/>
                </a:solidFill>
                <a:latin typeface="Consolas"/>
              </a:rPr>
              <a:t>    spec:</a:t>
            </a:r>
          </a:p>
          <a:p>
            <a:pPr>
              <a:spcBef>
                <a:spcPts val="0"/>
              </a:spcBef>
              <a:spcAft>
                <a:spcPts val="0"/>
              </a:spcAft>
            </a:pPr>
            <a:r>
              <a:rPr sz="1050">
                <a:solidFill>
                  <a:srgbClr val="161B26"/>
                </a:solidFill>
                <a:latin typeface="Consolas"/>
              </a:rPr>
              <a:t>      template:</a:t>
            </a:r>
          </a:p>
          <a:p>
            <a:pPr>
              <a:spcBef>
                <a:spcPts val="0"/>
              </a:spcBef>
              <a:spcAft>
                <a:spcPts val="0"/>
              </a:spcAft>
            </a:pPr>
            <a:r>
              <a:rPr sz="1050">
                <a:solidFill>
                  <a:srgbClr val="161B26"/>
                </a:solidFill>
                <a:latin typeface="Consolas"/>
              </a:rPr>
              <a:t>        spec:</a:t>
            </a:r>
          </a:p>
          <a:p>
            <a:pPr>
              <a:spcBef>
                <a:spcPts val="0"/>
              </a:spcBef>
              <a:spcAft>
                <a:spcPts val="0"/>
              </a:spcAft>
            </a:pPr>
            <a:r>
              <a:rPr sz="1050">
                <a:solidFill>
                  <a:srgbClr val="161B26"/>
                </a:solidFill>
                <a:latin typeface="Consolas"/>
              </a:rPr>
              <a:t>          restartPolicy: Never</a:t>
            </a:r>
          </a:p>
          <a:p>
            <a:pPr>
              <a:spcBef>
                <a:spcPts val="0"/>
              </a:spcBef>
              <a:spcAft>
                <a:spcPts val="0"/>
              </a:spcAft>
            </a:pPr>
            <a:r>
              <a:rPr sz="1050">
                <a:solidFill>
                  <a:srgbClr val="161B26"/>
                </a:solidFill>
                <a:latin typeface="Consolas"/>
              </a:rPr>
              <a:t>          containers:</a:t>
            </a:r>
          </a:p>
          <a:p>
            <a:pPr>
              <a:spcBef>
                <a:spcPts val="0"/>
              </a:spcBef>
              <a:spcAft>
                <a:spcPts val="0"/>
              </a:spcAft>
            </a:pPr>
            <a:r>
              <a:rPr sz="1050">
                <a:solidFill>
                  <a:srgbClr val="161B26"/>
                </a:solidFill>
                <a:latin typeface="Consolas"/>
              </a:rPr>
              <a:t>            - name: cleanup</a:t>
            </a:r>
          </a:p>
          <a:p>
            <a:pPr>
              <a:spcBef>
                <a:spcPts val="0"/>
              </a:spcBef>
              <a:spcAft>
                <a:spcPts val="0"/>
              </a:spcAft>
            </a:pPr>
            <a:r>
              <a:rPr sz="1050">
                <a:solidFill>
                  <a:srgbClr val="161B26"/>
                </a:solidFill>
                <a:latin typeface="Consolas"/>
              </a:rPr>
              <a:t>              image: busybox</a:t>
            </a:r>
          </a:p>
          <a:p>
            <a:pPr>
              <a:spcBef>
                <a:spcPts val="0"/>
              </a:spcBef>
              <a:spcAft>
                <a:spcPts val="0"/>
              </a:spcAft>
            </a:pPr>
            <a:r>
              <a:rPr sz="1050">
                <a:solidFill>
                  <a:srgbClr val="161B26"/>
                </a:solidFill>
                <a:latin typeface="Consolas"/>
              </a:rPr>
              <a:t>              command: ["sh", "-c", "echo 'Cleaning up old TaskBoard sessions...'; date"]</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127</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19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Jobs &amp; CronJobs — Batch and Scheduled Tasks (cont.)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691640"/>
            <a:ext cx="10652760" cy="1271016"/>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691640"/>
            <a:ext cx="82296" cy="127101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96696" y="1755648"/>
            <a:ext cx="10323576" cy="1179576"/>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apply -f cronjob.yaml</a:t>
            </a:r>
          </a:p>
          <a:p>
            <a:pPr>
              <a:spcBef>
                <a:spcPts val="0"/>
              </a:spcBef>
              <a:spcAft>
                <a:spcPts val="0"/>
              </a:spcAft>
            </a:pPr>
            <a:r>
              <a:rPr sz="1050">
                <a:solidFill>
                  <a:srgbClr val="161B26"/>
                </a:solidFill>
                <a:latin typeface="Consolas"/>
              </a:rPr>
              <a:t>kubectl get cronjob taskboard-cleanup</a:t>
            </a:r>
          </a:p>
          <a:p>
            <a:pPr>
              <a:spcBef>
                <a:spcPts val="0"/>
              </a:spcBef>
              <a:spcAft>
                <a:spcPts val="0"/>
              </a:spcAft>
            </a:pPr>
            <a:r>
              <a:rPr sz="1050">
                <a:solidFill>
                  <a:srgbClr val="161B26"/>
                </a:solidFill>
                <a:latin typeface="Consolas"/>
              </a:rPr>
              <a:t># wait ~1 minute for the first Job to be created:</a:t>
            </a:r>
          </a:p>
          <a:p>
            <a:pPr>
              <a:spcBef>
                <a:spcPts val="0"/>
              </a:spcBef>
              <a:spcAft>
                <a:spcPts val="0"/>
              </a:spcAft>
            </a:pPr>
            <a:r>
              <a:rPr sz="1050">
                <a:solidFill>
                  <a:srgbClr val="161B26"/>
                </a:solidFill>
                <a:latin typeface="Consolas"/>
              </a:rPr>
              <a:t>kubectl get jobs</a:t>
            </a:r>
          </a:p>
          <a:p>
            <a:pPr>
              <a:spcBef>
                <a:spcPts val="0"/>
              </a:spcBef>
              <a:spcAft>
                <a:spcPts val="0"/>
              </a:spcAft>
            </a:pPr>
            <a:r>
              <a:rPr sz="1050">
                <a:solidFill>
                  <a:srgbClr val="161B26"/>
                </a:solidFill>
                <a:latin typeface="Consolas"/>
              </a:rPr>
              <a:t>kubectl logs job/&lt;created-job-name&gt;</a:t>
            </a:r>
          </a:p>
          <a:p>
            <a:pPr>
              <a:spcBef>
                <a:spcPts val="0"/>
              </a:spcBef>
              <a:spcAft>
                <a:spcPts val="0"/>
              </a:spcAft>
            </a:pPr>
            <a:r>
              <a:rPr sz="1050">
                <a:solidFill>
                  <a:srgbClr val="161B26"/>
                </a:solidFill>
                <a:latin typeface="Consolas"/>
              </a:rPr>
              <a:t>kubectl delete -f cronjob.yaml</a:t>
            </a:r>
          </a:p>
        </p:txBody>
      </p:sp>
      <p:sp>
        <p:nvSpPr>
          <p:cNvPr id="10" name="TextBox 9"/>
          <p:cNvSpPr txBox="1"/>
          <p:nvPr/>
        </p:nvSpPr>
        <p:spPr>
          <a:xfrm>
            <a:off x="777240" y="3145536"/>
            <a:ext cx="10652760"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Note   </a:t>
            </a:r>
            <a:r>
              <a:rPr sz="1300" b="0">
                <a:solidFill>
                  <a:srgbClr val="5B6372"/>
                </a:solidFill>
                <a:latin typeface="Arial"/>
              </a:rPr>
              <a:t>Jobs use restartPolicy: Never and do not restart after success — unlike a Deployment, which keeps Pods running forever. CronJobs use standard cron syntax.</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128</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19  ·  TEST IT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Jobs &amp; CronJobs — Batch and Scheduled Tasks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10698480" cy="2560320"/>
          </a:xfrm>
          <a:prstGeom prst="roundRect">
            <a:avLst>
              <a:gd name="adj" fmla="val 5000"/>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200" b="1">
                <a:solidFill>
                  <a:srgbClr val="127A3E"/>
                </a:solidFill>
                <a:latin typeface="Arial"/>
              </a:rPr>
              <a:t>✅  Test it</a:t>
            </a:r>
          </a:p>
        </p:txBody>
      </p:sp>
      <p:sp>
        <p:nvSpPr>
          <p:cNvPr id="9" name="TextBox 8"/>
          <p:cNvSpPr txBox="1"/>
          <p:nvPr/>
        </p:nvSpPr>
        <p:spPr>
          <a:xfrm>
            <a:off x="1097280" y="3017520"/>
            <a:ext cx="10149840" cy="146304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kubectl get job taskboard-report reaches 3/3 completions, and after ~1 minute the CronJob has spawned at least one Job visible in kubectl get jobs.</a:t>
            </a:r>
          </a:p>
        </p:txBody>
      </p:sp>
      <p:sp>
        <p:nvSpPr>
          <p:cNvPr id="10" name="TextBox 9"/>
          <p:cNvSpPr txBox="1"/>
          <p:nvPr/>
        </p:nvSpPr>
        <p:spPr>
          <a:xfrm>
            <a:off x="777240" y="4983480"/>
            <a:ext cx="10698480" cy="365760"/>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KillerCoda:  </a:t>
            </a:r>
            <a:r>
              <a:rPr sz="1300" b="0">
                <a:solidFill>
                  <a:srgbClr val="5B6372"/>
                </a:solidFill>
                <a:latin typeface="Arial"/>
              </a:rPr>
              <a:t>https://killercoda.com/tertiary-labs/course/killercoda/day2-05-k8s-storage-jobs</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129</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F6FEB"/>
                </a:solidFill>
                <a:latin typeface="Arial"/>
              </a:rPr>
              <a:t>COURSE CLOSING</a:t>
            </a:r>
          </a:p>
        </p:txBody>
      </p:sp>
      <p:sp>
        <p:nvSpPr>
          <p:cNvPr id="6" name="TextBox 5"/>
          <p:cNvSpPr txBox="1"/>
          <p:nvPr/>
        </p:nvSpPr>
        <p:spPr>
          <a:xfrm>
            <a:off x="1143000" y="2743200"/>
            <a:ext cx="10424160" cy="1463040"/>
          </a:xfrm>
          <a:prstGeom prst="rect">
            <a:avLst/>
          </a:prstGeom>
          <a:noFill/>
        </p:spPr>
        <p:txBody>
          <a:bodyPr wrap="square" anchor="t" lIns="0" rIns="0" tIns="0" bIns="0">
            <a:spAutoFit/>
          </a:bodyPr>
          <a:lstStyle/>
          <a:p>
            <a:pPr algn="l">
              <a:spcBef>
                <a:spcPts val="0"/>
              </a:spcBef>
              <a:spcAft>
                <a:spcPts val="400"/>
              </a:spcAft>
            </a:pPr>
            <a:r>
              <a:rPr sz="4000" b="1">
                <a:solidFill>
                  <a:srgbClr val="161B26"/>
                </a:solidFill>
                <a:latin typeface="Arial"/>
              </a:rPr>
              <a:t>Assessment &amp; Wrap-up</a:t>
            </a:r>
          </a:p>
        </p:txBody>
      </p:sp>
      <p:sp>
        <p:nvSpPr>
          <p:cNvPr id="7" name="TextBox 6"/>
          <p:cNvSpPr txBox="1"/>
          <p:nvPr/>
        </p:nvSpPr>
        <p:spPr>
          <a:xfrm>
            <a:off x="9418320" y="640080"/>
            <a:ext cx="2286000" cy="1463040"/>
          </a:xfrm>
          <a:prstGeom prst="rect">
            <a:avLst/>
          </a:prstGeom>
          <a:noFill/>
        </p:spPr>
        <p:txBody>
          <a:bodyPr wrap="square" anchor="t" lIns="0" rIns="0" tIns="0" bIns="0">
            <a:spAutoFit/>
          </a:bodyPr>
          <a:lstStyle/>
          <a:p>
            <a:pPr algn="r">
              <a:spcBef>
                <a:spcPts val="0"/>
              </a:spcBef>
              <a:spcAft>
                <a:spcPts val="400"/>
              </a:spcAft>
            </a:pPr>
            <a:r>
              <a:rPr sz="7200" b="1">
                <a:solidFill>
                  <a:srgbClr val="E2E8F0"/>
                </a:solidFill>
                <a:latin typeface="Arial"/>
              </a:rPr>
              <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130</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FINAL ASSESSMENT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Assessment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83080"/>
            <a:ext cx="5257800" cy="365760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88136" y="2093976"/>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c_clip.png"/>
          <p:cNvPicPr>
            <a:picLocks noChangeAspect="1"/>
          </p:cNvPicPr>
          <p:nvPr/>
        </p:nvPicPr>
        <p:blipFill>
          <a:blip r:embed="rId2"/>
          <a:stretch>
            <a:fillRect/>
          </a:stretch>
        </p:blipFill>
        <p:spPr>
          <a:xfrm>
            <a:off x="1265895" y="2271735"/>
            <a:ext cx="302850" cy="302850"/>
          </a:xfrm>
          <a:prstGeom prst="rect">
            <a:avLst/>
          </a:prstGeom>
        </p:spPr>
      </p:pic>
      <p:sp>
        <p:nvSpPr>
          <p:cNvPr id="10" name="TextBox 9"/>
          <p:cNvSpPr txBox="1"/>
          <p:nvPr/>
        </p:nvSpPr>
        <p:spPr>
          <a:xfrm>
            <a:off x="1965960" y="2093976"/>
            <a:ext cx="3977640" cy="658368"/>
          </a:xfrm>
          <a:prstGeom prst="rect">
            <a:avLst/>
          </a:prstGeom>
          <a:noFill/>
        </p:spPr>
        <p:txBody>
          <a:bodyPr wrap="square" anchor="ctr" lIns="0" rIns="0" tIns="0" bIns="0">
            <a:spAutoFit/>
          </a:bodyPr>
          <a:lstStyle/>
          <a:p>
            <a:pPr algn="l">
              <a:spcBef>
                <a:spcPts val="0"/>
              </a:spcBef>
              <a:spcAft>
                <a:spcPts val="400"/>
              </a:spcAft>
            </a:pPr>
            <a:r>
              <a:rPr sz="1800" b="1">
                <a:solidFill>
                  <a:srgbClr val="161B26"/>
                </a:solidFill>
                <a:latin typeface="Arial"/>
              </a:rPr>
              <a:t>Final Assessment</a:t>
            </a:r>
          </a:p>
        </p:txBody>
      </p:sp>
      <p:sp>
        <p:nvSpPr>
          <p:cNvPr id="11" name="TextBox 10"/>
          <p:cNvSpPr txBox="1"/>
          <p:nvPr/>
        </p:nvSpPr>
        <p:spPr>
          <a:xfrm>
            <a:off x="1088136" y="3063240"/>
            <a:ext cx="4636008" cy="2194560"/>
          </a:xfrm>
          <a:prstGeom prst="rect">
            <a:avLst/>
          </a:prstGeom>
          <a:noFill/>
        </p:spPr>
        <p:txBody>
          <a:bodyPr wrap="square" lIns="0" rIns="0">
            <a:spAutoFit/>
          </a:bodyPr>
          <a:lstStyle/>
          <a:p>
            <a:pPr>
              <a:spcBef>
                <a:spcPts val="0"/>
              </a:spcBef>
              <a:spcAft>
                <a:spcPts val="1000"/>
              </a:spcAft>
            </a:pPr>
            <a:r>
              <a:rPr sz="1300" b="1">
                <a:solidFill>
                  <a:srgbClr val="1F6FEB"/>
                </a:solidFill>
                <a:latin typeface="Arial"/>
              </a:rPr>
              <a:t>•  </a:t>
            </a:r>
            <a:r>
              <a:rPr sz="1300">
                <a:solidFill>
                  <a:srgbClr val="161B26"/>
                </a:solidFill>
                <a:latin typeface="Arial"/>
              </a:rPr>
              <a:t>Written / MCQ assessment on the LMS</a:t>
            </a:r>
          </a:p>
          <a:p>
            <a:pPr>
              <a:spcBef>
                <a:spcPts val="0"/>
              </a:spcBef>
              <a:spcAft>
                <a:spcPts val="1000"/>
              </a:spcAft>
            </a:pPr>
            <a:r>
              <a:rPr sz="1300" b="1">
                <a:solidFill>
                  <a:srgbClr val="1F6FEB"/>
                </a:solidFill>
                <a:latin typeface="Arial"/>
              </a:rPr>
              <a:t>•  </a:t>
            </a:r>
            <a:r>
              <a:rPr sz="1300">
                <a:solidFill>
                  <a:srgbClr val="161B26"/>
                </a:solidFill>
                <a:latin typeface="Arial"/>
              </a:rPr>
              <a:t>Held on Day 2 from 4:00 PM</a:t>
            </a:r>
          </a:p>
          <a:p>
            <a:pPr>
              <a:spcBef>
                <a:spcPts val="0"/>
              </a:spcBef>
              <a:spcAft>
                <a:spcPts val="1000"/>
              </a:spcAft>
            </a:pPr>
            <a:r>
              <a:rPr sz="1300" b="1">
                <a:solidFill>
                  <a:srgbClr val="1F6FEB"/>
                </a:solidFill>
                <a:latin typeface="Arial"/>
              </a:rPr>
              <a:t>•  </a:t>
            </a:r>
            <a:r>
              <a:rPr sz="1300">
                <a:solidFill>
                  <a:srgbClr val="161B26"/>
                </a:solidFill>
                <a:latin typeface="Arial"/>
              </a:rPr>
              <a:t>Covers Docker &amp; Kubernetes concepts and the hands-on labs</a:t>
            </a:r>
          </a:p>
          <a:p>
            <a:pPr>
              <a:spcBef>
                <a:spcPts val="0"/>
              </a:spcBef>
              <a:spcAft>
                <a:spcPts val="1000"/>
              </a:spcAft>
            </a:pPr>
            <a:r>
              <a:rPr sz="1300" b="1">
                <a:solidFill>
                  <a:srgbClr val="1F6FEB"/>
                </a:solidFill>
                <a:latin typeface="Arial"/>
              </a:rPr>
              <a:t>•  </a:t>
            </a:r>
            <a:r>
              <a:rPr sz="1300">
                <a:solidFill>
                  <a:srgbClr val="161B26"/>
                </a:solidFill>
                <a:latin typeface="Arial"/>
              </a:rPr>
              <a:t>Open book — slides &amp; Learner Guide</a:t>
            </a:r>
          </a:p>
          <a:p>
            <a:pPr>
              <a:spcBef>
                <a:spcPts val="0"/>
              </a:spcBef>
              <a:spcAft>
                <a:spcPts val="1000"/>
              </a:spcAft>
            </a:pPr>
            <a:r>
              <a:rPr sz="1300" b="1">
                <a:solidFill>
                  <a:srgbClr val="1F6FEB"/>
                </a:solidFill>
                <a:latin typeface="Arial"/>
              </a:rPr>
              <a:t>•  </a:t>
            </a:r>
            <a:r>
              <a:rPr sz="1300">
                <a:solidFill>
                  <a:srgbClr val="161B26"/>
                </a:solidFill>
                <a:latin typeface="Arial"/>
              </a:rPr>
              <a:t>Must be attempted for SSG funding</a:t>
            </a:r>
          </a:p>
        </p:txBody>
      </p:sp>
      <p:sp>
        <p:nvSpPr>
          <p:cNvPr id="12" name="Rounded Rectangle 11"/>
          <p:cNvSpPr/>
          <p:nvPr/>
        </p:nvSpPr>
        <p:spPr>
          <a:xfrm>
            <a:off x="6309360" y="1783080"/>
            <a:ext cx="5257800" cy="3657600"/>
          </a:xfrm>
          <a:prstGeom prst="roundRect">
            <a:avLst>
              <a:gd name="adj" fmla="val 5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620256" y="2093976"/>
            <a:ext cx="658368" cy="658368"/>
          </a:xfrm>
          <a:prstGeom prst="ellipse">
            <a:avLst/>
          </a:prstGeom>
          <a:solidFill>
            <a:srgbClr val="0B4F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98080" y="2093976"/>
            <a:ext cx="3977640" cy="658368"/>
          </a:xfrm>
          <a:prstGeom prst="rect">
            <a:avLst/>
          </a:prstGeom>
          <a:noFill/>
        </p:spPr>
        <p:txBody>
          <a:bodyPr wrap="square" anchor="ctr" lIns="0" rIns="0" tIns="0" bIns="0">
            <a:spAutoFit/>
          </a:bodyPr>
          <a:lstStyle/>
          <a:p>
            <a:pPr algn="l">
              <a:spcBef>
                <a:spcPts val="0"/>
              </a:spcBef>
              <a:spcAft>
                <a:spcPts val="400"/>
              </a:spcAft>
            </a:pPr>
            <a:r>
              <a:rPr sz="1800" b="1">
                <a:solidFill>
                  <a:srgbClr val="FFFFFF"/>
                </a:solidFill>
                <a:latin typeface="Arial"/>
              </a:rPr>
              <a:t>Funding &amp; Competency</a:t>
            </a:r>
          </a:p>
        </p:txBody>
      </p:sp>
      <p:sp>
        <p:nvSpPr>
          <p:cNvPr id="15" name="TextBox 14"/>
          <p:cNvSpPr txBox="1"/>
          <p:nvPr/>
        </p:nvSpPr>
        <p:spPr>
          <a:xfrm>
            <a:off x="6620256" y="3108960"/>
            <a:ext cx="4636008" cy="1188720"/>
          </a:xfrm>
          <a:prstGeom prst="rect">
            <a:avLst/>
          </a:prstGeom>
          <a:noFill/>
        </p:spPr>
        <p:txBody>
          <a:bodyPr wrap="square" anchor="t" lIns="0" rIns="0" tIns="0" bIns="0">
            <a:spAutoFit/>
          </a:bodyPr>
          <a:lstStyle/>
          <a:p>
            <a:pPr algn="l">
              <a:spcBef>
                <a:spcPts val="0"/>
              </a:spcBef>
              <a:spcAft>
                <a:spcPts val="600"/>
              </a:spcAft>
            </a:pPr>
            <a:r>
              <a:rPr sz="1500" b="1">
                <a:solidFill>
                  <a:srgbClr val="FFFFFF"/>
                </a:solidFill>
                <a:latin typeface="Arial"/>
              </a:rPr>
              <a:t>Minimum 75% attendance</a:t>
            </a:r>
          </a:p>
          <a:p>
            <a:pPr algn="l">
              <a:spcBef>
                <a:spcPts val="0"/>
              </a:spcBef>
              <a:spcAft>
                <a:spcPts val="600"/>
              </a:spcAft>
            </a:pPr>
            <a:r>
              <a:rPr sz="1300" b="0">
                <a:solidFill>
                  <a:srgbClr val="CFE0FB"/>
                </a:solidFill>
                <a:latin typeface="Arial"/>
              </a:rPr>
              <a:t>Based on SSG digital attendance records.</a:t>
            </a:r>
          </a:p>
        </p:txBody>
      </p:sp>
      <p:sp>
        <p:nvSpPr>
          <p:cNvPr id="16" name="TextBox 15"/>
          <p:cNvSpPr txBox="1"/>
          <p:nvPr/>
        </p:nvSpPr>
        <p:spPr>
          <a:xfrm>
            <a:off x="6620256" y="4297680"/>
            <a:ext cx="4636008" cy="1188720"/>
          </a:xfrm>
          <a:prstGeom prst="rect">
            <a:avLst/>
          </a:prstGeom>
          <a:noFill/>
        </p:spPr>
        <p:txBody>
          <a:bodyPr wrap="square" anchor="t" lIns="0" rIns="0" tIns="0" bIns="0">
            <a:spAutoFit/>
          </a:bodyPr>
          <a:lstStyle/>
          <a:p>
            <a:pPr algn="l">
              <a:spcBef>
                <a:spcPts val="0"/>
              </a:spcBef>
              <a:spcAft>
                <a:spcPts val="600"/>
              </a:spcAft>
            </a:pPr>
            <a:r>
              <a:rPr sz="1500" b="1">
                <a:solidFill>
                  <a:srgbClr val="FFFFFF"/>
                </a:solidFill>
                <a:latin typeface="Arial"/>
              </a:rPr>
              <a:t>Assessed as Competent</a:t>
            </a:r>
          </a:p>
          <a:p>
            <a:pPr algn="l">
              <a:spcBef>
                <a:spcPts val="0"/>
              </a:spcBef>
              <a:spcAft>
                <a:spcPts val="600"/>
              </a:spcAft>
            </a:pPr>
            <a:r>
              <a:rPr sz="1300" b="0">
                <a:solidFill>
                  <a:srgbClr val="CFE0FB"/>
                </a:solidFill>
                <a:latin typeface="Arial"/>
              </a:rPr>
              <a:t>Pass the written / MCQ assessment.</a:t>
            </a:r>
          </a:p>
        </p:txBody>
      </p:sp>
      <p:sp>
        <p:nvSpPr>
          <p:cNvPr id="17" name="TextBox 16"/>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8" name="TextBox 17"/>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9" name="TextBox 18"/>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131</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ASSESSMENT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Assessment Flow</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463040"/>
            <a:ext cx="10607040" cy="310896"/>
          </a:xfrm>
          <a:prstGeom prst="rect">
            <a:avLst/>
          </a:prstGeom>
          <a:noFill/>
        </p:spPr>
        <p:txBody>
          <a:bodyPr wrap="square" anchor="t" lIns="0" rIns="0" tIns="0" bIns="0">
            <a:spAutoFit/>
          </a:bodyPr>
          <a:lstStyle/>
          <a:p>
            <a:pPr algn="l">
              <a:spcBef>
                <a:spcPts val="0"/>
              </a:spcBef>
              <a:spcAft>
                <a:spcPts val="400"/>
              </a:spcAft>
            </a:pPr>
            <a:r>
              <a:rPr sz="1500" b="0">
                <a:solidFill>
                  <a:srgbClr val="5B6372"/>
                </a:solidFill>
                <a:latin typeface="Arial"/>
              </a:rPr>
              <a:t>At the assessment stage, follow these five steps in order.</a:t>
            </a:r>
          </a:p>
        </p:txBody>
      </p:sp>
      <p:sp>
        <p:nvSpPr>
          <p:cNvPr id="8" name="Rounded Rectangle 7"/>
          <p:cNvSpPr/>
          <p:nvPr/>
        </p:nvSpPr>
        <p:spPr>
          <a:xfrm>
            <a:off x="777240" y="2148840"/>
            <a:ext cx="1837944" cy="246888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8740" y="2377440"/>
            <a:ext cx="694944" cy="6949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c_qr.png"/>
          <p:cNvPicPr>
            <a:picLocks noChangeAspect="1"/>
          </p:cNvPicPr>
          <p:nvPr/>
        </p:nvPicPr>
        <p:blipFill>
          <a:blip r:embed="rId2"/>
          <a:stretch>
            <a:fillRect/>
          </a:stretch>
        </p:blipFill>
        <p:spPr>
          <a:xfrm>
            <a:off x="1536374" y="2565074"/>
            <a:ext cx="319676" cy="319676"/>
          </a:xfrm>
          <a:prstGeom prst="rect">
            <a:avLst/>
          </a:prstGeom>
        </p:spPr>
      </p:pic>
      <p:sp>
        <p:nvSpPr>
          <p:cNvPr id="11" name="TextBox 10"/>
          <p:cNvSpPr txBox="1"/>
          <p:nvPr/>
        </p:nvSpPr>
        <p:spPr>
          <a:xfrm>
            <a:off x="868680" y="3200400"/>
            <a:ext cx="1655064" cy="274320"/>
          </a:xfrm>
          <a:prstGeom prst="rect">
            <a:avLst/>
          </a:prstGeom>
          <a:noFill/>
        </p:spPr>
        <p:txBody>
          <a:bodyPr wrap="square" anchor="t" lIns="0" rIns="0" tIns="0" bIns="0">
            <a:spAutoFit/>
          </a:bodyPr>
          <a:lstStyle/>
          <a:p>
            <a:pPr algn="ctr">
              <a:spcBef>
                <a:spcPts val="0"/>
              </a:spcBef>
              <a:spcAft>
                <a:spcPts val="400"/>
              </a:spcAft>
            </a:pPr>
            <a:r>
              <a:rPr sz="1000" b="1">
                <a:solidFill>
                  <a:srgbClr val="1F6FEB"/>
                </a:solidFill>
                <a:latin typeface="Arial"/>
              </a:rPr>
              <a:t>STEP 1</a:t>
            </a:r>
          </a:p>
        </p:txBody>
      </p:sp>
      <p:sp>
        <p:nvSpPr>
          <p:cNvPr id="12" name="TextBox 11"/>
          <p:cNvSpPr txBox="1"/>
          <p:nvPr/>
        </p:nvSpPr>
        <p:spPr>
          <a:xfrm>
            <a:off x="850392" y="3447288"/>
            <a:ext cx="1691640" cy="548640"/>
          </a:xfrm>
          <a:prstGeom prst="rect">
            <a:avLst/>
          </a:prstGeom>
          <a:noFill/>
        </p:spPr>
        <p:txBody>
          <a:bodyPr wrap="square" anchor="t" lIns="0" rIns="0" tIns="0" bIns="0">
            <a:spAutoFit/>
          </a:bodyPr>
          <a:lstStyle/>
          <a:p>
            <a:pPr algn="ctr">
              <a:spcBef>
                <a:spcPts val="0"/>
              </a:spcBef>
              <a:spcAft>
                <a:spcPts val="400"/>
              </a:spcAft>
            </a:pPr>
            <a:r>
              <a:rPr sz="1300" b="1">
                <a:solidFill>
                  <a:srgbClr val="161B26"/>
                </a:solidFill>
                <a:latin typeface="Arial"/>
              </a:rPr>
              <a:t>TRAQOM</a:t>
            </a:r>
          </a:p>
        </p:txBody>
      </p:sp>
      <p:sp>
        <p:nvSpPr>
          <p:cNvPr id="13" name="TextBox 12"/>
          <p:cNvSpPr txBox="1"/>
          <p:nvPr/>
        </p:nvSpPr>
        <p:spPr>
          <a:xfrm>
            <a:off x="886968" y="3977640"/>
            <a:ext cx="1618488" cy="548640"/>
          </a:xfrm>
          <a:prstGeom prst="rect">
            <a:avLst/>
          </a:prstGeom>
          <a:noFill/>
        </p:spPr>
        <p:txBody>
          <a:bodyPr wrap="square" anchor="t" lIns="0" rIns="0" tIns="0" bIns="0">
            <a:spAutoFit/>
          </a:bodyPr>
          <a:lstStyle/>
          <a:p>
            <a:pPr algn="ctr">
              <a:spcBef>
                <a:spcPts val="0"/>
              </a:spcBef>
              <a:spcAft>
                <a:spcPts val="400"/>
              </a:spcAft>
            </a:pPr>
            <a:r>
              <a:rPr sz="950" b="0">
                <a:solidFill>
                  <a:srgbClr val="5B6372"/>
                </a:solidFill>
                <a:latin typeface="Arial"/>
              </a:rPr>
              <a:t>Scan the TRAQOM QR code on the LMS and complete the survey.</a:t>
            </a:r>
          </a:p>
        </p:txBody>
      </p:sp>
      <p:sp>
        <p:nvSpPr>
          <p:cNvPr id="14" name="TextBox 13"/>
          <p:cNvSpPr txBox="1"/>
          <p:nvPr/>
        </p:nvSpPr>
        <p:spPr>
          <a:xfrm>
            <a:off x="2651760" y="3063240"/>
            <a:ext cx="292608" cy="457200"/>
          </a:xfrm>
          <a:prstGeom prst="rect">
            <a:avLst/>
          </a:prstGeom>
          <a:noFill/>
        </p:spPr>
        <p:txBody>
          <a:bodyPr wrap="square" anchor="t" lIns="0" rIns="0" tIns="0" bIns="0">
            <a:spAutoFit/>
          </a:bodyPr>
          <a:lstStyle/>
          <a:p>
            <a:pPr algn="ctr">
              <a:spcBef>
                <a:spcPts val="0"/>
              </a:spcBef>
              <a:spcAft>
                <a:spcPts val="400"/>
              </a:spcAft>
            </a:pPr>
            <a:r>
              <a:rPr sz="2800" b="1">
                <a:solidFill>
                  <a:srgbClr val="1F6FEB"/>
                </a:solidFill>
                <a:latin typeface="Arial"/>
              </a:rPr>
              <a:t>›</a:t>
            </a:r>
          </a:p>
        </p:txBody>
      </p:sp>
      <p:sp>
        <p:nvSpPr>
          <p:cNvPr id="15" name="Rounded Rectangle 14"/>
          <p:cNvSpPr/>
          <p:nvPr/>
        </p:nvSpPr>
        <p:spPr>
          <a:xfrm>
            <a:off x="2980944" y="2148840"/>
            <a:ext cx="1837944" cy="246888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552444" y="2377440"/>
            <a:ext cx="694944" cy="6949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ic_attend.png"/>
          <p:cNvPicPr>
            <a:picLocks noChangeAspect="1"/>
          </p:cNvPicPr>
          <p:nvPr/>
        </p:nvPicPr>
        <p:blipFill>
          <a:blip r:embed="rId3"/>
          <a:stretch>
            <a:fillRect/>
          </a:stretch>
        </p:blipFill>
        <p:spPr>
          <a:xfrm>
            <a:off x="3740078" y="2565074"/>
            <a:ext cx="319676" cy="319676"/>
          </a:xfrm>
          <a:prstGeom prst="rect">
            <a:avLst/>
          </a:prstGeom>
        </p:spPr>
      </p:pic>
      <p:sp>
        <p:nvSpPr>
          <p:cNvPr id="18" name="TextBox 17"/>
          <p:cNvSpPr txBox="1"/>
          <p:nvPr/>
        </p:nvSpPr>
        <p:spPr>
          <a:xfrm>
            <a:off x="3072384" y="3200400"/>
            <a:ext cx="1655064" cy="274320"/>
          </a:xfrm>
          <a:prstGeom prst="rect">
            <a:avLst/>
          </a:prstGeom>
          <a:noFill/>
        </p:spPr>
        <p:txBody>
          <a:bodyPr wrap="square" anchor="t" lIns="0" rIns="0" tIns="0" bIns="0">
            <a:spAutoFit/>
          </a:bodyPr>
          <a:lstStyle/>
          <a:p>
            <a:pPr algn="ctr">
              <a:spcBef>
                <a:spcPts val="0"/>
              </a:spcBef>
              <a:spcAft>
                <a:spcPts val="400"/>
              </a:spcAft>
            </a:pPr>
            <a:r>
              <a:rPr sz="1000" b="1">
                <a:solidFill>
                  <a:srgbClr val="1F6FEB"/>
                </a:solidFill>
                <a:latin typeface="Arial"/>
              </a:rPr>
              <a:t>STEP 2</a:t>
            </a:r>
          </a:p>
        </p:txBody>
      </p:sp>
      <p:sp>
        <p:nvSpPr>
          <p:cNvPr id="19" name="TextBox 18"/>
          <p:cNvSpPr txBox="1"/>
          <p:nvPr/>
        </p:nvSpPr>
        <p:spPr>
          <a:xfrm>
            <a:off x="3054096" y="3447288"/>
            <a:ext cx="1691640" cy="548640"/>
          </a:xfrm>
          <a:prstGeom prst="rect">
            <a:avLst/>
          </a:prstGeom>
          <a:noFill/>
        </p:spPr>
        <p:txBody>
          <a:bodyPr wrap="square" anchor="t" lIns="0" rIns="0" tIns="0" bIns="0">
            <a:spAutoFit/>
          </a:bodyPr>
          <a:lstStyle/>
          <a:p>
            <a:pPr algn="ctr">
              <a:spcBef>
                <a:spcPts val="0"/>
              </a:spcBef>
              <a:spcAft>
                <a:spcPts val="400"/>
              </a:spcAft>
            </a:pPr>
            <a:r>
              <a:rPr sz="1300" b="1">
                <a:solidFill>
                  <a:srgbClr val="161B26"/>
                </a:solidFill>
                <a:latin typeface="Arial"/>
              </a:rPr>
              <a:t>Attendance</a:t>
            </a:r>
          </a:p>
        </p:txBody>
      </p:sp>
      <p:sp>
        <p:nvSpPr>
          <p:cNvPr id="20" name="TextBox 19"/>
          <p:cNvSpPr txBox="1"/>
          <p:nvPr/>
        </p:nvSpPr>
        <p:spPr>
          <a:xfrm>
            <a:off x="3090672" y="3977640"/>
            <a:ext cx="1618488" cy="548640"/>
          </a:xfrm>
          <a:prstGeom prst="rect">
            <a:avLst/>
          </a:prstGeom>
          <a:noFill/>
        </p:spPr>
        <p:txBody>
          <a:bodyPr wrap="square" anchor="t" lIns="0" rIns="0" tIns="0" bIns="0">
            <a:spAutoFit/>
          </a:bodyPr>
          <a:lstStyle/>
          <a:p>
            <a:pPr algn="ctr">
              <a:spcBef>
                <a:spcPts val="0"/>
              </a:spcBef>
              <a:spcAft>
                <a:spcPts val="400"/>
              </a:spcAft>
            </a:pPr>
            <a:r>
              <a:rPr sz="950" b="0">
                <a:solidFill>
                  <a:srgbClr val="5B6372"/>
                </a:solidFill>
                <a:latin typeface="Arial"/>
              </a:rPr>
              <a:t>Take the assessment digital attendance.</a:t>
            </a:r>
          </a:p>
        </p:txBody>
      </p:sp>
      <p:sp>
        <p:nvSpPr>
          <p:cNvPr id="21" name="TextBox 20"/>
          <p:cNvSpPr txBox="1"/>
          <p:nvPr/>
        </p:nvSpPr>
        <p:spPr>
          <a:xfrm>
            <a:off x="4855464" y="3063240"/>
            <a:ext cx="292608" cy="457200"/>
          </a:xfrm>
          <a:prstGeom prst="rect">
            <a:avLst/>
          </a:prstGeom>
          <a:noFill/>
        </p:spPr>
        <p:txBody>
          <a:bodyPr wrap="square" anchor="t" lIns="0" rIns="0" tIns="0" bIns="0">
            <a:spAutoFit/>
          </a:bodyPr>
          <a:lstStyle/>
          <a:p>
            <a:pPr algn="ctr">
              <a:spcBef>
                <a:spcPts val="0"/>
              </a:spcBef>
              <a:spcAft>
                <a:spcPts val="400"/>
              </a:spcAft>
            </a:pPr>
            <a:r>
              <a:rPr sz="2800" b="1">
                <a:solidFill>
                  <a:srgbClr val="1F6FEB"/>
                </a:solidFill>
                <a:latin typeface="Arial"/>
              </a:rPr>
              <a:t>›</a:t>
            </a:r>
          </a:p>
        </p:txBody>
      </p:sp>
      <p:sp>
        <p:nvSpPr>
          <p:cNvPr id="22" name="Rounded Rectangle 21"/>
          <p:cNvSpPr/>
          <p:nvPr/>
        </p:nvSpPr>
        <p:spPr>
          <a:xfrm>
            <a:off x="5184648" y="2148840"/>
            <a:ext cx="1837944" cy="246888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756148" y="2377440"/>
            <a:ext cx="694944" cy="6949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ic_clip.png"/>
          <p:cNvPicPr>
            <a:picLocks noChangeAspect="1"/>
          </p:cNvPicPr>
          <p:nvPr/>
        </p:nvPicPr>
        <p:blipFill>
          <a:blip r:embed="rId4"/>
          <a:stretch>
            <a:fillRect/>
          </a:stretch>
        </p:blipFill>
        <p:spPr>
          <a:xfrm>
            <a:off x="5943782" y="2565074"/>
            <a:ext cx="319676" cy="319676"/>
          </a:xfrm>
          <a:prstGeom prst="rect">
            <a:avLst/>
          </a:prstGeom>
        </p:spPr>
      </p:pic>
      <p:sp>
        <p:nvSpPr>
          <p:cNvPr id="25" name="TextBox 24"/>
          <p:cNvSpPr txBox="1"/>
          <p:nvPr/>
        </p:nvSpPr>
        <p:spPr>
          <a:xfrm>
            <a:off x="5276088" y="3200400"/>
            <a:ext cx="1655064" cy="274320"/>
          </a:xfrm>
          <a:prstGeom prst="rect">
            <a:avLst/>
          </a:prstGeom>
          <a:noFill/>
        </p:spPr>
        <p:txBody>
          <a:bodyPr wrap="square" anchor="t" lIns="0" rIns="0" tIns="0" bIns="0">
            <a:spAutoFit/>
          </a:bodyPr>
          <a:lstStyle/>
          <a:p>
            <a:pPr algn="ctr">
              <a:spcBef>
                <a:spcPts val="0"/>
              </a:spcBef>
              <a:spcAft>
                <a:spcPts val="400"/>
              </a:spcAft>
            </a:pPr>
            <a:r>
              <a:rPr sz="1000" b="1">
                <a:solidFill>
                  <a:srgbClr val="1F6FEB"/>
                </a:solidFill>
                <a:latin typeface="Arial"/>
              </a:rPr>
              <a:t>STEP 3</a:t>
            </a:r>
          </a:p>
        </p:txBody>
      </p:sp>
      <p:sp>
        <p:nvSpPr>
          <p:cNvPr id="26" name="TextBox 25"/>
          <p:cNvSpPr txBox="1"/>
          <p:nvPr/>
        </p:nvSpPr>
        <p:spPr>
          <a:xfrm>
            <a:off x="5257800" y="3447288"/>
            <a:ext cx="1691640" cy="548640"/>
          </a:xfrm>
          <a:prstGeom prst="rect">
            <a:avLst/>
          </a:prstGeom>
          <a:noFill/>
        </p:spPr>
        <p:txBody>
          <a:bodyPr wrap="square" anchor="t" lIns="0" rIns="0" tIns="0" bIns="0">
            <a:spAutoFit/>
          </a:bodyPr>
          <a:lstStyle/>
          <a:p>
            <a:pPr algn="ctr">
              <a:spcBef>
                <a:spcPts val="0"/>
              </a:spcBef>
              <a:spcAft>
                <a:spcPts val="400"/>
              </a:spcAft>
            </a:pPr>
            <a:r>
              <a:rPr sz="1300" b="1">
                <a:solidFill>
                  <a:srgbClr val="161B26"/>
                </a:solidFill>
                <a:latin typeface="Arial"/>
              </a:rPr>
              <a:t>Assessment</a:t>
            </a:r>
          </a:p>
        </p:txBody>
      </p:sp>
      <p:sp>
        <p:nvSpPr>
          <p:cNvPr id="27" name="TextBox 26"/>
          <p:cNvSpPr txBox="1"/>
          <p:nvPr/>
        </p:nvSpPr>
        <p:spPr>
          <a:xfrm>
            <a:off x="5294376" y="3977640"/>
            <a:ext cx="1618488" cy="548640"/>
          </a:xfrm>
          <a:prstGeom prst="rect">
            <a:avLst/>
          </a:prstGeom>
          <a:noFill/>
        </p:spPr>
        <p:txBody>
          <a:bodyPr wrap="square" anchor="t" lIns="0" rIns="0" tIns="0" bIns="0">
            <a:spAutoFit/>
          </a:bodyPr>
          <a:lstStyle/>
          <a:p>
            <a:pPr algn="ctr">
              <a:spcBef>
                <a:spcPts val="0"/>
              </a:spcBef>
              <a:spcAft>
                <a:spcPts val="400"/>
              </a:spcAft>
            </a:pPr>
            <a:r>
              <a:rPr sz="950" b="0">
                <a:solidFill>
                  <a:srgbClr val="5B6372"/>
                </a:solidFill>
                <a:latin typeface="Arial"/>
              </a:rPr>
              <a:t>Complete the written / MCQ assessment on the LMS.</a:t>
            </a:r>
          </a:p>
        </p:txBody>
      </p:sp>
      <p:sp>
        <p:nvSpPr>
          <p:cNvPr id="28" name="TextBox 27"/>
          <p:cNvSpPr txBox="1"/>
          <p:nvPr/>
        </p:nvSpPr>
        <p:spPr>
          <a:xfrm>
            <a:off x="7059168" y="3063240"/>
            <a:ext cx="292608" cy="457200"/>
          </a:xfrm>
          <a:prstGeom prst="rect">
            <a:avLst/>
          </a:prstGeom>
          <a:noFill/>
        </p:spPr>
        <p:txBody>
          <a:bodyPr wrap="square" anchor="t" lIns="0" rIns="0" tIns="0" bIns="0">
            <a:spAutoFit/>
          </a:bodyPr>
          <a:lstStyle/>
          <a:p>
            <a:pPr algn="ctr">
              <a:spcBef>
                <a:spcPts val="0"/>
              </a:spcBef>
              <a:spcAft>
                <a:spcPts val="400"/>
              </a:spcAft>
            </a:pPr>
            <a:r>
              <a:rPr sz="2800" b="1">
                <a:solidFill>
                  <a:srgbClr val="1F6FEB"/>
                </a:solidFill>
                <a:latin typeface="Arial"/>
              </a:rPr>
              <a:t>›</a:t>
            </a:r>
          </a:p>
        </p:txBody>
      </p:sp>
      <p:sp>
        <p:nvSpPr>
          <p:cNvPr id="29" name="Rounded Rectangle 28"/>
          <p:cNvSpPr/>
          <p:nvPr/>
        </p:nvSpPr>
        <p:spPr>
          <a:xfrm>
            <a:off x="7388352" y="2148840"/>
            <a:ext cx="1837944" cy="246888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7959852" y="2377440"/>
            <a:ext cx="694944" cy="6949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1" name="Picture 30" descr="ic_upload.png"/>
          <p:cNvPicPr>
            <a:picLocks noChangeAspect="1"/>
          </p:cNvPicPr>
          <p:nvPr/>
        </p:nvPicPr>
        <p:blipFill>
          <a:blip r:embed="rId5"/>
          <a:stretch>
            <a:fillRect/>
          </a:stretch>
        </p:blipFill>
        <p:spPr>
          <a:xfrm>
            <a:off x="8147486" y="2565074"/>
            <a:ext cx="319676" cy="319676"/>
          </a:xfrm>
          <a:prstGeom prst="rect">
            <a:avLst/>
          </a:prstGeom>
        </p:spPr>
      </p:pic>
      <p:sp>
        <p:nvSpPr>
          <p:cNvPr id="32" name="TextBox 31"/>
          <p:cNvSpPr txBox="1"/>
          <p:nvPr/>
        </p:nvSpPr>
        <p:spPr>
          <a:xfrm>
            <a:off x="7479792" y="3200400"/>
            <a:ext cx="1655064" cy="274320"/>
          </a:xfrm>
          <a:prstGeom prst="rect">
            <a:avLst/>
          </a:prstGeom>
          <a:noFill/>
        </p:spPr>
        <p:txBody>
          <a:bodyPr wrap="square" anchor="t" lIns="0" rIns="0" tIns="0" bIns="0">
            <a:spAutoFit/>
          </a:bodyPr>
          <a:lstStyle/>
          <a:p>
            <a:pPr algn="ctr">
              <a:spcBef>
                <a:spcPts val="0"/>
              </a:spcBef>
              <a:spcAft>
                <a:spcPts val="400"/>
              </a:spcAft>
            </a:pPr>
            <a:r>
              <a:rPr sz="1000" b="1">
                <a:solidFill>
                  <a:srgbClr val="1F6FEB"/>
                </a:solidFill>
                <a:latin typeface="Arial"/>
              </a:rPr>
              <a:t>STEP 4</a:t>
            </a:r>
          </a:p>
        </p:txBody>
      </p:sp>
      <p:sp>
        <p:nvSpPr>
          <p:cNvPr id="33" name="TextBox 32"/>
          <p:cNvSpPr txBox="1"/>
          <p:nvPr/>
        </p:nvSpPr>
        <p:spPr>
          <a:xfrm>
            <a:off x="7461504" y="3447288"/>
            <a:ext cx="1691640" cy="548640"/>
          </a:xfrm>
          <a:prstGeom prst="rect">
            <a:avLst/>
          </a:prstGeom>
          <a:noFill/>
        </p:spPr>
        <p:txBody>
          <a:bodyPr wrap="square" anchor="t" lIns="0" rIns="0" tIns="0" bIns="0">
            <a:spAutoFit/>
          </a:bodyPr>
          <a:lstStyle/>
          <a:p>
            <a:pPr algn="ctr">
              <a:spcBef>
                <a:spcPts val="0"/>
              </a:spcBef>
              <a:spcAft>
                <a:spcPts val="400"/>
              </a:spcAft>
            </a:pPr>
            <a:r>
              <a:rPr sz="1300" b="1">
                <a:solidFill>
                  <a:srgbClr val="161B26"/>
                </a:solidFill>
                <a:latin typeface="Arial"/>
              </a:rPr>
              <a:t>Submit Answers</a:t>
            </a:r>
          </a:p>
        </p:txBody>
      </p:sp>
      <p:sp>
        <p:nvSpPr>
          <p:cNvPr id="34" name="TextBox 33"/>
          <p:cNvSpPr txBox="1"/>
          <p:nvPr/>
        </p:nvSpPr>
        <p:spPr>
          <a:xfrm>
            <a:off x="7498080" y="3977640"/>
            <a:ext cx="1618488" cy="548640"/>
          </a:xfrm>
          <a:prstGeom prst="rect">
            <a:avLst/>
          </a:prstGeom>
          <a:noFill/>
        </p:spPr>
        <p:txBody>
          <a:bodyPr wrap="square" anchor="t" lIns="0" rIns="0" tIns="0" bIns="0">
            <a:spAutoFit/>
          </a:bodyPr>
          <a:lstStyle/>
          <a:p>
            <a:pPr algn="ctr">
              <a:spcBef>
                <a:spcPts val="0"/>
              </a:spcBef>
              <a:spcAft>
                <a:spcPts val="400"/>
              </a:spcAft>
            </a:pPr>
            <a:r>
              <a:rPr sz="950" b="0">
                <a:solidFill>
                  <a:srgbClr val="5B6372"/>
                </a:solidFill>
                <a:latin typeface="Arial"/>
              </a:rPr>
              <a:t>Submit your assessment answers on the LMS.</a:t>
            </a:r>
          </a:p>
        </p:txBody>
      </p:sp>
      <p:sp>
        <p:nvSpPr>
          <p:cNvPr id="35" name="TextBox 34"/>
          <p:cNvSpPr txBox="1"/>
          <p:nvPr/>
        </p:nvSpPr>
        <p:spPr>
          <a:xfrm>
            <a:off x="9262872" y="3063240"/>
            <a:ext cx="292608" cy="457200"/>
          </a:xfrm>
          <a:prstGeom prst="rect">
            <a:avLst/>
          </a:prstGeom>
          <a:noFill/>
        </p:spPr>
        <p:txBody>
          <a:bodyPr wrap="square" anchor="t" lIns="0" rIns="0" tIns="0" bIns="0">
            <a:spAutoFit/>
          </a:bodyPr>
          <a:lstStyle/>
          <a:p>
            <a:pPr algn="ctr">
              <a:spcBef>
                <a:spcPts val="0"/>
              </a:spcBef>
              <a:spcAft>
                <a:spcPts val="400"/>
              </a:spcAft>
            </a:pPr>
            <a:r>
              <a:rPr sz="2800" b="1">
                <a:solidFill>
                  <a:srgbClr val="1F6FEB"/>
                </a:solidFill>
                <a:latin typeface="Arial"/>
              </a:rPr>
              <a:t>›</a:t>
            </a:r>
          </a:p>
        </p:txBody>
      </p:sp>
      <p:sp>
        <p:nvSpPr>
          <p:cNvPr id="36" name="Rounded Rectangle 35"/>
          <p:cNvSpPr/>
          <p:nvPr/>
        </p:nvSpPr>
        <p:spPr>
          <a:xfrm>
            <a:off x="9592056" y="2148840"/>
            <a:ext cx="1837944" cy="246888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163556" y="2377440"/>
            <a:ext cx="694944" cy="6949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8" name="Picture 37" descr="ic_sign.png"/>
          <p:cNvPicPr>
            <a:picLocks noChangeAspect="1"/>
          </p:cNvPicPr>
          <p:nvPr/>
        </p:nvPicPr>
        <p:blipFill>
          <a:blip r:embed="rId6"/>
          <a:stretch>
            <a:fillRect/>
          </a:stretch>
        </p:blipFill>
        <p:spPr>
          <a:xfrm>
            <a:off x="10351190" y="2565074"/>
            <a:ext cx="319676" cy="319676"/>
          </a:xfrm>
          <a:prstGeom prst="rect">
            <a:avLst/>
          </a:prstGeom>
        </p:spPr>
      </p:pic>
      <p:sp>
        <p:nvSpPr>
          <p:cNvPr id="39" name="TextBox 38"/>
          <p:cNvSpPr txBox="1"/>
          <p:nvPr/>
        </p:nvSpPr>
        <p:spPr>
          <a:xfrm>
            <a:off x="9683496" y="3200400"/>
            <a:ext cx="1655064" cy="274320"/>
          </a:xfrm>
          <a:prstGeom prst="rect">
            <a:avLst/>
          </a:prstGeom>
          <a:noFill/>
        </p:spPr>
        <p:txBody>
          <a:bodyPr wrap="square" anchor="t" lIns="0" rIns="0" tIns="0" bIns="0">
            <a:spAutoFit/>
          </a:bodyPr>
          <a:lstStyle/>
          <a:p>
            <a:pPr algn="ctr">
              <a:spcBef>
                <a:spcPts val="0"/>
              </a:spcBef>
              <a:spcAft>
                <a:spcPts val="400"/>
              </a:spcAft>
            </a:pPr>
            <a:r>
              <a:rPr sz="1000" b="1">
                <a:solidFill>
                  <a:srgbClr val="1F6FEB"/>
                </a:solidFill>
                <a:latin typeface="Arial"/>
              </a:rPr>
              <a:t>STEP 5</a:t>
            </a:r>
          </a:p>
        </p:txBody>
      </p:sp>
      <p:sp>
        <p:nvSpPr>
          <p:cNvPr id="40" name="TextBox 39"/>
          <p:cNvSpPr txBox="1"/>
          <p:nvPr/>
        </p:nvSpPr>
        <p:spPr>
          <a:xfrm>
            <a:off x="9665208" y="3447288"/>
            <a:ext cx="1691640" cy="548640"/>
          </a:xfrm>
          <a:prstGeom prst="rect">
            <a:avLst/>
          </a:prstGeom>
          <a:noFill/>
        </p:spPr>
        <p:txBody>
          <a:bodyPr wrap="square" anchor="t" lIns="0" rIns="0" tIns="0" bIns="0">
            <a:spAutoFit/>
          </a:bodyPr>
          <a:lstStyle/>
          <a:p>
            <a:pPr algn="ctr">
              <a:spcBef>
                <a:spcPts val="0"/>
              </a:spcBef>
              <a:spcAft>
                <a:spcPts val="400"/>
              </a:spcAft>
            </a:pPr>
            <a:r>
              <a:rPr sz="1300" b="1">
                <a:solidFill>
                  <a:srgbClr val="161B26"/>
                </a:solidFill>
                <a:latin typeface="Arial"/>
              </a:rPr>
              <a:t>Sign the Record</a:t>
            </a:r>
          </a:p>
        </p:txBody>
      </p:sp>
      <p:sp>
        <p:nvSpPr>
          <p:cNvPr id="41" name="TextBox 40"/>
          <p:cNvSpPr txBox="1"/>
          <p:nvPr/>
        </p:nvSpPr>
        <p:spPr>
          <a:xfrm>
            <a:off x="9701784" y="3977640"/>
            <a:ext cx="1618488" cy="548640"/>
          </a:xfrm>
          <a:prstGeom prst="rect">
            <a:avLst/>
          </a:prstGeom>
          <a:noFill/>
        </p:spPr>
        <p:txBody>
          <a:bodyPr wrap="square" anchor="t" lIns="0" rIns="0" tIns="0" bIns="0">
            <a:spAutoFit/>
          </a:bodyPr>
          <a:lstStyle/>
          <a:p>
            <a:pPr algn="ctr">
              <a:spcBef>
                <a:spcPts val="0"/>
              </a:spcBef>
              <a:spcAft>
                <a:spcPts val="400"/>
              </a:spcAft>
            </a:pPr>
            <a:r>
              <a:rPr sz="950" b="0">
                <a:solidFill>
                  <a:srgbClr val="5B6372"/>
                </a:solidFill>
                <a:latin typeface="Arial"/>
              </a:rPr>
              <a:t>Sign your Assessment Summary Record.</a:t>
            </a:r>
          </a:p>
        </p:txBody>
      </p:sp>
      <p:sp>
        <p:nvSpPr>
          <p:cNvPr id="42" name="TextBox 41"/>
          <p:cNvSpPr txBox="1"/>
          <p:nvPr/>
        </p:nvSpPr>
        <p:spPr>
          <a:xfrm>
            <a:off x="777240" y="5029200"/>
            <a:ext cx="10607040" cy="310896"/>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TIP   </a:t>
            </a:r>
            <a:r>
              <a:rPr sz="1300" b="0">
                <a:solidFill>
                  <a:srgbClr val="5B6372"/>
                </a:solidFill>
                <a:latin typeface="Arial"/>
              </a:rPr>
              <a:t>Courseware &amp; the assessment are on the LMS:  https://lms.tertiaryinfotech.com</a:t>
            </a:r>
          </a:p>
        </p:txBody>
      </p:sp>
      <p:sp>
        <p:nvSpPr>
          <p:cNvPr id="43" name="TextBox 42"/>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44" name="TextBox 43"/>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45" name="TextBox 44"/>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132</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BEFORE YOU GO</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Certification &amp; TRAQOM Survey</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828800"/>
            <a:ext cx="5257800" cy="329184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106424" y="2157984"/>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c_survey.png"/>
          <p:cNvPicPr>
            <a:picLocks noChangeAspect="1"/>
          </p:cNvPicPr>
          <p:nvPr/>
        </p:nvPicPr>
        <p:blipFill>
          <a:blip r:embed="rId2"/>
          <a:stretch>
            <a:fillRect/>
          </a:stretch>
        </p:blipFill>
        <p:spPr>
          <a:xfrm>
            <a:off x="1298996" y="2350556"/>
            <a:ext cx="328088" cy="328088"/>
          </a:xfrm>
          <a:prstGeom prst="rect">
            <a:avLst/>
          </a:prstGeom>
        </p:spPr>
      </p:pic>
      <p:sp>
        <p:nvSpPr>
          <p:cNvPr id="10" name="TextBox 9"/>
          <p:cNvSpPr txBox="1"/>
          <p:nvPr/>
        </p:nvSpPr>
        <p:spPr>
          <a:xfrm>
            <a:off x="2057400" y="2157984"/>
            <a:ext cx="3886200" cy="713232"/>
          </a:xfrm>
          <a:prstGeom prst="rect">
            <a:avLst/>
          </a:prstGeom>
          <a:noFill/>
        </p:spPr>
        <p:txBody>
          <a:bodyPr wrap="square" anchor="ctr" lIns="0" rIns="0" tIns="0" bIns="0">
            <a:spAutoFit/>
          </a:bodyPr>
          <a:lstStyle/>
          <a:p>
            <a:pPr algn="l">
              <a:spcBef>
                <a:spcPts val="0"/>
              </a:spcBef>
              <a:spcAft>
                <a:spcPts val="400"/>
              </a:spcAft>
            </a:pPr>
            <a:r>
              <a:rPr sz="1700" b="1">
                <a:solidFill>
                  <a:srgbClr val="161B26"/>
                </a:solidFill>
                <a:latin typeface="Arial"/>
              </a:rPr>
              <a:t>TRAQOM Survey (Mandatory)</a:t>
            </a:r>
          </a:p>
        </p:txBody>
      </p:sp>
      <p:sp>
        <p:nvSpPr>
          <p:cNvPr id="11" name="TextBox 10"/>
          <p:cNvSpPr txBox="1"/>
          <p:nvPr/>
        </p:nvSpPr>
        <p:spPr>
          <a:xfrm>
            <a:off x="1106424" y="3200400"/>
            <a:ext cx="4599432" cy="1463040"/>
          </a:xfrm>
          <a:prstGeom prst="rect">
            <a:avLst/>
          </a:prstGeom>
          <a:noFill/>
        </p:spPr>
        <p:txBody>
          <a:bodyPr wrap="square" anchor="t" lIns="0" rIns="0" tIns="0" bIns="0">
            <a:spAutoFit/>
          </a:bodyPr>
          <a:lstStyle/>
          <a:p>
            <a:pPr algn="l">
              <a:spcBef>
                <a:spcPts val="0"/>
              </a:spcBef>
              <a:spcAft>
                <a:spcPts val="800"/>
              </a:spcAft>
            </a:pPr>
            <a:r>
              <a:rPr sz="1450" b="0">
                <a:solidFill>
                  <a:srgbClr val="161B26"/>
                </a:solidFill>
                <a:latin typeface="Arial"/>
              </a:rPr>
              <a:t>Complete the certification &amp; TRAQOM survey to receive your certificate.</a:t>
            </a:r>
          </a:p>
          <a:p>
            <a:pPr algn="l">
              <a:spcBef>
                <a:spcPts val="0"/>
              </a:spcBef>
              <a:spcAft>
                <a:spcPts val="800"/>
              </a:spcAft>
            </a:pPr>
            <a:r>
              <a:rPr sz="1450" b="1">
                <a:solidFill>
                  <a:srgbClr val="1F6FEB"/>
                </a:solidFill>
                <a:latin typeface="Arial"/>
              </a:rPr>
              <a:t>lms.tertiaryinfotech.com</a:t>
            </a:r>
          </a:p>
        </p:txBody>
      </p:sp>
      <p:sp>
        <p:nvSpPr>
          <p:cNvPr id="12" name="Rounded Rectangle 11"/>
          <p:cNvSpPr/>
          <p:nvPr/>
        </p:nvSpPr>
        <p:spPr>
          <a:xfrm>
            <a:off x="6309360" y="1828800"/>
            <a:ext cx="5257800" cy="3291840"/>
          </a:xfrm>
          <a:prstGeom prst="roundRect">
            <a:avLst>
              <a:gd name="adj" fmla="val 5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638544" y="2157984"/>
            <a:ext cx="713232" cy="713232"/>
          </a:xfrm>
          <a:prstGeom prst="ellipse">
            <a:avLst/>
          </a:prstGeom>
          <a:solidFill>
            <a:srgbClr val="0B4F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c_gr5.png"/>
          <p:cNvPicPr>
            <a:picLocks noChangeAspect="1"/>
          </p:cNvPicPr>
          <p:nvPr/>
        </p:nvPicPr>
        <p:blipFill>
          <a:blip r:embed="rId3"/>
          <a:stretch>
            <a:fillRect/>
          </a:stretch>
        </p:blipFill>
        <p:spPr>
          <a:xfrm>
            <a:off x="6831116" y="2350556"/>
            <a:ext cx="328088" cy="328088"/>
          </a:xfrm>
          <a:prstGeom prst="rect">
            <a:avLst/>
          </a:prstGeom>
        </p:spPr>
      </p:pic>
      <p:sp>
        <p:nvSpPr>
          <p:cNvPr id="15" name="TextBox 14"/>
          <p:cNvSpPr txBox="1"/>
          <p:nvPr/>
        </p:nvSpPr>
        <p:spPr>
          <a:xfrm>
            <a:off x="7589520" y="2157984"/>
            <a:ext cx="3886200" cy="713232"/>
          </a:xfrm>
          <a:prstGeom prst="rect">
            <a:avLst/>
          </a:prstGeom>
          <a:noFill/>
        </p:spPr>
        <p:txBody>
          <a:bodyPr wrap="square" anchor="ctr" lIns="0" rIns="0" tIns="0" bIns="0">
            <a:spAutoFit/>
          </a:bodyPr>
          <a:lstStyle/>
          <a:p>
            <a:pPr algn="l">
              <a:spcBef>
                <a:spcPts val="0"/>
              </a:spcBef>
              <a:spcAft>
                <a:spcPts val="400"/>
              </a:spcAft>
            </a:pPr>
            <a:r>
              <a:rPr sz="1700" b="1">
                <a:solidFill>
                  <a:srgbClr val="FFFFFF"/>
                </a:solidFill>
                <a:latin typeface="Arial"/>
              </a:rPr>
              <a:t>Digital Attendance</a:t>
            </a:r>
          </a:p>
        </p:txBody>
      </p:sp>
      <p:sp>
        <p:nvSpPr>
          <p:cNvPr id="16" name="TextBox 15"/>
          <p:cNvSpPr txBox="1"/>
          <p:nvPr/>
        </p:nvSpPr>
        <p:spPr>
          <a:xfrm>
            <a:off x="6638544" y="3200400"/>
            <a:ext cx="4599432" cy="1463040"/>
          </a:xfrm>
          <a:prstGeom prst="rect">
            <a:avLst/>
          </a:prstGeom>
          <a:noFill/>
        </p:spPr>
        <p:txBody>
          <a:bodyPr wrap="square" anchor="t" lIns="0" rIns="0" tIns="0" bIns="0">
            <a:spAutoFit/>
          </a:bodyPr>
          <a:lstStyle/>
          <a:p>
            <a:pPr algn="l">
              <a:spcBef>
                <a:spcPts val="0"/>
              </a:spcBef>
              <a:spcAft>
                <a:spcPts val="400"/>
              </a:spcAft>
            </a:pPr>
            <a:r>
              <a:rPr sz="1450" b="0">
                <a:solidFill>
                  <a:srgbClr val="CFE0FB"/>
                </a:solidFill>
                <a:latin typeface="Arial"/>
              </a:rPr>
              <a:t>Remember to take AM, PM and Assessment digital attendance — required for your funding.</a:t>
            </a:r>
          </a:p>
        </p:txBody>
      </p:sp>
      <p:sp>
        <p:nvSpPr>
          <p:cNvPr id="17" name="TextBox 16"/>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8" name="TextBox 17"/>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9" name="TextBox 18"/>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133</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lIns="0" rIns="0" tIns="0" bIns="0">
            <a:spAutoFit/>
          </a:bodyPr>
          <a:lstStyle/>
          <a:p>
            <a:pPr algn="l">
              <a:spcBef>
                <a:spcPts val="0"/>
              </a:spcBef>
              <a:spcAft>
                <a:spcPts val="400"/>
              </a:spcAft>
            </a:pPr>
            <a:r>
              <a:rPr sz="1600" b="1">
                <a:solidFill>
                  <a:srgbClr val="10B981"/>
                </a:solidFill>
                <a:latin typeface="Arial"/>
              </a:rPr>
              <a:t>THANK YOU</a:t>
            </a:r>
          </a:p>
        </p:txBody>
      </p:sp>
      <p:sp>
        <p:nvSpPr>
          <p:cNvPr id="5" name="TextBox 4"/>
          <p:cNvSpPr txBox="1"/>
          <p:nvPr/>
        </p:nvSpPr>
        <p:spPr>
          <a:xfrm>
            <a:off x="1005840" y="2560320"/>
            <a:ext cx="10332720" cy="2194560"/>
          </a:xfrm>
          <a:prstGeom prst="rect">
            <a:avLst/>
          </a:prstGeom>
          <a:noFill/>
        </p:spPr>
        <p:txBody>
          <a:bodyPr wrap="square" anchor="t" lIns="0" rIns="0" tIns="0" bIns="0">
            <a:spAutoFit/>
          </a:bodyPr>
          <a:lstStyle/>
          <a:p>
            <a:pPr algn="l">
              <a:spcBef>
                <a:spcPts val="0"/>
              </a:spcBef>
              <a:spcAft>
                <a:spcPts val="400"/>
              </a:spcAft>
            </a:pPr>
            <a:r>
              <a:rPr sz="3800" b="1">
                <a:solidFill>
                  <a:srgbClr val="161B26"/>
                </a:solidFill>
                <a:latin typeface="Arial"/>
              </a:rPr>
              <a:t>Congratulations!</a:t>
            </a:r>
          </a:p>
        </p:txBody>
      </p:sp>
      <p:sp>
        <p:nvSpPr>
          <p:cNvPr id="6" name="TextBox 5"/>
          <p:cNvSpPr txBox="1"/>
          <p:nvPr/>
        </p:nvSpPr>
        <p:spPr>
          <a:xfrm>
            <a:off x="1024128" y="4389120"/>
            <a:ext cx="10058400" cy="1097280"/>
          </a:xfrm>
          <a:prstGeom prst="rect">
            <a:avLst/>
          </a:prstGeom>
          <a:noFill/>
        </p:spPr>
        <p:txBody>
          <a:bodyPr wrap="square" anchor="t" lIns="0" rIns="0" tIns="0" bIns="0">
            <a:spAutoFit/>
          </a:bodyPr>
          <a:lstStyle/>
          <a:p>
            <a:pPr algn="l">
              <a:spcBef>
                <a:spcPts val="0"/>
              </a:spcBef>
              <a:spcAft>
                <a:spcPts val="400"/>
              </a:spcAft>
            </a:pPr>
            <a:r>
              <a:rPr sz="2000" b="0">
                <a:solidFill>
                  <a:srgbClr val="5B6372"/>
                </a:solidFill>
                <a:latin typeface="Arial"/>
              </a:rPr>
              <a:t>You took one app from a single container to a scaled Kubernetes deployment.</a:t>
            </a:r>
          </a:p>
        </p:txBody>
      </p:sp>
      <p:sp>
        <p:nvSpPr>
          <p:cNvPr id="7" name="TextBox 6"/>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8" name="TextBox 7"/>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9" name="TextBox 8"/>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134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